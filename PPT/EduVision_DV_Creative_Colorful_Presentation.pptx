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75320" y="-685800"/>
            <a:ext cx="4389120" cy="4389120"/>
          </a:xfrm>
          <a:prstGeom prst="ellipse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1051560"/>
            <a:ext cx="3200400" cy="3200400"/>
          </a:xfrm>
          <a:prstGeom prst="ellipse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3383280"/>
            <a:ext cx="3108960" cy="3108960"/>
          </a:xfrm>
          <a:prstGeom prst="ellipse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 rot="720000">
            <a:off x="9555480" y="2194560"/>
            <a:ext cx="1005840" cy="1005840"/>
          </a:xfrm>
          <a:prstGeom prst="diamond">
            <a:avLst/>
          </a:prstGeom>
          <a:solidFill>
            <a:srgbClr val="FFC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0" y="4709160"/>
            <a:ext cx="502920" cy="502920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685800"/>
            <a:ext cx="3566160" cy="329184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749808"/>
            <a:ext cx="34564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INFOSYS SPRINGBOARD  /  INTERNSHIP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7498079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HIGHER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77724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24D3C4"/>
                </a:solidFill>
                <a:latin typeface="Aptos"/>
              </a:rPr>
              <a:t>INTELLIGENCE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6858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BE0FA"/>
                </a:solidFill>
                <a:latin typeface="Aptos"/>
              </a:rPr>
              <a:t>Institutional Performance &amp;
Academic Excellence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3977639"/>
            <a:ext cx="1005840" cy="64008"/>
          </a:xfrm>
          <a:prstGeom prst="rect">
            <a:avLst/>
          </a:prstGeom>
          <a:solidFill>
            <a:srgbClr val="FFC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3840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EduVision_DV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800600"/>
            <a:ext cx="4206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97D6"/>
                </a:solidFill>
                <a:latin typeface="Aptos"/>
              </a:rPr>
              <a:t>DATA VISUALIZATION INTERN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06440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C3CCEA"/>
                </a:solidFill>
                <a:latin typeface="Aptos"/>
              </a:rPr>
              <a:t>From education data to interactive insight.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1C9E7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1C9E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One Project. A Clearer View of Education.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41738"/>
                </a:solidFill>
                <a:latin typeface="Aptos"/>
              </a:rPr>
              <a:t>Make complex education data easier to explore, compare, and understand.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3429000" cy="2148840"/>
          </a:xfrm>
          <a:prstGeom prst="roundRect">
            <a:avLst/>
          </a:prstGeom>
          <a:solidFill>
            <a:srgbClr val="E4EF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109728" cy="2148840"/>
          </a:xfrm>
          <a:prstGeom prst="round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946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08376"/>
            <a:ext cx="3035808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Bring university, research, and country-level information into one analytical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423160"/>
            <a:ext cx="3429000" cy="2148840"/>
          </a:xfrm>
          <a:prstGeom prst="roundRect">
            <a:avLst/>
          </a:prstGeom>
          <a:solidFill>
            <a:srgbClr val="EDE8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423160"/>
            <a:ext cx="109728" cy="2148840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56946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08376"/>
            <a:ext cx="3035808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Use consistent indicators to explore differences across institutions and regions.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23160"/>
            <a:ext cx="3429000" cy="2148840"/>
          </a:xfrm>
          <a:prstGeom prst="roundRect">
            <a:avLst/>
          </a:prstGeom>
          <a:solidFill>
            <a:srgbClr val="E1FAF8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423160"/>
            <a:ext cx="109728" cy="2148840"/>
          </a:xfrm>
          <a:prstGeom prst="round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56946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UNDERSTAND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008376"/>
            <a:ext cx="3035808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Turn metrics into visual patterns that support clearer interpretation.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74920"/>
            <a:ext cx="1417320" cy="329184"/>
          </a:xfrm>
          <a:prstGeom prst="roundRect">
            <a:avLst/>
          </a:prstGeom>
          <a:solidFill>
            <a:srgbClr val="FFC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5138928"/>
            <a:ext cx="13075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41738"/>
                </a:solidFill>
                <a:latin typeface="Aptos"/>
              </a:rPr>
              <a:t>PROJECT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72D44"/>
                </a:solidFill>
                <a:latin typeface="Aptos"/>
              </a:rPr>
              <a:t>Data preparation  •  KPI design  •  Tableau dashboards  •  Testing &amp;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Why Higher-Education Data Needs a Better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709928"/>
            <a:ext cx="457200" cy="457200"/>
          </a:xfrm>
          <a:prstGeom prst="ellipse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1600200"/>
            <a:ext cx="4572000" cy="1417320"/>
          </a:xfrm>
          <a:prstGeom prst="roundRect">
            <a:avLst/>
          </a:prstGeom>
          <a:solidFill>
            <a:srgbClr val="E4EF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53312" y="1600200"/>
            <a:ext cx="109728" cy="1417320"/>
          </a:xfrm>
          <a:prstGeom prst="round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746504"/>
            <a:ext cx="4178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SCATTERED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185416"/>
            <a:ext cx="4178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Ranking and education indicators may live in separate datasets.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1709928"/>
            <a:ext cx="457200" cy="457200"/>
          </a:xfrm>
          <a:prstGeom prst="ellipse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81051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85431" y="1600200"/>
            <a:ext cx="4572000" cy="1417320"/>
          </a:xfrm>
          <a:prstGeom prst="roundRect">
            <a:avLst/>
          </a:prstGeom>
          <a:solidFill>
            <a:srgbClr val="EDE8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85431" y="1600200"/>
            <a:ext cx="109728" cy="1417320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1" y="1746504"/>
            <a:ext cx="4178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HARD TO 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1" y="2185416"/>
            <a:ext cx="4178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Different metrics can make institution-to-institution comparisons less clear.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630168"/>
            <a:ext cx="457200" cy="457200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3520440"/>
            <a:ext cx="4572000" cy="1417320"/>
          </a:xfrm>
          <a:prstGeom prst="roundRect">
            <a:avLst/>
          </a:prstGeom>
          <a:solidFill>
            <a:srgbClr val="FFEDE1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53312" y="3520440"/>
            <a:ext cx="109728" cy="1417320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81912" y="3666744"/>
            <a:ext cx="4178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STATIC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105656"/>
            <a:ext cx="4178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Tables alone may hide trends, leaders, and regional patterns.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3630168"/>
            <a:ext cx="457200" cy="457200"/>
          </a:xfrm>
          <a:prstGeom prst="ellipse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7307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5431" y="3520440"/>
            <a:ext cx="4572000" cy="1417320"/>
          </a:xfrm>
          <a:prstGeom prst="roundRect">
            <a:avLst/>
          </a:prstGeom>
          <a:solidFill>
            <a:srgbClr val="E1FAF8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85431" y="3520440"/>
            <a:ext cx="109728" cy="1417320"/>
          </a:xfrm>
          <a:prstGeom prst="round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1" y="3666744"/>
            <a:ext cx="4178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TRUST IN THE NUMBERS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1" y="4105656"/>
            <a:ext cx="4178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KPI formulas, ranks, and dashboard interactions need validation.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62356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DESIGN RESPONSE  →  consolidate, visualize, validate.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The Mission: Six Clear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1536192"/>
          </a:xfrm>
          <a:prstGeom prst="roundRect">
            <a:avLst/>
          </a:prstGeom>
          <a:solidFill>
            <a:srgbClr val="F7F8FF"/>
          </a:solidFill>
          <a:ln>
            <a:solidFill>
              <a:srgbClr val="E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4F64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92224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Prepare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Organize and clean source datasets.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45920"/>
            <a:ext cx="3429000" cy="1536192"/>
          </a:xfrm>
          <a:prstGeom prst="roundRect">
            <a:avLst/>
          </a:prstGeom>
          <a:solidFill>
            <a:srgbClr val="F7F8FF"/>
          </a:solidFill>
          <a:ln>
            <a:solidFill>
              <a:srgbClr val="E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8308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9C5D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792224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Define KPIs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Create useful, consistent indicators.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429000" cy="1536192"/>
          </a:xfrm>
          <a:prstGeom prst="roundRect">
            <a:avLst/>
          </a:prstGeom>
          <a:solidFill>
            <a:srgbClr val="F7F8FF"/>
          </a:solidFill>
          <a:ln>
            <a:solidFill>
              <a:srgbClr val="E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78308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707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792224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Build visuals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Design worksheets for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11880"/>
            <a:ext cx="3429000" cy="1536192"/>
          </a:xfrm>
          <a:prstGeom prst="roundRect">
            <a:avLst/>
          </a:prstGeom>
          <a:solidFill>
            <a:srgbClr val="F7F8FF"/>
          </a:solidFill>
          <a:ln>
            <a:solidFill>
              <a:srgbClr val="E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4904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4D3C4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58184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Connect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97680"/>
            <a:ext cx="2926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Integrate filters and navigation.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611880"/>
            <a:ext cx="3429000" cy="1536192"/>
          </a:xfrm>
          <a:prstGeom prst="roundRect">
            <a:avLst/>
          </a:prstGeom>
          <a:solidFill>
            <a:srgbClr val="F7F8FF"/>
          </a:solidFill>
          <a:ln>
            <a:solidFill>
              <a:srgbClr val="E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74904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CC4D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758184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297680"/>
            <a:ext cx="2926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Check calculations and interactions.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611880"/>
            <a:ext cx="3429000" cy="1536192"/>
          </a:xfrm>
          <a:prstGeom prst="roundRect">
            <a:avLst/>
          </a:prstGeom>
          <a:solidFill>
            <a:srgbClr val="F7F8FF"/>
          </a:solidFill>
          <a:ln>
            <a:solidFill>
              <a:srgbClr val="E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74904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3AA82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758184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Deliver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4297680"/>
            <a:ext cx="2926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Document and package the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DATA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The Data Behind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2606040" cy="1508760"/>
          </a:xfrm>
          <a:prstGeom prst="roundRect">
            <a:avLst/>
          </a:prstGeom>
          <a:solidFill>
            <a:srgbClr val="E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2606040" cy="100584"/>
          </a:xfrm>
          <a:prstGeom prst="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QS RANKINGS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23160"/>
            <a:ext cx="2286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University ranking and institutional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691640"/>
            <a:ext cx="2606040" cy="1508760"/>
          </a:xfrm>
          <a:prstGeom prst="roundRect">
            <a:avLst/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1691640"/>
            <a:ext cx="2606040" cy="100584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96596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THE RANKINGS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423160"/>
            <a:ext cx="2286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Institution-level performance and research indicators.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691640"/>
            <a:ext cx="2606040" cy="1508760"/>
          </a:xfrm>
          <a:prstGeom prst="roundRect">
            <a:avLst/>
          </a:prstGeom>
          <a:solidFill>
            <a:srgbClr val="FF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088" y="1691640"/>
            <a:ext cx="2606040" cy="100584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196596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WUR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423160"/>
            <a:ext cx="2286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World university ranking information for comparison.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9448" y="1691640"/>
            <a:ext cx="2606040" cy="1508760"/>
          </a:xfrm>
          <a:prstGeom prst="roundRect">
            <a:avLst/>
          </a:prstGeom>
          <a:solidFill>
            <a:srgbClr val="E1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99448" y="1691640"/>
            <a:ext cx="2606040" cy="100584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196596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WORLD BANK EDSTATS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423160"/>
            <a:ext cx="2286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Country and education-related indicators.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03320"/>
            <a:ext cx="5943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C5DFF"/>
                </a:solidFill>
                <a:latin typeface="Aptos"/>
              </a:rPr>
              <a:t>FROM RAW FILES TO ANALYSIS-READY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51960"/>
            <a:ext cx="1691640" cy="713232"/>
          </a:xfrm>
          <a:prstGeom prst="round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Inspect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443984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1738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71800" y="4251960"/>
            <a:ext cx="1691640" cy="713232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4480560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4443984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1738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4251960"/>
            <a:ext cx="1691640" cy="713232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4480560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Standardize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443984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1738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4251960"/>
            <a:ext cx="1691640" cy="713232"/>
          </a:xfrm>
          <a:prstGeom prst="round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4480560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4443984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1738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4251960"/>
            <a:ext cx="1691640" cy="713232"/>
          </a:xfrm>
          <a:prstGeom prst="roundRect">
            <a:avLst/>
          </a:prstGeom>
          <a:solidFill>
            <a:srgbClr val="2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4480560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Prepare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4864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72D44"/>
                </a:solidFill>
                <a:latin typeface="Aptos"/>
              </a:rPr>
              <a:t>Prepared datasets and KPI-supporting files feed the analytical 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TOOLS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The Toolkit: From Code to Visual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29000" cy="1481328"/>
          </a:xfrm>
          <a:prstGeom prst="roundRect">
            <a:avLst/>
          </a:prstGeom>
          <a:solidFill>
            <a:srgbClr val="E4EF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9728" cy="1481328"/>
          </a:xfrm>
          <a:prstGeom prst="round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PYTHON + 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85416"/>
            <a:ext cx="3035808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Inspect, clean, transform, and prepare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660904"/>
            <a:ext cx="502920" cy="329184"/>
          </a:xfrm>
          <a:prstGeom prst="round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2724912"/>
            <a:ext cx="393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600200"/>
            <a:ext cx="3429000" cy="1481328"/>
          </a:xfrm>
          <a:prstGeom prst="roundRect">
            <a:avLst/>
          </a:prstGeom>
          <a:solidFill>
            <a:srgbClr val="E1FAF8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600200"/>
            <a:ext cx="109728" cy="1481328"/>
          </a:xfrm>
          <a:prstGeom prst="roundRect">
            <a:avLst/>
          </a:prstGeom>
          <a:solidFill>
            <a:srgbClr val="2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4650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185416"/>
            <a:ext cx="3035808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Review structured data and KPI deliverables.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660904"/>
            <a:ext cx="502920" cy="329184"/>
          </a:xfrm>
          <a:prstGeom prst="roundRect">
            <a:avLst/>
          </a:prstGeom>
          <a:solidFill>
            <a:srgbClr val="2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2724912"/>
            <a:ext cx="393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600200"/>
            <a:ext cx="3429000" cy="1481328"/>
          </a:xfrm>
          <a:prstGeom prst="roundRect">
            <a:avLst/>
          </a:prstGeom>
          <a:solidFill>
            <a:srgbClr val="EDE8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600200"/>
            <a:ext cx="109728" cy="1481328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74650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TABLEAU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185416"/>
            <a:ext cx="3035808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Create interactive worksheets and dashboards.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18520" y="2660904"/>
            <a:ext cx="502920" cy="329184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73384" y="2724912"/>
            <a:ext cx="393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520440"/>
            <a:ext cx="3429000" cy="1481328"/>
          </a:xfrm>
          <a:prstGeom prst="roundRect">
            <a:avLst/>
          </a:prstGeom>
          <a:solidFill>
            <a:srgbClr val="FFEDE1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3520440"/>
            <a:ext cx="109728" cy="1481328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66674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VS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05656"/>
            <a:ext cx="3035808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Develop and organize project scripts.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4581144"/>
            <a:ext cx="502920" cy="329184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83864" y="4645152"/>
            <a:ext cx="393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3520440"/>
            <a:ext cx="3429000" cy="1481328"/>
          </a:xfrm>
          <a:prstGeom prst="roundRect">
            <a:avLst/>
          </a:prstGeom>
          <a:solidFill>
            <a:srgbClr val="E1FAF8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6280" y="3520440"/>
            <a:ext cx="109728" cy="1481328"/>
          </a:xfrm>
          <a:prstGeom prst="round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66674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GIT + 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105656"/>
            <a:ext cx="3035808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Track milestone changes and project versions.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4581144"/>
            <a:ext cx="502920" cy="329184"/>
          </a:xfrm>
          <a:prstGeom prst="round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8624" y="4645152"/>
            <a:ext cx="393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3520440"/>
            <a:ext cx="3429000" cy="1481328"/>
          </a:xfrm>
          <a:prstGeom prst="roundRect">
            <a:avLst/>
          </a:prstGeom>
          <a:solidFill>
            <a:srgbClr val="FFF8DC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21040" y="3520440"/>
            <a:ext cx="109728" cy="1481328"/>
          </a:xfrm>
          <a:prstGeom prst="roundRect">
            <a:avLst/>
          </a:prstGeom>
          <a:solidFill>
            <a:srgbClr val="FFC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366674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DOCUMENTATION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105656"/>
            <a:ext cx="3035808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Record QA, testing, and final handover.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18520" y="4581144"/>
            <a:ext cx="502920" cy="329184"/>
          </a:xfrm>
          <a:prstGeom prst="roundRect">
            <a:avLst/>
          </a:prstGeom>
          <a:solidFill>
            <a:srgbClr val="FFC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73384" y="4645152"/>
            <a:ext cx="393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How the Project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11680"/>
            <a:ext cx="2057400" cy="205740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1627632"/>
            <a:ext cx="594360" cy="594360"/>
          </a:xfrm>
          <a:prstGeom prst="ellipse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01368"/>
            <a:ext cx="5943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SOURCE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783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QS • THE • WUR
World Bank EdStats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743200"/>
            <a:ext cx="31089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F64FF"/>
                </a:solidFill>
                <a:latin typeface="Aptos"/>
              </a:rP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2011680"/>
            <a:ext cx="2057400" cy="205740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8728" y="1627632"/>
            <a:ext cx="594360" cy="594360"/>
          </a:xfrm>
          <a:prstGeom prst="ellipse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801368"/>
            <a:ext cx="5943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487168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017520"/>
            <a:ext cx="1783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Clean • Standardize
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2743200"/>
            <a:ext cx="31089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9C5DFF"/>
                </a:solidFill>
                <a:latin typeface="Aptos"/>
              </a:rPr>
              <a:t>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02936" y="2011680"/>
            <a:ext cx="2057400" cy="205740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34456" y="1627632"/>
            <a:ext cx="594360" cy="594360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34456" y="1801368"/>
            <a:ext cx="5943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2487168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KPI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3017520"/>
            <a:ext cx="1783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Performance metrics
Ranking calculations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2743200"/>
            <a:ext cx="31089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7070"/>
                </a:solidFill>
                <a:latin typeface="Aptos"/>
              </a:rP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98664" y="2011680"/>
            <a:ext cx="2057400" cy="205740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30184" y="1627632"/>
            <a:ext cx="594360" cy="594360"/>
          </a:xfrm>
          <a:prstGeom prst="ellipse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4" y="1801368"/>
            <a:ext cx="5943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0104" y="2487168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TABLEAU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4" y="3017520"/>
            <a:ext cx="1783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Worksheets
Dashboards &amp; filters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2743200"/>
            <a:ext cx="31089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4D3C4"/>
                </a:solidFill>
                <a:latin typeface="Aptos"/>
              </a:rPr>
              <a:t>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94392" y="2011680"/>
            <a:ext cx="2057400" cy="205740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25912" y="1627632"/>
            <a:ext cx="594360" cy="594360"/>
          </a:xfrm>
          <a:prstGeom prst="ellipse">
            <a:avLst/>
          </a:prstGeom>
          <a:solidFill>
            <a:srgbClr val="2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25912" y="1801368"/>
            <a:ext cx="5943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2487168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31552" y="3017520"/>
            <a:ext cx="1783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Testing evidence
Final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89204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A staged workflow keeps data preparation, visualization, and quality checks connected.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DASHBOARD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Four Views into Higher-Education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10652760" cy="822960"/>
          </a:xfrm>
          <a:prstGeom prst="roundRect">
            <a:avLst/>
          </a:prstGeom>
          <a:solidFill>
            <a:srgbClr val="E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73351"/>
            <a:ext cx="457200" cy="457200"/>
          </a:xfrm>
          <a:prstGeom prst="ellipse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8308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36776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UNIVERSITY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27631"/>
            <a:ext cx="640080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Explore institution-level performance and key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78608"/>
            <a:ext cx="10652760" cy="822960"/>
          </a:xfrm>
          <a:prstGeom prst="roundRect">
            <a:avLst/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2743200"/>
            <a:ext cx="457200" cy="457200"/>
          </a:xfrm>
          <a:prstGeom prst="ellipse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852927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706624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RESEARCH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97479"/>
            <a:ext cx="640080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Publications, citations, productivity, leading institutions, and research impact.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48456"/>
            <a:ext cx="10652760" cy="822960"/>
          </a:xfrm>
          <a:prstGeom prst="roundRect">
            <a:avLst/>
          </a:prstGeom>
          <a:solidFill>
            <a:srgbClr val="FF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813048"/>
            <a:ext cx="457200" cy="457200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922776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77647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COUNTRY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67328"/>
            <a:ext cx="640080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Country rankings, education benchmarking, regional trends, top-performing countries.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18304"/>
            <a:ext cx="10652760" cy="822960"/>
          </a:xfrm>
          <a:prstGeom prst="roundRect">
            <a:avLst/>
          </a:prstGeom>
          <a:solidFill>
            <a:srgbClr val="E1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882896"/>
            <a:ext cx="457200" cy="457200"/>
          </a:xfrm>
          <a:prstGeom prst="ellipse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99262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8463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UNIVERSITY RANKINGS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37176"/>
            <a:ext cx="640080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Explore ranked institutions and compare selected universities.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INTERACTION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Not Just Charts — An Interactive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1417320"/>
          </a:xfrm>
          <a:prstGeom prst="roundRect">
            <a:avLst/>
          </a:prstGeom>
          <a:solidFill>
            <a:srgbClr val="E4EF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9728" cy="1417320"/>
          </a:xfrm>
          <a:prstGeom prst="round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9222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GLOBAL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31136"/>
            <a:ext cx="3035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Narrow views with shared selections.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45920"/>
            <a:ext cx="3429000" cy="1417320"/>
          </a:xfrm>
          <a:prstGeom prst="roundRect">
            <a:avLst/>
          </a:prstGeom>
          <a:solidFill>
            <a:srgbClr val="EDE8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109728" cy="1417320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79222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231136"/>
            <a:ext cx="3035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Move between project overview and dashboards.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429000" cy="1417320"/>
          </a:xfrm>
          <a:prstGeom prst="roundRect">
            <a:avLst/>
          </a:prstGeom>
          <a:solidFill>
            <a:srgbClr val="FFEDE1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645920"/>
            <a:ext cx="109728" cy="1417320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79222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PARAMETER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31136"/>
            <a:ext cx="3035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Change the metric or view where configured.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20439"/>
            <a:ext cx="3429000" cy="1417320"/>
          </a:xfrm>
          <a:prstGeom prst="roundRect">
            <a:avLst/>
          </a:prstGeom>
          <a:solidFill>
            <a:srgbClr val="E1FAF8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520439"/>
            <a:ext cx="109728" cy="1417320"/>
          </a:xfrm>
          <a:prstGeom prst="round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66674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DASHBOARD LINKING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105655"/>
            <a:ext cx="3035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Connect related analytical views.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520439"/>
            <a:ext cx="3429000" cy="1417320"/>
          </a:xfrm>
          <a:prstGeom prst="roundRect">
            <a:avLst/>
          </a:prstGeom>
          <a:solidFill>
            <a:srgbClr val="E1F8E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3520439"/>
            <a:ext cx="109728" cy="1417320"/>
          </a:xfrm>
          <a:prstGeom prst="roundRect">
            <a:avLst/>
          </a:prstGeom>
          <a:solidFill>
            <a:srgbClr val="2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66674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SELECTION BEHAVIOR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105655"/>
            <a:ext cx="3035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Check that selecting a university updates intended views.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Interaction tests verify that dashboards respond as expected—not only that they look good.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Eight Weeks. One Connected Journey.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2606040" cy="155448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2606040" cy="128016"/>
          </a:xfrm>
          <a:prstGeom prst="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92024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F64FF"/>
                </a:solidFill>
                <a:latin typeface="Aptos"/>
              </a:rPr>
              <a:t>WEEK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Setup &amp;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45920"/>
            <a:ext cx="2606040" cy="155448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645920"/>
            <a:ext cx="2606040" cy="128016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92024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9C5DFF"/>
                </a:solidFill>
                <a:latin typeface="Aptos"/>
              </a:rPr>
              <a:t>WEEK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35915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Data collection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645920"/>
            <a:ext cx="2606040" cy="155448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645920"/>
            <a:ext cx="2606040" cy="128016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192024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7070"/>
                </a:solidFill>
                <a:latin typeface="Aptos"/>
              </a:rPr>
              <a:t>WEEK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5915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Cleaning &amp; preparation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1645920"/>
            <a:ext cx="2606040" cy="155448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645920"/>
            <a:ext cx="2606040" cy="128016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18904" y="192024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D3C4"/>
                </a:solidFill>
                <a:latin typeface="Aptos"/>
              </a:rPr>
              <a:t>WEEK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35915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KPI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03320"/>
            <a:ext cx="2606040" cy="155448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703320"/>
            <a:ext cx="2606040" cy="128016"/>
          </a:xfrm>
          <a:prstGeom prst="rect">
            <a:avLst/>
          </a:prstGeom>
          <a:solidFill>
            <a:srgbClr val="2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977639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3AA82"/>
                </a:solidFill>
                <a:latin typeface="Aptos"/>
              </a:rPr>
              <a:t>WEEK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1655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Overview &amp; research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3703320"/>
            <a:ext cx="2606040" cy="155448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3703320"/>
            <a:ext cx="2606040" cy="128016"/>
          </a:xfrm>
          <a:prstGeom prst="rect">
            <a:avLst/>
          </a:prstGeom>
          <a:solidFill>
            <a:srgbClr val="FFC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6744" y="3977639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CC4D"/>
                </a:solidFill>
                <a:latin typeface="Aptos"/>
              </a:rPr>
              <a:t>WEEK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41655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Country views &amp; integration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3703320"/>
            <a:ext cx="2606040" cy="155448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3703320"/>
            <a:ext cx="2606040" cy="128016"/>
          </a:xfrm>
          <a:prstGeom prst="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2824" y="3977639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F64FF"/>
                </a:solidFill>
                <a:latin typeface="Aptos"/>
              </a:rPr>
              <a:t>WEEK 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41655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Testing &amp; 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3703320"/>
            <a:ext cx="2606040" cy="1554480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3703320"/>
            <a:ext cx="2606040" cy="128016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18904" y="3977639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9C5DFF"/>
                </a:solidFill>
                <a:latin typeface="Aptos"/>
              </a:rPr>
              <a:t>WEEK 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441655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Final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Quality Is Part of the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21792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591056"/>
            <a:ext cx="347472" cy="347472"/>
          </a:xfrm>
          <a:prstGeom prst="ellipse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45920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09344"/>
            <a:ext cx="27432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KPI CALCULATIONS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60934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Check formulas and calculated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04288"/>
            <a:ext cx="10515600" cy="621792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2432304"/>
            <a:ext cx="347472" cy="347472"/>
          </a:xfrm>
          <a:prstGeom prst="ellipse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487168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50592"/>
            <a:ext cx="27432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RANKING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45059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Verify rank order and expected outputs.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45536"/>
            <a:ext cx="10515600" cy="621792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273552"/>
            <a:ext cx="347472" cy="347472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328416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291840"/>
            <a:ext cx="27432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DASHBOARD INTERACTIONS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291840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Test filters, navigation, parameters, and linked views.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986784"/>
            <a:ext cx="10515600" cy="621792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114800"/>
            <a:ext cx="347472" cy="347472"/>
          </a:xfrm>
          <a:prstGeom prst="ellipse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169664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133088"/>
            <a:ext cx="27432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EDUCATION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13308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Check consistent representation of educational indicators.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828032"/>
            <a:ext cx="10515600" cy="621792"/>
          </a:xfrm>
          <a:prstGeom prst="roundRect">
            <a:avLst/>
          </a:prstGeom>
          <a:solidFill>
            <a:srgbClr val="F7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" y="4956048"/>
            <a:ext cx="347472" cy="347472"/>
          </a:xfrm>
          <a:prstGeom prst="ellipse">
            <a:avLst/>
          </a:prstGeom>
          <a:solidFill>
            <a:srgbClr val="2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01091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974336"/>
            <a:ext cx="27432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738"/>
                </a:solidFill>
                <a:latin typeface="Aptos"/>
              </a:rPr>
              <a:t>DELIVERY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97433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2D44"/>
                </a:solidFill>
                <a:latin typeface="Aptos"/>
              </a:rPr>
              <a:t>Maintain the QA checklist and testing report.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806440"/>
            <a:ext cx="2286000" cy="329184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5870448"/>
            <a:ext cx="21762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DOCUMENTED DELIVERABLES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843016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72D44"/>
                </a:solidFill>
                <a:latin typeface="Aptos"/>
              </a:rPr>
              <a:t>Dashboard_Testing_Report.pdf  •  QA_Checklist.pdf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OUTPUT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What the Project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1920240"/>
          </a:xfrm>
          <a:prstGeom prst="roundRect">
            <a:avLst/>
          </a:prstGeom>
          <a:solidFill>
            <a:srgbClr val="E4EF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9728" cy="1920240"/>
          </a:xfrm>
          <a:prstGeom prst="round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9222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738"/>
                </a:solidFill>
                <a:latin typeface="Aptos"/>
              </a:rPr>
              <a:t>A CENTRAL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31136"/>
            <a:ext cx="3035808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University, research, and country-level analysis organized for exploration.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429000" cy="1920240"/>
          </a:xfrm>
          <a:prstGeom prst="roundRect">
            <a:avLst/>
          </a:prstGeom>
          <a:solidFill>
            <a:srgbClr val="EDE8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109728" cy="1920240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9222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738"/>
                </a:solidFill>
                <a:latin typeface="Aptos"/>
              </a:rPr>
              <a:t>CLEARER COMPARISONS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31136"/>
            <a:ext cx="3035808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Prepared datasets and KPI definitions support consistent interpretation.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429000" cy="1920240"/>
          </a:xfrm>
          <a:prstGeom prst="roundRect">
            <a:avLst/>
          </a:prstGeom>
          <a:solidFill>
            <a:srgbClr val="E1FAF8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109728" cy="1920240"/>
          </a:xfrm>
          <a:prstGeom prst="round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79222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738"/>
                </a:solidFill>
                <a:latin typeface="Aptos"/>
              </a:rPr>
              <a:t>TRACEABLE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31136"/>
            <a:ext cx="3035808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Testing materials and documentation support review and handover.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206240"/>
            <a:ext cx="10241280" cy="1005840"/>
          </a:xfrm>
          <a:prstGeom prst="roundRect">
            <a:avLst/>
          </a:prstGeom>
          <a:solidFill>
            <a:srgbClr val="14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416552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CC4D"/>
                </a:solidFill>
                <a:latin typeface="Aptos"/>
              </a:rPr>
              <a:t>FINAL ARTIFACTS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370832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Tableau workbook  •  Prepared datasets  •  KPI files  •  QA checklist  •  Testing report  •  Final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67708C"/>
                </a:solidFill>
                <a:latin typeface="Aptos"/>
              </a:rPr>
              <a:t>Focus on analytical clarity and documented validation—not unmeasured impact 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Where EduVision_DV Could Go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5074920" cy="1463040"/>
          </a:xfrm>
          <a:prstGeom prst="roundRect">
            <a:avLst/>
          </a:prstGeom>
          <a:solidFill>
            <a:srgbClr val="E4EF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109728" cy="1463040"/>
          </a:xfrm>
          <a:prstGeom prst="round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37944"/>
            <a:ext cx="4681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WIDER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76856"/>
            <a:ext cx="4681728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Add newer datasets and more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074920" cy="1463040"/>
          </a:xfrm>
          <a:prstGeom prst="roundRect">
            <a:avLst/>
          </a:prstGeom>
          <a:solidFill>
            <a:srgbClr val="EDE8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109728" cy="1463040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37944"/>
            <a:ext cx="4681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TIME-BASED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76856"/>
            <a:ext cx="4681728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Explore changes across years and periods.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11880"/>
            <a:ext cx="5074920" cy="1463040"/>
          </a:xfrm>
          <a:prstGeom prst="roundRect">
            <a:avLst/>
          </a:prstGeom>
          <a:solidFill>
            <a:srgbClr val="FFEDE1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611880"/>
            <a:ext cx="109728" cy="1463040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58184"/>
            <a:ext cx="4681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BETTER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97096"/>
            <a:ext cx="4681728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Refine tooltips, navigation, and filter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11880"/>
            <a:ext cx="5074920" cy="1463040"/>
          </a:xfrm>
          <a:prstGeom prst="roundRect">
            <a:avLst/>
          </a:prstGeom>
          <a:solidFill>
            <a:srgbClr val="E1FAF8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3611880"/>
            <a:ext cx="109728" cy="1463040"/>
          </a:xfrm>
          <a:prstGeom prst="round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58184"/>
            <a:ext cx="4681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738"/>
                </a:solidFill>
                <a:latin typeface="Aptos"/>
              </a:rPr>
              <a:t>DEEPER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97096"/>
            <a:ext cx="4681728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D44"/>
                </a:solidFill>
                <a:latin typeface="Aptos"/>
              </a:rPr>
              <a:t>Add further institution and region comparisons.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7784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41738"/>
                </a:solidFill>
                <a:latin typeface="Aptos"/>
              </a:rPr>
              <a:t>Future extensions should preserve data quality and transparent metric definitions.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840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C5DFF"/>
                </a:solidFill>
                <a:latin typeface="Aptos"/>
              </a:rPr>
              <a:t>ROLE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1207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1738"/>
                </a:solidFill>
                <a:latin typeface="Aptos"/>
              </a:rPr>
              <a:t>My Contribution to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566928" cy="50292"/>
          </a:xfrm>
          <a:prstGeom prst="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133856"/>
            <a:ext cx="384048" cy="50292"/>
          </a:xfrm>
          <a:prstGeom prst="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C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08C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3383280"/>
          </a:xfrm>
          <a:prstGeom prst="roundRect">
            <a:avLst/>
          </a:prstGeom>
          <a:solidFill>
            <a:srgbClr val="E4EF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9728" cy="3383280"/>
          </a:xfrm>
          <a:prstGeom prst="roundRect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00784"/>
            <a:ext cx="4818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WHAT I WORKED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39696"/>
            <a:ext cx="4818888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72D44"/>
                </a:solidFill>
                <a:latin typeface="Aptos"/>
              </a:rPr>
              <a:t>• Understand project requirements
• Prepare and validate datasets
• Develop KPI calculations and supporting files
• Build Tableau worksheets and dashboards
• Configure dashboard interactions
• Test visualizations and document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212080" cy="3383280"/>
          </a:xfrm>
          <a:prstGeom prst="roundRect">
            <a:avLst/>
          </a:prstGeom>
          <a:solidFill>
            <a:srgbClr val="EDE8FF"/>
          </a:solidFill>
          <a:ln>
            <a:solidFill>
              <a:srgbClr val="DE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109728" cy="3383280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00784"/>
            <a:ext cx="4818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738"/>
                </a:solidFill>
                <a:latin typeface="Aptos"/>
              </a:rPr>
              <a:t>SKILLS PUT INTO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39696"/>
            <a:ext cx="4818888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72D44"/>
                </a:solidFill>
                <a:latin typeface="Aptos"/>
              </a:rPr>
              <a:t>• Data cleaning and organization
• Analytical thinking
• Tableau visualization
• Dashboard design and interaction
• Quality assurance
• Technical documentation
• GitHub milestone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94960"/>
            <a:ext cx="2514600" cy="329184"/>
          </a:xfrm>
          <a:prstGeom prst="roundRect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458968"/>
            <a:ext cx="24048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41738"/>
                </a:solidFill>
                <a:latin typeface="Aptos"/>
              </a:rPr>
              <a:t>DATA VISUALIZATION INTERN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449824"/>
            <a:ext cx="7223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738"/>
                </a:solidFill>
                <a:latin typeface="Aptos"/>
              </a:rPr>
              <a:t>Infosys Springboard  |  Higher Education Intelligence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-548640"/>
            <a:ext cx="4389120" cy="4389120"/>
          </a:xfrm>
          <a:prstGeom prst="ellipse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2560320"/>
            <a:ext cx="3200400" cy="3200400"/>
          </a:xfrm>
          <a:prstGeom prst="ellipse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 rot="600000">
            <a:off x="8869680" y="4389120"/>
            <a:ext cx="914400" cy="914400"/>
          </a:xfrm>
          <a:prstGeom prst="diamond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417320" cy="329184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3" y="1801368"/>
            <a:ext cx="13075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943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ptos"/>
              </a:rPr>
              <a:t>Q  &amp; 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5852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3DCF9"/>
                </a:solidFill>
                <a:latin typeface="Aptos"/>
              </a:rPr>
              <a:t>Questions, feedback, and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1C9E7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1C9E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-548640"/>
            <a:ext cx="4389120" cy="4389120"/>
          </a:xfrm>
          <a:prstGeom prst="ellipse">
            <a:avLst/>
          </a:prstGeom>
          <a:solidFill>
            <a:srgbClr val="24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2560320"/>
            <a:ext cx="3200400" cy="3200400"/>
          </a:xfrm>
          <a:prstGeom prst="ellipse">
            <a:avLst/>
          </a:prstGeom>
          <a:solidFill>
            <a:srgbClr val="4F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 rot="600000">
            <a:off x="8869680" y="4389120"/>
            <a:ext cx="914400" cy="914400"/>
          </a:xfrm>
          <a:prstGeom prst="diamond">
            <a:avLst/>
          </a:prstGeom>
          <a:solidFill>
            <a:srgbClr val="FFC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1600200" cy="329184"/>
          </a:xfrm>
          <a:prstGeom prst="roundRect">
            <a:avLst/>
          </a:prstGeom>
          <a:solidFill>
            <a:srgbClr val="9C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3" y="1755648"/>
            <a:ext cx="1490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EDUVISION_DV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400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ptos"/>
              </a:rPr>
              <a:t>THANK YOU!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29000"/>
            <a:ext cx="1005840" cy="64008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6949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3DCF9"/>
                </a:solidFill>
                <a:latin typeface="Aptos"/>
              </a:rPr>
              <a:t>Higher Education Intelligence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6949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D3C4"/>
                </a:solidFill>
                <a:latin typeface="Aptos"/>
              </a:rPr>
              <a:t>Infosys Springboard  •  Data Visualization Intern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1C9E7"/>
                </a:solidFill>
                <a:latin typeface="Aptos"/>
              </a:rPr>
              <a:t>EDUVISION_DV  •  INFOSYS SPRINGBOARD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1C9E7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