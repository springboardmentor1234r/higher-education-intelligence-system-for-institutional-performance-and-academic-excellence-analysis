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Higher Education Intelligence System</a:t>
            </a:r>
          </a:p>
          <a:p>
            <a:pPr>
              <a:defRPr sz="2000" b="0">
                <a:solidFill>
                  <a:srgbClr val="0284C7"/>
                </a:solidFill>
              </a:defRPr>
            </a:pPr>
            <a:r>
              <a:t>Institutional Performance, Research Excellence &amp; Academic Analytics</a:t>
            </a:r>
          </a:p>
          <a:p>
            <a:br/>
            <a:pPr>
              <a:defRPr sz="1400">
                <a:solidFill>
                  <a:srgbClr val="64748B"/>
                </a:solidFill>
              </a:defRPr>
            </a:pPr>
            <a:r>
              <a:t>EduVision_DV • Comprehensive Tableau Analytics Suite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Springboard Capstone Project | Interactive Dashboards | Multi-Year Global Benchmarking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EDUVISION_DV • HIGHER EDUCATION INTELLIGENCE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Executive Summary &amp;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F46E5"/>
                </a:solidFill>
              </a:defRPr>
            </a:pPr>
            <a:r>
              <a:t>• The Higher Education Challenge: </a:t>
            </a:r>
            <a:r>
              <a:rPr b="0">
                <a:solidFill>
                  <a:srgbClr val="0F172A"/>
                </a:solidFill>
              </a:rPr>
              <a:t>Global universities navigate fragmented ranking systems (QS, Times Higher Education, World University Rankings) with non-standardized metrics, incompatible naming conventions, and scattered institutional data.</a:t>
            </a:r>
          </a:p>
          <a:p/>
          <a:p>
            <a:pPr>
              <a:defRPr sz="1500" b="1">
                <a:solidFill>
                  <a:srgbClr val="4F46E5"/>
                </a:solidFill>
              </a:defRPr>
            </a:pPr>
            <a:r>
              <a:t>• The Solution — EduVision_DV: </a:t>
            </a:r>
            <a:r>
              <a:rPr b="0">
                <a:solidFill>
                  <a:srgbClr val="0F172A"/>
                </a:solidFill>
              </a:rPr>
              <a:t>A unified, multi-source business intelligence platform that standardizes 800+ top universities across 58 dimensional and performance indicators into an interconnected Tableau analytics suite.</a:t>
            </a:r>
          </a:p>
          <a:p/>
          <a:p>
            <a:pPr>
              <a:defRPr sz="1500" b="1">
                <a:solidFill>
                  <a:srgbClr val="4F46E5"/>
                </a:solidFill>
              </a:defRPr>
            </a:pPr>
            <a:r>
              <a:t>• Core Deliverables: </a:t>
            </a:r>
            <a:r>
              <a:rPr b="0">
                <a:solidFill>
                  <a:srgbClr val="0F172A"/>
                </a:solidFill>
              </a:rPr>
              <a:t>Four interconnected dashboards (University Overview, Research Analytics, Student Analytics, Country Comparison) backed by an auditable 6-stage ETL data pipeline.</a:t>
            </a:r>
          </a:p>
          <a:p/>
          <a:p>
            <a:pPr>
              <a:defRPr sz="1500" b="1">
                <a:solidFill>
                  <a:srgbClr val="4F46E5"/>
                </a:solidFill>
              </a:defRPr>
            </a:pPr>
            <a:r>
              <a:t>• Key Business Value: </a:t>
            </a:r>
            <a:r>
              <a:rPr b="0">
                <a:solidFill>
                  <a:srgbClr val="0F172A"/>
                </a:solidFill>
              </a:rPr>
              <a:t>Empowers university leaders, policy makers, researchers, and prospective students to benchmark academic rankings, research citation impact, student diversity, and national education trends in real time.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EDUVISION_DV • HIGHER EDUCATION INTELLIGENCE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Data Model Architecture &amp; Dimensional Star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✔ Master Entity Resolution: </a:t>
            </a:r>
            <a:r>
              <a:rPr b="0">
                <a:solidFill>
                  <a:srgbClr val="0F172A"/>
                </a:solidFill>
              </a:rPr>
              <a:t>Primary entity matching anchored on QS 2025 dataset with fuzzy string matching, alias dictionaries, and manual curation to harmonize THE 2024 and WUR 2023 records.</a:t>
            </a:r>
          </a:p>
          <a:p>
            <a:pPr>
              <a:defRPr sz="1300" b="1">
                <a:solidFill>
                  <a:srgbClr val="0284C7"/>
                </a:solidFill>
              </a:defRPr>
            </a:pPr>
            <a:r>
              <a:t>✔ DIM_UNIVERSITY: </a:t>
            </a:r>
            <a:r>
              <a:rPr b="0">
                <a:solidFill>
                  <a:srgbClr val="0F172A"/>
                </a:solidFill>
              </a:rPr>
              <a:t>Unique University_ID, University_Name, Country_Standard, Region, and Global Rank.</a:t>
            </a:r>
          </a:p>
          <a:p>
            <a:pPr>
              <a:defRPr sz="1300" b="1">
                <a:solidFill>
                  <a:srgbClr val="0284C7"/>
                </a:solidFill>
              </a:defRPr>
            </a:pPr>
            <a:r>
              <a:t>✔ DIM_COUNTRY: </a:t>
            </a:r>
            <a:r>
              <a:rPr b="0">
                <a:solidFill>
                  <a:srgbClr val="0F172A"/>
                </a:solidFill>
              </a:rPr>
              <a:t>Standardized ISO-3166 Country Codes, Geographic Region, and World Bank socioeconomic indicators.</a:t>
            </a:r>
          </a:p>
          <a:p>
            <a:pPr>
              <a:defRPr sz="1300" b="1">
                <a:solidFill>
                  <a:srgbClr val="0284C7"/>
                </a:solidFill>
              </a:defRPr>
            </a:pPr>
            <a:r>
              <a:t>✔ FACT_PERFORMANCE: </a:t>
            </a:r>
            <a:r>
              <a:rPr b="0">
                <a:solidFill>
                  <a:srgbClr val="0F172A"/>
                </a:solidFill>
              </a:rPr>
              <a:t>Composite Global Ranking Score, Overall Score, and Academic Reputation Score.</a:t>
            </a:r>
          </a:p>
          <a:p>
            <a:pPr>
              <a:defRPr sz="1300" b="1">
                <a:solidFill>
                  <a:srgbClr val="0284C7"/>
                </a:solidFill>
              </a:defRPr>
            </a:pPr>
            <a:r>
              <a:t>✔ FACT_RESEARCH: </a:t>
            </a:r>
            <a:r>
              <a:rPr b="0">
                <a:solidFill>
                  <a:srgbClr val="0F172A"/>
                </a:solidFill>
              </a:rPr>
              <a:t>Research Impact Score, Citation Score, Research Quality, Productivity Index, and Industry Impact.</a:t>
            </a:r>
          </a:p>
          <a:p>
            <a:pPr>
              <a:defRPr sz="1300" b="1">
                <a:solidFill>
                  <a:srgbClr val="0284C7"/>
                </a:solidFill>
              </a:defRPr>
            </a:pPr>
            <a:r>
              <a:t>✔ FACT_STUDENT: </a:t>
            </a:r>
            <a:r>
              <a:rPr b="0">
                <a:solidFill>
                  <a:srgbClr val="0F172A"/>
                </a:solidFill>
              </a:rPr>
              <a:t>Total Student Population, Faculty-to-Student Ratio, International Student %, Female %, and Male %.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46304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4F46E5"/>
                </a:solidFill>
              </a:defRPr>
            </a:pPr>
            <a:r>
              <a:t>Pipeline Validation Stats: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Initial Raw Universe:</a:t>
            </a:r>
            <a:br/>
            <a:r>
              <a:t>  → 1,503 QS + 867 THE + 812 WUR + 55,918 World Bank records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Matched Institutions:</a:t>
            </a:r>
            <a:br/>
            <a:r>
              <a:t>  → 822 multi-source matched universities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Standardized Countries:</a:t>
            </a:r>
            <a:br/>
            <a:r>
              <a:t>  → 120+ sovereign nations mapped to ISO standards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Completeness Rate:</a:t>
            </a:r>
            <a:br/>
            <a:r>
              <a:t>  → 96.4% across 6 core indicators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Extract Engine:</a:t>
            </a:r>
            <a:br/>
            <a:r>
              <a:t>  → Tableau Hyper Extract (.hyper) with 58 quantitative and dimension attributes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EDUVISION_DV • HIGHER EDUCATION INTELLIGENCE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Dashboard 1: 🎓 University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114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Institutional rankings, academic reputation, overall scores, and global distribution.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6 KPI Cards: Global Ranking, Research Impact, Faculty Ratio, Intl %, Academic Rep, Productivity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Top Universities by Global Ranking &amp; Academic Reputation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World Map distribution of premier global institutions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Interactive Country Filter with dynamic cross-filtering across all visual marks</a:t>
            </a:r>
          </a:p>
        </p:txBody>
      </p:sp>
      <p:pic>
        <p:nvPicPr>
          <p:cNvPr id="4" name="Picture 3" descr="UNIVERSITY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EDUVISION_DV • HIGHER EDUCATION INTELLIGENCE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Dashboard 2: 🔬 Research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114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Deep-dive research performance, citation impact, environment, and industrial collaboration.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6 KPI Cards: Research Impact, Citations Score, Research Quality, Environment, Industry Impact, Productivity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Top Research Institutions by normalized Impact Score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Citations vs. Research Productivity scatter/correlation view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Research environment quality benchmarks by country</a:t>
            </a:r>
          </a:p>
        </p:txBody>
      </p:sp>
      <p:pic>
        <p:nvPicPr>
          <p:cNvPr id="4" name="Picture 3" descr="RESEARCH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EDUVISION_DV • HIGHER EDUCATION INTELLIGENCE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Dashboard 3: 👩‍🎓 Student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114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Student demographics, international student diversity, enrollment volume, and faculty ratios.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6 KPI Cards: Total Students (20.18M), Avg Male Pct (48.7%), Avg Female Pct (51.3%), Avg Overall Score (44.9), Total Intl Student Pct (14.1%), Avg Intl Outlook (59.3)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International Student Percentage ranking across global universities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Faculty-to-Student Ratio distribution analysis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Enrollment volume vs. Institutional Quality comparisons</a:t>
            </a:r>
          </a:p>
        </p:txBody>
      </p:sp>
      <p:pic>
        <p:nvPicPr>
          <p:cNvPr id="4" name="Picture 3" descr="STUDENT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EDUVISION_DV • HIGHER EDUCATION INTELLIGENCE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Dashboard 4: 🌍 Country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114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Cross-national higher education benchmarking and macro-level academic strength.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6 KPI Cards: Country-level aggregated ranking, research, reputation, and student ratios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Average Performance Metrics by Country with Top-N ranking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Regional performance distribution (Americas, Europe, Asia, Africa, Oceania)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Global education capacity comparison across national systems</a:t>
            </a:r>
          </a:p>
        </p:txBody>
      </p:sp>
      <p:pic>
        <p:nvPicPr>
          <p:cNvPr id="4" name="Picture 3" descr="COUNTR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EDUVISION_DV • HIGHER EDUCATION INTELLIGENCE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Seamless Tableau Dashboard Navigation &amp; Interactivity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</a:defRPr>
            </a:pPr>
            <a:r>
              <a:t>✦ Dual Navigation Architecture: </a:t>
            </a:r>
            <a:r>
              <a:rPr b="0">
                <a:solidFill>
                  <a:srgbClr val="0F172A"/>
                </a:solidFill>
              </a:rPr>
              <a:t>Includes both a Persistent Left Sidebar and a Top Quick-Jump Header on all 4 dashboards, powered by native Tableau navigation actions.</a:t>
            </a:r>
          </a:p>
          <a:p/>
          <a:p>
            <a:pPr>
              <a:defRPr sz="1400" b="1">
                <a:solidFill>
                  <a:srgbClr val="4F46E5"/>
                </a:solidFill>
              </a:defRPr>
            </a:pPr>
            <a:r>
              <a:t>✦ Single-Click Context Switching: </a:t>
            </a:r>
            <a:r>
              <a:rPr b="0">
                <a:solidFill>
                  <a:srgbClr val="0F172A"/>
                </a:solidFill>
              </a:rPr>
              <a:t>Users can effortlessly jump between University Overview, Research Analytics, Student Analytics, and Country Comparison without losing analytical context.</a:t>
            </a:r>
          </a:p>
          <a:p/>
          <a:p>
            <a:pPr>
              <a:defRPr sz="1400" b="1">
                <a:solidFill>
                  <a:srgbClr val="4F46E5"/>
                </a:solidFill>
              </a:defRPr>
            </a:pPr>
            <a:r>
              <a:t>✦ Global Country Filtering: </a:t>
            </a:r>
            <a:r>
              <a:rPr b="0">
                <a:solidFill>
                  <a:srgbClr val="0F172A"/>
                </a:solidFill>
              </a:rPr>
              <a:t>Country_Standard dropdown filter is synchronized across all worksheets, enabling instant localized drill-downs.</a:t>
            </a:r>
          </a:p>
          <a:p/>
          <a:p>
            <a:pPr>
              <a:defRPr sz="1400" b="1">
                <a:solidFill>
                  <a:srgbClr val="4F46E5"/>
                </a:solidFill>
              </a:defRPr>
            </a:pPr>
            <a:r>
              <a:t>✦ Tooltips &amp; Visual Hierarchy: </a:t>
            </a:r>
            <a:r>
              <a:rPr b="0">
                <a:solidFill>
                  <a:srgbClr val="0F172A"/>
                </a:solidFill>
              </a:rPr>
              <a:t>Rich, customized hover tooltips provide exact university metrics, rankings, and underlying data definitions.</a:t>
            </a:r>
          </a:p>
          <a:p/>
          <a:p>
            <a:pPr>
              <a:defRPr sz="1400" b="1">
                <a:solidFill>
                  <a:srgbClr val="4F46E5"/>
                </a:solidFill>
              </a:defRPr>
            </a:pPr>
            <a:r>
              <a:t>✦ Light-Mode Enterprise UI: </a:t>
            </a:r>
            <a:r>
              <a:rPr b="0">
                <a:solidFill>
                  <a:srgbClr val="0F172A"/>
                </a:solidFill>
              </a:rPr>
              <a:t>Built with clean modern styling (#F8FAFC canvas, #FFFFFF card containers, Indigo #4F46E5 accents, Slate typography) optimized for executive presentations.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EDUVISION_DV • HIGHER EDUCATION INTELLIGENCE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Project Lifecycle &amp; Milestone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</a:defRPr>
            </a:pPr>
            <a:r>
              <a:t>📂 Milestone 01 — Data Collection &amp; Cleaning:</a:t>
            </a:r>
            <a:br/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 Ingested raw datasets from QS 2025, THE 2024, WUR 2023, and World Bank. Audited data types, handled nulls, standardizing country labels and university naming conventions.</a:t>
            </a:r>
            <a:br/>
          </a:p>
          <a:p>
            <a:pPr>
              <a:defRPr sz="1300" b="1">
                <a:solidFill>
                  <a:srgbClr val="4F46E5"/>
                </a:solidFill>
              </a:defRPr>
            </a:pPr>
            <a:r>
              <a:t>📂 Milestone 02 — KPI Engineering &amp; Data Modeling:</a:t>
            </a:r>
            <a:br/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 Engineered 6 core composite indicators, computed student gender percentages (Male/Female %), established university alias mappings, and structured dimensional star schema.</a:t>
            </a:r>
            <a:br/>
          </a:p>
          <a:p>
            <a:pPr>
              <a:defRPr sz="1300" b="1">
                <a:solidFill>
                  <a:srgbClr val="4F46E5"/>
                </a:solidFill>
              </a:defRPr>
            </a:pPr>
            <a:r>
              <a:t>📂 Milestone 03 — Dashboard Design &amp; Development:</a:t>
            </a:r>
            <a:br/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 Constructed interactive Tableau worksheets across 4 dashboards, integrated 24 KPI scorecards, custom number formatting, and verified Hyper extract engine.</a:t>
            </a:r>
            <a:br/>
          </a:p>
          <a:p>
            <a:pPr>
              <a:defRPr sz="1300" b="1">
                <a:solidFill>
                  <a:srgbClr val="4F46E5"/>
                </a:solidFill>
              </a:defRPr>
            </a:pPr>
            <a:r>
              <a:t>📂 Milestone 04 — Testing, Verification &amp; Deployment:</a:t>
            </a:r>
            <a:br/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 Conducted QA audit, verified 100% extract compatibility, eliminated load errors (D2E8DA72, 3C242D89), implemented native navigation buttons, and finalized repository documentation.</a:t>
            </a:r>
            <a:b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EDUVISION_DV • HIGHER EDUCATION INTELLIGENCE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Conclusions &amp; Strategic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✔ Actionable Intelligence: </a:t>
            </a:r>
            <a:r>
              <a:rPr b="0">
                <a:solidFill>
                  <a:srgbClr val="0F172A"/>
                </a:solidFill>
              </a:rPr>
              <a:t>Transforms raw institutional rankings into strategic decision-support analytics for academic administration and national policymakers.</a:t>
            </a:r>
          </a:p>
          <a:p/>
          <a:p>
            <a:pPr>
              <a:defRPr sz="1400" b="1">
                <a:solidFill>
                  <a:srgbClr val="0284C7"/>
                </a:solidFill>
              </a:defRPr>
            </a:pPr>
            <a:r>
              <a:t>✔ Reproducible Pipeline: </a:t>
            </a:r>
            <a:r>
              <a:rPr b="0">
                <a:solidFill>
                  <a:srgbClr val="0F172A"/>
                </a:solidFill>
              </a:rPr>
              <a:t>All raw datasets, standardization scripts, and KPI calculators are packaged into verifiable milestones ready for GitHub deployment.</a:t>
            </a:r>
          </a:p>
          <a:p/>
          <a:p>
            <a:pPr>
              <a:defRPr sz="1400" b="1">
                <a:solidFill>
                  <a:srgbClr val="0284C7"/>
                </a:solidFill>
              </a:defRPr>
            </a:pPr>
            <a:r>
              <a:t>✔ Tableau Public Ready: </a:t>
            </a:r>
            <a:r>
              <a:rPr b="0">
                <a:solidFill>
                  <a:srgbClr val="0F172A"/>
                </a:solidFill>
              </a:rPr>
              <a:t>Packaged .twbx is self-contained with bundled .hyper database extract, fully compliant with Tableau Public cloud hosting requirements.</a:t>
            </a:r>
          </a:p>
          <a:p/>
          <a:p>
            <a:pPr>
              <a:defRPr sz="1400" b="1">
                <a:solidFill>
                  <a:srgbClr val="0284C7"/>
                </a:solidFill>
              </a:defRPr>
            </a:pPr>
            <a:r>
              <a:t>✔ Live Interactive Access: </a:t>
            </a:r>
            <a:r>
              <a:rPr b="0">
                <a:solidFill>
                  <a:srgbClr val="0F172A"/>
                </a:solidFill>
              </a:rPr>
              <a:t>Publishable to Tableau Public for public dissemination and institutional portfolio presentation.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