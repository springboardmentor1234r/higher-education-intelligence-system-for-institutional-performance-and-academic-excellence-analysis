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9" r:id="rId11"/>
    <p:sldId id="270" r:id="rId12"/>
    <p:sldId id="271" r:id="rId13"/>
    <p:sldId id="272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4326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rgbClr val="0B1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EduVision_DV  |  Higher Education Performance Dashboard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48463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B8B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1F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48463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B8B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4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15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8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6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2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1097280"/>
            <a:ext cx="4206240" cy="4206240"/>
          </a:xfrm>
          <a:prstGeom prst="ellipse">
            <a:avLst/>
          </a:prstGeom>
          <a:solidFill>
            <a:srgbClr val="13306A"/>
          </a:solidFill>
          <a:ln w="19050">
            <a:solidFill>
              <a:srgbClr val="1E4A9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01000" y="1645920"/>
            <a:ext cx="3108960" cy="3108960"/>
          </a:xfrm>
          <a:prstGeom prst="ellipse">
            <a:avLst/>
          </a:prstGeom>
          <a:solidFill>
            <a:srgbClr val="17407F"/>
          </a:solidFill>
          <a:ln w="12700">
            <a:solidFill>
              <a:srgbClr val="2A5CAB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2194560"/>
            <a:ext cx="2011680" cy="20116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040880" y="685800"/>
            <a:ext cx="210312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315200" y="1463040"/>
            <a:ext cx="219456" cy="320040"/>
          </a:xfrm>
          <a:prstGeom prst="rect">
            <a:avLst/>
          </a:prstGeom>
          <a:solidFill>
            <a:srgbClr val="BFDBFE"/>
          </a:solidFill>
          <a:ln w="3175">
            <a:solidFill>
              <a:srgbClr val="BFDBF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644384" y="1234440"/>
            <a:ext cx="219456" cy="548640"/>
          </a:xfrm>
          <a:prstGeom prst="rect">
            <a:avLst/>
          </a:prstGeom>
          <a:solidFill>
            <a:srgbClr val="BFDBFE"/>
          </a:solidFill>
          <a:ln w="3175">
            <a:solidFill>
              <a:srgbClr val="BFDBF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973568" y="1371600"/>
            <a:ext cx="219456" cy="411480"/>
          </a:xfrm>
          <a:prstGeom prst="rect">
            <a:avLst/>
          </a:prstGeom>
          <a:solidFill>
            <a:srgbClr val="BFDBFE"/>
          </a:solidFill>
          <a:ln w="3175">
            <a:solidFill>
              <a:srgbClr val="BFDBF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302752" y="1005840"/>
            <a:ext cx="219456" cy="777240"/>
          </a:xfrm>
          <a:prstGeom prst="rect">
            <a:avLst/>
          </a:prstGeom>
          <a:solidFill>
            <a:srgbClr val="2563EB"/>
          </a:solidFill>
          <a:ln w="3175">
            <a:solidFill>
              <a:srgbClr val="2563E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631936" y="1143000"/>
            <a:ext cx="219456" cy="640080"/>
          </a:xfrm>
          <a:prstGeom prst="rect">
            <a:avLst/>
          </a:prstGeom>
          <a:solidFill>
            <a:srgbClr val="BFDBFE"/>
          </a:solidFill>
          <a:ln w="3175">
            <a:solidFill>
              <a:srgbClr val="BFDBF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784080" y="4572000"/>
            <a:ext cx="19202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54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5560" y="4754880"/>
            <a:ext cx="640080" cy="64008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10149840" y="5486400"/>
            <a:ext cx="1188720" cy="82296"/>
          </a:xfrm>
          <a:prstGeom prst="rect">
            <a:avLst/>
          </a:prstGeom>
          <a:solidFill>
            <a:srgbClr val="BFDBFE"/>
          </a:solidFill>
          <a:ln w="3175">
            <a:solidFill>
              <a:srgbClr val="BFDBFE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0149840" y="5641848"/>
            <a:ext cx="731520" cy="82296"/>
          </a:xfrm>
          <a:prstGeom prst="rect">
            <a:avLst/>
          </a:prstGeom>
          <a:solidFill>
            <a:srgbClr val="BFDBFE"/>
          </a:solidFill>
          <a:ln w="3175">
            <a:solidFill>
              <a:srgbClr val="BFDBFE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 flipV="1">
            <a:off x="7315200" y="5440680"/>
            <a:ext cx="640080" cy="411480"/>
          </a:xfrm>
          <a:prstGeom prst="line">
            <a:avLst/>
          </a:prstGeom>
          <a:noFill/>
          <a:ln w="28575">
            <a:solidFill>
              <a:srgbClr val="60A5FA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955280" y="5440680"/>
            <a:ext cx="548640" cy="228600"/>
          </a:xfrm>
          <a:prstGeom prst="line">
            <a:avLst/>
          </a:prstGeom>
          <a:noFill/>
          <a:ln w="28575">
            <a:solidFill>
              <a:srgbClr val="60A5FA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 flipV="1">
            <a:off x="8503920" y="5074920"/>
            <a:ext cx="640080" cy="594360"/>
          </a:xfrm>
          <a:prstGeom prst="line">
            <a:avLst/>
          </a:prstGeom>
          <a:noFill/>
          <a:ln w="28575">
            <a:solidFill>
              <a:srgbClr val="60A5FA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251192" y="5788152"/>
            <a:ext cx="128016" cy="12801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0A5FA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891272" y="5376672"/>
            <a:ext cx="128016" cy="12801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0A5FA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439912" y="5605272"/>
            <a:ext cx="128016" cy="12801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0A5FA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9079992" y="5010912"/>
            <a:ext cx="128016" cy="12801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0A5FA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40080" y="9144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FINAL-YEAR PROJECT  |  DATA VISUALIZATION</a:t>
            </a:r>
            <a:endParaRPr lang="en-US" sz="1200" dirty="0"/>
          </a:p>
        </p:txBody>
      </p:sp>
      <p:sp>
        <p:nvSpPr>
          <p:cNvPr id="23" name="Text 19"/>
          <p:cNvSpPr txBox="1"/>
          <p:nvPr/>
        </p:nvSpPr>
        <p:spPr>
          <a:xfrm>
            <a:off x="640080" y="13716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EduVision_DV</a:t>
            </a:r>
            <a:endParaRPr lang="en-US" sz="5400" dirty="0"/>
          </a:p>
        </p:txBody>
      </p:sp>
      <p:sp>
        <p:nvSpPr>
          <p:cNvPr id="24" name="Text 20"/>
          <p:cNvSpPr txBox="1"/>
          <p:nvPr/>
        </p:nvSpPr>
        <p:spPr>
          <a:xfrm>
            <a:off x="640080" y="2331720"/>
            <a:ext cx="6309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Higher Education Performance Dashboard</a:t>
            </a:r>
            <a:endParaRPr lang="en-US" sz="2800" dirty="0"/>
          </a:p>
        </p:txBody>
      </p:sp>
      <p:sp>
        <p:nvSpPr>
          <p:cNvPr id="25" name="Text 21"/>
          <p:cNvSpPr txBox="1"/>
          <p:nvPr/>
        </p:nvSpPr>
        <p:spPr>
          <a:xfrm>
            <a:off x="640080" y="33375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Tableau-Based Higher Education Analytics</a:t>
            </a:r>
            <a:endParaRPr lang="en-US" sz="1800" dirty="0"/>
          </a:p>
        </p:txBody>
      </p:sp>
      <p:sp>
        <p:nvSpPr>
          <p:cNvPr id="26" name="Text 22"/>
          <p:cNvSpPr txBox="1"/>
          <p:nvPr/>
        </p:nvSpPr>
        <p:spPr>
          <a:xfrm>
            <a:off x="640080" y="4114800"/>
            <a:ext cx="6309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1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EduVision_DV is an interactive higher education analytics dashboard suite. It transforms publicly available higher education datasets into actionable visual insights using Tableau.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11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ANALYZES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057400" cy="1371600"/>
          </a:xfrm>
          <a:prstGeom prst="roundRect">
            <a:avLst>
              <a:gd name="adj" fmla="val 5333"/>
            </a:avLst>
          </a:prstGeom>
          <a:solidFill>
            <a:srgbClr val="F1F5FB"/>
          </a:solidFill>
          <a:ln w="9525">
            <a:solidFill>
              <a:srgbClr val="D5DEEC"/>
            </a:solidFill>
            <a:prstDash val="solid"/>
          </a:ln>
          <a:effectLst>
            <a:outerShdw blurRad="101600" dist="25400" dir="5400000" algn="bl" rotWithShape="0">
              <a:srgbClr val="0B1F44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514600"/>
            <a:ext cx="548640" cy="548640"/>
          </a:xfrm>
          <a:prstGeom prst="ellipse">
            <a:avLst/>
          </a:prstGeom>
          <a:solidFill>
            <a:srgbClr val="0B1F44"/>
          </a:solidFill>
          <a:ln w="6350">
            <a:solidFill>
              <a:srgbClr val="0B1F44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651760"/>
            <a:ext cx="274320" cy="2743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1520" y="32004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Rankings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2807208" y="2331720"/>
            <a:ext cx="2057400" cy="1371600"/>
          </a:xfrm>
          <a:prstGeom prst="roundRect">
            <a:avLst>
              <a:gd name="adj" fmla="val 5333"/>
            </a:avLst>
          </a:prstGeom>
          <a:solidFill>
            <a:srgbClr val="F1F5FB"/>
          </a:solidFill>
          <a:ln w="9525">
            <a:solidFill>
              <a:srgbClr val="D5DEEC"/>
            </a:solidFill>
            <a:prstDash val="solid"/>
          </a:ln>
          <a:effectLst>
            <a:outerShdw blurRad="101600" dist="25400" dir="5400000" algn="bl" rotWithShape="0">
              <a:srgbClr val="0B1F44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990088" y="2514600"/>
            <a:ext cx="548640" cy="548640"/>
          </a:xfrm>
          <a:prstGeom prst="ellipse">
            <a:avLst/>
          </a:prstGeom>
          <a:solidFill>
            <a:srgbClr val="0B1F44"/>
          </a:solidFill>
          <a:ln w="6350">
            <a:solidFill>
              <a:srgbClr val="0B1F44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7248" y="265176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990088" y="32004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Performance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5065776" y="2331720"/>
            <a:ext cx="2057400" cy="1371600"/>
          </a:xfrm>
          <a:prstGeom prst="roundRect">
            <a:avLst>
              <a:gd name="adj" fmla="val 5333"/>
            </a:avLst>
          </a:prstGeom>
          <a:solidFill>
            <a:srgbClr val="F1F5FB"/>
          </a:solidFill>
          <a:ln w="9525">
            <a:solidFill>
              <a:srgbClr val="D5DEEC"/>
            </a:solidFill>
            <a:prstDash val="solid"/>
          </a:ln>
          <a:effectLst>
            <a:outerShdw blurRad="101600" dist="25400" dir="5400000" algn="bl" rotWithShape="0">
              <a:srgbClr val="0B1F44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248656" y="2514600"/>
            <a:ext cx="548640" cy="548640"/>
          </a:xfrm>
          <a:prstGeom prst="ellipse">
            <a:avLst/>
          </a:prstGeom>
          <a:solidFill>
            <a:srgbClr val="0B1F44"/>
          </a:solidFill>
          <a:ln w="6350">
            <a:solidFill>
              <a:srgbClr val="0B1F44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5816" y="265176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248656" y="32004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Diversity</a:t>
            </a:r>
            <a:endParaRPr lang="en-US" sz="1500" dirty="0"/>
          </a:p>
        </p:txBody>
      </p:sp>
      <p:sp>
        <p:nvSpPr>
          <p:cNvPr id="17" name="Shape 12"/>
          <p:cNvSpPr/>
          <p:nvPr/>
        </p:nvSpPr>
        <p:spPr>
          <a:xfrm>
            <a:off x="7324344" y="2331720"/>
            <a:ext cx="2057400" cy="1371600"/>
          </a:xfrm>
          <a:prstGeom prst="roundRect">
            <a:avLst>
              <a:gd name="adj" fmla="val 5333"/>
            </a:avLst>
          </a:prstGeom>
          <a:solidFill>
            <a:srgbClr val="F1F5FB"/>
          </a:solidFill>
          <a:ln w="9525">
            <a:solidFill>
              <a:srgbClr val="D5DEEC"/>
            </a:solidFill>
            <a:prstDash val="solid"/>
          </a:ln>
          <a:effectLst>
            <a:outerShdw blurRad="101600" dist="25400" dir="5400000" algn="bl" rotWithShape="0">
              <a:srgbClr val="0B1F44">
                <a:alpha val="1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507224" y="2514600"/>
            <a:ext cx="548640" cy="548640"/>
          </a:xfrm>
          <a:prstGeom prst="ellipse">
            <a:avLst/>
          </a:prstGeom>
          <a:solidFill>
            <a:srgbClr val="0B1F44"/>
          </a:solidFill>
          <a:ln w="6350">
            <a:solidFill>
              <a:srgbClr val="0B1F44"/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44384" y="2651760"/>
            <a:ext cx="274320" cy="27432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7507224" y="32004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Excellence</a:t>
            </a:r>
            <a:endParaRPr lang="en-US" sz="1500" dirty="0"/>
          </a:p>
        </p:txBody>
      </p:sp>
      <p:sp>
        <p:nvSpPr>
          <p:cNvPr id="21" name="Shape 15"/>
          <p:cNvSpPr/>
          <p:nvPr/>
        </p:nvSpPr>
        <p:spPr>
          <a:xfrm>
            <a:off x="9582912" y="2331720"/>
            <a:ext cx="2057400" cy="1371600"/>
          </a:xfrm>
          <a:prstGeom prst="roundRect">
            <a:avLst>
              <a:gd name="adj" fmla="val 5333"/>
            </a:avLst>
          </a:prstGeom>
          <a:solidFill>
            <a:srgbClr val="F1F5FB"/>
          </a:solidFill>
          <a:ln w="9525">
            <a:solidFill>
              <a:srgbClr val="D5DEEC"/>
            </a:solidFill>
            <a:prstDash val="solid"/>
          </a:ln>
          <a:effectLst>
            <a:outerShdw blurRad="101600" dist="25400" dir="5400000" algn="bl" rotWithShape="0">
              <a:srgbClr val="0B1F44">
                <a:alpha val="1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9765792" y="2514600"/>
            <a:ext cx="548640" cy="548640"/>
          </a:xfrm>
          <a:prstGeom prst="ellipse">
            <a:avLst/>
          </a:prstGeom>
          <a:solidFill>
            <a:srgbClr val="0B1F44"/>
          </a:solidFill>
          <a:ln w="6350">
            <a:solidFill>
              <a:srgbClr val="0B1F44"/>
            </a:solidFill>
            <a:prstDash val="solid"/>
          </a:ln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02952" y="2651760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9765792" y="32004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Country-Level Education Trends</a:t>
            </a:r>
            <a:endParaRPr lang="en-US" sz="1500" dirty="0"/>
          </a:p>
        </p:txBody>
      </p:sp>
      <p:sp>
        <p:nvSpPr>
          <p:cNvPr id="25" name="Text 18"/>
          <p:cNvSpPr txBox="1"/>
          <p:nvPr/>
        </p:nvSpPr>
        <p:spPr>
          <a:xfrm>
            <a:off x="548640" y="4023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DATA TO INSIGHT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548640" y="4389120"/>
            <a:ext cx="1645920" cy="1325880"/>
          </a:xfrm>
          <a:prstGeom prst="roundRect">
            <a:avLst>
              <a:gd name="adj" fmla="val 5517"/>
            </a:avLst>
          </a:prstGeom>
          <a:solidFill>
            <a:srgbClr val="0B1F44"/>
          </a:solidFill>
          <a:ln w="6350">
            <a:solidFill>
              <a:srgbClr val="0B1F44"/>
            </a:solidFill>
            <a:prstDash val="solid"/>
          </a:ln>
          <a:effectLst>
            <a:outerShdw blurRad="101600" dist="25400" dir="5400000" algn="bl" rotWithShape="0">
              <a:srgbClr val="0B1F44">
                <a:alpha val="10000"/>
              </a:srgbClr>
            </a:outerShdw>
          </a:effectLst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88720" y="4544568"/>
            <a:ext cx="365760" cy="365760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640080" y="50292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Education Data</a:t>
            </a:r>
            <a:endParaRPr lang="en-US" sz="1300" dirty="0"/>
          </a:p>
        </p:txBody>
      </p:sp>
      <p:sp>
        <p:nvSpPr>
          <p:cNvPr id="29" name="Shape 21"/>
          <p:cNvSpPr/>
          <p:nvPr/>
        </p:nvSpPr>
        <p:spPr>
          <a:xfrm>
            <a:off x="2231136" y="5047488"/>
            <a:ext cx="170078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30" name="Shape 22"/>
          <p:cNvSpPr/>
          <p:nvPr/>
        </p:nvSpPr>
        <p:spPr>
          <a:xfrm>
            <a:off x="2437790" y="4389120"/>
            <a:ext cx="1645920" cy="1325880"/>
          </a:xfrm>
          <a:prstGeom prst="roundRect">
            <a:avLst>
              <a:gd name="adj" fmla="val 5517"/>
            </a:avLst>
          </a:prstGeom>
          <a:solidFill>
            <a:srgbClr val="0B1F44"/>
          </a:solidFill>
          <a:ln w="6350">
            <a:solidFill>
              <a:srgbClr val="0B1F44"/>
            </a:solidFill>
            <a:prstDash val="solid"/>
          </a:ln>
          <a:effectLst>
            <a:outerShdw blurRad="101600" dist="25400" dir="5400000" algn="bl" rotWithShape="0">
              <a:srgbClr val="0B1F44">
                <a:alpha val="10000"/>
              </a:srgbClr>
            </a:outerShdw>
          </a:effectLst>
        </p:spPr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77870" y="4544568"/>
            <a:ext cx="365760" cy="365760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2529230" y="50292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300" dirty="0"/>
          </a:p>
        </p:txBody>
      </p:sp>
      <p:sp>
        <p:nvSpPr>
          <p:cNvPr id="33" name="Shape 24"/>
          <p:cNvSpPr/>
          <p:nvPr/>
        </p:nvSpPr>
        <p:spPr>
          <a:xfrm>
            <a:off x="4120286" y="5047488"/>
            <a:ext cx="170078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34" name="Shape 25"/>
          <p:cNvSpPr/>
          <p:nvPr/>
        </p:nvSpPr>
        <p:spPr>
          <a:xfrm>
            <a:off x="4326941" y="4389120"/>
            <a:ext cx="1645920" cy="1325880"/>
          </a:xfrm>
          <a:prstGeom prst="roundRect">
            <a:avLst>
              <a:gd name="adj" fmla="val 5517"/>
            </a:avLst>
          </a:prstGeom>
          <a:solidFill>
            <a:srgbClr val="0B1F44"/>
          </a:solidFill>
          <a:ln w="6350">
            <a:solidFill>
              <a:srgbClr val="0B1F44"/>
            </a:solidFill>
            <a:prstDash val="solid"/>
          </a:ln>
          <a:effectLst>
            <a:outerShdw blurRad="101600" dist="25400" dir="5400000" algn="bl" rotWithShape="0">
              <a:srgbClr val="0B1F44">
                <a:alpha val="10000"/>
              </a:srgbClr>
            </a:outerShdw>
          </a:effectLst>
        </p:spPr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67021" y="4544568"/>
            <a:ext cx="365760" cy="365760"/>
          </a:xfrm>
          <a:prstGeom prst="rect">
            <a:avLst/>
          </a:prstGeom>
        </p:spPr>
      </p:pic>
      <p:sp>
        <p:nvSpPr>
          <p:cNvPr id="36" name="Text 26"/>
          <p:cNvSpPr txBox="1"/>
          <p:nvPr/>
        </p:nvSpPr>
        <p:spPr>
          <a:xfrm>
            <a:off x="4418381" y="50292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Engineering</a:t>
            </a:r>
            <a:endParaRPr lang="en-US" sz="1300" dirty="0"/>
          </a:p>
        </p:txBody>
      </p:sp>
      <p:sp>
        <p:nvSpPr>
          <p:cNvPr id="37" name="Shape 27"/>
          <p:cNvSpPr/>
          <p:nvPr/>
        </p:nvSpPr>
        <p:spPr>
          <a:xfrm>
            <a:off x="6009437" y="5047488"/>
            <a:ext cx="170078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38" name="Shape 28"/>
          <p:cNvSpPr/>
          <p:nvPr/>
        </p:nvSpPr>
        <p:spPr>
          <a:xfrm>
            <a:off x="6216091" y="4389120"/>
            <a:ext cx="1645920" cy="1325880"/>
          </a:xfrm>
          <a:prstGeom prst="roundRect">
            <a:avLst>
              <a:gd name="adj" fmla="val 5517"/>
            </a:avLst>
          </a:prstGeom>
          <a:solidFill>
            <a:srgbClr val="0B1F44"/>
          </a:solidFill>
          <a:ln w="6350">
            <a:solidFill>
              <a:srgbClr val="0B1F44"/>
            </a:solidFill>
            <a:prstDash val="solid"/>
          </a:ln>
          <a:effectLst>
            <a:outerShdw blurRad="101600" dist="25400" dir="5400000" algn="bl" rotWithShape="0">
              <a:srgbClr val="0B1F44">
                <a:alpha val="10000"/>
              </a:srgbClr>
            </a:outerShdw>
          </a:effectLst>
        </p:spPr>
      </p:sp>
      <p:pic>
        <p:nvPicPr>
          <p:cNvPr id="39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6171" y="4544568"/>
            <a:ext cx="365760" cy="365760"/>
          </a:xfrm>
          <a:prstGeom prst="rect">
            <a:avLst/>
          </a:prstGeom>
        </p:spPr>
      </p:pic>
      <p:sp>
        <p:nvSpPr>
          <p:cNvPr id="40" name="Text 29"/>
          <p:cNvSpPr txBox="1"/>
          <p:nvPr/>
        </p:nvSpPr>
        <p:spPr>
          <a:xfrm>
            <a:off x="6307531" y="50292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Visualization</a:t>
            </a:r>
            <a:endParaRPr lang="en-US" sz="1300" dirty="0"/>
          </a:p>
        </p:txBody>
      </p:sp>
      <p:sp>
        <p:nvSpPr>
          <p:cNvPr id="41" name="Shape 30"/>
          <p:cNvSpPr/>
          <p:nvPr/>
        </p:nvSpPr>
        <p:spPr>
          <a:xfrm>
            <a:off x="7898587" y="5047488"/>
            <a:ext cx="170078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42" name="Shape 31"/>
          <p:cNvSpPr/>
          <p:nvPr/>
        </p:nvSpPr>
        <p:spPr>
          <a:xfrm>
            <a:off x="8105242" y="4389120"/>
            <a:ext cx="1645920" cy="1325880"/>
          </a:xfrm>
          <a:prstGeom prst="roundRect">
            <a:avLst>
              <a:gd name="adj" fmla="val 5517"/>
            </a:avLst>
          </a:prstGeom>
          <a:solidFill>
            <a:srgbClr val="0B1F44"/>
          </a:solidFill>
          <a:ln w="6350">
            <a:solidFill>
              <a:srgbClr val="0B1F44"/>
            </a:solidFill>
            <a:prstDash val="solid"/>
          </a:ln>
          <a:effectLst>
            <a:outerShdw blurRad="101600" dist="25400" dir="5400000" algn="bl" rotWithShape="0">
              <a:srgbClr val="0B1F44">
                <a:alpha val="10000"/>
              </a:srgbClr>
            </a:outerShdw>
          </a:effectLst>
        </p:spPr>
      </p:sp>
      <p:pic>
        <p:nvPicPr>
          <p:cNvPr id="43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745322" y="4544568"/>
            <a:ext cx="365760" cy="365760"/>
          </a:xfrm>
          <a:prstGeom prst="rect">
            <a:avLst/>
          </a:prstGeom>
        </p:spPr>
      </p:pic>
      <p:sp>
        <p:nvSpPr>
          <p:cNvPr id="44" name="Text 32"/>
          <p:cNvSpPr txBox="1"/>
          <p:nvPr/>
        </p:nvSpPr>
        <p:spPr>
          <a:xfrm>
            <a:off x="8196682" y="50292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Dashboards</a:t>
            </a:r>
            <a:endParaRPr lang="en-US" sz="1300" dirty="0"/>
          </a:p>
        </p:txBody>
      </p:sp>
      <p:sp>
        <p:nvSpPr>
          <p:cNvPr id="45" name="Shape 33"/>
          <p:cNvSpPr/>
          <p:nvPr/>
        </p:nvSpPr>
        <p:spPr>
          <a:xfrm>
            <a:off x="9787738" y="5047488"/>
            <a:ext cx="170078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46" name="Shape 34"/>
          <p:cNvSpPr/>
          <p:nvPr/>
        </p:nvSpPr>
        <p:spPr>
          <a:xfrm>
            <a:off x="9994392" y="4389120"/>
            <a:ext cx="1645920" cy="1325880"/>
          </a:xfrm>
          <a:prstGeom prst="roundRect">
            <a:avLst>
              <a:gd name="adj" fmla="val 5517"/>
            </a:avLst>
          </a:prstGeom>
          <a:solidFill>
            <a:srgbClr val="2563EB"/>
          </a:solidFill>
          <a:ln w="6350">
            <a:solidFill>
              <a:srgbClr val="2563EB"/>
            </a:solidFill>
            <a:prstDash val="solid"/>
          </a:ln>
          <a:effectLst>
            <a:outerShdw blurRad="101600" dist="25400" dir="5400000" algn="bl" rotWithShape="0">
              <a:srgbClr val="0B1F44">
                <a:alpha val="10000"/>
              </a:srgbClr>
            </a:outerShdw>
          </a:effectLst>
        </p:spPr>
      </p:sp>
      <p:pic>
        <p:nvPicPr>
          <p:cNvPr id="47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634472" y="4544568"/>
            <a:ext cx="365760" cy="365760"/>
          </a:xfrm>
          <a:prstGeom prst="rect">
            <a:avLst/>
          </a:prstGeom>
        </p:spPr>
      </p:pic>
      <p:sp>
        <p:nvSpPr>
          <p:cNvPr id="48" name="Text 35"/>
          <p:cNvSpPr txBox="1"/>
          <p:nvPr/>
        </p:nvSpPr>
        <p:spPr>
          <a:xfrm>
            <a:off x="10085832" y="50292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&amp; Comparison</a:t>
            </a:r>
            <a:endParaRPr lang="en-US" sz="1300" dirty="0"/>
          </a:p>
        </p:txBody>
      </p:sp>
      <p:sp>
        <p:nvSpPr>
          <p:cNvPr id="4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48463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B8B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1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4572000" cy="4846320"/>
          </a:xfrm>
          <a:prstGeom prst="roundRect">
            <a:avLst>
              <a:gd name="adj" fmla="val 1600"/>
            </a:avLst>
          </a:prstGeom>
          <a:solidFill>
            <a:srgbClr val="0B1F44"/>
          </a:solidFill>
          <a:ln w="6350">
            <a:solidFill>
              <a:srgbClr val="0B1F4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6002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011680"/>
            <a:ext cx="3931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education datasets hold large amounts of information on universities, rankings, research performance and educational indicators.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84048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raw form, they are difficult to interpret and compare directly.</a:t>
            </a:r>
            <a:endParaRPr lang="en-US" sz="18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5029200"/>
            <a:ext cx="548640" cy="548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691640" y="5303520"/>
            <a:ext cx="960120" cy="0"/>
          </a:xfrm>
          <a:prstGeom prst="line">
            <a:avLst/>
          </a:prstGeom>
          <a:noFill/>
          <a:ln w="25400">
            <a:solidFill>
              <a:srgbClr val="60A5FA"/>
            </a:solidFill>
            <a:prstDash val="solid"/>
            <a:tailEnd type="triangle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640" y="5029200"/>
            <a:ext cx="548640" cy="54864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577840" y="128016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B1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EduVision_DV enables users to</a:t>
            </a:r>
            <a:endParaRPr lang="en-US" sz="2200" dirty="0"/>
          </a:p>
        </p:txBody>
      </p:sp>
      <p:sp>
        <p:nvSpPr>
          <p:cNvPr id="11" name="Shape 7"/>
          <p:cNvSpPr/>
          <p:nvPr/>
        </p:nvSpPr>
        <p:spPr>
          <a:xfrm>
            <a:off x="5577840" y="1874520"/>
            <a:ext cx="6062472" cy="713232"/>
          </a:xfrm>
          <a:prstGeom prst="roundRect">
            <a:avLst>
              <a:gd name="adj" fmla="val 10256"/>
            </a:avLst>
          </a:prstGeom>
          <a:solidFill>
            <a:srgbClr val="F1F5FB"/>
          </a:solidFill>
          <a:ln w="9525">
            <a:solidFill>
              <a:srgbClr val="D5DEEC"/>
            </a:solidFill>
            <a:prstDash val="solid"/>
          </a:ln>
          <a:effectLst>
            <a:outerShdw blurRad="101600" dist="25400" dir="5400000" algn="bl" rotWithShape="0">
              <a:srgbClr val="0B1F44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742432" y="1947672"/>
            <a:ext cx="566928" cy="566928"/>
          </a:xfrm>
          <a:prstGeom prst="ellipse">
            <a:avLst/>
          </a:prstGeom>
          <a:solidFill>
            <a:srgbClr val="0B1F44"/>
          </a:solidFill>
          <a:ln w="6350">
            <a:solidFill>
              <a:srgbClr val="0B1F44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4164" y="2089404"/>
            <a:ext cx="283464" cy="28346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537960" y="1874520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universities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5577840" y="2724912"/>
            <a:ext cx="6062472" cy="713232"/>
          </a:xfrm>
          <a:prstGeom prst="roundRect">
            <a:avLst>
              <a:gd name="adj" fmla="val 10256"/>
            </a:avLst>
          </a:prstGeom>
          <a:solidFill>
            <a:srgbClr val="F1F5FB"/>
          </a:solidFill>
          <a:ln w="9525">
            <a:solidFill>
              <a:srgbClr val="D5DEEC"/>
            </a:solidFill>
            <a:prstDash val="solid"/>
          </a:ln>
          <a:effectLst>
            <a:outerShdw blurRad="101600" dist="25400" dir="5400000" algn="bl" rotWithShape="0">
              <a:srgbClr val="0B1F44">
                <a:alpha val="10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5742432" y="2798064"/>
            <a:ext cx="566928" cy="566928"/>
          </a:xfrm>
          <a:prstGeom prst="ellipse">
            <a:avLst/>
          </a:prstGeom>
          <a:solidFill>
            <a:srgbClr val="0B1F44"/>
          </a:solidFill>
          <a:ln w="6350">
            <a:solidFill>
              <a:srgbClr val="0B1F44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84164" y="2939796"/>
            <a:ext cx="283464" cy="28346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537960" y="2724912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research performance</a:t>
            </a:r>
            <a:endParaRPr lang="en-US" sz="1700" dirty="0"/>
          </a:p>
        </p:txBody>
      </p:sp>
      <p:sp>
        <p:nvSpPr>
          <p:cNvPr id="19" name="Shape 13"/>
          <p:cNvSpPr/>
          <p:nvPr/>
        </p:nvSpPr>
        <p:spPr>
          <a:xfrm>
            <a:off x="5577840" y="3575304"/>
            <a:ext cx="6062472" cy="713232"/>
          </a:xfrm>
          <a:prstGeom prst="roundRect">
            <a:avLst>
              <a:gd name="adj" fmla="val 10256"/>
            </a:avLst>
          </a:prstGeom>
          <a:solidFill>
            <a:srgbClr val="F1F5FB"/>
          </a:solidFill>
          <a:ln w="9525">
            <a:solidFill>
              <a:srgbClr val="D5DEEC"/>
            </a:solidFill>
            <a:prstDash val="solid"/>
          </a:ln>
          <a:effectLst>
            <a:outerShdw blurRad="101600" dist="25400" dir="5400000" algn="bl" rotWithShape="0">
              <a:srgbClr val="0B1F44">
                <a:alpha val="10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5742432" y="3648456"/>
            <a:ext cx="566928" cy="566928"/>
          </a:xfrm>
          <a:prstGeom prst="ellipse">
            <a:avLst/>
          </a:prstGeom>
          <a:solidFill>
            <a:srgbClr val="0B1F44"/>
          </a:solidFill>
          <a:ln w="6350">
            <a:solidFill>
              <a:srgbClr val="0B1F44"/>
            </a:solidFill>
            <a:prstDash val="solid"/>
          </a:ln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84164" y="3790188"/>
            <a:ext cx="283464" cy="283464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6537960" y="3575304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student-related indicators</a:t>
            </a:r>
            <a:endParaRPr lang="en-US" sz="1700" dirty="0"/>
          </a:p>
        </p:txBody>
      </p:sp>
      <p:sp>
        <p:nvSpPr>
          <p:cNvPr id="23" name="Shape 16"/>
          <p:cNvSpPr/>
          <p:nvPr/>
        </p:nvSpPr>
        <p:spPr>
          <a:xfrm>
            <a:off x="5577840" y="4425696"/>
            <a:ext cx="6062472" cy="713232"/>
          </a:xfrm>
          <a:prstGeom prst="roundRect">
            <a:avLst>
              <a:gd name="adj" fmla="val 10256"/>
            </a:avLst>
          </a:prstGeom>
          <a:solidFill>
            <a:srgbClr val="F1F5FB"/>
          </a:solidFill>
          <a:ln w="9525">
            <a:solidFill>
              <a:srgbClr val="D5DEEC"/>
            </a:solidFill>
            <a:prstDash val="solid"/>
          </a:ln>
          <a:effectLst>
            <a:outerShdw blurRad="101600" dist="25400" dir="5400000" algn="bl" rotWithShape="0">
              <a:srgbClr val="0B1F44">
                <a:alpha val="10000"/>
              </a:srgbClr>
            </a:outerShdw>
          </a:effectLst>
        </p:spPr>
      </p:sp>
      <p:sp>
        <p:nvSpPr>
          <p:cNvPr id="24" name="Shape 17"/>
          <p:cNvSpPr/>
          <p:nvPr/>
        </p:nvSpPr>
        <p:spPr>
          <a:xfrm>
            <a:off x="5742432" y="4498848"/>
            <a:ext cx="566928" cy="566928"/>
          </a:xfrm>
          <a:prstGeom prst="ellipse">
            <a:avLst/>
          </a:prstGeom>
          <a:solidFill>
            <a:srgbClr val="0B1F44"/>
          </a:solidFill>
          <a:ln w="6350">
            <a:solidFill>
              <a:srgbClr val="0B1F44"/>
            </a:solidFill>
            <a:prstDash val="solid"/>
          </a:ln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84164" y="4640580"/>
            <a:ext cx="283464" cy="283464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6537960" y="4425696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countries</a:t>
            </a:r>
            <a:endParaRPr lang="en-US" sz="1700" dirty="0"/>
          </a:p>
        </p:txBody>
      </p:sp>
      <p:sp>
        <p:nvSpPr>
          <p:cNvPr id="27" name="Shape 19"/>
          <p:cNvSpPr/>
          <p:nvPr/>
        </p:nvSpPr>
        <p:spPr>
          <a:xfrm>
            <a:off x="5577840" y="5276088"/>
            <a:ext cx="6062472" cy="713232"/>
          </a:xfrm>
          <a:prstGeom prst="roundRect">
            <a:avLst>
              <a:gd name="adj" fmla="val 10256"/>
            </a:avLst>
          </a:prstGeom>
          <a:solidFill>
            <a:srgbClr val="F1F5FB"/>
          </a:solidFill>
          <a:ln w="9525">
            <a:solidFill>
              <a:srgbClr val="D5DEEC"/>
            </a:solidFill>
            <a:prstDash val="solid"/>
          </a:ln>
          <a:effectLst>
            <a:outerShdw blurRad="101600" dist="25400" dir="5400000" algn="bl" rotWithShape="0">
              <a:srgbClr val="0B1F44">
                <a:alpha val="10000"/>
              </a:srgbClr>
            </a:outerShdw>
          </a:effectLst>
        </p:spPr>
      </p:sp>
      <p:sp>
        <p:nvSpPr>
          <p:cNvPr id="28" name="Shape 20"/>
          <p:cNvSpPr/>
          <p:nvPr/>
        </p:nvSpPr>
        <p:spPr>
          <a:xfrm>
            <a:off x="5742432" y="5349240"/>
            <a:ext cx="566928" cy="566928"/>
          </a:xfrm>
          <a:prstGeom prst="ellipse">
            <a:avLst/>
          </a:prstGeom>
          <a:solidFill>
            <a:srgbClr val="0B1F44"/>
          </a:solidFill>
          <a:ln w="6350">
            <a:solidFill>
              <a:srgbClr val="0B1F44"/>
            </a:solidFill>
            <a:prstDash val="solid"/>
          </a:ln>
        </p:spPr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84164" y="5490972"/>
            <a:ext cx="283464" cy="283464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6537960" y="5276088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high-performing institutions and regions</a:t>
            </a:r>
            <a:endParaRPr lang="en-US" sz="17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48463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B8B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1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544824" cy="1828800"/>
          </a:xfrm>
          <a:prstGeom prst="roundRect">
            <a:avLst>
              <a:gd name="adj" fmla="val 4000"/>
            </a:avLst>
          </a:prstGeom>
          <a:solidFill>
            <a:srgbClr val="F1F5FB"/>
          </a:solidFill>
          <a:ln w="9525">
            <a:solidFill>
              <a:srgbClr val="D5DEEC"/>
            </a:solidFill>
            <a:prstDash val="solid"/>
          </a:ln>
          <a:effectLst>
            <a:outerShdw blurRad="101600" dist="25400" dir="5400000" algn="bl" rotWithShape="0">
              <a:srgbClr val="0B1F44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5087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24784" y="1508760"/>
            <a:ext cx="594360" cy="594360"/>
          </a:xfrm>
          <a:prstGeom prst="ellipse">
            <a:avLst/>
          </a:prstGeom>
          <a:solidFill>
            <a:srgbClr val="0B1F44"/>
          </a:solidFill>
          <a:ln w="6350">
            <a:solidFill>
              <a:srgbClr val="0B1F44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3374" y="1657350"/>
            <a:ext cx="297180" cy="2971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194560"/>
            <a:ext cx="29961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B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and integrate global university datasets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4322064" y="1280160"/>
            <a:ext cx="3544824" cy="1828800"/>
          </a:xfrm>
          <a:prstGeom prst="roundRect">
            <a:avLst>
              <a:gd name="adj" fmla="val 4000"/>
            </a:avLst>
          </a:prstGeom>
          <a:solidFill>
            <a:srgbClr val="F1F5FB"/>
          </a:solidFill>
          <a:ln w="9525">
            <a:solidFill>
              <a:srgbClr val="D5DEEC"/>
            </a:solidFill>
            <a:prstDash val="solid"/>
          </a:ln>
          <a:effectLst>
            <a:outerShdw blurRad="101600" dist="25400" dir="5400000" algn="bl" rotWithShape="0">
              <a:srgbClr val="0B1F44">
                <a:alpha val="10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4596384" y="15087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Shape 7"/>
          <p:cNvSpPr/>
          <p:nvPr/>
        </p:nvSpPr>
        <p:spPr>
          <a:xfrm>
            <a:off x="6998208" y="1508760"/>
            <a:ext cx="594360" cy="594360"/>
          </a:xfrm>
          <a:prstGeom prst="ellipse">
            <a:avLst/>
          </a:prstGeom>
          <a:solidFill>
            <a:srgbClr val="0B1F44"/>
          </a:solidFill>
          <a:ln w="6350">
            <a:solidFill>
              <a:srgbClr val="0B1F44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6798" y="1657350"/>
            <a:ext cx="297180" cy="2971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96384" y="2194560"/>
            <a:ext cx="29961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B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and transform raw educational data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8095488" y="1280160"/>
            <a:ext cx="3544824" cy="1828800"/>
          </a:xfrm>
          <a:prstGeom prst="roundRect">
            <a:avLst>
              <a:gd name="adj" fmla="val 4000"/>
            </a:avLst>
          </a:prstGeom>
          <a:solidFill>
            <a:srgbClr val="F1F5FB"/>
          </a:solidFill>
          <a:ln w="9525">
            <a:solidFill>
              <a:srgbClr val="D5DEEC"/>
            </a:solidFill>
            <a:prstDash val="solid"/>
          </a:ln>
          <a:effectLst>
            <a:outerShdw blurRad="101600" dist="25400" dir="5400000" algn="bl" rotWithShape="0">
              <a:srgbClr val="0B1F44">
                <a:alpha val="10000"/>
              </a:srgbClr>
            </a:outerShdw>
          </a:effectLst>
        </p:spPr>
      </p:sp>
      <p:sp>
        <p:nvSpPr>
          <p:cNvPr id="14" name="Text 10"/>
          <p:cNvSpPr txBox="1"/>
          <p:nvPr/>
        </p:nvSpPr>
        <p:spPr>
          <a:xfrm>
            <a:off x="8369808" y="15087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200" dirty="0"/>
          </a:p>
        </p:txBody>
      </p:sp>
      <p:sp>
        <p:nvSpPr>
          <p:cNvPr id="15" name="Shape 11"/>
          <p:cNvSpPr/>
          <p:nvPr/>
        </p:nvSpPr>
        <p:spPr>
          <a:xfrm>
            <a:off x="10771632" y="1508760"/>
            <a:ext cx="594360" cy="594360"/>
          </a:xfrm>
          <a:prstGeom prst="ellipse">
            <a:avLst/>
          </a:prstGeom>
          <a:solidFill>
            <a:srgbClr val="0B1F44"/>
          </a:solidFill>
          <a:ln w="6350">
            <a:solidFill>
              <a:srgbClr val="0B1F44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20222" y="1657350"/>
            <a:ext cx="297180" cy="29718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69808" y="2194560"/>
            <a:ext cx="29961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B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meaningful higher education KPIs</a:t>
            </a:r>
            <a:endParaRPr lang="en-US" sz="1700" dirty="0"/>
          </a:p>
        </p:txBody>
      </p:sp>
      <p:sp>
        <p:nvSpPr>
          <p:cNvPr id="18" name="Shape 13"/>
          <p:cNvSpPr/>
          <p:nvPr/>
        </p:nvSpPr>
        <p:spPr>
          <a:xfrm>
            <a:off x="548640" y="3337560"/>
            <a:ext cx="3544824" cy="1828800"/>
          </a:xfrm>
          <a:prstGeom prst="roundRect">
            <a:avLst>
              <a:gd name="adj" fmla="val 4000"/>
            </a:avLst>
          </a:prstGeom>
          <a:solidFill>
            <a:srgbClr val="F1F5FB"/>
          </a:solidFill>
          <a:ln w="9525">
            <a:solidFill>
              <a:srgbClr val="D5DEEC"/>
            </a:solidFill>
            <a:prstDash val="solid"/>
          </a:ln>
          <a:effectLst>
            <a:outerShdw blurRad="101600" dist="25400" dir="5400000" algn="bl" rotWithShape="0">
              <a:srgbClr val="0B1F44">
                <a:alpha val="10000"/>
              </a:srgbClr>
            </a:outerShdw>
          </a:effectLst>
        </p:spPr>
      </p:sp>
      <p:sp>
        <p:nvSpPr>
          <p:cNvPr id="19" name="Text 14"/>
          <p:cNvSpPr txBox="1"/>
          <p:nvPr/>
        </p:nvSpPr>
        <p:spPr>
          <a:xfrm>
            <a:off x="822960" y="35661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200" dirty="0"/>
          </a:p>
        </p:txBody>
      </p:sp>
      <p:sp>
        <p:nvSpPr>
          <p:cNvPr id="20" name="Shape 15"/>
          <p:cNvSpPr/>
          <p:nvPr/>
        </p:nvSpPr>
        <p:spPr>
          <a:xfrm>
            <a:off x="3224784" y="3566160"/>
            <a:ext cx="594360" cy="594360"/>
          </a:xfrm>
          <a:prstGeom prst="ellipse">
            <a:avLst/>
          </a:prstGeom>
          <a:solidFill>
            <a:srgbClr val="0B1F44"/>
          </a:solidFill>
          <a:ln w="6350">
            <a:solidFill>
              <a:srgbClr val="0B1F44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73374" y="3714750"/>
            <a:ext cx="297180" cy="29718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22960" y="4251960"/>
            <a:ext cx="29961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B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interactive Tableau dashboards</a:t>
            </a:r>
            <a:endParaRPr lang="en-US" sz="1700" dirty="0"/>
          </a:p>
        </p:txBody>
      </p:sp>
      <p:sp>
        <p:nvSpPr>
          <p:cNvPr id="23" name="Shape 17"/>
          <p:cNvSpPr/>
          <p:nvPr/>
        </p:nvSpPr>
        <p:spPr>
          <a:xfrm>
            <a:off x="4322064" y="3337560"/>
            <a:ext cx="3544824" cy="1828800"/>
          </a:xfrm>
          <a:prstGeom prst="roundRect">
            <a:avLst>
              <a:gd name="adj" fmla="val 4000"/>
            </a:avLst>
          </a:prstGeom>
          <a:solidFill>
            <a:srgbClr val="F1F5FB"/>
          </a:solidFill>
          <a:ln w="9525">
            <a:solidFill>
              <a:srgbClr val="D5DEEC"/>
            </a:solidFill>
            <a:prstDash val="solid"/>
          </a:ln>
          <a:effectLst>
            <a:outerShdw blurRad="101600" dist="25400" dir="5400000" algn="bl" rotWithShape="0">
              <a:srgbClr val="0B1F44">
                <a:alpha val="10000"/>
              </a:srgbClr>
            </a:outerShdw>
          </a:effectLst>
        </p:spPr>
      </p:sp>
      <p:sp>
        <p:nvSpPr>
          <p:cNvPr id="24" name="Text 18"/>
          <p:cNvSpPr txBox="1"/>
          <p:nvPr/>
        </p:nvSpPr>
        <p:spPr>
          <a:xfrm>
            <a:off x="4596384" y="35661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200" dirty="0"/>
          </a:p>
        </p:txBody>
      </p:sp>
      <p:sp>
        <p:nvSpPr>
          <p:cNvPr id="25" name="Shape 19"/>
          <p:cNvSpPr/>
          <p:nvPr/>
        </p:nvSpPr>
        <p:spPr>
          <a:xfrm>
            <a:off x="6998208" y="3566160"/>
            <a:ext cx="594360" cy="594360"/>
          </a:xfrm>
          <a:prstGeom prst="ellipse">
            <a:avLst/>
          </a:prstGeom>
          <a:solidFill>
            <a:srgbClr val="0B1F44"/>
          </a:solidFill>
          <a:ln w="6350">
            <a:solidFill>
              <a:srgbClr val="0B1F44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46798" y="3714750"/>
            <a:ext cx="297180" cy="29718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596384" y="4251960"/>
            <a:ext cx="29961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B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universities and countries</a:t>
            </a:r>
            <a:endParaRPr lang="en-US" sz="1700" dirty="0"/>
          </a:p>
        </p:txBody>
      </p:sp>
      <p:sp>
        <p:nvSpPr>
          <p:cNvPr id="28" name="Shape 21"/>
          <p:cNvSpPr/>
          <p:nvPr/>
        </p:nvSpPr>
        <p:spPr>
          <a:xfrm>
            <a:off x="8095488" y="3337560"/>
            <a:ext cx="3544824" cy="1828800"/>
          </a:xfrm>
          <a:prstGeom prst="roundRect">
            <a:avLst>
              <a:gd name="adj" fmla="val 4000"/>
            </a:avLst>
          </a:prstGeom>
          <a:solidFill>
            <a:srgbClr val="F1F5FB"/>
          </a:solidFill>
          <a:ln w="9525">
            <a:solidFill>
              <a:srgbClr val="D5DEEC"/>
            </a:solidFill>
            <a:prstDash val="solid"/>
          </a:ln>
          <a:effectLst>
            <a:outerShdw blurRad="101600" dist="25400" dir="5400000" algn="bl" rotWithShape="0">
              <a:srgbClr val="0B1F44">
                <a:alpha val="10000"/>
              </a:srgbClr>
            </a:outerShdw>
          </a:effectLst>
        </p:spPr>
      </p:sp>
      <p:sp>
        <p:nvSpPr>
          <p:cNvPr id="29" name="Text 22"/>
          <p:cNvSpPr txBox="1"/>
          <p:nvPr/>
        </p:nvSpPr>
        <p:spPr>
          <a:xfrm>
            <a:off x="8369808" y="35661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200" dirty="0"/>
          </a:p>
        </p:txBody>
      </p:sp>
      <p:sp>
        <p:nvSpPr>
          <p:cNvPr id="30" name="Shape 23"/>
          <p:cNvSpPr/>
          <p:nvPr/>
        </p:nvSpPr>
        <p:spPr>
          <a:xfrm>
            <a:off x="10771632" y="3566160"/>
            <a:ext cx="594360" cy="594360"/>
          </a:xfrm>
          <a:prstGeom prst="ellipse">
            <a:avLst/>
          </a:prstGeom>
          <a:solidFill>
            <a:srgbClr val="0B1F44"/>
          </a:solidFill>
          <a:ln w="6350">
            <a:solidFill>
              <a:srgbClr val="0B1F44"/>
            </a:solidFill>
            <a:prstDash val="solid"/>
          </a:ln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20222" y="3714750"/>
            <a:ext cx="297180" cy="29718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369808" y="4251960"/>
            <a:ext cx="29961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B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actionable visual insights</a:t>
            </a:r>
            <a:endParaRPr lang="en-US" sz="1700" dirty="0"/>
          </a:p>
        </p:txBody>
      </p:sp>
      <p:sp>
        <p:nvSpPr>
          <p:cNvPr id="33" name="Shape 25"/>
          <p:cNvSpPr/>
          <p:nvPr/>
        </p:nvSpPr>
        <p:spPr>
          <a:xfrm>
            <a:off x="548640" y="5349240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0B1F44"/>
          </a:solidFill>
          <a:ln w="6350">
            <a:solidFill>
              <a:srgbClr val="0B1F44"/>
            </a:solidFill>
            <a:prstDash val="solid"/>
          </a:ln>
        </p:spPr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8680" y="5577840"/>
            <a:ext cx="365760" cy="365760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1463040" y="534924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deliverable:  </a:t>
            </a: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unified Tableau workbook containing four interconnected dashboards</a:t>
            </a:r>
            <a:endParaRPr lang="en-US" sz="180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48463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B8B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1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Datasets &amp; Data Sources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566160" cy="640080"/>
          </a:xfrm>
          <a:prstGeom prst="roundRect">
            <a:avLst>
              <a:gd name="adj" fmla="val 11429"/>
            </a:avLst>
          </a:prstGeom>
          <a:solidFill>
            <a:srgbClr val="F1F5FB"/>
          </a:solidFill>
          <a:ln w="9525">
            <a:solidFill>
              <a:srgbClr val="D5DEEC"/>
            </a:solidFill>
            <a:prstDash val="solid"/>
          </a:ln>
          <a:effectLst>
            <a:outerShdw blurRad="101600" dist="25400" dir="5400000" algn="bl" rotWithShape="0">
              <a:srgbClr val="0B1F44">
                <a:alpha val="10000"/>
              </a:srgb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581912"/>
            <a:ext cx="310896" cy="3108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88720" y="141732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QS University Rankings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160520" y="1737360"/>
            <a:ext cx="1371600" cy="155448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2194560"/>
            <a:ext cx="3566160" cy="640080"/>
          </a:xfrm>
          <a:prstGeom prst="roundRect">
            <a:avLst>
              <a:gd name="adj" fmla="val 11429"/>
            </a:avLst>
          </a:prstGeom>
          <a:solidFill>
            <a:srgbClr val="F1F5FB"/>
          </a:solidFill>
          <a:ln w="9525">
            <a:solidFill>
              <a:srgbClr val="D5DEEC"/>
            </a:solidFill>
            <a:prstDash val="solid"/>
          </a:ln>
          <a:effectLst>
            <a:outerShdw blurRad="101600" dist="25400" dir="5400000" algn="bl" rotWithShape="0">
              <a:srgbClr val="0B1F44">
                <a:alpha val="10000"/>
              </a:srgbClr>
            </a:outerShdw>
          </a:effectLst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359152"/>
            <a:ext cx="310896" cy="31089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88720" y="21945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 Higher Education (THE) data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4160520" y="2514600"/>
            <a:ext cx="1371600" cy="77724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548640" y="2971800"/>
            <a:ext cx="3566160" cy="640080"/>
          </a:xfrm>
          <a:prstGeom prst="roundRect">
            <a:avLst>
              <a:gd name="adj" fmla="val 11429"/>
            </a:avLst>
          </a:prstGeom>
          <a:solidFill>
            <a:srgbClr val="F1F5FB"/>
          </a:solidFill>
          <a:ln w="9525">
            <a:solidFill>
              <a:srgbClr val="D5DEEC"/>
            </a:solidFill>
            <a:prstDash val="solid"/>
          </a:ln>
          <a:effectLst>
            <a:outerShdw blurRad="101600" dist="25400" dir="5400000" algn="bl" rotWithShape="0">
              <a:srgbClr val="0B1F44">
                <a:alpha val="10000"/>
              </a:srgbClr>
            </a:outerShdw>
          </a:effectLst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136392"/>
            <a:ext cx="310896" cy="31089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188720" y="29718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University Rankings (WUR) data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4160520" y="3291840"/>
            <a:ext cx="1371600" cy="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548640" y="3749040"/>
            <a:ext cx="3566160" cy="640080"/>
          </a:xfrm>
          <a:prstGeom prst="roundRect">
            <a:avLst>
              <a:gd name="adj" fmla="val 11429"/>
            </a:avLst>
          </a:prstGeom>
          <a:solidFill>
            <a:srgbClr val="F1F5FB"/>
          </a:solidFill>
          <a:ln w="9525">
            <a:solidFill>
              <a:srgbClr val="D5DEEC"/>
            </a:solidFill>
            <a:prstDash val="solid"/>
          </a:ln>
          <a:effectLst>
            <a:outerShdw blurRad="101600" dist="25400" dir="5400000" algn="bl" rotWithShape="0">
              <a:srgbClr val="0B1F44">
                <a:alpha val="10000"/>
              </a:srgbClr>
            </a:outerShdw>
          </a:effectLst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913632"/>
            <a:ext cx="310896" cy="31089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188720" y="374904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dimension dataset</a:t>
            </a:r>
            <a:endParaRPr lang="en-US" sz="1400" dirty="0"/>
          </a:p>
        </p:txBody>
      </p:sp>
      <p:sp>
        <p:nvSpPr>
          <p:cNvPr id="18" name="Shape 12"/>
          <p:cNvSpPr/>
          <p:nvPr/>
        </p:nvSpPr>
        <p:spPr>
          <a:xfrm flipV="1">
            <a:off x="4160520" y="3291840"/>
            <a:ext cx="1371600" cy="77724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548640" y="4526280"/>
            <a:ext cx="3566160" cy="640080"/>
          </a:xfrm>
          <a:prstGeom prst="roundRect">
            <a:avLst>
              <a:gd name="adj" fmla="val 11429"/>
            </a:avLst>
          </a:prstGeom>
          <a:solidFill>
            <a:srgbClr val="F1F5FB"/>
          </a:solidFill>
          <a:ln w="9525">
            <a:solidFill>
              <a:srgbClr val="D5DEEC"/>
            </a:solidFill>
            <a:prstDash val="solid"/>
          </a:ln>
          <a:effectLst>
            <a:outerShdw blurRad="101600" dist="25400" dir="5400000" algn="bl" rotWithShape="0">
              <a:srgbClr val="0B1F44">
                <a:alpha val="10000"/>
              </a:srgbClr>
            </a:outerShdw>
          </a:effectLst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690872"/>
            <a:ext cx="310896" cy="310896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188720" y="45262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dimension dataset</a:t>
            </a:r>
            <a:endParaRPr lang="en-US" sz="1400" dirty="0"/>
          </a:p>
        </p:txBody>
      </p:sp>
      <p:sp>
        <p:nvSpPr>
          <p:cNvPr id="22" name="Shape 15"/>
          <p:cNvSpPr/>
          <p:nvPr/>
        </p:nvSpPr>
        <p:spPr>
          <a:xfrm flipV="1">
            <a:off x="4160520" y="3291840"/>
            <a:ext cx="1371600" cy="155448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5577840" y="2514600"/>
            <a:ext cx="2286000" cy="1554480"/>
          </a:xfrm>
          <a:prstGeom prst="roundRect">
            <a:avLst>
              <a:gd name="adj" fmla="val 4706"/>
            </a:avLst>
          </a:prstGeom>
          <a:solidFill>
            <a:srgbClr val="0B1F44"/>
          </a:solidFill>
          <a:ln w="6350">
            <a:solidFill>
              <a:srgbClr val="0B1F44"/>
            </a:solidFill>
            <a:prstDash val="solid"/>
          </a:ln>
          <a:effectLst>
            <a:outerShdw blurRad="101600" dist="25400" dir="5400000" algn="bl" rotWithShape="0">
              <a:srgbClr val="0B1F44">
                <a:alpha val="10000"/>
              </a:srgbClr>
            </a:outerShdw>
          </a:effectLst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2670048"/>
            <a:ext cx="457200" cy="45720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5669280" y="324612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&amp; Transformation</a:t>
            </a:r>
            <a:endParaRPr lang="en-US" sz="1500" dirty="0"/>
          </a:p>
        </p:txBody>
      </p:sp>
      <p:sp>
        <p:nvSpPr>
          <p:cNvPr id="26" name="Shape 18"/>
          <p:cNvSpPr/>
          <p:nvPr/>
        </p:nvSpPr>
        <p:spPr>
          <a:xfrm>
            <a:off x="7909560" y="3291840"/>
            <a:ext cx="82296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27" name="Shape 19"/>
          <p:cNvSpPr/>
          <p:nvPr/>
        </p:nvSpPr>
        <p:spPr>
          <a:xfrm>
            <a:off x="8778240" y="2514600"/>
            <a:ext cx="2862072" cy="1554480"/>
          </a:xfrm>
          <a:prstGeom prst="roundRect">
            <a:avLst>
              <a:gd name="adj" fmla="val 4706"/>
            </a:avLst>
          </a:prstGeom>
          <a:solidFill>
            <a:srgbClr val="2563EB"/>
          </a:solidFill>
          <a:ln w="6350">
            <a:solidFill>
              <a:srgbClr val="2563EB"/>
            </a:solidFill>
            <a:prstDash val="solid"/>
          </a:ln>
          <a:effectLst>
            <a:outerShdw blurRad="101600" dist="25400" dir="5400000" algn="bl" rotWithShape="0">
              <a:srgbClr val="0B1F44">
                <a:alpha val="10000"/>
              </a:srgbClr>
            </a:outerShdw>
          </a:effectLst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66960" y="2670048"/>
            <a:ext cx="457200" cy="457200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8915400" y="3246120"/>
            <a:ext cx="25877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Integrated University Dataset</a:t>
            </a:r>
            <a:endParaRPr lang="en-US" sz="1500" dirty="0"/>
          </a:p>
        </p:txBody>
      </p:sp>
      <p:sp>
        <p:nvSpPr>
          <p:cNvPr id="30" name="Text 21"/>
          <p:cNvSpPr txBox="1"/>
          <p:nvPr/>
        </p:nvSpPr>
        <p:spPr>
          <a:xfrm>
            <a:off x="5577840" y="4572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200" dirty="0"/>
          </a:p>
        </p:txBody>
      </p:sp>
      <p:sp>
        <p:nvSpPr>
          <p:cNvPr id="31" name="Shape 22"/>
          <p:cNvSpPr/>
          <p:nvPr/>
        </p:nvSpPr>
        <p:spPr>
          <a:xfrm>
            <a:off x="5577840" y="4937760"/>
            <a:ext cx="3017520" cy="731520"/>
          </a:xfrm>
          <a:prstGeom prst="roundRect">
            <a:avLst>
              <a:gd name="adj" fmla="val 10000"/>
            </a:avLst>
          </a:prstGeom>
          <a:solidFill>
            <a:srgbClr val="F1F5FB"/>
          </a:solidFill>
          <a:ln w="9525">
            <a:solidFill>
              <a:srgbClr val="D5DEEC"/>
            </a:solidFill>
            <a:prstDash val="solid"/>
          </a:ln>
          <a:effectLst>
            <a:outerShdw blurRad="101600" dist="25400" dir="5400000" algn="bl" rotWithShape="0">
              <a:srgbClr val="0B1F44">
                <a:alpha val="10000"/>
              </a:srgbClr>
            </a:outerShdw>
          </a:effectLst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0720" y="5120640"/>
            <a:ext cx="365760" cy="365760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6263640" y="49377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 Pandas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1400" dirty="0"/>
          </a:p>
        </p:txBody>
      </p:sp>
      <p:sp>
        <p:nvSpPr>
          <p:cNvPr id="34" name="Shape 24"/>
          <p:cNvSpPr/>
          <p:nvPr/>
        </p:nvSpPr>
        <p:spPr>
          <a:xfrm>
            <a:off x="8778240" y="4937760"/>
            <a:ext cx="2862072" cy="731520"/>
          </a:xfrm>
          <a:prstGeom prst="roundRect">
            <a:avLst>
              <a:gd name="adj" fmla="val 10000"/>
            </a:avLst>
          </a:prstGeom>
          <a:solidFill>
            <a:srgbClr val="F1F5FB"/>
          </a:solidFill>
          <a:ln w="9525">
            <a:solidFill>
              <a:srgbClr val="D5DEEC"/>
            </a:solidFill>
            <a:prstDash val="solid"/>
          </a:ln>
          <a:effectLst>
            <a:outerShdw blurRad="101600" dist="25400" dir="5400000" algn="bl" rotWithShape="0">
              <a:srgbClr val="0B1F44">
                <a:alpha val="10000"/>
              </a:srgbClr>
            </a:outerShdw>
          </a:effectLst>
        </p:spPr>
      </p:sp>
      <p:pic>
        <p:nvPicPr>
          <p:cNvPr id="35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61120" y="5120640"/>
            <a:ext cx="365760" cy="365760"/>
          </a:xfrm>
          <a:prstGeom prst="rect">
            <a:avLst/>
          </a:prstGeom>
        </p:spPr>
      </p:pic>
      <p:sp>
        <p:nvSpPr>
          <p:cNvPr id="36" name="Text 25"/>
          <p:cNvSpPr txBox="1"/>
          <p:nvPr/>
        </p:nvSpPr>
        <p:spPr>
          <a:xfrm>
            <a:off x="9464040" y="49377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400" dirty="0"/>
          </a:p>
        </p:txBody>
      </p:sp>
      <p:sp>
        <p:nvSpPr>
          <p:cNvPr id="37" name="Text 26"/>
          <p:cNvSpPr txBox="1"/>
          <p:nvPr/>
        </p:nvSpPr>
        <p:spPr>
          <a:xfrm>
            <a:off x="548640" y="5486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years / versions: [Insert if applicable]</a:t>
            </a:r>
            <a:endParaRPr lang="en-US" sz="110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48463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B8B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1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&amp; Transformation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246120" cy="4160520"/>
          </a:xfrm>
          <a:prstGeom prst="roundRect">
            <a:avLst>
              <a:gd name="adj" fmla="val 2254"/>
            </a:avLst>
          </a:prstGeom>
          <a:solidFill>
            <a:srgbClr val="F8FAFC"/>
          </a:solidFill>
          <a:ln w="9525">
            <a:solidFill>
              <a:srgbClr val="D5DEEC"/>
            </a:solidFill>
            <a:prstDash val="solid"/>
          </a:ln>
          <a:effectLst>
            <a:outerShdw blurRad="101600" dist="25400" dir="5400000" algn="bl" rotWithShape="0">
              <a:srgbClr val="0B1F44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508760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475569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087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240280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21945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university names</a:t>
            </a:r>
            <a:endParaRPr lang="en-US" sz="16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246120"/>
            <a:ext cx="329184" cy="32918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32004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/ duplicate records</a:t>
            </a:r>
            <a:endParaRPr lang="en-US" sz="16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251960"/>
            <a:ext cx="329184" cy="32918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325880" y="42062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ranking formats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3831336" y="3383280"/>
            <a:ext cx="27432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3" name="Shape 8"/>
          <p:cNvSpPr/>
          <p:nvPr/>
        </p:nvSpPr>
        <p:spPr>
          <a:xfrm>
            <a:off x="4114800" y="1280160"/>
            <a:ext cx="3931920" cy="41605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9525">
            <a:solidFill>
              <a:srgbClr val="D5DEEC"/>
            </a:solidFill>
            <a:prstDash val="solid"/>
          </a:ln>
          <a:effectLst>
            <a:outerShdw blurRad="101600" dist="25400" dir="5400000" algn="bl" rotWithShape="0">
              <a:srgbClr val="0B1F44">
                <a:alpha val="10000"/>
              </a:srgbClr>
            </a:outerShdw>
          </a:effectLst>
        </p:spPr>
      </p:sp>
      <p:sp>
        <p:nvSpPr>
          <p:cNvPr id="14" name="Text 9"/>
          <p:cNvSpPr txBox="1"/>
          <p:nvPr/>
        </p:nvSpPr>
        <p:spPr>
          <a:xfrm>
            <a:off x="4389120" y="1508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&amp; TRANSFORMATION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4389120" y="2039112"/>
            <a:ext cx="310896" cy="310896"/>
          </a:xfrm>
          <a:prstGeom prst="ellipse">
            <a:avLst/>
          </a:prstGeom>
          <a:solidFill>
            <a:srgbClr val="0B1F44"/>
          </a:solidFill>
          <a:ln w="6350">
            <a:solidFill>
              <a:srgbClr val="0B1F44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4389120" y="20391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4846320" y="20116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removal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4389120" y="2514600"/>
            <a:ext cx="310896" cy="310896"/>
          </a:xfrm>
          <a:prstGeom prst="ellipse">
            <a:avLst/>
          </a:prstGeom>
          <a:solidFill>
            <a:srgbClr val="0B1F44"/>
          </a:solidFill>
          <a:ln w="6350">
            <a:solidFill>
              <a:srgbClr val="0B1F44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4389120" y="2514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4846320" y="248716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name standardization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4389120" y="2990088"/>
            <a:ext cx="310896" cy="310896"/>
          </a:xfrm>
          <a:prstGeom prst="ellipse">
            <a:avLst/>
          </a:prstGeom>
          <a:solidFill>
            <a:srgbClr val="0B1F44"/>
          </a:solidFill>
          <a:ln w="6350">
            <a:solidFill>
              <a:srgbClr val="0B1F44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4389120" y="29900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4846320" y="2962656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standardization</a:t>
            </a:r>
            <a:endParaRPr lang="en-US" sz="1400" dirty="0"/>
          </a:p>
        </p:txBody>
      </p:sp>
      <p:sp>
        <p:nvSpPr>
          <p:cNvPr id="24" name="Shape 19"/>
          <p:cNvSpPr/>
          <p:nvPr/>
        </p:nvSpPr>
        <p:spPr>
          <a:xfrm>
            <a:off x="4389120" y="3465576"/>
            <a:ext cx="310896" cy="310896"/>
          </a:xfrm>
          <a:prstGeom prst="ellipse">
            <a:avLst/>
          </a:prstGeom>
          <a:solidFill>
            <a:srgbClr val="0B1F44"/>
          </a:solidFill>
          <a:ln w="6350">
            <a:solidFill>
              <a:srgbClr val="0B1F44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4389120" y="34655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1"/>
          <p:cNvSpPr txBox="1"/>
          <p:nvPr/>
        </p:nvSpPr>
        <p:spPr>
          <a:xfrm>
            <a:off x="4846320" y="3438144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integration</a:t>
            </a:r>
            <a:endParaRPr lang="en-US" sz="1400" dirty="0"/>
          </a:p>
        </p:txBody>
      </p:sp>
      <p:sp>
        <p:nvSpPr>
          <p:cNvPr id="27" name="Shape 22"/>
          <p:cNvSpPr/>
          <p:nvPr/>
        </p:nvSpPr>
        <p:spPr>
          <a:xfrm>
            <a:off x="4389120" y="3941064"/>
            <a:ext cx="310896" cy="310896"/>
          </a:xfrm>
          <a:prstGeom prst="ellipse">
            <a:avLst/>
          </a:prstGeom>
          <a:solidFill>
            <a:srgbClr val="0B1F44"/>
          </a:solidFill>
          <a:ln w="6350">
            <a:solidFill>
              <a:srgbClr val="0B1F44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4389120" y="39410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9" name="Text 24"/>
          <p:cNvSpPr txBox="1"/>
          <p:nvPr/>
        </p:nvSpPr>
        <p:spPr>
          <a:xfrm>
            <a:off x="4846320" y="391363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metric normalization</a:t>
            </a:r>
            <a:endParaRPr lang="en-US" sz="1400" dirty="0"/>
          </a:p>
        </p:txBody>
      </p:sp>
      <p:sp>
        <p:nvSpPr>
          <p:cNvPr id="30" name="Shape 25"/>
          <p:cNvSpPr/>
          <p:nvPr/>
        </p:nvSpPr>
        <p:spPr>
          <a:xfrm>
            <a:off x="4389120" y="4416552"/>
            <a:ext cx="310896" cy="310896"/>
          </a:xfrm>
          <a:prstGeom prst="ellipse">
            <a:avLst/>
          </a:prstGeom>
          <a:solidFill>
            <a:srgbClr val="0B1F44"/>
          </a:solidFill>
          <a:ln w="6350">
            <a:solidFill>
              <a:srgbClr val="0B1F44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4389120" y="44165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27"/>
          <p:cNvSpPr txBox="1"/>
          <p:nvPr/>
        </p:nvSpPr>
        <p:spPr>
          <a:xfrm>
            <a:off x="4846320" y="43891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Tableau-ready dataset creation</a:t>
            </a:r>
            <a:endParaRPr lang="en-US" sz="1400" dirty="0"/>
          </a:p>
        </p:txBody>
      </p:sp>
      <p:sp>
        <p:nvSpPr>
          <p:cNvPr id="33" name="Shape 28"/>
          <p:cNvSpPr/>
          <p:nvPr/>
        </p:nvSpPr>
        <p:spPr>
          <a:xfrm>
            <a:off x="4389120" y="4892040"/>
            <a:ext cx="310896" cy="310896"/>
          </a:xfrm>
          <a:prstGeom prst="ellipse">
            <a:avLst/>
          </a:prstGeom>
          <a:solidFill>
            <a:srgbClr val="0B1F44"/>
          </a:solidFill>
          <a:ln w="6350">
            <a:solidFill>
              <a:srgbClr val="0B1F44"/>
            </a:solidFill>
            <a:prstDash val="solid"/>
          </a:ln>
        </p:spPr>
      </p:sp>
      <p:sp>
        <p:nvSpPr>
          <p:cNvPr id="34" name="Text 29"/>
          <p:cNvSpPr txBox="1"/>
          <p:nvPr/>
        </p:nvSpPr>
        <p:spPr>
          <a:xfrm>
            <a:off x="4389120" y="4892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5" name="Text 30"/>
          <p:cNvSpPr txBox="1"/>
          <p:nvPr/>
        </p:nvSpPr>
        <p:spPr>
          <a:xfrm>
            <a:off x="4846320" y="486460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preparation</a:t>
            </a:r>
            <a:endParaRPr lang="en-US" sz="1400" dirty="0"/>
          </a:p>
        </p:txBody>
      </p:sp>
      <p:sp>
        <p:nvSpPr>
          <p:cNvPr id="36" name="Shape 31"/>
          <p:cNvSpPr/>
          <p:nvPr/>
        </p:nvSpPr>
        <p:spPr>
          <a:xfrm>
            <a:off x="8083296" y="3383280"/>
            <a:ext cx="27432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37" name="Shape 32"/>
          <p:cNvSpPr/>
          <p:nvPr/>
        </p:nvSpPr>
        <p:spPr>
          <a:xfrm>
            <a:off x="8366760" y="1280160"/>
            <a:ext cx="3273552" cy="4160520"/>
          </a:xfrm>
          <a:prstGeom prst="roundRect">
            <a:avLst>
              <a:gd name="adj" fmla="val 2235"/>
            </a:avLst>
          </a:prstGeom>
          <a:solidFill>
            <a:srgbClr val="EAF1FD"/>
          </a:solidFill>
          <a:ln w="9525">
            <a:solidFill>
              <a:srgbClr val="BFD3F2"/>
            </a:solidFill>
            <a:prstDash val="solid"/>
          </a:ln>
          <a:effectLst>
            <a:outerShdw blurRad="101600" dist="25400" dir="5400000" algn="bl" rotWithShape="0">
              <a:srgbClr val="0B1F44">
                <a:alpha val="10000"/>
              </a:srgbClr>
            </a:outerShdw>
          </a:effectLst>
        </p:spPr>
      </p:sp>
      <p:sp>
        <p:nvSpPr>
          <p:cNvPr id="38" name="Shape 33"/>
          <p:cNvSpPr/>
          <p:nvPr/>
        </p:nvSpPr>
        <p:spPr>
          <a:xfrm>
            <a:off x="8595360" y="1508760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39" name="Text 34"/>
          <p:cNvSpPr txBox="1"/>
          <p:nvPr/>
        </p:nvSpPr>
        <p:spPr>
          <a:xfrm>
            <a:off x="8595360" y="15087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DATA</a:t>
            </a:r>
            <a:endParaRPr lang="en-US" sz="1100" dirty="0"/>
          </a:p>
        </p:txBody>
      </p:sp>
      <p:pic>
        <p:nvPicPr>
          <p:cNvPr id="4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1080" y="2231136"/>
            <a:ext cx="329184" cy="329184"/>
          </a:xfrm>
          <a:prstGeom prst="rect">
            <a:avLst/>
          </a:prstGeom>
        </p:spPr>
      </p:pic>
      <p:sp>
        <p:nvSpPr>
          <p:cNvPr id="41" name="Text 35"/>
          <p:cNvSpPr txBox="1"/>
          <p:nvPr/>
        </p:nvSpPr>
        <p:spPr>
          <a:xfrm>
            <a:off x="9144000" y="21945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universities</a:t>
            </a:r>
            <a:endParaRPr lang="en-US" sz="1600" dirty="0"/>
          </a:p>
        </p:txBody>
      </p:sp>
      <p:pic>
        <p:nvPicPr>
          <p:cNvPr id="42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1080" y="3008376"/>
            <a:ext cx="329184" cy="329184"/>
          </a:xfrm>
          <a:prstGeom prst="rect">
            <a:avLst/>
          </a:prstGeom>
        </p:spPr>
      </p:pic>
      <p:sp>
        <p:nvSpPr>
          <p:cNvPr id="43" name="Text 36"/>
          <p:cNvSpPr txBox="1"/>
          <p:nvPr/>
        </p:nvSpPr>
        <p:spPr>
          <a:xfrm>
            <a:off x="9144000" y="29718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countries</a:t>
            </a:r>
            <a:endParaRPr lang="en-US" sz="1600" dirty="0"/>
          </a:p>
        </p:txBody>
      </p:sp>
      <p:pic>
        <p:nvPicPr>
          <p:cNvPr id="44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1080" y="3785616"/>
            <a:ext cx="329184" cy="329184"/>
          </a:xfrm>
          <a:prstGeom prst="rect">
            <a:avLst/>
          </a:prstGeom>
        </p:spPr>
      </p:pic>
      <p:sp>
        <p:nvSpPr>
          <p:cNvPr id="45" name="Text 37"/>
          <p:cNvSpPr txBox="1"/>
          <p:nvPr/>
        </p:nvSpPr>
        <p:spPr>
          <a:xfrm>
            <a:off x="9144000" y="37490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metrics</a:t>
            </a:r>
            <a:endParaRPr lang="en-US" sz="1600" dirty="0"/>
          </a:p>
        </p:txBody>
      </p:sp>
      <p:pic>
        <p:nvPicPr>
          <p:cNvPr id="46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1080" y="4562856"/>
            <a:ext cx="329184" cy="329184"/>
          </a:xfrm>
          <a:prstGeom prst="rect">
            <a:avLst/>
          </a:prstGeom>
        </p:spPr>
      </p:pic>
      <p:sp>
        <p:nvSpPr>
          <p:cNvPr id="47" name="Text 38"/>
          <p:cNvSpPr txBox="1"/>
          <p:nvPr/>
        </p:nvSpPr>
        <p:spPr>
          <a:xfrm>
            <a:off x="9144000" y="45262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Tableau-ready structure</a:t>
            </a:r>
            <a:endParaRPr lang="en-US" sz="1600" dirty="0"/>
          </a:p>
        </p:txBody>
      </p:sp>
      <p:sp>
        <p:nvSpPr>
          <p:cNvPr id="48" name="Shape 39"/>
          <p:cNvSpPr/>
          <p:nvPr/>
        </p:nvSpPr>
        <p:spPr>
          <a:xfrm>
            <a:off x="548640" y="5669280"/>
            <a:ext cx="11091672" cy="502920"/>
          </a:xfrm>
          <a:prstGeom prst="roundRect">
            <a:avLst>
              <a:gd name="adj" fmla="val 14545"/>
            </a:avLst>
          </a:prstGeom>
          <a:solidFill>
            <a:srgbClr val="0B1F44"/>
          </a:solidFill>
          <a:ln w="6350">
            <a:solidFill>
              <a:srgbClr val="0B1F44"/>
            </a:solidFill>
            <a:prstDash val="solid"/>
          </a:ln>
        </p:spPr>
      </p:sp>
      <p:sp>
        <p:nvSpPr>
          <p:cNvPr id="49" name="Text 40"/>
          <p:cNvSpPr txBox="1"/>
          <p:nvPr/>
        </p:nvSpPr>
        <p:spPr>
          <a:xfrm>
            <a:off x="548640" y="56692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with Python / Pandas  →  one integrated, Tableau-ready dataset</a:t>
            </a:r>
            <a:endParaRPr lang="en-US" sz="1500" dirty="0"/>
          </a:p>
        </p:txBody>
      </p:sp>
      <p:sp>
        <p:nvSpPr>
          <p:cNvPr id="5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48463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B8B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1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Model &amp; Final Dataset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017520" cy="457200"/>
          </a:xfrm>
          <a:prstGeom prst="rect">
            <a:avLst/>
          </a:prstGeom>
          <a:solidFill>
            <a:srgbClr val="0B1F44"/>
          </a:solidFill>
          <a:ln w="6350">
            <a:solidFill>
              <a:srgbClr val="0B1F44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490472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51560" y="1371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30175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828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ID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2926080" y="18288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286000"/>
            <a:ext cx="3017520" cy="457200"/>
          </a:xfrm>
          <a:prstGeom prst="rect">
            <a:avLst/>
          </a:prstGeom>
          <a:solidFill>
            <a:srgbClr val="F8FAFC"/>
          </a:solidFill>
          <a:ln w="9525">
            <a:solidFill>
              <a:srgbClr val="D5DE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2286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Name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2743200"/>
            <a:ext cx="30175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31520" y="27432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ID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2926080" y="27432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48640" y="3200400"/>
            <a:ext cx="3017520" cy="457200"/>
          </a:xfrm>
          <a:prstGeom prst="rect">
            <a:avLst/>
          </a:prstGeom>
          <a:solidFill>
            <a:srgbClr val="F8FAFC"/>
          </a:solidFill>
          <a:ln w="9525">
            <a:solidFill>
              <a:srgbClr val="D5DEE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31520" y="32004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KPIs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297680" y="2286000"/>
            <a:ext cx="2286000" cy="457200"/>
          </a:xfrm>
          <a:prstGeom prst="rect">
            <a:avLst/>
          </a:prstGeom>
          <a:solidFill>
            <a:srgbClr val="0B1F44"/>
          </a:solidFill>
          <a:ln w="6350">
            <a:solidFill>
              <a:srgbClr val="0B1F44"/>
            </a:solidFill>
            <a:prstDash val="solid"/>
          </a:ln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2272" y="2404872"/>
            <a:ext cx="219456" cy="21945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4800600" y="22860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4297680" y="2743200"/>
            <a:ext cx="22860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C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4480560" y="27432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ID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5943600" y="27432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4297680" y="3200400"/>
            <a:ext cx="2286000" cy="457200"/>
          </a:xfrm>
          <a:prstGeom prst="rect">
            <a:avLst/>
          </a:prstGeom>
          <a:solidFill>
            <a:srgbClr val="F8FAFC"/>
          </a:solidFill>
          <a:ln w="9525">
            <a:solidFill>
              <a:srgbClr val="D5DEEC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4480560" y="32004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</a:t>
            </a:r>
            <a:endParaRPr lang="en-US" sz="1400" dirty="0"/>
          </a:p>
        </p:txBody>
      </p:sp>
      <p:sp>
        <p:nvSpPr>
          <p:cNvPr id="24" name="Shape 20"/>
          <p:cNvSpPr/>
          <p:nvPr/>
        </p:nvSpPr>
        <p:spPr>
          <a:xfrm>
            <a:off x="3584448" y="2971800"/>
            <a:ext cx="694944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25" name="Shape 21"/>
          <p:cNvSpPr/>
          <p:nvPr/>
        </p:nvSpPr>
        <p:spPr>
          <a:xfrm>
            <a:off x="548640" y="3977640"/>
            <a:ext cx="6035040" cy="1417320"/>
          </a:xfrm>
          <a:prstGeom prst="roundRect">
            <a:avLst>
              <a:gd name="adj" fmla="val 5161"/>
            </a:avLst>
          </a:prstGeom>
          <a:solidFill>
            <a:srgbClr val="EAF1FD"/>
          </a:solidFill>
          <a:ln w="9525">
            <a:solidFill>
              <a:srgbClr val="BFD3F2"/>
            </a:solidFill>
            <a:prstDash val="solid"/>
          </a:ln>
          <a:effectLst>
            <a:outerShdw blurRad="101600" dist="25400" dir="5400000" algn="bl" rotWithShape="0">
              <a:srgbClr val="0B1F44">
                <a:alpha val="10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777240" y="4251960"/>
            <a:ext cx="548640" cy="548640"/>
          </a:xfrm>
          <a:prstGeom prst="ellipse">
            <a:avLst/>
          </a:prstGeom>
          <a:solidFill>
            <a:srgbClr val="2563EB"/>
          </a:solidFill>
          <a:ln w="6350">
            <a:solidFill>
              <a:srgbClr val="2563EB"/>
            </a:solidFill>
            <a:prstDash val="solid"/>
          </a:ln>
        </p:spPr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389120"/>
            <a:ext cx="274320" cy="274320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1554480" y="3977640"/>
            <a:ext cx="4892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B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identifiers (University ID, Country ID) link the tables and support filtering and integration across all four dashboards.</a:t>
            </a:r>
            <a:endParaRPr lang="en-US" sz="1500" dirty="0"/>
          </a:p>
        </p:txBody>
      </p:sp>
      <p:sp>
        <p:nvSpPr>
          <p:cNvPr id="29" name="Text 24"/>
          <p:cNvSpPr txBox="1"/>
          <p:nvPr/>
        </p:nvSpPr>
        <p:spPr>
          <a:xfrm>
            <a:off x="7040880" y="1371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FIELDS IN THE FINAL DATASET</a:t>
            </a:r>
            <a:endParaRPr lang="en-US" sz="1200" dirty="0"/>
          </a:p>
        </p:txBody>
      </p:sp>
      <p:sp>
        <p:nvSpPr>
          <p:cNvPr id="30" name="Shape 25"/>
          <p:cNvSpPr/>
          <p:nvPr/>
        </p:nvSpPr>
        <p:spPr>
          <a:xfrm>
            <a:off x="7040880" y="1783080"/>
            <a:ext cx="2240280" cy="640080"/>
          </a:xfrm>
          <a:prstGeom prst="roundRect">
            <a:avLst>
              <a:gd name="adj" fmla="val 11429"/>
            </a:avLst>
          </a:prstGeom>
          <a:solidFill>
            <a:srgbClr val="F1F5FB"/>
          </a:solidFill>
          <a:ln w="9525">
            <a:solidFill>
              <a:srgbClr val="D5DEEC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7150608" y="17830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ID</a:t>
            </a:r>
            <a:endParaRPr lang="en-US" sz="1300" dirty="0"/>
          </a:p>
        </p:txBody>
      </p:sp>
      <p:sp>
        <p:nvSpPr>
          <p:cNvPr id="32" name="Shape 27"/>
          <p:cNvSpPr/>
          <p:nvPr/>
        </p:nvSpPr>
        <p:spPr>
          <a:xfrm>
            <a:off x="9418320" y="1783080"/>
            <a:ext cx="2240280" cy="640080"/>
          </a:xfrm>
          <a:prstGeom prst="roundRect">
            <a:avLst>
              <a:gd name="adj" fmla="val 11429"/>
            </a:avLst>
          </a:prstGeom>
          <a:solidFill>
            <a:srgbClr val="F1F5FB"/>
          </a:solidFill>
          <a:ln w="9525">
            <a:solidFill>
              <a:srgbClr val="D5DEEC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9528048" y="17830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Name</a:t>
            </a:r>
            <a:endParaRPr lang="en-US" sz="1300" dirty="0"/>
          </a:p>
        </p:txBody>
      </p:sp>
      <p:sp>
        <p:nvSpPr>
          <p:cNvPr id="34" name="Shape 29"/>
          <p:cNvSpPr/>
          <p:nvPr/>
        </p:nvSpPr>
        <p:spPr>
          <a:xfrm>
            <a:off x="7040880" y="2560320"/>
            <a:ext cx="2240280" cy="640080"/>
          </a:xfrm>
          <a:prstGeom prst="roundRect">
            <a:avLst>
              <a:gd name="adj" fmla="val 11429"/>
            </a:avLst>
          </a:prstGeom>
          <a:solidFill>
            <a:srgbClr val="F1F5FB"/>
          </a:solidFill>
          <a:ln w="9525">
            <a:solidFill>
              <a:srgbClr val="D5DEEC"/>
            </a:solidFill>
            <a:prstDash val="solid"/>
          </a:ln>
        </p:spPr>
      </p:sp>
      <p:sp>
        <p:nvSpPr>
          <p:cNvPr id="35" name="Text 30"/>
          <p:cNvSpPr txBox="1"/>
          <p:nvPr/>
        </p:nvSpPr>
        <p:spPr>
          <a:xfrm>
            <a:off x="7150608" y="25603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</a:t>
            </a:r>
            <a:endParaRPr lang="en-US" sz="1300" dirty="0"/>
          </a:p>
        </p:txBody>
      </p:sp>
      <p:sp>
        <p:nvSpPr>
          <p:cNvPr id="36" name="Shape 31"/>
          <p:cNvSpPr/>
          <p:nvPr/>
        </p:nvSpPr>
        <p:spPr>
          <a:xfrm>
            <a:off x="9418320" y="2560320"/>
            <a:ext cx="2240280" cy="640080"/>
          </a:xfrm>
          <a:prstGeom prst="roundRect">
            <a:avLst>
              <a:gd name="adj" fmla="val 11429"/>
            </a:avLst>
          </a:prstGeom>
          <a:solidFill>
            <a:srgbClr val="F1F5FB"/>
          </a:solidFill>
          <a:ln w="9525">
            <a:solidFill>
              <a:srgbClr val="D5DEEC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9528048" y="25603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Ranking Score</a:t>
            </a:r>
            <a:endParaRPr lang="en-US" sz="1300" dirty="0"/>
          </a:p>
        </p:txBody>
      </p:sp>
      <p:sp>
        <p:nvSpPr>
          <p:cNvPr id="38" name="Shape 33"/>
          <p:cNvSpPr/>
          <p:nvPr/>
        </p:nvSpPr>
        <p:spPr>
          <a:xfrm>
            <a:off x="7040880" y="3337560"/>
            <a:ext cx="2240280" cy="640080"/>
          </a:xfrm>
          <a:prstGeom prst="roundRect">
            <a:avLst>
              <a:gd name="adj" fmla="val 11429"/>
            </a:avLst>
          </a:prstGeom>
          <a:solidFill>
            <a:srgbClr val="F1F5FB"/>
          </a:solidFill>
          <a:ln w="9525">
            <a:solidFill>
              <a:srgbClr val="D5DEEC"/>
            </a:solidFill>
            <a:prstDash val="solid"/>
          </a:ln>
        </p:spPr>
      </p:sp>
      <p:sp>
        <p:nvSpPr>
          <p:cNvPr id="39" name="Text 34"/>
          <p:cNvSpPr txBox="1"/>
          <p:nvPr/>
        </p:nvSpPr>
        <p:spPr>
          <a:xfrm>
            <a:off x="7150608" y="33375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Impact Score</a:t>
            </a:r>
            <a:endParaRPr lang="en-US" sz="1300" dirty="0"/>
          </a:p>
        </p:txBody>
      </p:sp>
      <p:sp>
        <p:nvSpPr>
          <p:cNvPr id="40" name="Shape 35"/>
          <p:cNvSpPr/>
          <p:nvPr/>
        </p:nvSpPr>
        <p:spPr>
          <a:xfrm>
            <a:off x="9418320" y="3337560"/>
            <a:ext cx="2240280" cy="640080"/>
          </a:xfrm>
          <a:prstGeom prst="roundRect">
            <a:avLst>
              <a:gd name="adj" fmla="val 11429"/>
            </a:avLst>
          </a:prstGeom>
          <a:solidFill>
            <a:srgbClr val="F1F5FB"/>
          </a:solidFill>
          <a:ln w="9525">
            <a:solidFill>
              <a:srgbClr val="D5DEEC"/>
            </a:solidFill>
            <a:prstDash val="solid"/>
          </a:ln>
        </p:spPr>
      </p:sp>
      <p:sp>
        <p:nvSpPr>
          <p:cNvPr id="41" name="Text 36"/>
          <p:cNvSpPr txBox="1"/>
          <p:nvPr/>
        </p:nvSpPr>
        <p:spPr>
          <a:xfrm>
            <a:off x="9528048" y="33375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Faculty-to-Student Ratio</a:t>
            </a:r>
            <a:endParaRPr lang="en-US" sz="1300" dirty="0"/>
          </a:p>
        </p:txBody>
      </p:sp>
      <p:sp>
        <p:nvSpPr>
          <p:cNvPr id="42" name="Shape 37"/>
          <p:cNvSpPr/>
          <p:nvPr/>
        </p:nvSpPr>
        <p:spPr>
          <a:xfrm>
            <a:off x="7040880" y="4114800"/>
            <a:ext cx="2240280" cy="640080"/>
          </a:xfrm>
          <a:prstGeom prst="roundRect">
            <a:avLst>
              <a:gd name="adj" fmla="val 11429"/>
            </a:avLst>
          </a:prstGeom>
          <a:solidFill>
            <a:srgbClr val="F1F5FB"/>
          </a:solidFill>
          <a:ln w="9525">
            <a:solidFill>
              <a:srgbClr val="D5DEEC"/>
            </a:solidFill>
            <a:prstDash val="solid"/>
          </a:ln>
        </p:spPr>
      </p:sp>
      <p:sp>
        <p:nvSpPr>
          <p:cNvPr id="43" name="Text 38"/>
          <p:cNvSpPr txBox="1"/>
          <p:nvPr/>
        </p:nvSpPr>
        <p:spPr>
          <a:xfrm>
            <a:off x="7150608" y="41148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Reputation KPI</a:t>
            </a:r>
            <a:endParaRPr lang="en-US" sz="1300" dirty="0"/>
          </a:p>
        </p:txBody>
      </p:sp>
      <p:sp>
        <p:nvSpPr>
          <p:cNvPr id="44" name="Shape 39"/>
          <p:cNvSpPr/>
          <p:nvPr/>
        </p:nvSpPr>
        <p:spPr>
          <a:xfrm>
            <a:off x="9418320" y="4114800"/>
            <a:ext cx="2240280" cy="640080"/>
          </a:xfrm>
          <a:prstGeom prst="roundRect">
            <a:avLst>
              <a:gd name="adj" fmla="val 11429"/>
            </a:avLst>
          </a:prstGeom>
          <a:solidFill>
            <a:srgbClr val="F1F5FB"/>
          </a:solidFill>
          <a:ln w="9525">
            <a:solidFill>
              <a:srgbClr val="D5DEEC"/>
            </a:solidFill>
            <a:prstDash val="solid"/>
          </a:ln>
        </p:spPr>
      </p:sp>
      <p:sp>
        <p:nvSpPr>
          <p:cNvPr id="45" name="Text 40"/>
          <p:cNvSpPr txBox="1"/>
          <p:nvPr/>
        </p:nvSpPr>
        <p:spPr>
          <a:xfrm>
            <a:off x="9528048" y="41148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Productivity Index</a:t>
            </a:r>
            <a:endParaRPr lang="en-US" sz="1300" dirty="0"/>
          </a:p>
        </p:txBody>
      </p:sp>
      <p:sp>
        <p:nvSpPr>
          <p:cNvPr id="46" name="Shape 41"/>
          <p:cNvSpPr/>
          <p:nvPr/>
        </p:nvSpPr>
        <p:spPr>
          <a:xfrm>
            <a:off x="7040880" y="4937760"/>
            <a:ext cx="46177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47" name="Text 42"/>
          <p:cNvSpPr txBox="1"/>
          <p:nvPr/>
        </p:nvSpPr>
        <p:spPr>
          <a:xfrm>
            <a:off x="7040880" y="493776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[Add other fields present in the final dataset]</a:t>
            </a:r>
            <a:endParaRPr lang="en-US" sz="1300" dirty="0"/>
          </a:p>
        </p:txBody>
      </p:sp>
      <p:sp>
        <p:nvSpPr>
          <p:cNvPr id="4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48463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B8B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1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 Engineering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544824" cy="2148840"/>
          </a:xfrm>
          <a:prstGeom prst="roundRect">
            <a:avLst>
              <a:gd name="adj" fmla="val 3404"/>
            </a:avLst>
          </a:prstGeom>
          <a:solidFill>
            <a:srgbClr val="F1F5FB"/>
          </a:solidFill>
          <a:ln w="9525">
            <a:solidFill>
              <a:srgbClr val="D5DEEC"/>
            </a:solidFill>
            <a:prstDash val="solid"/>
          </a:ln>
          <a:effectLst>
            <a:outerShdw blurRad="101600" dist="25400" dir="5400000" algn="bl" rotWithShape="0">
              <a:srgbClr val="0B1F44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536192"/>
            <a:ext cx="594360" cy="594360"/>
          </a:xfrm>
          <a:prstGeom prst="ellipse">
            <a:avLst/>
          </a:prstGeom>
          <a:solidFill>
            <a:srgbClr val="0B1F44"/>
          </a:solidFill>
          <a:ln w="6350">
            <a:solidFill>
              <a:srgbClr val="0B1F44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" y="1684782"/>
            <a:ext cx="297180" cy="2971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536192"/>
            <a:ext cx="23103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Ranking Score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377440"/>
            <a:ext cx="29961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score reflecting a university’s overall standing in global rankings.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322064" y="1280160"/>
            <a:ext cx="3544824" cy="2148840"/>
          </a:xfrm>
          <a:prstGeom prst="roundRect">
            <a:avLst>
              <a:gd name="adj" fmla="val 3404"/>
            </a:avLst>
          </a:prstGeom>
          <a:solidFill>
            <a:srgbClr val="F1F5FB"/>
          </a:solidFill>
          <a:ln w="9525">
            <a:solidFill>
              <a:srgbClr val="D5DEEC"/>
            </a:solidFill>
            <a:prstDash val="solid"/>
          </a:ln>
          <a:effectLst>
            <a:outerShdw blurRad="101600" dist="25400" dir="5400000" algn="bl" rotWithShape="0">
              <a:srgbClr val="0B1F44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96384" y="1536192"/>
            <a:ext cx="594360" cy="594360"/>
          </a:xfrm>
          <a:prstGeom prst="ellipse">
            <a:avLst/>
          </a:prstGeom>
          <a:solidFill>
            <a:srgbClr val="0B1F44"/>
          </a:solidFill>
          <a:ln w="6350">
            <a:solidFill>
              <a:srgbClr val="0B1F44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4974" y="1684782"/>
            <a:ext cx="297180" cy="2971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327904" y="1536192"/>
            <a:ext cx="23103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Impact Score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4596384" y="2377440"/>
            <a:ext cx="29961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influential a university’s research is, based on citation performance.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8095488" y="1280160"/>
            <a:ext cx="3544824" cy="2148840"/>
          </a:xfrm>
          <a:prstGeom prst="roundRect">
            <a:avLst>
              <a:gd name="adj" fmla="val 3404"/>
            </a:avLst>
          </a:prstGeom>
          <a:solidFill>
            <a:srgbClr val="F1F5FB"/>
          </a:solidFill>
          <a:ln w="9525">
            <a:solidFill>
              <a:srgbClr val="D5DEEC"/>
            </a:solidFill>
            <a:prstDash val="solid"/>
          </a:ln>
          <a:effectLst>
            <a:outerShdw blurRad="101600" dist="25400" dir="5400000" algn="bl" rotWithShape="0">
              <a:srgbClr val="0B1F44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369808" y="1536192"/>
            <a:ext cx="594360" cy="594360"/>
          </a:xfrm>
          <a:prstGeom prst="ellipse">
            <a:avLst/>
          </a:prstGeom>
          <a:solidFill>
            <a:srgbClr val="0B1F44"/>
          </a:solidFill>
          <a:ln w="6350">
            <a:solidFill>
              <a:srgbClr val="0B1F44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8398" y="1684782"/>
            <a:ext cx="297180" cy="2971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101328" y="1536192"/>
            <a:ext cx="23103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Faculty-to-Student Ratio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8369808" y="2377440"/>
            <a:ext cx="29961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staff available relative to the size of the student body.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548640" y="3657600"/>
            <a:ext cx="3544824" cy="2148840"/>
          </a:xfrm>
          <a:prstGeom prst="roundRect">
            <a:avLst>
              <a:gd name="adj" fmla="val 3404"/>
            </a:avLst>
          </a:prstGeom>
          <a:solidFill>
            <a:srgbClr val="F1F5FB"/>
          </a:solidFill>
          <a:ln w="9525">
            <a:solidFill>
              <a:srgbClr val="D5DEEC"/>
            </a:solidFill>
            <a:prstDash val="solid"/>
          </a:ln>
          <a:effectLst>
            <a:outerShdw blurRad="101600" dist="25400" dir="5400000" algn="bl" rotWithShape="0">
              <a:srgbClr val="0B1F44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22960" y="3913632"/>
            <a:ext cx="594360" cy="594360"/>
          </a:xfrm>
          <a:prstGeom prst="ellipse">
            <a:avLst/>
          </a:prstGeom>
          <a:solidFill>
            <a:srgbClr val="0B1F44"/>
          </a:solidFill>
          <a:ln w="6350">
            <a:solidFill>
              <a:srgbClr val="0B1F44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" y="4062222"/>
            <a:ext cx="297180" cy="29718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554480" y="3913632"/>
            <a:ext cx="23103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Student Percentage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822960" y="4754880"/>
            <a:ext cx="29961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the student population that comes from abroad.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4322064" y="3657600"/>
            <a:ext cx="3544824" cy="2148840"/>
          </a:xfrm>
          <a:prstGeom prst="roundRect">
            <a:avLst>
              <a:gd name="adj" fmla="val 3404"/>
            </a:avLst>
          </a:prstGeom>
          <a:solidFill>
            <a:srgbClr val="F1F5FB"/>
          </a:solidFill>
          <a:ln w="9525">
            <a:solidFill>
              <a:srgbClr val="D5DEEC"/>
            </a:solidFill>
            <a:prstDash val="solid"/>
          </a:ln>
          <a:effectLst>
            <a:outerShdw blurRad="101600" dist="25400" dir="5400000" algn="bl" rotWithShape="0">
              <a:srgbClr val="0B1F44">
                <a:alpha val="10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596384" y="3913632"/>
            <a:ext cx="594360" cy="594360"/>
          </a:xfrm>
          <a:prstGeom prst="ellipse">
            <a:avLst/>
          </a:prstGeom>
          <a:solidFill>
            <a:srgbClr val="0B1F44"/>
          </a:solidFill>
          <a:ln w="6350">
            <a:solidFill>
              <a:srgbClr val="0B1F44"/>
            </a:solidFill>
            <a:prstDash val="solid"/>
          </a:ln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44974" y="4062222"/>
            <a:ext cx="297180" cy="29718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327904" y="3913632"/>
            <a:ext cx="23103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Reputation Score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4596384" y="4754880"/>
            <a:ext cx="29961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institution is regarded by academic peers.</a:t>
            </a:r>
            <a:endParaRPr lang="en-US" sz="1400" dirty="0"/>
          </a:p>
        </p:txBody>
      </p:sp>
      <p:sp>
        <p:nvSpPr>
          <p:cNvPr id="28" name="Shape 21"/>
          <p:cNvSpPr/>
          <p:nvPr/>
        </p:nvSpPr>
        <p:spPr>
          <a:xfrm>
            <a:off x="8095488" y="3657600"/>
            <a:ext cx="3544824" cy="2148840"/>
          </a:xfrm>
          <a:prstGeom prst="roundRect">
            <a:avLst>
              <a:gd name="adj" fmla="val 3404"/>
            </a:avLst>
          </a:prstGeom>
          <a:solidFill>
            <a:srgbClr val="F1F5FB"/>
          </a:solidFill>
          <a:ln w="9525">
            <a:solidFill>
              <a:srgbClr val="D5DEEC"/>
            </a:solidFill>
            <a:prstDash val="solid"/>
          </a:ln>
          <a:effectLst>
            <a:outerShdw blurRad="101600" dist="25400" dir="5400000" algn="bl" rotWithShape="0">
              <a:srgbClr val="0B1F44">
                <a:alpha val="10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8369808" y="3913632"/>
            <a:ext cx="594360" cy="594360"/>
          </a:xfrm>
          <a:prstGeom prst="ellipse">
            <a:avLst/>
          </a:prstGeom>
          <a:solidFill>
            <a:srgbClr val="0B1F44"/>
          </a:solidFill>
          <a:ln w="6350">
            <a:solidFill>
              <a:srgbClr val="0B1F44"/>
            </a:solidFill>
            <a:prstDash val="solid"/>
          </a:ln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18398" y="4062222"/>
            <a:ext cx="297180" cy="29718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9101328" y="3913632"/>
            <a:ext cx="23103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Productivity Index</a:t>
            </a:r>
            <a:endParaRPr lang="en-US" sz="1600" dirty="0"/>
          </a:p>
        </p:txBody>
      </p:sp>
      <p:sp>
        <p:nvSpPr>
          <p:cNvPr id="32" name="Text 24"/>
          <p:cNvSpPr txBox="1"/>
          <p:nvPr/>
        </p:nvSpPr>
        <p:spPr>
          <a:xfrm>
            <a:off x="8369808" y="4754880"/>
            <a:ext cx="29961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output of a university relative to its size.</a:t>
            </a:r>
            <a:endParaRPr lang="en-US" sz="1400" dirty="0"/>
          </a:p>
        </p:txBody>
      </p:sp>
      <p:sp>
        <p:nvSpPr>
          <p:cNvPr id="33" name="Text 25"/>
          <p:cNvSpPr txBox="1"/>
          <p:nvPr/>
        </p:nvSpPr>
        <p:spPr>
          <a:xfrm>
            <a:off x="548640" y="6080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Calculation methodology: see project documentation [Insert reference if available].</a:t>
            </a:r>
            <a:endParaRPr lang="en-US" sz="11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48463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B8B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1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 flipH="1">
            <a:off x="1600200" y="2057400"/>
            <a:ext cx="2514600" cy="77724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0" y="2057400"/>
            <a:ext cx="0" cy="77724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0" y="2057400"/>
            <a:ext cx="2514600" cy="77724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00200" y="4114800"/>
            <a:ext cx="2514600" cy="82296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0" y="4114800"/>
            <a:ext cx="0" cy="82296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H="1">
            <a:off x="4114800" y="4114800"/>
            <a:ext cx="2514600" cy="82296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51760" y="1371600"/>
            <a:ext cx="2926080" cy="685800"/>
          </a:xfrm>
          <a:prstGeom prst="roundRect">
            <a:avLst>
              <a:gd name="adj" fmla="val 10667"/>
            </a:avLst>
          </a:prstGeom>
          <a:solidFill>
            <a:srgbClr val="0B1F44"/>
          </a:solidFill>
          <a:ln w="6350">
            <a:solidFill>
              <a:srgbClr val="0B1F44"/>
            </a:solidFill>
            <a:prstDash val="solid"/>
          </a:ln>
          <a:effectLst>
            <a:outerShdw blurRad="101600" dist="25400" dir="5400000" algn="bl" rotWithShape="0">
              <a:srgbClr val="0B1F44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2651760" y="137160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EDUVISION_DV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2834640"/>
            <a:ext cx="21031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5DEEC"/>
            </a:solidFill>
            <a:prstDash val="solid"/>
          </a:ln>
          <a:effectLst>
            <a:outerShdw blurRad="101600" dist="25400" dir="5400000" algn="bl" rotWithShape="0">
              <a:srgbClr val="0B1F44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325880" y="2971800"/>
            <a:ext cx="548640" cy="548640"/>
          </a:xfrm>
          <a:prstGeom prst="ellipse">
            <a:avLst/>
          </a:prstGeom>
          <a:solidFill>
            <a:srgbClr val="0B1F44"/>
          </a:solidFill>
          <a:ln w="6350">
            <a:solidFill>
              <a:srgbClr val="0B1F44"/>
            </a:solidFill>
            <a:prstDash val="solid"/>
          </a:ln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3108960"/>
            <a:ext cx="274320" cy="27432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640080" y="36118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Overview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3063240" y="2834640"/>
            <a:ext cx="21031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5DEEC"/>
            </a:solidFill>
            <a:prstDash val="solid"/>
          </a:ln>
          <a:effectLst>
            <a:outerShdw blurRad="101600" dist="25400" dir="5400000" algn="bl" rotWithShape="0">
              <a:srgbClr val="0B1F44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840480" y="2971800"/>
            <a:ext cx="548640" cy="548640"/>
          </a:xfrm>
          <a:prstGeom prst="ellipse">
            <a:avLst/>
          </a:prstGeom>
          <a:solidFill>
            <a:srgbClr val="0B1F44"/>
          </a:solidFill>
          <a:ln w="6350">
            <a:solidFill>
              <a:srgbClr val="0B1F44"/>
            </a:solidFill>
            <a:prstDash val="solid"/>
          </a:ln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7640" y="3108960"/>
            <a:ext cx="274320" cy="27432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3154680" y="36118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Analytics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5577840" y="2834640"/>
            <a:ext cx="21031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5DEEC"/>
            </a:solidFill>
            <a:prstDash val="solid"/>
          </a:ln>
          <a:effectLst>
            <a:outerShdw blurRad="101600" dist="25400" dir="5400000" algn="bl" rotWithShape="0">
              <a:srgbClr val="0B1F44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355080" y="2971800"/>
            <a:ext cx="548640" cy="548640"/>
          </a:xfrm>
          <a:prstGeom prst="ellipse">
            <a:avLst/>
          </a:prstGeom>
          <a:solidFill>
            <a:srgbClr val="0B1F44"/>
          </a:solidFill>
          <a:ln w="6350">
            <a:solidFill>
              <a:srgbClr val="0B1F44"/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3108960"/>
            <a:ext cx="274320" cy="27432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5669280" y="36118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Analytics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2286000" y="4937760"/>
            <a:ext cx="3657600" cy="868680"/>
          </a:xfrm>
          <a:prstGeom prst="roundRect">
            <a:avLst>
              <a:gd name="adj" fmla="val 8421"/>
            </a:avLst>
          </a:prstGeom>
          <a:solidFill>
            <a:srgbClr val="2563EB"/>
          </a:solidFill>
          <a:ln w="6350">
            <a:solidFill>
              <a:srgbClr val="2563EB"/>
            </a:solidFill>
            <a:prstDash val="solid"/>
          </a:ln>
          <a:effectLst>
            <a:outerShdw blurRad="101600" dist="25400" dir="5400000" algn="bl" rotWithShape="0">
              <a:srgbClr val="0B1F44">
                <a:alpha val="10000"/>
              </a:srgbClr>
            </a:outerShdw>
          </a:effectLst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60320" y="5166360"/>
            <a:ext cx="411480" cy="41148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3108960" y="493776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Comparison</a:t>
            </a:r>
            <a:endParaRPr lang="en-US" sz="1800" dirty="0"/>
          </a:p>
        </p:txBody>
      </p:sp>
      <p:sp>
        <p:nvSpPr>
          <p:cNvPr id="26" name="Shape 20"/>
          <p:cNvSpPr/>
          <p:nvPr/>
        </p:nvSpPr>
        <p:spPr>
          <a:xfrm>
            <a:off x="8138160" y="1371600"/>
            <a:ext cx="3502152" cy="4434840"/>
          </a:xfrm>
          <a:prstGeom prst="roundRect">
            <a:avLst>
              <a:gd name="adj" fmla="val 2089"/>
            </a:avLst>
          </a:prstGeom>
          <a:solidFill>
            <a:srgbClr val="F1F5FB"/>
          </a:solidFill>
          <a:ln w="9525">
            <a:solidFill>
              <a:srgbClr val="D5DEEC"/>
            </a:solidFill>
            <a:prstDash val="solid"/>
          </a:ln>
          <a:effectLst>
            <a:outerShdw blurRad="101600" dist="25400" dir="5400000" algn="bl" rotWithShape="0">
              <a:srgbClr val="0B1F44">
                <a:alpha val="10000"/>
              </a:srgbClr>
            </a:outerShdw>
          </a:effectLst>
        </p:spPr>
      </p:sp>
      <p:sp>
        <p:nvSpPr>
          <p:cNvPr id="27" name="Text 21"/>
          <p:cNvSpPr txBox="1"/>
          <p:nvPr/>
        </p:nvSpPr>
        <p:spPr>
          <a:xfrm>
            <a:off x="8366760" y="157276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INTEGRATED WORKBOOK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8366760" y="2057400"/>
            <a:ext cx="365760" cy="365760"/>
          </a:xfrm>
          <a:prstGeom prst="ellipse">
            <a:avLst/>
          </a:prstGeom>
          <a:solidFill>
            <a:srgbClr val="0B1F44"/>
          </a:solidFill>
          <a:ln w="6350">
            <a:solidFill>
              <a:srgbClr val="0B1F44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8366760" y="2057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30" name="Text 24"/>
          <p:cNvSpPr txBox="1"/>
          <p:nvPr/>
        </p:nvSpPr>
        <p:spPr>
          <a:xfrm>
            <a:off x="8915400" y="20116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Overview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Rankings and scores</a:t>
            </a:r>
            <a:endParaRPr lang="en-US" sz="1500" dirty="0"/>
          </a:p>
        </p:txBody>
      </p:sp>
      <p:sp>
        <p:nvSpPr>
          <p:cNvPr id="31" name="Shape 25"/>
          <p:cNvSpPr/>
          <p:nvPr/>
        </p:nvSpPr>
        <p:spPr>
          <a:xfrm>
            <a:off x="8366760" y="2834640"/>
            <a:ext cx="365760" cy="365760"/>
          </a:xfrm>
          <a:prstGeom prst="ellipse">
            <a:avLst/>
          </a:prstGeom>
          <a:solidFill>
            <a:srgbClr val="0B1F44"/>
          </a:solidFill>
          <a:ln w="6350">
            <a:solidFill>
              <a:srgbClr val="0B1F44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8366760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3" name="Text 27"/>
          <p:cNvSpPr txBox="1"/>
          <p:nvPr/>
        </p:nvSpPr>
        <p:spPr>
          <a:xfrm>
            <a:off x="8915400" y="27889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Analytics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 and productivity</a:t>
            </a:r>
            <a:endParaRPr lang="en-US" sz="1500" dirty="0"/>
          </a:p>
        </p:txBody>
      </p:sp>
      <p:sp>
        <p:nvSpPr>
          <p:cNvPr id="34" name="Shape 28"/>
          <p:cNvSpPr/>
          <p:nvPr/>
        </p:nvSpPr>
        <p:spPr>
          <a:xfrm>
            <a:off x="8366760" y="3611880"/>
            <a:ext cx="365760" cy="365760"/>
          </a:xfrm>
          <a:prstGeom prst="ellipse">
            <a:avLst/>
          </a:prstGeom>
          <a:solidFill>
            <a:srgbClr val="0B1F44"/>
          </a:solidFill>
          <a:ln w="6350">
            <a:solidFill>
              <a:srgbClr val="0B1F44"/>
            </a:solidFill>
            <a:prstDash val="solid"/>
          </a:ln>
        </p:spPr>
      </p:sp>
      <p:sp>
        <p:nvSpPr>
          <p:cNvPr id="35" name="Text 29"/>
          <p:cNvSpPr txBox="1"/>
          <p:nvPr/>
        </p:nvSpPr>
        <p:spPr>
          <a:xfrm>
            <a:off x="8366760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6" name="Text 30"/>
          <p:cNvSpPr txBox="1"/>
          <p:nvPr/>
        </p:nvSpPr>
        <p:spPr>
          <a:xfrm>
            <a:off x="8915400" y="356616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Analytics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Diversity and ratios</a:t>
            </a:r>
            <a:endParaRPr lang="en-US" sz="1500" dirty="0"/>
          </a:p>
        </p:txBody>
      </p:sp>
      <p:sp>
        <p:nvSpPr>
          <p:cNvPr id="37" name="Shape 31"/>
          <p:cNvSpPr/>
          <p:nvPr/>
        </p:nvSpPr>
        <p:spPr>
          <a:xfrm>
            <a:off x="8366760" y="4389120"/>
            <a:ext cx="365760" cy="365760"/>
          </a:xfrm>
          <a:prstGeom prst="ellipse">
            <a:avLst/>
          </a:prstGeom>
          <a:solidFill>
            <a:srgbClr val="0B1F44"/>
          </a:solidFill>
          <a:ln w="6350">
            <a:solidFill>
              <a:srgbClr val="0B1F44"/>
            </a:solidFill>
            <a:prstDash val="solid"/>
          </a:ln>
        </p:spPr>
      </p:sp>
      <p:sp>
        <p:nvSpPr>
          <p:cNvPr id="38" name="Text 32"/>
          <p:cNvSpPr txBox="1"/>
          <p:nvPr/>
        </p:nvSpPr>
        <p:spPr>
          <a:xfrm>
            <a:off x="8366760" y="4389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9" name="Text 33"/>
          <p:cNvSpPr txBox="1"/>
          <p:nvPr/>
        </p:nvSpPr>
        <p:spPr>
          <a:xfrm>
            <a:off x="8915400" y="434340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Comparison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benchmarking</a:t>
            </a:r>
            <a:endParaRPr lang="en-US" sz="1500" dirty="0"/>
          </a:p>
        </p:txBody>
      </p:sp>
      <p:sp>
        <p:nvSpPr>
          <p:cNvPr id="40" name="Text 34"/>
          <p:cNvSpPr txBox="1"/>
          <p:nvPr/>
        </p:nvSpPr>
        <p:spPr>
          <a:xfrm>
            <a:off x="8366760" y="51206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dashboards are designed as a single, interlinked Tableau workbook.</a:t>
            </a:r>
            <a:endParaRPr lang="en-US" sz="1300" dirty="0"/>
          </a:p>
        </p:txBody>
      </p:sp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48463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B8B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1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Interlinking &amp; Interactivity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291840" cy="1828800"/>
          </a:xfrm>
          <a:prstGeom prst="roundRect">
            <a:avLst>
              <a:gd name="adj" fmla="val 4000"/>
            </a:avLst>
          </a:prstGeom>
          <a:solidFill>
            <a:srgbClr val="F1F5FB"/>
          </a:solidFill>
          <a:ln w="9525">
            <a:solidFill>
              <a:srgbClr val="D5DEEC"/>
            </a:solidFill>
            <a:prstDash val="solid"/>
          </a:ln>
          <a:effectLst>
            <a:outerShdw blurRad="101600" dist="25400" dir="5400000" algn="bl" rotWithShape="0">
              <a:srgbClr val="0B1F44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77240" y="14173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FILTERS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77240" y="1783080"/>
            <a:ext cx="283464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865376"/>
            <a:ext cx="182880" cy="1828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34440" y="17830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ID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77240" y="2212848"/>
            <a:ext cx="283464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295144"/>
            <a:ext cx="182880" cy="1828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34440" y="221284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ID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777240" y="2642616"/>
            <a:ext cx="283464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724912"/>
            <a:ext cx="182880" cy="18288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34440" y="264261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114800" y="1280160"/>
            <a:ext cx="7525512" cy="1828800"/>
          </a:xfrm>
          <a:prstGeom prst="roundRect">
            <a:avLst>
              <a:gd name="adj" fmla="val 4000"/>
            </a:avLst>
          </a:prstGeom>
          <a:solidFill>
            <a:srgbClr val="F1F5FB"/>
          </a:solidFill>
          <a:ln w="9525">
            <a:solidFill>
              <a:srgbClr val="D5DEEC"/>
            </a:solidFill>
            <a:prstDash val="solid"/>
          </a:ln>
          <a:effectLst>
            <a:outerShdw blurRad="101600" dist="25400" dir="5400000" algn="bl" rotWithShape="0">
              <a:srgbClr val="0B1F44">
                <a:alpha val="10000"/>
              </a:srgbClr>
            </a:outerShdw>
          </a:effectLst>
        </p:spPr>
      </p:sp>
      <p:sp>
        <p:nvSpPr>
          <p:cNvPr id="15" name="Text 10"/>
          <p:cNvSpPr txBox="1"/>
          <p:nvPr/>
        </p:nvSpPr>
        <p:spPr>
          <a:xfrm>
            <a:off x="4343400" y="1417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343400" y="1783080"/>
            <a:ext cx="7068312" cy="777240"/>
          </a:xfrm>
          <a:prstGeom prst="roundRect">
            <a:avLst>
              <a:gd name="adj" fmla="val 9412"/>
            </a:avLst>
          </a:prstGeom>
          <a:solidFill>
            <a:srgbClr val="0B1F44"/>
          </a:solidFill>
          <a:ln w="6350">
            <a:solidFill>
              <a:srgbClr val="0B1F44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4462272" y="1892808"/>
            <a:ext cx="1298448" cy="557784"/>
          </a:xfrm>
          <a:prstGeom prst="roundRect">
            <a:avLst>
              <a:gd name="adj" fmla="val 9836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4507992" y="1892808"/>
            <a:ext cx="120700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870448" y="1892808"/>
            <a:ext cx="1298448" cy="557784"/>
          </a:xfrm>
          <a:prstGeom prst="roundRect">
            <a:avLst>
              <a:gd name="adj" fmla="val 9836"/>
            </a:avLst>
          </a:prstGeom>
          <a:solidFill>
            <a:srgbClr val="13306A"/>
          </a:solidFill>
          <a:ln w="9525">
            <a:solidFill>
              <a:srgbClr val="2A5CAB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5916168" y="1892808"/>
            <a:ext cx="120700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Overview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7278624" y="1892808"/>
            <a:ext cx="1298448" cy="557784"/>
          </a:xfrm>
          <a:prstGeom prst="roundRect">
            <a:avLst>
              <a:gd name="adj" fmla="val 9836"/>
            </a:avLst>
          </a:prstGeom>
          <a:solidFill>
            <a:srgbClr val="13306A"/>
          </a:solidFill>
          <a:ln w="9525">
            <a:solidFill>
              <a:srgbClr val="2A5CAB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7324344" y="1892808"/>
            <a:ext cx="120700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Analytics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8686800" y="1892808"/>
            <a:ext cx="1298448" cy="557784"/>
          </a:xfrm>
          <a:prstGeom prst="roundRect">
            <a:avLst>
              <a:gd name="adj" fmla="val 9836"/>
            </a:avLst>
          </a:prstGeom>
          <a:solidFill>
            <a:srgbClr val="13306A"/>
          </a:solidFill>
          <a:ln w="9525">
            <a:solidFill>
              <a:srgbClr val="2A5CAB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8732520" y="1892808"/>
            <a:ext cx="120700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Analytics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10094976" y="1892808"/>
            <a:ext cx="1298448" cy="557784"/>
          </a:xfrm>
          <a:prstGeom prst="roundRect">
            <a:avLst>
              <a:gd name="adj" fmla="val 9836"/>
            </a:avLst>
          </a:prstGeom>
          <a:solidFill>
            <a:srgbClr val="13306A"/>
          </a:solidFill>
          <a:ln w="9525">
            <a:solidFill>
              <a:srgbClr val="2A5CAB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10140696" y="1892808"/>
            <a:ext cx="120700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Comparison</a:t>
            </a:r>
            <a:endParaRPr lang="en-US" sz="1200" dirty="0"/>
          </a:p>
        </p:txBody>
      </p:sp>
      <p:sp>
        <p:nvSpPr>
          <p:cNvPr id="27" name="Text 22"/>
          <p:cNvSpPr txBox="1"/>
          <p:nvPr/>
        </p:nvSpPr>
        <p:spPr>
          <a:xfrm>
            <a:off x="4343400" y="269748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buttons let users move between dashboards.</a:t>
            </a:r>
            <a:endParaRPr lang="en-US" sz="1200" dirty="0"/>
          </a:p>
        </p:txBody>
      </p:sp>
      <p:sp>
        <p:nvSpPr>
          <p:cNvPr id="28" name="Text 23"/>
          <p:cNvSpPr txBox="1"/>
          <p:nvPr/>
        </p:nvSpPr>
        <p:spPr>
          <a:xfrm>
            <a:off x="548640" y="3337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ACTIONS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548640" y="3657600"/>
            <a:ext cx="2286000" cy="685800"/>
          </a:xfrm>
          <a:prstGeom prst="roundRect">
            <a:avLst>
              <a:gd name="adj" fmla="val 10667"/>
            </a:avLst>
          </a:prstGeom>
          <a:solidFill>
            <a:srgbClr val="0B1F44"/>
          </a:solidFill>
          <a:ln w="6350">
            <a:solidFill>
              <a:srgbClr val="0B1F44"/>
            </a:solidFill>
            <a:prstDash val="solid"/>
          </a:ln>
          <a:effectLst>
            <a:outerShdw blurRad="101600" dist="25400" dir="5400000" algn="bl" rotWithShape="0">
              <a:srgbClr val="0B1F44">
                <a:alpha val="10000"/>
              </a:srgbClr>
            </a:outerShdw>
          </a:effectLst>
        </p:spPr>
      </p:sp>
      <p:sp>
        <p:nvSpPr>
          <p:cNvPr id="30" name="Text 25"/>
          <p:cNvSpPr txBox="1"/>
          <p:nvPr/>
        </p:nvSpPr>
        <p:spPr>
          <a:xfrm>
            <a:off x="548640" y="36576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Overview</a:t>
            </a:r>
            <a:endParaRPr lang="en-US" sz="1500" dirty="0"/>
          </a:p>
        </p:txBody>
      </p:sp>
      <p:sp>
        <p:nvSpPr>
          <p:cNvPr id="31" name="Shape 26"/>
          <p:cNvSpPr/>
          <p:nvPr/>
        </p:nvSpPr>
        <p:spPr>
          <a:xfrm>
            <a:off x="2907792" y="4000500"/>
            <a:ext cx="50292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32" name="Shape 27"/>
          <p:cNvSpPr/>
          <p:nvPr/>
        </p:nvSpPr>
        <p:spPr>
          <a:xfrm>
            <a:off x="3483864" y="3657600"/>
            <a:ext cx="2286000" cy="685800"/>
          </a:xfrm>
          <a:prstGeom prst="roundRect">
            <a:avLst>
              <a:gd name="adj" fmla="val 10667"/>
            </a:avLst>
          </a:prstGeom>
          <a:solidFill>
            <a:srgbClr val="0B1F44"/>
          </a:solidFill>
          <a:ln w="6350">
            <a:solidFill>
              <a:srgbClr val="0B1F44"/>
            </a:solidFill>
            <a:prstDash val="solid"/>
          </a:ln>
          <a:effectLst>
            <a:outerShdw blurRad="101600" dist="25400" dir="5400000" algn="bl" rotWithShape="0">
              <a:srgbClr val="0B1F44">
                <a:alpha val="10000"/>
              </a:srgbClr>
            </a:outerShdw>
          </a:effectLst>
        </p:spPr>
      </p:sp>
      <p:sp>
        <p:nvSpPr>
          <p:cNvPr id="33" name="Text 28"/>
          <p:cNvSpPr txBox="1"/>
          <p:nvPr/>
        </p:nvSpPr>
        <p:spPr>
          <a:xfrm>
            <a:off x="3483864" y="36576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Analytics</a:t>
            </a:r>
            <a:endParaRPr lang="en-US" sz="1500" dirty="0"/>
          </a:p>
        </p:txBody>
      </p:sp>
      <p:sp>
        <p:nvSpPr>
          <p:cNvPr id="34" name="Shape 29"/>
          <p:cNvSpPr/>
          <p:nvPr/>
        </p:nvSpPr>
        <p:spPr>
          <a:xfrm>
            <a:off x="5843016" y="4000500"/>
            <a:ext cx="50292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35" name="Shape 30"/>
          <p:cNvSpPr/>
          <p:nvPr/>
        </p:nvSpPr>
        <p:spPr>
          <a:xfrm>
            <a:off x="6419088" y="3657600"/>
            <a:ext cx="2286000" cy="685800"/>
          </a:xfrm>
          <a:prstGeom prst="roundRect">
            <a:avLst>
              <a:gd name="adj" fmla="val 10667"/>
            </a:avLst>
          </a:prstGeom>
          <a:solidFill>
            <a:srgbClr val="0B1F44"/>
          </a:solidFill>
          <a:ln w="6350">
            <a:solidFill>
              <a:srgbClr val="0B1F44"/>
            </a:solidFill>
            <a:prstDash val="solid"/>
          </a:ln>
          <a:effectLst>
            <a:outerShdw blurRad="101600" dist="25400" dir="5400000" algn="bl" rotWithShape="0">
              <a:srgbClr val="0B1F44">
                <a:alpha val="10000"/>
              </a:srgbClr>
            </a:outerShdw>
          </a:effectLst>
        </p:spPr>
      </p:sp>
      <p:sp>
        <p:nvSpPr>
          <p:cNvPr id="36" name="Text 31"/>
          <p:cNvSpPr txBox="1"/>
          <p:nvPr/>
        </p:nvSpPr>
        <p:spPr>
          <a:xfrm>
            <a:off x="6419088" y="36576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Analytics</a:t>
            </a:r>
            <a:endParaRPr lang="en-US" sz="1500" dirty="0"/>
          </a:p>
        </p:txBody>
      </p:sp>
      <p:sp>
        <p:nvSpPr>
          <p:cNvPr id="37" name="Shape 32"/>
          <p:cNvSpPr/>
          <p:nvPr/>
        </p:nvSpPr>
        <p:spPr>
          <a:xfrm>
            <a:off x="8778240" y="4000500"/>
            <a:ext cx="50292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38" name="Shape 33"/>
          <p:cNvSpPr/>
          <p:nvPr/>
        </p:nvSpPr>
        <p:spPr>
          <a:xfrm>
            <a:off x="9354312" y="3657600"/>
            <a:ext cx="2286000" cy="685800"/>
          </a:xfrm>
          <a:prstGeom prst="roundRect">
            <a:avLst>
              <a:gd name="adj" fmla="val 10667"/>
            </a:avLst>
          </a:prstGeom>
          <a:solidFill>
            <a:srgbClr val="2563EB"/>
          </a:solidFill>
          <a:ln w="6350">
            <a:solidFill>
              <a:srgbClr val="2563EB"/>
            </a:solidFill>
            <a:prstDash val="solid"/>
          </a:ln>
          <a:effectLst>
            <a:outerShdw blurRad="101600" dist="25400" dir="5400000" algn="bl" rotWithShape="0">
              <a:srgbClr val="0B1F44">
                <a:alpha val="10000"/>
              </a:srgbClr>
            </a:outerShdw>
          </a:effectLst>
        </p:spPr>
      </p:sp>
      <p:sp>
        <p:nvSpPr>
          <p:cNvPr id="39" name="Text 34"/>
          <p:cNvSpPr txBox="1"/>
          <p:nvPr/>
        </p:nvSpPr>
        <p:spPr>
          <a:xfrm>
            <a:off x="9354312" y="36576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Comparison</a:t>
            </a:r>
            <a:endParaRPr lang="en-US" sz="1500" dirty="0"/>
          </a:p>
        </p:txBody>
      </p:sp>
      <p:sp>
        <p:nvSpPr>
          <p:cNvPr id="40" name="Shape 35"/>
          <p:cNvSpPr/>
          <p:nvPr/>
        </p:nvSpPr>
        <p:spPr>
          <a:xfrm>
            <a:off x="548640" y="4617720"/>
            <a:ext cx="3544824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D5DEEC"/>
            </a:solidFill>
            <a:prstDash val="solid"/>
          </a:ln>
          <a:effectLst>
            <a:outerShdw blurRad="101600" dist="25400" dir="5400000" algn="bl" rotWithShape="0">
              <a:srgbClr val="0B1F44">
                <a:alpha val="10000"/>
              </a:srgbClr>
            </a:outerShdw>
          </a:effectLst>
        </p:spPr>
      </p:sp>
      <p:sp>
        <p:nvSpPr>
          <p:cNvPr id="41" name="Shape 36"/>
          <p:cNvSpPr/>
          <p:nvPr/>
        </p:nvSpPr>
        <p:spPr>
          <a:xfrm>
            <a:off x="777240" y="480060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42" name="Text 37"/>
          <p:cNvSpPr txBox="1"/>
          <p:nvPr/>
        </p:nvSpPr>
        <p:spPr>
          <a:xfrm>
            <a:off x="777240" y="48006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</a:t>
            </a:r>
            <a:endParaRPr lang="en-US" sz="1100" dirty="0"/>
          </a:p>
        </p:txBody>
      </p:sp>
      <p:pic>
        <p:nvPicPr>
          <p:cNvPr id="4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257800"/>
            <a:ext cx="274320" cy="274320"/>
          </a:xfrm>
          <a:prstGeom prst="rect">
            <a:avLst/>
          </a:prstGeom>
        </p:spPr>
      </p:pic>
      <p:sp>
        <p:nvSpPr>
          <p:cNvPr id="44" name="Text 38"/>
          <p:cNvSpPr txBox="1"/>
          <p:nvPr/>
        </p:nvSpPr>
        <p:spPr>
          <a:xfrm>
            <a:off x="1188720" y="5212080"/>
            <a:ext cx="267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 university</a:t>
            </a: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Analytics opens with that university selected.</a:t>
            </a:r>
            <a:endParaRPr lang="en-US" sz="1400" dirty="0"/>
          </a:p>
        </p:txBody>
      </p:sp>
      <p:sp>
        <p:nvSpPr>
          <p:cNvPr id="45" name="Shape 39"/>
          <p:cNvSpPr/>
          <p:nvPr/>
        </p:nvSpPr>
        <p:spPr>
          <a:xfrm>
            <a:off x="4322064" y="4617720"/>
            <a:ext cx="3544824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D5DEEC"/>
            </a:solidFill>
            <a:prstDash val="solid"/>
          </a:ln>
          <a:effectLst>
            <a:outerShdw blurRad="101600" dist="25400" dir="5400000" algn="bl" rotWithShape="0">
              <a:srgbClr val="0B1F44">
                <a:alpha val="10000"/>
              </a:srgbClr>
            </a:outerShdw>
          </a:effectLst>
        </p:spPr>
      </p:sp>
      <p:sp>
        <p:nvSpPr>
          <p:cNvPr id="46" name="Shape 40"/>
          <p:cNvSpPr/>
          <p:nvPr/>
        </p:nvSpPr>
        <p:spPr>
          <a:xfrm>
            <a:off x="4550664" y="480060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47" name="Text 41"/>
          <p:cNvSpPr txBox="1"/>
          <p:nvPr/>
        </p:nvSpPr>
        <p:spPr>
          <a:xfrm>
            <a:off x="4550664" y="48006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</a:t>
            </a:r>
            <a:endParaRPr lang="en-US" sz="1100" dirty="0"/>
          </a:p>
        </p:txBody>
      </p:sp>
      <p:pic>
        <p:nvPicPr>
          <p:cNvPr id="48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0664" y="5257800"/>
            <a:ext cx="274320" cy="274320"/>
          </a:xfrm>
          <a:prstGeom prst="rect">
            <a:avLst/>
          </a:prstGeom>
        </p:spPr>
      </p:pic>
      <p:sp>
        <p:nvSpPr>
          <p:cNvPr id="49" name="Text 42"/>
          <p:cNvSpPr txBox="1"/>
          <p:nvPr/>
        </p:nvSpPr>
        <p:spPr>
          <a:xfrm>
            <a:off x="4962144" y="5212080"/>
            <a:ext cx="267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 university</a:t>
            </a: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Analytics opens with that university selected.</a:t>
            </a:r>
            <a:endParaRPr lang="en-US" sz="1400" dirty="0"/>
          </a:p>
        </p:txBody>
      </p:sp>
      <p:sp>
        <p:nvSpPr>
          <p:cNvPr id="50" name="Shape 43"/>
          <p:cNvSpPr/>
          <p:nvPr/>
        </p:nvSpPr>
        <p:spPr>
          <a:xfrm>
            <a:off x="8095488" y="4617720"/>
            <a:ext cx="3544824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D5DEEC"/>
            </a:solidFill>
            <a:prstDash val="solid"/>
          </a:ln>
          <a:effectLst>
            <a:outerShdw blurRad="101600" dist="25400" dir="5400000" algn="bl" rotWithShape="0">
              <a:srgbClr val="0B1F44">
                <a:alpha val="10000"/>
              </a:srgbClr>
            </a:outerShdw>
          </a:effectLst>
        </p:spPr>
      </p:sp>
      <p:sp>
        <p:nvSpPr>
          <p:cNvPr id="51" name="Shape 44"/>
          <p:cNvSpPr/>
          <p:nvPr/>
        </p:nvSpPr>
        <p:spPr>
          <a:xfrm>
            <a:off x="8324088" y="480060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52" name="Text 45"/>
          <p:cNvSpPr txBox="1"/>
          <p:nvPr/>
        </p:nvSpPr>
        <p:spPr>
          <a:xfrm>
            <a:off x="8324088" y="48006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3</a:t>
            </a:r>
            <a:endParaRPr lang="en-US" sz="1100" dirty="0"/>
          </a:p>
        </p:txBody>
      </p:sp>
      <p:pic>
        <p:nvPicPr>
          <p:cNvPr id="53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4088" y="5257800"/>
            <a:ext cx="274320" cy="274320"/>
          </a:xfrm>
          <a:prstGeom prst="rect">
            <a:avLst/>
          </a:prstGeom>
        </p:spPr>
      </p:pic>
      <p:sp>
        <p:nvSpPr>
          <p:cNvPr id="54" name="Text 46"/>
          <p:cNvSpPr txBox="1"/>
          <p:nvPr/>
        </p:nvSpPr>
        <p:spPr>
          <a:xfrm>
            <a:off x="8735568" y="5212080"/>
            <a:ext cx="267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 university</a:t>
            </a: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Comparison opens with its country selected.</a:t>
            </a:r>
            <a:endParaRPr lang="en-US" sz="1400" dirty="0"/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48463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B8B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1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 &amp; Workflow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2072030" cy="2606040"/>
          </a:xfrm>
          <a:prstGeom prst="roundRect">
            <a:avLst>
              <a:gd name="adj" fmla="val 3530"/>
            </a:avLst>
          </a:prstGeom>
          <a:solidFill>
            <a:srgbClr val="F1F5FB"/>
          </a:solidFill>
          <a:ln w="9525">
            <a:solidFill>
              <a:srgbClr val="D5DEEC"/>
            </a:solidFill>
            <a:prstDash val="solid"/>
          </a:ln>
          <a:effectLst>
            <a:outerShdw blurRad="101600" dist="25400" dir="5400000" algn="bl" rotWithShape="0">
              <a:srgbClr val="0B1F44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463040"/>
            <a:ext cx="502920" cy="502920"/>
          </a:xfrm>
          <a:prstGeom prst="ellipse">
            <a:avLst/>
          </a:prstGeom>
          <a:solidFill>
            <a:srgbClr val="0B1F44"/>
          </a:solidFill>
          <a:ln w="6350">
            <a:solidFill>
              <a:srgbClr val="0B1F44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1588770"/>
            <a:ext cx="251460" cy="2514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103120"/>
            <a:ext cx="17977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560320"/>
            <a:ext cx="175199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QS Rankings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WUR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803550" y="1280160"/>
            <a:ext cx="2072030" cy="2606040"/>
          </a:xfrm>
          <a:prstGeom prst="roundRect">
            <a:avLst>
              <a:gd name="adj" fmla="val 3530"/>
            </a:avLst>
          </a:prstGeom>
          <a:solidFill>
            <a:srgbClr val="F1F5FB"/>
          </a:solidFill>
          <a:ln w="9525">
            <a:solidFill>
              <a:srgbClr val="D5DEEC"/>
            </a:solidFill>
            <a:prstDash val="solid"/>
          </a:ln>
          <a:effectLst>
            <a:outerShdw blurRad="101600" dist="25400" dir="5400000" algn="bl" rotWithShape="0">
              <a:srgbClr val="0B1F44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986430" y="1463040"/>
            <a:ext cx="502920" cy="502920"/>
          </a:xfrm>
          <a:prstGeom prst="ellipse">
            <a:avLst/>
          </a:prstGeom>
          <a:solidFill>
            <a:srgbClr val="0B1F44"/>
          </a:solidFill>
          <a:ln w="6350">
            <a:solidFill>
              <a:srgbClr val="0B1F44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2160" y="1588770"/>
            <a:ext cx="251460" cy="2514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986430" y="2103120"/>
            <a:ext cx="17977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2986430" y="2560320"/>
            <a:ext cx="175199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058461" y="1280160"/>
            <a:ext cx="2072030" cy="2606040"/>
          </a:xfrm>
          <a:prstGeom prst="roundRect">
            <a:avLst>
              <a:gd name="adj" fmla="val 3530"/>
            </a:avLst>
          </a:prstGeom>
          <a:solidFill>
            <a:srgbClr val="F1F5FB"/>
          </a:solidFill>
          <a:ln w="9525">
            <a:solidFill>
              <a:srgbClr val="D5DEEC"/>
            </a:solidFill>
            <a:prstDash val="solid"/>
          </a:ln>
          <a:effectLst>
            <a:outerShdw blurRad="101600" dist="25400" dir="5400000" algn="bl" rotWithShape="0">
              <a:srgbClr val="0B1F44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241341" y="1463040"/>
            <a:ext cx="502920" cy="502920"/>
          </a:xfrm>
          <a:prstGeom prst="ellipse">
            <a:avLst/>
          </a:prstGeom>
          <a:solidFill>
            <a:srgbClr val="0B1F44"/>
          </a:solidFill>
          <a:ln w="6350">
            <a:solidFill>
              <a:srgbClr val="0B1F44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7071" y="1588770"/>
            <a:ext cx="251460" cy="2514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241341" y="2103120"/>
            <a:ext cx="17977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5241341" y="2560320"/>
            <a:ext cx="175199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Desktop / Tableau Public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7313371" y="1280160"/>
            <a:ext cx="2072030" cy="2606040"/>
          </a:xfrm>
          <a:prstGeom prst="roundRect">
            <a:avLst>
              <a:gd name="adj" fmla="val 3530"/>
            </a:avLst>
          </a:prstGeom>
          <a:solidFill>
            <a:srgbClr val="F1F5FB"/>
          </a:solidFill>
          <a:ln w="9525">
            <a:solidFill>
              <a:srgbClr val="D5DEEC"/>
            </a:solidFill>
            <a:prstDash val="solid"/>
          </a:ln>
          <a:effectLst>
            <a:outerShdw blurRad="101600" dist="25400" dir="5400000" algn="bl" rotWithShape="0">
              <a:srgbClr val="0B1F44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496251" y="1463040"/>
            <a:ext cx="502920" cy="502920"/>
          </a:xfrm>
          <a:prstGeom prst="ellipse">
            <a:avLst/>
          </a:prstGeom>
          <a:solidFill>
            <a:srgbClr val="0B1F44"/>
          </a:solidFill>
          <a:ln w="6350">
            <a:solidFill>
              <a:srgbClr val="0B1F44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1981" y="1588770"/>
            <a:ext cx="251460" cy="2514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496251" y="2103120"/>
            <a:ext cx="17977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7496251" y="2560320"/>
            <a:ext cx="175199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Filters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Actions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9568282" y="1280160"/>
            <a:ext cx="2072030" cy="2606040"/>
          </a:xfrm>
          <a:prstGeom prst="roundRect">
            <a:avLst>
              <a:gd name="adj" fmla="val 3530"/>
            </a:avLst>
          </a:prstGeom>
          <a:solidFill>
            <a:srgbClr val="F1F5FB"/>
          </a:solidFill>
          <a:ln w="9525">
            <a:solidFill>
              <a:srgbClr val="D5DEEC"/>
            </a:solidFill>
            <a:prstDash val="solid"/>
          </a:ln>
          <a:effectLst>
            <a:outerShdw blurRad="101600" dist="25400" dir="5400000" algn="bl" rotWithShape="0">
              <a:srgbClr val="0B1F44">
                <a:alpha val="10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9751162" y="1463040"/>
            <a:ext cx="502920" cy="502920"/>
          </a:xfrm>
          <a:prstGeom prst="ellipse">
            <a:avLst/>
          </a:prstGeom>
          <a:solidFill>
            <a:srgbClr val="0B1F44"/>
          </a:solidFill>
          <a:ln w="6350">
            <a:solidFill>
              <a:srgbClr val="0B1F44"/>
            </a:solidFill>
            <a:prstDash val="solid"/>
          </a:ln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76892" y="1588770"/>
            <a:ext cx="251460" cy="25146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9751162" y="2103120"/>
            <a:ext cx="17977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9751162" y="2560320"/>
            <a:ext cx="175199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400" dirty="0"/>
          </a:p>
        </p:txBody>
      </p:sp>
      <p:sp>
        <p:nvSpPr>
          <p:cNvPr id="28" name="Text 21"/>
          <p:cNvSpPr txBox="1"/>
          <p:nvPr/>
        </p:nvSpPr>
        <p:spPr>
          <a:xfrm>
            <a:off x="548640" y="4160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WORKFLOW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1280160" y="4736592"/>
            <a:ext cx="962863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1078992" y="4535424"/>
            <a:ext cx="402336" cy="402336"/>
          </a:xfrm>
          <a:prstGeom prst="ellipse">
            <a:avLst/>
          </a:prstGeom>
          <a:solidFill>
            <a:srgbClr val="0B1F4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1" name="Text 24"/>
          <p:cNvSpPr txBox="1"/>
          <p:nvPr/>
        </p:nvSpPr>
        <p:spPr>
          <a:xfrm>
            <a:off x="1078992" y="45354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32" name="Shape 25"/>
          <p:cNvSpPr/>
          <p:nvPr/>
        </p:nvSpPr>
        <p:spPr>
          <a:xfrm>
            <a:off x="548640" y="516636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F1F5FB"/>
          </a:solidFill>
          <a:ln w="9525">
            <a:solidFill>
              <a:srgbClr val="D5DEEC"/>
            </a:solidFill>
            <a:prstDash val="solid"/>
          </a:ln>
        </p:spPr>
      </p:sp>
      <p:sp>
        <p:nvSpPr>
          <p:cNvPr id="33" name="Text 26"/>
          <p:cNvSpPr txBox="1"/>
          <p:nvPr/>
        </p:nvSpPr>
        <p:spPr>
          <a:xfrm>
            <a:off x="621792" y="5166360"/>
            <a:ext cx="13167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400" dirty="0"/>
          </a:p>
        </p:txBody>
      </p:sp>
      <p:sp>
        <p:nvSpPr>
          <p:cNvPr id="34" name="Shape 27"/>
          <p:cNvSpPr/>
          <p:nvPr/>
        </p:nvSpPr>
        <p:spPr>
          <a:xfrm>
            <a:off x="2683764" y="4535424"/>
            <a:ext cx="402336" cy="402336"/>
          </a:xfrm>
          <a:prstGeom prst="ellipse">
            <a:avLst/>
          </a:prstGeom>
          <a:solidFill>
            <a:srgbClr val="0B1F4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5" name="Text 28"/>
          <p:cNvSpPr txBox="1"/>
          <p:nvPr/>
        </p:nvSpPr>
        <p:spPr>
          <a:xfrm>
            <a:off x="2683764" y="45354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2153412" y="516636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F1F5FB"/>
          </a:solidFill>
          <a:ln w="9525">
            <a:solidFill>
              <a:srgbClr val="D5DEEC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2226564" y="5166360"/>
            <a:ext cx="13167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400" dirty="0"/>
          </a:p>
        </p:txBody>
      </p:sp>
      <p:sp>
        <p:nvSpPr>
          <p:cNvPr id="38" name="Shape 31"/>
          <p:cNvSpPr/>
          <p:nvPr/>
        </p:nvSpPr>
        <p:spPr>
          <a:xfrm>
            <a:off x="4288536" y="4535424"/>
            <a:ext cx="402336" cy="402336"/>
          </a:xfrm>
          <a:prstGeom prst="ellipse">
            <a:avLst/>
          </a:prstGeom>
          <a:solidFill>
            <a:srgbClr val="0B1F4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9" name="Text 32"/>
          <p:cNvSpPr txBox="1"/>
          <p:nvPr/>
        </p:nvSpPr>
        <p:spPr>
          <a:xfrm>
            <a:off x="4288536" y="45354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40" name="Shape 33"/>
          <p:cNvSpPr/>
          <p:nvPr/>
        </p:nvSpPr>
        <p:spPr>
          <a:xfrm>
            <a:off x="3758184" y="516636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F1F5FB"/>
          </a:solidFill>
          <a:ln w="9525">
            <a:solidFill>
              <a:srgbClr val="D5DEEC"/>
            </a:solidFill>
            <a:prstDash val="solid"/>
          </a:ln>
        </p:spPr>
      </p:sp>
      <p:sp>
        <p:nvSpPr>
          <p:cNvPr id="41" name="Text 34"/>
          <p:cNvSpPr txBox="1"/>
          <p:nvPr/>
        </p:nvSpPr>
        <p:spPr>
          <a:xfrm>
            <a:off x="3831336" y="5166360"/>
            <a:ext cx="13167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Engineering</a:t>
            </a:r>
            <a:endParaRPr lang="en-US" sz="1400" dirty="0"/>
          </a:p>
        </p:txBody>
      </p:sp>
      <p:sp>
        <p:nvSpPr>
          <p:cNvPr id="42" name="Shape 35"/>
          <p:cNvSpPr/>
          <p:nvPr/>
        </p:nvSpPr>
        <p:spPr>
          <a:xfrm>
            <a:off x="5893308" y="4535424"/>
            <a:ext cx="402336" cy="402336"/>
          </a:xfrm>
          <a:prstGeom prst="ellipse">
            <a:avLst/>
          </a:prstGeom>
          <a:solidFill>
            <a:srgbClr val="0B1F4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5893308" y="45354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44" name="Shape 37"/>
          <p:cNvSpPr/>
          <p:nvPr/>
        </p:nvSpPr>
        <p:spPr>
          <a:xfrm>
            <a:off x="5362956" y="516636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F1F5FB"/>
          </a:solidFill>
          <a:ln w="9525">
            <a:solidFill>
              <a:srgbClr val="D5DEEC"/>
            </a:solidFill>
            <a:prstDash val="solid"/>
          </a:ln>
        </p:spPr>
      </p:sp>
      <p:sp>
        <p:nvSpPr>
          <p:cNvPr id="45" name="Text 38"/>
          <p:cNvSpPr txBox="1"/>
          <p:nvPr/>
        </p:nvSpPr>
        <p:spPr>
          <a:xfrm>
            <a:off x="5436108" y="5166360"/>
            <a:ext cx="13167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Development</a:t>
            </a:r>
            <a:endParaRPr lang="en-US" sz="1400" dirty="0"/>
          </a:p>
        </p:txBody>
      </p:sp>
      <p:sp>
        <p:nvSpPr>
          <p:cNvPr id="46" name="Shape 39"/>
          <p:cNvSpPr/>
          <p:nvPr/>
        </p:nvSpPr>
        <p:spPr>
          <a:xfrm>
            <a:off x="7498080" y="4535424"/>
            <a:ext cx="402336" cy="402336"/>
          </a:xfrm>
          <a:prstGeom prst="ellipse">
            <a:avLst/>
          </a:prstGeom>
          <a:solidFill>
            <a:srgbClr val="0B1F4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7" name="Text 40"/>
          <p:cNvSpPr txBox="1"/>
          <p:nvPr/>
        </p:nvSpPr>
        <p:spPr>
          <a:xfrm>
            <a:off x="7498080" y="45354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48" name="Shape 41"/>
          <p:cNvSpPr/>
          <p:nvPr/>
        </p:nvSpPr>
        <p:spPr>
          <a:xfrm>
            <a:off x="6967728" y="516636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F1F5FB"/>
          </a:solidFill>
          <a:ln w="9525">
            <a:solidFill>
              <a:srgbClr val="D5DEEC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7040880" y="5166360"/>
            <a:ext cx="13167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Integration</a:t>
            </a:r>
            <a:endParaRPr lang="en-US" sz="1400" dirty="0"/>
          </a:p>
        </p:txBody>
      </p:sp>
      <p:sp>
        <p:nvSpPr>
          <p:cNvPr id="50" name="Shape 43"/>
          <p:cNvSpPr/>
          <p:nvPr/>
        </p:nvSpPr>
        <p:spPr>
          <a:xfrm>
            <a:off x="9102852" y="4535424"/>
            <a:ext cx="402336" cy="402336"/>
          </a:xfrm>
          <a:prstGeom prst="ellipse">
            <a:avLst/>
          </a:prstGeom>
          <a:solidFill>
            <a:srgbClr val="0B1F4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1" name="Text 44"/>
          <p:cNvSpPr txBox="1"/>
          <p:nvPr/>
        </p:nvSpPr>
        <p:spPr>
          <a:xfrm>
            <a:off x="9102852" y="45354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52" name="Shape 45"/>
          <p:cNvSpPr/>
          <p:nvPr/>
        </p:nvSpPr>
        <p:spPr>
          <a:xfrm>
            <a:off x="8572500" y="516636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F1F5FB"/>
          </a:solidFill>
          <a:ln w="9525">
            <a:solidFill>
              <a:srgbClr val="D5DEEC"/>
            </a:solidFill>
            <a:prstDash val="solid"/>
          </a:ln>
        </p:spPr>
      </p:sp>
      <p:sp>
        <p:nvSpPr>
          <p:cNvPr id="53" name="Text 46"/>
          <p:cNvSpPr txBox="1"/>
          <p:nvPr/>
        </p:nvSpPr>
        <p:spPr>
          <a:xfrm>
            <a:off x="8645652" y="5166360"/>
            <a:ext cx="13167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Validation</a:t>
            </a:r>
            <a:endParaRPr lang="en-US" sz="1400" dirty="0"/>
          </a:p>
        </p:txBody>
      </p:sp>
      <p:sp>
        <p:nvSpPr>
          <p:cNvPr id="54" name="Shape 47"/>
          <p:cNvSpPr/>
          <p:nvPr/>
        </p:nvSpPr>
        <p:spPr>
          <a:xfrm>
            <a:off x="10707624" y="4535424"/>
            <a:ext cx="402336" cy="402336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5" name="Text 48"/>
          <p:cNvSpPr txBox="1"/>
          <p:nvPr/>
        </p:nvSpPr>
        <p:spPr>
          <a:xfrm>
            <a:off x="10707624" y="45354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56" name="Shape 49"/>
          <p:cNvSpPr/>
          <p:nvPr/>
        </p:nvSpPr>
        <p:spPr>
          <a:xfrm>
            <a:off x="10177272" y="516636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EAF1FD"/>
          </a:solidFill>
          <a:ln w="9525">
            <a:solidFill>
              <a:srgbClr val="D5DEEC"/>
            </a:solidFill>
            <a:prstDash val="solid"/>
          </a:ln>
        </p:spPr>
      </p:sp>
      <p:sp>
        <p:nvSpPr>
          <p:cNvPr id="57" name="Text 50"/>
          <p:cNvSpPr txBox="1"/>
          <p:nvPr/>
        </p:nvSpPr>
        <p:spPr>
          <a:xfrm>
            <a:off x="10250424" y="5166360"/>
            <a:ext cx="13167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&amp; Delivery</a:t>
            </a:r>
            <a:endParaRPr lang="en-US" sz="1400" dirty="0"/>
          </a:p>
        </p:txBody>
      </p:sp>
      <p:sp>
        <p:nvSpPr>
          <p:cNvPr id="5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48463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B8B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1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Results, Conclusion &amp; Future Scope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544824" cy="4937760"/>
          </a:xfrm>
          <a:prstGeom prst="roundRect">
            <a:avLst>
              <a:gd name="adj" fmla="val 2064"/>
            </a:avLst>
          </a:prstGeom>
          <a:solidFill>
            <a:srgbClr val="F1F5FB"/>
          </a:solidFill>
          <a:ln w="9525">
            <a:solidFill>
              <a:srgbClr val="D5DEEC"/>
            </a:solidFill>
            <a:prstDash val="solid"/>
          </a:ln>
          <a:effectLst>
            <a:outerShdw blurRad="101600" dist="25400" dir="5400000" algn="bl" rotWithShape="0">
              <a:srgbClr val="0B1F44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463040"/>
            <a:ext cx="502920" cy="502920"/>
          </a:xfrm>
          <a:prstGeom prst="ellipse">
            <a:avLst/>
          </a:prstGeom>
          <a:solidFill>
            <a:srgbClr val="0D9488"/>
          </a:solidFill>
          <a:ln w="6350">
            <a:solidFill>
              <a:srgbClr val="0D9488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690" y="1588770"/>
            <a:ext cx="251460" cy="2514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463040"/>
            <a:ext cx="2447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194560"/>
            <a:ext cx="2996184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a higher education analytics framework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university performance information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interactive Tableau dashboards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Enabled university and country comparisons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interactive filtering and dashboard navigation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322064" y="1280160"/>
            <a:ext cx="3544824" cy="4937760"/>
          </a:xfrm>
          <a:prstGeom prst="roundRect">
            <a:avLst>
              <a:gd name="adj" fmla="val 2064"/>
            </a:avLst>
          </a:prstGeom>
          <a:solidFill>
            <a:srgbClr val="0B1F44"/>
          </a:solidFill>
          <a:ln w="6350">
            <a:solidFill>
              <a:srgbClr val="0B1F44"/>
            </a:solidFill>
            <a:prstDash val="solid"/>
          </a:ln>
          <a:effectLst>
            <a:outerShdw blurRad="101600" dist="25400" dir="5400000" algn="bl" rotWithShape="0">
              <a:srgbClr val="0B1F44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96384" y="1463040"/>
            <a:ext cx="502920" cy="502920"/>
          </a:xfrm>
          <a:prstGeom prst="ellipse">
            <a:avLst/>
          </a:prstGeom>
          <a:solidFill>
            <a:srgbClr val="2563EB"/>
          </a:solidFill>
          <a:ln w="6350">
            <a:solidFill>
              <a:srgbClr val="2563EB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2114" y="1588770"/>
            <a:ext cx="251460" cy="2514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236464" y="1463040"/>
            <a:ext cx="2447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4596384" y="2194560"/>
            <a:ext cx="2996184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EduVision_DV converts complex higher education datasets into an interactive visual analytics platform that helps users understand university performance, research strength, student indicators and country-level education trends.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8095488" y="1280160"/>
            <a:ext cx="3544824" cy="4937760"/>
          </a:xfrm>
          <a:prstGeom prst="roundRect">
            <a:avLst>
              <a:gd name="adj" fmla="val 2064"/>
            </a:avLst>
          </a:prstGeom>
          <a:solidFill>
            <a:srgbClr val="F1F5FB"/>
          </a:solidFill>
          <a:ln w="9525">
            <a:solidFill>
              <a:srgbClr val="D5DEEC"/>
            </a:solidFill>
            <a:prstDash val="solid"/>
          </a:ln>
          <a:effectLst>
            <a:outerShdw blurRad="101600" dist="25400" dir="5400000" algn="bl" rotWithShape="0">
              <a:srgbClr val="0B1F44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369808" y="1463040"/>
            <a:ext cx="502920" cy="502920"/>
          </a:xfrm>
          <a:prstGeom prst="ellipse">
            <a:avLst/>
          </a:prstGeom>
          <a:solidFill>
            <a:srgbClr val="2563EB"/>
          </a:solidFill>
          <a:ln w="6350">
            <a:solidFill>
              <a:srgbClr val="2563EB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5538" y="1588770"/>
            <a:ext cx="251460" cy="2514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009888" y="1463040"/>
            <a:ext cx="2447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8369808" y="2194560"/>
            <a:ext cx="2996184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more years of historical data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additional ranking sources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predictive ranking analysis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advanced student demographic analytics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automated data refresh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dashboard publicly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machine learning based university recommendations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48463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B8B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822960"/>
            <a:ext cx="4937760" cy="4937760"/>
          </a:xfrm>
          <a:prstGeom prst="ellipse">
            <a:avLst/>
          </a:prstGeom>
          <a:solidFill>
            <a:srgbClr val="0F2A5C"/>
          </a:solidFill>
          <a:ln w="19050">
            <a:solidFill>
              <a:srgbClr val="1B3A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89520" y="1463040"/>
            <a:ext cx="3657600" cy="3657600"/>
          </a:xfrm>
          <a:prstGeom prst="ellipse">
            <a:avLst/>
          </a:prstGeom>
          <a:solidFill>
            <a:srgbClr val="12326B"/>
          </a:solidFill>
          <a:ln w="12700">
            <a:solidFill>
              <a:srgbClr val="1B3A6E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2011680"/>
            <a:ext cx="2560320" cy="256032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4754880"/>
            <a:ext cx="822960" cy="82296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731520" y="201168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7" name="Text 3"/>
          <p:cNvSpPr txBox="1"/>
          <p:nvPr/>
        </p:nvSpPr>
        <p:spPr>
          <a:xfrm>
            <a:off x="731520" y="32004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60A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3200" dirty="0"/>
          </a:p>
        </p:txBody>
      </p:sp>
      <p:sp>
        <p:nvSpPr>
          <p:cNvPr id="8" name="Text 4"/>
          <p:cNvSpPr txBox="1"/>
          <p:nvPr/>
        </p:nvSpPr>
        <p:spPr>
          <a:xfrm>
            <a:off x="731520" y="45720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EduVision_DV  |  Higher Education Performance Dashboard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731520" y="49377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Information Technology  |  St. Francis Institute of Technology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807</Words>
  <Application>Microsoft Office PowerPoint</Application>
  <PresentationFormat>Widescreen</PresentationFormat>
  <Paragraphs>242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PowerPoint Presentation</vt:lpstr>
      <vt:lpstr>Project Overview</vt:lpstr>
      <vt:lpstr>Problem Statement</vt:lpstr>
      <vt:lpstr>Project Objectives</vt:lpstr>
      <vt:lpstr>Datasets &amp; Data Sources</vt:lpstr>
      <vt:lpstr>Data Cleaning &amp; Transformation</vt:lpstr>
      <vt:lpstr>Data Model &amp; Final Dataset</vt:lpstr>
      <vt:lpstr>KPI Engineering</vt:lpstr>
      <vt:lpstr>Dashboard Architecture</vt:lpstr>
      <vt:lpstr>Dashboard Interlinking &amp; Interactivity</vt:lpstr>
      <vt:lpstr>Technology Stack &amp; Workflow</vt:lpstr>
      <vt:lpstr>Results, Conclusion &amp; Future Scope</vt:lpstr>
      <vt:lpstr>PowerPoint Presentation</vt:lpstr>
    </vt:vector>
  </TitlesOfParts>
  <Company>St. Francis Institute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EduVision_DV - Higher Education Performance Dashboard</dc:title>
  <dc:subject>PptxGenJS Presentation</dc:subject>
  <dc:creator>[Insert student name]</dc:creator>
  <cp:lastModifiedBy>trisha deshmukh</cp:lastModifiedBy>
  <cp:revision>2</cp:revision>
  <dcterms:created xsi:type="dcterms:W3CDTF">2026-10-06T15:46:02Z</dcterms:created>
  <dcterms:modified xsi:type="dcterms:W3CDTF">2026-10-08T13:28:05Z</dcterms:modified>
</cp:coreProperties>
</file>