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87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1371600"/>
            <a:ext cx="103628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1645920"/>
            <a:ext cx="292608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172A"/>
                </a:solidFill>
                <a:latin typeface="Segoe UI"/>
              </a:defRPr>
            </a:pPr>
            <a:r>
              <a:t>INFOSYS SPRINGBOARD INTERNSHIP 7.0</a:t>
            </a:r>
          </a:p>
        </p:txBody>
      </p:sp>
      <p:sp>
        <p:nvSpPr>
          <p:cNvPr id="5" name="TextBox 4"/>
          <p:cNvSpPr txBox="1"/>
          <p:nvPr/>
        </p:nvSpPr>
        <p:spPr>
          <a:xfrm>
            <a:off x="914400" y="2194560"/>
            <a:ext cx="10362895" cy="1645920"/>
          </a:xfrm>
          <a:prstGeom prst="rect">
            <a:avLst/>
          </a:prstGeom>
          <a:noFill/>
        </p:spPr>
        <p:txBody>
          <a:bodyPr wrap="square">
            <a:spAutoFit/>
          </a:bodyPr>
          <a:lstStyle/>
          <a:p>
            <a:pPr>
              <a:defRPr sz="4400" b="1">
                <a:solidFill>
                  <a:srgbClr val="F8FAFC"/>
                </a:solidFill>
                <a:latin typeface="Segoe UI"/>
              </a:defRPr>
            </a:pPr>
            <a:r>
              <a:t>EduVision_DV</a:t>
            </a:r>
          </a:p>
          <a:p>
            <a:pPr>
              <a:spcBef>
                <a:spcPts val="800"/>
              </a:spcBef>
              <a:defRPr sz="1800">
                <a:solidFill>
                  <a:srgbClr val="06B6D4"/>
                </a:solidFill>
                <a:latin typeface="Segoe UI"/>
              </a:defRPr>
            </a:pPr>
            <a:r>
              <a:t>Higher Education Intelligence System for Institutional Performance &amp; Academic Excellence Analysis</a:t>
            </a:r>
          </a:p>
          <a:p>
            <a:pPr>
              <a:spcBef>
                <a:spcPts val="400"/>
              </a:spcBef>
              <a:defRPr sz="1300">
                <a:solidFill>
                  <a:srgbClr val="94A3B8"/>
                </a:solidFill>
                <a:latin typeface="Segoe UI"/>
              </a:defRPr>
            </a:pPr>
            <a:r>
              <a:t>A Multi-Source Analytical Platform &amp; Interconnected Tableau Business Intelligence Suite</a:t>
            </a:r>
          </a:p>
        </p:txBody>
      </p:sp>
      <p:sp>
        <p:nvSpPr>
          <p:cNvPr id="6" name="Rounded Rectangle 5"/>
          <p:cNvSpPr/>
          <p:nvPr/>
        </p:nvSpPr>
        <p:spPr>
          <a:xfrm>
            <a:off x="914400" y="429768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10B981"/>
                </a:solidFill>
                <a:latin typeface="Segoe UI"/>
              </a:defRPr>
            </a:pPr>
            <a:r>
              <a:t>PROJECT AUTHOR</a:t>
            </a:r>
          </a:p>
          <a:p>
            <a:pPr>
              <a:spcBef>
                <a:spcPts val="400"/>
              </a:spcBef>
              <a:defRPr sz="1300" b="1">
                <a:solidFill>
                  <a:srgbClr val="F8FAFC"/>
                </a:solidFill>
                <a:latin typeface="Segoe UI"/>
              </a:defRPr>
            </a:pPr>
            <a:r>
              <a:t>Sujay S</a:t>
            </a:r>
            <a:br/>
            <a:r>
              <a:t>Student Intern</a:t>
            </a:r>
          </a:p>
        </p:txBody>
      </p:sp>
      <p:sp>
        <p:nvSpPr>
          <p:cNvPr id="7" name="Rounded Rectangle 6"/>
          <p:cNvSpPr/>
          <p:nvPr/>
        </p:nvSpPr>
        <p:spPr>
          <a:xfrm>
            <a:off x="3520440" y="429768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6B6D4"/>
                </a:solidFill>
                <a:latin typeface="Segoe UI"/>
              </a:defRPr>
            </a:pPr>
            <a:r>
              <a:t>DOMAIN &amp; TRACK</a:t>
            </a:r>
          </a:p>
          <a:p>
            <a:pPr>
              <a:spcBef>
                <a:spcPts val="400"/>
              </a:spcBef>
              <a:defRPr sz="1200" b="1">
                <a:solidFill>
                  <a:srgbClr val="F8FAFC"/>
                </a:solidFill>
                <a:latin typeface="Segoe UI"/>
              </a:defRPr>
            </a:pPr>
            <a:r>
              <a:t>Educational Analytics</a:t>
            </a:r>
            <a:br/>
            <a:r>
              <a:t>&amp; Data Visualization</a:t>
            </a:r>
          </a:p>
        </p:txBody>
      </p:sp>
      <p:sp>
        <p:nvSpPr>
          <p:cNvPr id="8" name="Rounded Rectangle 7"/>
          <p:cNvSpPr/>
          <p:nvPr/>
        </p:nvSpPr>
        <p:spPr>
          <a:xfrm>
            <a:off x="6126480" y="429768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59E0B"/>
                </a:solidFill>
                <a:latin typeface="Segoe UI"/>
              </a:defRPr>
            </a:pPr>
            <a:r>
              <a:t>CORE TECHNOLOGIES</a:t>
            </a:r>
          </a:p>
          <a:p>
            <a:pPr>
              <a:spcBef>
                <a:spcPts val="400"/>
              </a:spcBef>
              <a:defRPr sz="1100">
                <a:solidFill>
                  <a:srgbClr val="F8FAFC"/>
                </a:solidFill>
                <a:latin typeface="Segoe UI"/>
              </a:defRPr>
            </a:pPr>
            <a:r>
              <a:t>Python (Pandas, NumPy)</a:t>
            </a:r>
            <a:br/>
            <a:r>
              <a:t>Tableau Desktop 2026</a:t>
            </a:r>
            <a:br/>
            <a:r>
              <a:t>OpenPyXL, ReportLab</a:t>
            </a:r>
          </a:p>
        </p:txBody>
      </p:sp>
      <p:sp>
        <p:nvSpPr>
          <p:cNvPr id="9" name="Rounded Rectangle 8"/>
          <p:cNvSpPr/>
          <p:nvPr/>
        </p:nvSpPr>
        <p:spPr>
          <a:xfrm>
            <a:off x="8732520" y="4297680"/>
            <a:ext cx="2542032"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8B5CF6"/>
                </a:solidFill>
                <a:latin typeface="Segoe UI"/>
              </a:defRPr>
            </a:pPr>
            <a:r>
              <a:t>PROJECT STATUS</a:t>
            </a:r>
          </a:p>
          <a:p>
            <a:pPr>
              <a:spcBef>
                <a:spcPts val="400"/>
              </a:spcBef>
              <a:defRPr sz="1100">
                <a:solidFill>
                  <a:srgbClr val="F8FAFC"/>
                </a:solidFill>
                <a:latin typeface="Segoe UI"/>
              </a:defRPr>
            </a:pPr>
            <a:r>
              <a:t>100% QA Test Pass</a:t>
            </a:r>
            <a:br/>
            <a:r>
              <a:t>Milestones 1 to 4 Complete</a:t>
            </a:r>
            <a:br/>
            <a:r>
              <a:t>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Executive Summary: Project Overview &amp; Core Outcomes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2 / 18</a:t>
            </a:r>
          </a:p>
        </p:txBody>
      </p:sp>
      <p:sp>
        <p:nvSpPr>
          <p:cNvPr id="7" name="Rounded Rectangle 6"/>
          <p:cNvSpPr/>
          <p:nvPr/>
        </p:nvSpPr>
        <p:spPr>
          <a:xfrm>
            <a:off x="731520"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10B981"/>
                </a:solidFill>
                <a:latin typeface="Segoe UI"/>
              </a:defRPr>
            </a:pPr>
            <a:r>
              <a:t>1,503</a:t>
            </a:r>
          </a:p>
          <a:p>
            <a:pPr>
              <a:defRPr sz="1200" b="1">
                <a:solidFill>
                  <a:srgbClr val="F8FAFC"/>
                </a:solidFill>
                <a:latin typeface="Segoe UI"/>
              </a:defRPr>
            </a:pPr>
            <a:r>
              <a:t>Global Institutions</a:t>
            </a:r>
          </a:p>
          <a:p>
            <a:pPr>
              <a:spcBef>
                <a:spcPts val="300"/>
              </a:spcBef>
              <a:defRPr sz="850">
                <a:solidFill>
                  <a:srgbClr val="94A3B8"/>
                </a:solidFill>
                <a:latin typeface="Segoe UI"/>
              </a:defRPr>
            </a:pPr>
            <a:r>
              <a:t>Covering 106 sovereign countries with standardized identifiers</a:t>
            </a:r>
          </a:p>
        </p:txBody>
      </p:sp>
      <p:sp>
        <p:nvSpPr>
          <p:cNvPr id="8" name="Rounded Rectangle 7"/>
          <p:cNvSpPr/>
          <p:nvPr/>
        </p:nvSpPr>
        <p:spPr>
          <a:xfrm>
            <a:off x="3465576"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06B6D4"/>
                </a:solidFill>
                <a:latin typeface="Segoe UI"/>
              </a:defRPr>
            </a:pPr>
            <a:r>
              <a:t>4</a:t>
            </a:r>
          </a:p>
          <a:p>
            <a:pPr>
              <a:defRPr sz="1200" b="1">
                <a:solidFill>
                  <a:srgbClr val="F8FAFC"/>
                </a:solidFill>
                <a:latin typeface="Segoe UI"/>
              </a:defRPr>
            </a:pPr>
            <a:r>
              <a:t>Interlinked Dashboards</a:t>
            </a:r>
          </a:p>
          <a:p>
            <a:pPr>
              <a:spcBef>
                <a:spcPts val="300"/>
              </a:spcBef>
              <a:defRPr sz="850">
                <a:solidFill>
                  <a:srgbClr val="94A3B8"/>
                </a:solidFill>
                <a:latin typeface="Segoe UI"/>
              </a:defRPr>
            </a:pPr>
            <a:r>
              <a:t>Seamless filter actions passing university_id &amp; country_id</a:t>
            </a:r>
          </a:p>
        </p:txBody>
      </p:sp>
      <p:sp>
        <p:nvSpPr>
          <p:cNvPr id="9" name="Rounded Rectangle 8"/>
          <p:cNvSpPr/>
          <p:nvPr/>
        </p:nvSpPr>
        <p:spPr>
          <a:xfrm>
            <a:off x="6199632"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59E0B"/>
                </a:solidFill>
                <a:latin typeface="Segoe UI"/>
              </a:defRPr>
            </a:pPr>
            <a:r>
              <a:t>6</a:t>
            </a:r>
          </a:p>
          <a:p>
            <a:pPr>
              <a:defRPr sz="1200" b="1">
                <a:solidFill>
                  <a:srgbClr val="F8FAFC"/>
                </a:solidFill>
                <a:latin typeface="Segoe UI"/>
              </a:defRPr>
            </a:pPr>
            <a:r>
              <a:t>Defensible KPIs</a:t>
            </a:r>
          </a:p>
          <a:p>
            <a:pPr>
              <a:spcBef>
                <a:spcPts val="300"/>
              </a:spcBef>
              <a:defRPr sz="850">
                <a:solidFill>
                  <a:srgbClr val="94A3B8"/>
                </a:solidFill>
                <a:latin typeface="Segoe UI"/>
              </a:defRPr>
            </a:pPr>
            <a:r>
              <a:t>Transparent mathematical derivations without arbitrary substitutions</a:t>
            </a:r>
          </a:p>
        </p:txBody>
      </p:sp>
      <p:sp>
        <p:nvSpPr>
          <p:cNvPr id="10" name="Rounded Rectangle 9"/>
          <p:cNvSpPr/>
          <p:nvPr/>
        </p:nvSpPr>
        <p:spPr>
          <a:xfrm>
            <a:off x="8933688" y="132588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8B5CF6"/>
                </a:solidFill>
                <a:latin typeface="Segoe UI"/>
              </a:defRPr>
            </a:pPr>
            <a:r>
              <a:t>100%</a:t>
            </a:r>
          </a:p>
          <a:p>
            <a:pPr>
              <a:defRPr sz="1200" b="1">
                <a:solidFill>
                  <a:srgbClr val="F8FAFC"/>
                </a:solidFill>
                <a:latin typeface="Segoe UI"/>
              </a:defRPr>
            </a:pPr>
            <a:r>
              <a:t>Automated QA Pass</a:t>
            </a:r>
          </a:p>
          <a:p>
            <a:pPr>
              <a:spcBef>
                <a:spcPts val="300"/>
              </a:spcBef>
              <a:defRPr sz="850">
                <a:solidFill>
                  <a:srgbClr val="94A3B8"/>
                </a:solidFill>
                <a:latin typeface="Segoe UI"/>
              </a:defRPr>
            </a:pPr>
            <a:r>
              <a:t>12 of 12 tests passed with zero orphan records and zero duplicates</a:t>
            </a:r>
          </a:p>
        </p:txBody>
      </p:sp>
      <p:sp>
        <p:nvSpPr>
          <p:cNvPr id="11" name="Rounded Rectangle 10"/>
          <p:cNvSpPr/>
          <p:nvPr/>
        </p:nvSpPr>
        <p:spPr>
          <a:xfrm>
            <a:off x="731520" y="2971800"/>
            <a:ext cx="10728655"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06B6D4"/>
                </a:solidFill>
                <a:latin typeface="Segoe UI"/>
              </a:defRPr>
            </a:pPr>
            <a:r>
              <a:t>PROJECT CONTEXT &amp; VALUE PROPOSITION</a:t>
            </a:r>
          </a:p>
          <a:p>
            <a:pPr>
              <a:spcBef>
                <a:spcPts val="800"/>
              </a:spcBef>
              <a:defRPr sz="1000">
                <a:solidFill>
                  <a:srgbClr val="CBD5E1"/>
                </a:solidFill>
                <a:latin typeface="Segoe UI"/>
              </a:defRPr>
            </a:pPr>
            <a:r>
              <a:t>The Challenge: Global higher education evaluation data is heavily siloed across disparate ranking publications (QS World University Rankings, Times Higher Education) and macroeconomic databases (The World Bank). Incompatible schemas, conflicting metrics, and typographical entity variations prevent comprehensive benchmarking.</a:t>
            </a:r>
          </a:p>
          <a:p>
            <a:pPr>
              <a:spcBef>
                <a:spcPts val="800"/>
              </a:spcBef>
              <a:defRPr sz="1000">
                <a:solidFill>
                  <a:srgbClr val="CBD5E1"/>
                </a:solidFill>
                <a:latin typeface="Segoe UI"/>
              </a:defRPr>
            </a:pPr>
            <a:r>
              <a:t>The Engineering Solution: EduVision_DV establishes a deterministic Python ETL pipeline that standardizes column nomenclature, resolves university names through regex acronym stripping, and models data into an audit-compliant Star Schema with conformed dimensions.</a:t>
            </a:r>
          </a:p>
          <a:p>
            <a:pPr>
              <a:spcBef>
                <a:spcPts val="800"/>
              </a:spcBef>
              <a:defRPr sz="1000">
                <a:solidFill>
                  <a:srgbClr val="CBD5E1"/>
                </a:solidFill>
                <a:latin typeface="Segoe UI"/>
              </a:defRPr>
            </a:pPr>
            <a:r>
              <a:t>Defensible KPI Modeling: Engineered six core KPIs spanning Global Rankings, Citations per Faculty, actual Faculty-to-Student Ratios, empirical International Student Percentages, Academic Reputation, and a composite Research Productivity Index.</a:t>
            </a:r>
          </a:p>
          <a:p>
            <a:pPr>
              <a:spcBef>
                <a:spcPts val="800"/>
              </a:spcBef>
              <a:defRPr sz="1000">
                <a:solidFill>
                  <a:srgbClr val="CBD5E1"/>
                </a:solidFill>
                <a:latin typeface="Segoe UI"/>
              </a:defRPr>
            </a:pPr>
            <a:r>
              <a:t>Unified Tableau BI Delivery: Packaged into a single Tableau workbook (`EduVision_DV.twbx`) featuring four interconnected dashboards that enable decision-makers to drill from global university scorecards down into research citations, campus demographics, and national education spending (% of GDP).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Problem Statement: Challenges in Global Higher Education Analytics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3 / 18</a:t>
            </a:r>
          </a:p>
        </p:txBody>
      </p:sp>
      <p:sp>
        <p:nvSpPr>
          <p:cNvPr id="7" name="Rounded Rectangle 6"/>
          <p:cNvSpPr/>
          <p:nvPr/>
        </p:nvSpPr>
        <p:spPr>
          <a:xfrm>
            <a:off x="731520" y="1371600"/>
            <a:ext cx="34290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10B981"/>
                </a:solidFill>
                <a:latin typeface="Segoe UI"/>
              </a:defRPr>
            </a:pPr>
            <a:r>
              <a:t>DATA SILOS &amp; DISPARATE METRICS</a:t>
            </a:r>
          </a:p>
          <a:p>
            <a:pPr>
              <a:spcBef>
                <a:spcPts val="1200"/>
              </a:spcBef>
              <a:defRPr sz="1000">
                <a:solidFill>
                  <a:srgbClr val="CBD5E1"/>
                </a:solidFill>
                <a:latin typeface="Segoe UI"/>
              </a:defRPr>
            </a:pPr>
            <a:r>
              <a:t>• Different ranking bodies evaluate different cohorts (QS surveys 1,503 universities; THE surveys 2,673).</a:t>
            </a:r>
            <a:br/>
            <a:r>
              <a:t>• Metrics conflict conceptually: one source reports scores (0–100), while another reports empirical ratios.</a:t>
            </a:r>
            <a:br/>
            <a:r>
              <a:t>• Multi-source integration is often plagued by arbitrary column mapping or blind merging into unmanageable flat files.</a:t>
            </a:r>
          </a:p>
        </p:txBody>
      </p:sp>
      <p:sp>
        <p:nvSpPr>
          <p:cNvPr id="8" name="Rounded Rectangle 7"/>
          <p:cNvSpPr/>
          <p:nvPr/>
        </p:nvSpPr>
        <p:spPr>
          <a:xfrm>
            <a:off x="4379976" y="1371600"/>
            <a:ext cx="34290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F59E0B"/>
                </a:solidFill>
                <a:latin typeface="Segoe UI"/>
              </a:defRPr>
            </a:pPr>
            <a:r>
              <a:t>ENTITY MISALIGNMENT &amp; VARIATIONS</a:t>
            </a:r>
          </a:p>
          <a:p>
            <a:pPr>
              <a:spcBef>
                <a:spcPts val="1200"/>
              </a:spcBef>
              <a:defRPr sz="1000">
                <a:solidFill>
                  <a:srgbClr val="CBD5E1"/>
                </a:solidFill>
                <a:latin typeface="Segoe UI"/>
              </a:defRPr>
            </a:pPr>
            <a:r>
              <a:t>• University names have widespread surface-form discrepancies: e.g., 'Massachusetts Institute of Technology (MIT)' vs. 'Massachusetts Institute of Technology'.</a:t>
            </a:r>
            <a:br/>
            <a:r>
              <a:t>• Overuse of aggressive fuzzy matching creates dangerous false matches (e.g., confusing 'University of Delhi' with 'Delhi Technological University').</a:t>
            </a:r>
            <a:br/>
            <a:r>
              <a:t>• Inconsistent country naming ('USA' vs 'United States') causes fractured geographic records.</a:t>
            </a:r>
          </a:p>
        </p:txBody>
      </p:sp>
      <p:sp>
        <p:nvSpPr>
          <p:cNvPr id="9" name="Rounded Rectangle 8"/>
          <p:cNvSpPr/>
          <p:nvPr/>
        </p:nvSpPr>
        <p:spPr>
          <a:xfrm>
            <a:off x="8028432" y="1371600"/>
            <a:ext cx="34290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8B5CF6"/>
                </a:solidFill>
                <a:latin typeface="Segoe UI"/>
              </a:defRPr>
            </a:pPr>
            <a:r>
              <a:t>DISCONNECTED DECISION MAKING</a:t>
            </a:r>
          </a:p>
          <a:p>
            <a:pPr>
              <a:spcBef>
                <a:spcPts val="1200"/>
              </a:spcBef>
              <a:defRPr sz="1000">
                <a:solidFill>
                  <a:srgbClr val="CBD5E1"/>
                </a:solidFill>
                <a:latin typeface="Segoe UI"/>
              </a:defRPr>
            </a:pPr>
            <a:r>
              <a:t>• Academic leaders lack unified intelligence to evaluate research impact alongside student mentorship capacity.</a:t>
            </a:r>
            <a:br/>
            <a:r>
              <a:t>• Students cannot compare class sizes and international campus diversity within a single tool.</a:t>
            </a:r>
            <a:br/>
            <a:r>
              <a:t>• Policymakers cannot visualize how national public education spending (% of GDP) translates into top-tier university capacity.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Data Acquisition: The Four Authoritative Data Sources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4 / 18</a:t>
            </a:r>
          </a:p>
        </p:txBody>
      </p:sp>
      <p:graphicFrame>
        <p:nvGraphicFramePr>
          <p:cNvPr id="7" name="Table 6"/>
          <p:cNvGraphicFramePr>
            <a:graphicFrameLocks noGrp="1"/>
          </p:cNvGraphicFramePr>
          <p:nvPr/>
        </p:nvGraphicFramePr>
        <p:xfrm>
          <a:off x="731520" y="1371600"/>
          <a:ext cx="10728655" cy="29260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3504895">
                  <a:extLst>
                    <a:ext uri="{9D8B030D-6E8A-4147-A177-3AD203B41FA5}">
                      <a16:colId xmlns:a16="http://schemas.microsoft.com/office/drawing/2014/main" val="20004"/>
                    </a:ext>
                  </a:extLst>
                </a:gridCol>
              </a:tblGrid>
              <a:tr h="585216">
                <a:tc>
                  <a:txBody>
                    <a:bodyPr/>
                    <a:lstStyle/>
                    <a:p>
                      <a:pPr>
                        <a:defRPr sz="950" b="1">
                          <a:solidFill>
                            <a:srgbClr val="06B6D4"/>
                          </a:solidFill>
                          <a:latin typeface="Segoe UI"/>
                        </a:defRPr>
                      </a:pPr>
                      <a:r>
                        <a:t>Dataset Title</a:t>
                      </a:r>
                    </a:p>
                  </a:txBody>
                  <a:tcPr>
                    <a:solidFill>
                      <a:srgbClr val="334155"/>
                    </a:solidFill>
                  </a:tcPr>
                </a:tc>
                <a:tc>
                  <a:txBody>
                    <a:bodyPr/>
                    <a:lstStyle/>
                    <a:p>
                      <a:pPr>
                        <a:defRPr sz="950" b="1">
                          <a:solidFill>
                            <a:srgbClr val="06B6D4"/>
                          </a:solidFill>
                          <a:latin typeface="Segoe UI"/>
                        </a:defRPr>
                      </a:pPr>
                      <a:r>
                        <a:t>Authority</a:t>
                      </a:r>
                    </a:p>
                  </a:txBody>
                  <a:tcPr>
                    <a:solidFill>
                      <a:srgbClr val="334155"/>
                    </a:solidFill>
                  </a:tcPr>
                </a:tc>
                <a:tc>
                  <a:txBody>
                    <a:bodyPr/>
                    <a:lstStyle/>
                    <a:p>
                      <a:pPr>
                        <a:defRPr sz="950" b="1">
                          <a:solidFill>
                            <a:srgbClr val="06B6D4"/>
                          </a:solidFill>
                          <a:latin typeface="Segoe UI"/>
                        </a:defRPr>
                      </a:pPr>
                      <a:r>
                        <a:t>Year</a:t>
                      </a:r>
                    </a:p>
                  </a:txBody>
                  <a:tcPr>
                    <a:solidFill>
                      <a:srgbClr val="334155"/>
                    </a:solidFill>
                  </a:tcPr>
                </a:tc>
                <a:tc>
                  <a:txBody>
                    <a:bodyPr/>
                    <a:lstStyle/>
                    <a:p>
                      <a:pPr>
                        <a:defRPr sz="950" b="1">
                          <a:solidFill>
                            <a:srgbClr val="06B6D4"/>
                          </a:solidFill>
                          <a:latin typeface="Segoe UI"/>
                        </a:defRPr>
                      </a:pPr>
                      <a:r>
                        <a:t>Coverage / Rows</a:t>
                      </a:r>
                    </a:p>
                  </a:txBody>
                  <a:tcPr>
                    <a:solidFill>
                      <a:srgbClr val="334155"/>
                    </a:solidFill>
                  </a:tcPr>
                </a:tc>
                <a:tc>
                  <a:txBody>
                    <a:bodyPr/>
                    <a:lstStyle/>
                    <a:p>
                      <a:pPr>
                        <a:defRPr sz="950" b="1">
                          <a:solidFill>
                            <a:srgbClr val="06B6D4"/>
                          </a:solidFill>
                          <a:latin typeface="Segoe UI"/>
                        </a:defRPr>
                      </a:pPr>
                      <a:r>
                        <a:t>Architectural Role &amp; Scope</a:t>
                      </a:r>
                    </a:p>
                  </a:txBody>
                  <a:tcPr>
                    <a:solidFill>
                      <a:srgbClr val="334155"/>
                    </a:solidFill>
                  </a:tcPr>
                </a:tc>
                <a:extLst>
                  <a:ext uri="{0D108BD9-81ED-4DB2-BD59-A6C34878D82A}">
                    <a16:rowId xmlns:a16="http://schemas.microsoft.com/office/drawing/2014/main" val="10000"/>
                  </a:ext>
                </a:extLst>
              </a:tr>
              <a:tr h="585216">
                <a:tc>
                  <a:txBody>
                    <a:bodyPr/>
                    <a:lstStyle/>
                    <a:p>
                      <a:pPr>
                        <a:defRPr sz="850">
                          <a:solidFill>
                            <a:srgbClr val="F8FAFC"/>
                          </a:solidFill>
                          <a:latin typeface="Segoe UI"/>
                        </a:defRPr>
                      </a:pPr>
                      <a:r>
                        <a:t>QS World Rankings 2025</a:t>
                      </a:r>
                    </a:p>
                  </a:txBody>
                  <a:tcPr>
                    <a:solidFill>
                      <a:srgbClr val="1E293B"/>
                    </a:solidFill>
                  </a:tcPr>
                </a:tc>
                <a:tc>
                  <a:txBody>
                    <a:bodyPr/>
                    <a:lstStyle/>
                    <a:p>
                      <a:pPr>
                        <a:defRPr sz="850">
                          <a:solidFill>
                            <a:srgbClr val="CBD5E1"/>
                          </a:solidFill>
                          <a:latin typeface="Segoe UI"/>
                        </a:defRPr>
                      </a:pPr>
                      <a:r>
                        <a:t>Quacquarelli Symonds</a:t>
                      </a:r>
                    </a:p>
                  </a:txBody>
                  <a:tcPr>
                    <a:solidFill>
                      <a:srgbClr val="1E293B"/>
                    </a:solidFill>
                  </a:tcPr>
                </a:tc>
                <a:tc>
                  <a:txBody>
                    <a:bodyPr/>
                    <a:lstStyle/>
                    <a:p>
                      <a:pPr>
                        <a:defRPr sz="850">
                          <a:solidFill>
                            <a:srgbClr val="CBD5E1"/>
                          </a:solidFill>
                          <a:latin typeface="Segoe UI"/>
                        </a:defRPr>
                      </a:pPr>
                      <a:r>
                        <a:t>2025</a:t>
                      </a:r>
                    </a:p>
                  </a:txBody>
                  <a:tcPr>
                    <a:solidFill>
                      <a:srgbClr val="1E293B"/>
                    </a:solidFill>
                  </a:tcPr>
                </a:tc>
                <a:tc>
                  <a:txBody>
                    <a:bodyPr/>
                    <a:lstStyle/>
                    <a:p>
                      <a:pPr>
                        <a:defRPr sz="850">
                          <a:solidFill>
                            <a:srgbClr val="CBD5E1"/>
                          </a:solidFill>
                          <a:latin typeface="Segoe UI"/>
                        </a:defRPr>
                      </a:pPr>
                      <a:r>
                        <a:t>1,503 universities, 106 nations</a:t>
                      </a:r>
                    </a:p>
                  </a:txBody>
                  <a:tcPr>
                    <a:solidFill>
                      <a:srgbClr val="1E293B"/>
                    </a:solidFill>
                  </a:tcPr>
                </a:tc>
                <a:tc>
                  <a:txBody>
                    <a:bodyPr/>
                    <a:lstStyle/>
                    <a:p>
                      <a:pPr>
                        <a:defRPr sz="850">
                          <a:solidFill>
                            <a:srgbClr val="CBD5E1"/>
                          </a:solidFill>
                          <a:latin typeface="Segoe UI"/>
                        </a:defRPr>
                      </a:pPr>
                      <a:r>
                        <a:t>Primary institutional dimension (dim_university), global rank, overall score, academic reputation.</a:t>
                      </a:r>
                    </a:p>
                  </a:txBody>
                  <a:tcPr>
                    <a:solidFill>
                      <a:srgbClr val="1E293B"/>
                    </a:solidFill>
                  </a:tcPr>
                </a:tc>
                <a:extLst>
                  <a:ext uri="{0D108BD9-81ED-4DB2-BD59-A6C34878D82A}">
                    <a16:rowId xmlns:a16="http://schemas.microsoft.com/office/drawing/2014/main" val="10001"/>
                  </a:ext>
                </a:extLst>
              </a:tr>
              <a:tr h="585216">
                <a:tc>
                  <a:txBody>
                    <a:bodyPr/>
                    <a:lstStyle/>
                    <a:p>
                      <a:pPr>
                        <a:defRPr sz="850">
                          <a:solidFill>
                            <a:srgbClr val="F8FAFC"/>
                          </a:solidFill>
                          <a:latin typeface="Segoe UI"/>
                        </a:defRPr>
                      </a:pPr>
                      <a:r>
                        <a:t>THE World Rankings 2024</a:t>
                      </a:r>
                    </a:p>
                  </a:txBody>
                  <a:tcPr>
                    <a:solidFill>
                      <a:srgbClr val="1E293B"/>
                    </a:solidFill>
                  </a:tcPr>
                </a:tc>
                <a:tc>
                  <a:txBody>
                    <a:bodyPr/>
                    <a:lstStyle/>
                    <a:p>
                      <a:pPr>
                        <a:defRPr sz="850">
                          <a:solidFill>
                            <a:srgbClr val="CBD5E1"/>
                          </a:solidFill>
                          <a:latin typeface="Segoe UI"/>
                        </a:defRPr>
                      </a:pPr>
                      <a:r>
                        <a:t>Times Higher Education</a:t>
                      </a:r>
                    </a:p>
                  </a:txBody>
                  <a:tcPr>
                    <a:solidFill>
                      <a:srgbClr val="1E293B"/>
                    </a:solidFill>
                  </a:tcPr>
                </a:tc>
                <a:tc>
                  <a:txBody>
                    <a:bodyPr/>
                    <a:lstStyle/>
                    <a:p>
                      <a:pPr>
                        <a:defRPr sz="850">
                          <a:solidFill>
                            <a:srgbClr val="CBD5E1"/>
                          </a:solidFill>
                          <a:latin typeface="Segoe UI"/>
                        </a:defRPr>
                      </a:pPr>
                      <a:r>
                        <a:t>2024</a:t>
                      </a:r>
                    </a:p>
                  </a:txBody>
                  <a:tcPr>
                    <a:solidFill>
                      <a:srgbClr val="1E293B"/>
                    </a:solidFill>
                  </a:tcPr>
                </a:tc>
                <a:tc>
                  <a:txBody>
                    <a:bodyPr/>
                    <a:lstStyle/>
                    <a:p>
                      <a:pPr>
                        <a:defRPr sz="850">
                          <a:solidFill>
                            <a:srgbClr val="CBD5E1"/>
                          </a:solidFill>
                          <a:latin typeface="Segoe UI"/>
                        </a:defRPr>
                      </a:pPr>
                      <a:r>
                        <a:t>2,673 universities</a:t>
                      </a:r>
                    </a:p>
                  </a:txBody>
                  <a:tcPr>
                    <a:solidFill>
                      <a:srgbClr val="1E293B"/>
                    </a:solidFill>
                  </a:tcPr>
                </a:tc>
                <a:tc>
                  <a:txBody>
                    <a:bodyPr/>
                    <a:lstStyle/>
                    <a:p>
                      <a:pPr>
                        <a:defRPr sz="850">
                          <a:solidFill>
                            <a:srgbClr val="CBD5E1"/>
                          </a:solidFill>
                          <a:latin typeface="Segoe UI"/>
                        </a:defRPr>
                      </a:pPr>
                      <a:r>
                        <a:t>Research environment, normalized citations, teaching score, industry income (fact_research).</a:t>
                      </a:r>
                    </a:p>
                  </a:txBody>
                  <a:tcPr>
                    <a:solidFill>
                      <a:srgbClr val="1E293B"/>
                    </a:solidFill>
                  </a:tcPr>
                </a:tc>
                <a:extLst>
                  <a:ext uri="{0D108BD9-81ED-4DB2-BD59-A6C34878D82A}">
                    <a16:rowId xmlns:a16="http://schemas.microsoft.com/office/drawing/2014/main" val="10002"/>
                  </a:ext>
                </a:extLst>
              </a:tr>
              <a:tr h="585216">
                <a:tc>
                  <a:txBody>
                    <a:bodyPr/>
                    <a:lstStyle/>
                    <a:p>
                      <a:pPr>
                        <a:defRPr sz="850">
                          <a:solidFill>
                            <a:srgbClr val="F8FAFC"/>
                          </a:solidFill>
                          <a:latin typeface="Segoe UI"/>
                        </a:defRPr>
                      </a:pPr>
                      <a:r>
                        <a:t>World University Rankings 2023</a:t>
                      </a:r>
                    </a:p>
                  </a:txBody>
                  <a:tcPr>
                    <a:solidFill>
                      <a:srgbClr val="1E293B"/>
                    </a:solidFill>
                  </a:tcPr>
                </a:tc>
                <a:tc>
                  <a:txBody>
                    <a:bodyPr/>
                    <a:lstStyle/>
                    <a:p>
                      <a:pPr>
                        <a:defRPr sz="850">
                          <a:solidFill>
                            <a:srgbClr val="CBD5E1"/>
                          </a:solidFill>
                          <a:latin typeface="Segoe UI"/>
                        </a:defRPr>
                      </a:pPr>
                      <a:r>
                        <a:t>Times Higher Education</a:t>
                      </a:r>
                    </a:p>
                  </a:txBody>
                  <a:tcPr>
                    <a:solidFill>
                      <a:srgbClr val="1E293B"/>
                    </a:solidFill>
                  </a:tcPr>
                </a:tc>
                <a:tc>
                  <a:txBody>
                    <a:bodyPr/>
                    <a:lstStyle/>
                    <a:p>
                      <a:pPr>
                        <a:defRPr sz="850">
                          <a:solidFill>
                            <a:srgbClr val="CBD5E1"/>
                          </a:solidFill>
                          <a:latin typeface="Segoe UI"/>
                        </a:defRPr>
                      </a:pPr>
                      <a:r>
                        <a:t>2023</a:t>
                      </a:r>
                    </a:p>
                  </a:txBody>
                  <a:tcPr>
                    <a:solidFill>
                      <a:srgbClr val="1E293B"/>
                    </a:solidFill>
                  </a:tcPr>
                </a:tc>
                <a:tc>
                  <a:txBody>
                    <a:bodyPr/>
                    <a:lstStyle/>
                    <a:p>
                      <a:pPr>
                        <a:defRPr sz="850">
                          <a:solidFill>
                            <a:srgbClr val="CBD5E1"/>
                          </a:solidFill>
                          <a:latin typeface="Segoe UI"/>
                        </a:defRPr>
                      </a:pPr>
                      <a:r>
                        <a:t>2,341 universities</a:t>
                      </a:r>
                    </a:p>
                  </a:txBody>
                  <a:tcPr>
                    <a:solidFill>
                      <a:srgbClr val="1E293B"/>
                    </a:solidFill>
                  </a:tcPr>
                </a:tc>
                <a:tc>
                  <a:txBody>
                    <a:bodyPr/>
                    <a:lstStyle/>
                    <a:p>
                      <a:pPr>
                        <a:defRPr sz="850">
                          <a:solidFill>
                            <a:srgbClr val="CBD5E1"/>
                          </a:solidFill>
                          <a:latin typeface="Segoe UI"/>
                        </a:defRPr>
                      </a:pPr>
                      <a:r>
                        <a:t>Student demographics: FTE student headcount, students per staff, international % (fact_student).</a:t>
                      </a:r>
                    </a:p>
                  </a:txBody>
                  <a:tcPr>
                    <a:solidFill>
                      <a:srgbClr val="1E293B"/>
                    </a:solidFill>
                  </a:tcPr>
                </a:tc>
                <a:extLst>
                  <a:ext uri="{0D108BD9-81ED-4DB2-BD59-A6C34878D82A}">
                    <a16:rowId xmlns:a16="http://schemas.microsoft.com/office/drawing/2014/main" val="10003"/>
                  </a:ext>
                </a:extLst>
              </a:tr>
              <a:tr h="585216">
                <a:tc>
                  <a:txBody>
                    <a:bodyPr/>
                    <a:lstStyle/>
                    <a:p>
                      <a:pPr>
                        <a:defRPr sz="850">
                          <a:solidFill>
                            <a:srgbClr val="F8FAFC"/>
                          </a:solidFill>
                          <a:latin typeface="Segoe UI"/>
                        </a:defRPr>
                      </a:pPr>
                      <a:r>
                        <a:t>World Bank EdStats</a:t>
                      </a:r>
                    </a:p>
                  </a:txBody>
                  <a:tcPr>
                    <a:solidFill>
                      <a:srgbClr val="1E293B"/>
                    </a:solidFill>
                  </a:tcPr>
                </a:tc>
                <a:tc>
                  <a:txBody>
                    <a:bodyPr/>
                    <a:lstStyle/>
                    <a:p>
                      <a:pPr>
                        <a:defRPr sz="850">
                          <a:solidFill>
                            <a:srgbClr val="CBD5E1"/>
                          </a:solidFill>
                          <a:latin typeface="Segoe UI"/>
                        </a:defRPr>
                      </a:pPr>
                      <a:r>
                        <a:t>The World Bank Group</a:t>
                      </a:r>
                    </a:p>
                  </a:txBody>
                  <a:tcPr>
                    <a:solidFill>
                      <a:srgbClr val="1E293B"/>
                    </a:solidFill>
                  </a:tcPr>
                </a:tc>
                <a:tc>
                  <a:txBody>
                    <a:bodyPr/>
                    <a:lstStyle/>
                    <a:p>
                      <a:pPr>
                        <a:defRPr sz="850">
                          <a:solidFill>
                            <a:srgbClr val="CBD5E1"/>
                          </a:solidFill>
                          <a:latin typeface="Segoe UI"/>
                        </a:defRPr>
                      </a:pPr>
                      <a:r>
                        <a:t>2010–2023</a:t>
                      </a:r>
                    </a:p>
                  </a:txBody>
                  <a:tcPr>
                    <a:solidFill>
                      <a:srgbClr val="1E293B"/>
                    </a:solidFill>
                  </a:tcPr>
                </a:tc>
                <a:tc>
                  <a:txBody>
                    <a:bodyPr/>
                    <a:lstStyle/>
                    <a:p>
                      <a:pPr>
                        <a:defRPr sz="850">
                          <a:solidFill>
                            <a:srgbClr val="CBD5E1"/>
                          </a:solidFill>
                          <a:latin typeface="Segoe UI"/>
                        </a:defRPr>
                      </a:pPr>
                      <a:r>
                        <a:t>242 countries (Scoped to 2,243 rows)</a:t>
                      </a:r>
                    </a:p>
                  </a:txBody>
                  <a:tcPr>
                    <a:solidFill>
                      <a:srgbClr val="1E293B"/>
                    </a:solidFill>
                  </a:tcPr>
                </a:tc>
                <a:tc>
                  <a:txBody>
                    <a:bodyPr/>
                    <a:lstStyle/>
                    <a:p>
                      <a:pPr>
                        <a:defRPr sz="850">
                          <a:solidFill>
                            <a:srgbClr val="CBD5E1"/>
                          </a:solidFill>
                          <a:latin typeface="Segoe UI"/>
                        </a:defRPr>
                      </a:pPr>
                      <a:r>
                        <a:t>Macroeconomic indicators: public education spend (% GDP), tertiary enrollment (fact_country_education).</a:t>
                      </a:r>
                    </a:p>
                  </a:txBody>
                  <a:tcPr>
                    <a:solidFill>
                      <a:srgbClr val="1E293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4480560"/>
            <a:ext cx="10728655"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F59E0B"/>
                </a:solidFill>
                <a:latin typeface="Segoe UI"/>
              </a:defRPr>
            </a:pPr>
            <a:r>
              <a:t>CRITICAL PRINCIPLE: UNIVERSITY MATCH RATE VS. DATA COMPLETENESS</a:t>
            </a:r>
          </a:p>
          <a:p>
            <a:pPr>
              <a:spcBef>
                <a:spcPts val="400"/>
              </a:spcBef>
              <a:defRPr sz="950">
                <a:solidFill>
                  <a:srgbClr val="CBD5E1"/>
                </a:solidFill>
                <a:latin typeface="Segoe UI"/>
              </a:defRPr>
            </a:pPr>
            <a:r>
              <a:t>• University Match Rate: Represents the overlap between distinct ranking bodies (~55–60% natural overlap between QS and THE). Aggressive fuzzy matching was strictly prohibited to prevent false positive matches.</a:t>
            </a:r>
            <a:br/>
            <a:r>
              <a:t>• Data Completeness: Measures the integrity of populated fields within the cleaned star schema. 100% completeness was achieved on all required dimension keys.</a:t>
            </a:r>
            <a:br/>
            <a:r>
              <a:t>• Methodological Rule: A false match is significantly worse than a missing match.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ETL Pipeline: Deterministic Data Cleaning &amp; Entity Resolution</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5 / 18</a:t>
            </a:r>
          </a:p>
        </p:txBody>
      </p:sp>
      <p:sp>
        <p:nvSpPr>
          <p:cNvPr id="7" name="Rounded Rectangle 6"/>
          <p:cNvSpPr/>
          <p:nvPr/>
        </p:nvSpPr>
        <p:spPr>
          <a:xfrm>
            <a:off x="731520"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defRPr sz="1100" b="1">
                <a:solidFill>
                  <a:srgbClr val="06B6D4"/>
                </a:solidFill>
                <a:latin typeface="Segoe UI"/>
              </a:defRPr>
            </a:pPr>
            <a:r>
              <a:t>STAGE 1: HEADER CLEANING</a:t>
            </a:r>
          </a:p>
          <a:p>
            <a:pPr>
              <a:spcBef>
                <a:spcPts val="1200"/>
              </a:spcBef>
              <a:defRPr sz="950">
                <a:solidFill>
                  <a:srgbClr val="CBD5E1"/>
                </a:solidFill>
                <a:latin typeface="Segoe UI"/>
              </a:defRPr>
            </a:pPr>
            <a:r>
              <a:t>• Standardized all column names to lowercase snake_case.</a:t>
            </a:r>
            <a:br/>
            <a:r>
              <a:t>• Replaced spaces and hyphens with underscores.</a:t>
            </a:r>
            <a:br/>
            <a:r>
              <a:t>• Stripped non-alphanumeric characters and invisible UTF-8 byte-order marks (\ufeff).</a:t>
            </a:r>
          </a:p>
        </p:txBody>
      </p:sp>
      <p:sp>
        <p:nvSpPr>
          <p:cNvPr id="8" name="Rounded Rectangle 7"/>
          <p:cNvSpPr/>
          <p:nvPr/>
        </p:nvSpPr>
        <p:spPr>
          <a:xfrm>
            <a:off x="3465576"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defRPr sz="1100" b="1">
                <a:solidFill>
                  <a:srgbClr val="10B981"/>
                </a:solidFill>
                <a:latin typeface="Segoe UI"/>
              </a:defRPr>
            </a:pPr>
            <a:r>
              <a:t>STAGE 2: ENTITY RESOLUTION</a:t>
            </a:r>
          </a:p>
          <a:p>
            <a:pPr>
              <a:spcBef>
                <a:spcPts val="1200"/>
              </a:spcBef>
              <a:defRPr sz="950">
                <a:solidFill>
                  <a:srgbClr val="CBD5E1"/>
                </a:solidFill>
                <a:latin typeface="Segoe UI"/>
              </a:defRPr>
            </a:pPr>
            <a:r>
              <a:t>• Stripped parenthetical acronyms using regex r'\(.*?\)' (e.g. '(MIT)').</a:t>
            </a:r>
            <a:br/>
            <a:r>
              <a:t>• Removed punctuation r'[^\w\s]' and collapsed spaces r'\s+'.</a:t>
            </a:r>
            <a:br/>
            <a:r>
              <a:t>• Produced 849 verified research matches and 804 student matches with 0 false matches.</a:t>
            </a:r>
          </a:p>
        </p:txBody>
      </p:sp>
      <p:sp>
        <p:nvSpPr>
          <p:cNvPr id="9" name="Rounded Rectangle 8"/>
          <p:cNvSpPr/>
          <p:nvPr/>
        </p:nvSpPr>
        <p:spPr>
          <a:xfrm>
            <a:off x="6199632"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defRPr sz="1100" b="1">
                <a:solidFill>
                  <a:srgbClr val="F59E0B"/>
                </a:solidFill>
                <a:latin typeface="Segoe UI"/>
              </a:defRPr>
            </a:pPr>
            <a:r>
              <a:t>STAGE 3: COUNTRY HARMONIZATION</a:t>
            </a:r>
          </a:p>
          <a:p>
            <a:pPr>
              <a:spcBef>
                <a:spcPts val="1200"/>
              </a:spcBef>
              <a:defRPr sz="950">
                <a:solidFill>
                  <a:srgbClr val="CBD5E1"/>
                </a:solidFill>
                <a:latin typeface="Segoe UI"/>
              </a:defRPr>
            </a:pPr>
            <a:r>
              <a:t>• Harmonized fragmented sovereign country names ('USA', 'US' -&gt; 'United States'; 'UK' -&gt; 'United Kingdom').</a:t>
            </a:r>
            <a:br/>
            <a:r>
              <a:t>• Assigned conformed surrogate keys (C0001..C0106) across 106 nations.</a:t>
            </a:r>
          </a:p>
        </p:txBody>
      </p:sp>
      <p:sp>
        <p:nvSpPr>
          <p:cNvPr id="10" name="Rounded Rectangle 9"/>
          <p:cNvSpPr/>
          <p:nvPr/>
        </p:nvSpPr>
        <p:spPr>
          <a:xfrm>
            <a:off x="8933688"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defRPr sz="1100" b="1">
                <a:solidFill>
                  <a:srgbClr val="8B5CF6"/>
                </a:solidFill>
                <a:latin typeface="Segoe UI"/>
              </a:defRPr>
            </a:pPr>
            <a:r>
              <a:t>STAGE 4: MISSING VALUE RULES</a:t>
            </a:r>
          </a:p>
          <a:p>
            <a:pPr>
              <a:spcBef>
                <a:spcPts val="1200"/>
              </a:spcBef>
              <a:defRPr sz="950">
                <a:solidFill>
                  <a:srgbClr val="CBD5E1"/>
                </a:solidFill>
                <a:latin typeface="Segoe UI"/>
              </a:defRPr>
            </a:pPr>
            <a:r>
              <a:t>• Category A (Keys): 0.0% missing allowed.</a:t>
            </a:r>
            <a:br/>
            <a:r>
              <a:t>• Category B (Scores): Preserved NaN instead of zero-filling to protect true means and percentiles.</a:t>
            </a:r>
            <a:br/>
            <a:r>
              <a:t>• Imputed ranks &gt; 500 via inverse percentile rank formula.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Data Architecture: Audit-Compliant Relational Star Schema</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6 / 18</a:t>
            </a:r>
          </a:p>
        </p:txBody>
      </p:sp>
      <p:sp>
        <p:nvSpPr>
          <p:cNvPr id="7" name="Rounded Rectangle 6"/>
          <p:cNvSpPr/>
          <p:nvPr/>
        </p:nvSpPr>
        <p:spPr>
          <a:xfrm>
            <a:off x="731520" y="1371600"/>
            <a:ext cx="512064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06B6D4"/>
                </a:solidFill>
                <a:latin typeface="Segoe UI"/>
              </a:defRPr>
            </a:pPr>
            <a:r>
              <a:t>STAR SCHEMA DESIGN RATIONALE</a:t>
            </a:r>
          </a:p>
          <a:p>
            <a:pPr>
              <a:spcBef>
                <a:spcPts val="800"/>
              </a:spcBef>
              <a:defRPr sz="950">
                <a:solidFill>
                  <a:srgbClr val="CBD5E1"/>
                </a:solidFill>
                <a:latin typeface="Segoe UI"/>
              </a:defRPr>
            </a:pPr>
            <a:r>
              <a:t>Conformed Dimension Tables:</a:t>
            </a:r>
            <a:br/>
            <a:r>
              <a:t>• `dim_university` (1,503 rows): Master institutional entity with surrogate key `U0001`..`U1503`.</a:t>
            </a:r>
            <a:br/>
            <a:r>
              <a:t>• `dim_country` (106 rows): Conformed country entity with surrogate key `C0001`..`C0106`.</a:t>
            </a:r>
          </a:p>
          <a:p>
            <a:pPr>
              <a:spcBef>
                <a:spcPts val="800"/>
              </a:spcBef>
              <a:defRPr sz="950">
                <a:solidFill>
                  <a:srgbClr val="CBD5E1"/>
                </a:solidFill>
                <a:latin typeface="Segoe UI"/>
              </a:defRPr>
            </a:pPr>
            <a:r>
              <a:t>Fact Tables (Separation of Concerns):</a:t>
            </a:r>
            <a:br/>
            <a:r>
              <a:t>• `fact_university_performance` (1,503 rows): QS 2025 ranking metrics.</a:t>
            </a:r>
            <a:br/>
            <a:r>
              <a:t>• `fact_research` (849 rows): THE 2024 citation &amp; productivity metrics.</a:t>
            </a:r>
            <a:br/>
            <a:r>
              <a:t>• `fact_student` (804 rows): WUR 2023 enrollment &amp; staffing metrics.</a:t>
            </a:r>
            <a:br/>
            <a:r>
              <a:t>• `fact_country_education` (2,243 rows): World Bank macroeconomic indicators.</a:t>
            </a:r>
          </a:p>
          <a:p>
            <a:pPr>
              <a:spcBef>
                <a:spcPts val="800"/>
              </a:spcBef>
              <a:defRPr sz="950">
                <a:solidFill>
                  <a:srgbClr val="CBD5E1"/>
                </a:solidFill>
                <a:latin typeface="Segoe UI"/>
              </a:defRPr>
            </a:pPr>
            <a:r>
              <a:t>No Cartesian Explosion: University-level data and country-level data exist at different granularities. A Star Schema ensures zero row duplication during Tableau joins.</a:t>
            </a:r>
          </a:p>
          <a:p>
            <a:pPr>
              <a:spcBef>
                <a:spcPts val="800"/>
              </a:spcBef>
              <a:defRPr sz="950">
                <a:solidFill>
                  <a:srgbClr val="CBD5E1"/>
                </a:solidFill>
                <a:latin typeface="Segoe UI"/>
              </a:defRPr>
            </a:pPr>
            <a:r>
              <a:t>Analytical Master (`kpi_master`): Consolidated pre-joined table (1,503 rows) containing all six core KPIs for high-performance Tableau querying.</a:t>
            </a:r>
          </a:p>
        </p:txBody>
      </p:sp>
      <p:sp>
        <p:nvSpPr>
          <p:cNvPr id="8" name="Rounded Rectangle 7"/>
          <p:cNvSpPr/>
          <p:nvPr/>
        </p:nvSpPr>
        <p:spPr>
          <a:xfrm>
            <a:off x="6126480" y="1371600"/>
            <a:ext cx="533369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10B981"/>
                </a:solidFill>
                <a:latin typeface="Segoe UI"/>
              </a:defRPr>
            </a:pPr>
            <a:r>
              <a:t>RELATIONAL ENTITY STRUCTURE</a:t>
            </a:r>
          </a:p>
          <a:p>
            <a:pPr>
              <a:spcBef>
                <a:spcPts val="800"/>
              </a:spcBef>
              <a:defRPr sz="900">
                <a:solidFill>
                  <a:srgbClr val="06B6D4"/>
                </a:solidFill>
                <a:latin typeface="Courier New"/>
              </a:defRPr>
            </a:pPr>
            <a:r>
              <a:t>┌────────────────────────────────────────────────────────┐</a:t>
            </a:r>
            <a:br/>
            <a:r>
              <a:t>│              dim_university (1,503 rows)               │</a:t>
            </a:r>
            <a:br/>
            <a:r>
              <a:t>│  PK: university_id | university_name | FK: country_id  │</a:t>
            </a:r>
            <a:br/>
            <a:r>
              <a:t>└──────────────┬──────────────────┬──────────────────────┘</a:t>
            </a:r>
            <a:br/>
            <a:r>
              <a:t>               │ 1:1              │ 1:1</a:t>
            </a:r>
            <a:br/>
            <a:r>
              <a:t>       ┌───────┴───────┐   ┌──────┴────────┐</a:t>
            </a:r>
            <a:br/>
            <a:r>
              <a:t>       ▼               ▼   ▼               ▼</a:t>
            </a:r>
            <a:br/>
            <a:r>
              <a:t>┌───────────────┐ ┌─────────────────┐ ┌──────────────────┐</a:t>
            </a:r>
            <a:br/>
            <a:r>
              <a:t>│ fact_perform- │ │  fact_research  │ │   fact_student   │</a:t>
            </a:r>
            <a:br/>
            <a:r>
              <a:t>│ ance (1,503)  │ │   (849 rows)    │ │    (804 rows)    │</a:t>
            </a:r>
            <a:br/>
            <a:r>
              <a:t>└───────────────┘ └─────────────────┘ └──────────────────┘</a:t>
            </a:r>
            <a:br/>
            <a:r>
              <a:t>                               │ M:1</a:t>
            </a:r>
            <a:br/>
            <a:r>
              <a:t>                               ▼</a:t>
            </a:r>
            <a:br/>
            <a:r>
              <a:t>┌────────────────────────────────────────────────────────┐</a:t>
            </a:r>
            <a:br/>
            <a:r>
              <a:t>│               dim_country (106 rows)                   │</a:t>
            </a:r>
            <a:br/>
            <a:r>
              <a:t>│  PK: country_id | country_name | region                │</a:t>
            </a:r>
            <a:br/>
            <a:r>
              <a:t>└──────────────────────────────┬─────────────────────────┘</a:t>
            </a:r>
            <a:br/>
            <a:r>
              <a:t>                               │ 1:M</a:t>
            </a:r>
            <a:br/>
            <a:r>
              <a:t>                               ▼</a:t>
            </a:r>
            <a:br/>
            <a:r>
              <a:t>┌────────────────────────────────────────────────────────┐</a:t>
            </a:r>
            <a:br/>
            <a:r>
              <a:t>│       fact_country_education (2,243 rows)              │</a:t>
            </a:r>
            <a:br/>
            <a:r>
              <a:t>│  FK: country_id | year | indicator | value             │</a:t>
            </a:r>
            <a:br/>
            <a: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KPI Engineering: Summary of the Six Performance Metrics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7 / 18</a:t>
            </a:r>
          </a:p>
        </p:txBody>
      </p:sp>
      <p:graphicFrame>
        <p:nvGraphicFramePr>
          <p:cNvPr id="7" name="Table 6"/>
          <p:cNvGraphicFramePr>
            <a:graphicFrameLocks noGrp="1"/>
          </p:cNvGraphicFramePr>
          <p:nvPr/>
        </p:nvGraphicFramePr>
        <p:xfrm>
          <a:off x="731520" y="1371600"/>
          <a:ext cx="10728655" cy="36576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962095">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522514">
                <a:tc>
                  <a:txBody>
                    <a:bodyPr/>
                    <a:lstStyle/>
                    <a:p>
                      <a:pPr>
                        <a:defRPr sz="950" b="1">
                          <a:solidFill>
                            <a:srgbClr val="06B6D4"/>
                          </a:solidFill>
                          <a:latin typeface="Segoe UI"/>
                        </a:defRPr>
                      </a:pPr>
                      <a:r>
                        <a:t>KPI Name</a:t>
                      </a:r>
                    </a:p>
                  </a:txBody>
                  <a:tcPr>
                    <a:solidFill>
                      <a:srgbClr val="334155"/>
                    </a:solidFill>
                  </a:tcPr>
                </a:tc>
                <a:tc>
                  <a:txBody>
                    <a:bodyPr/>
                    <a:lstStyle/>
                    <a:p>
                      <a:pPr>
                        <a:defRPr sz="950" b="1">
                          <a:solidFill>
                            <a:srgbClr val="06B6D4"/>
                          </a:solidFill>
                          <a:latin typeface="Segoe UI"/>
                        </a:defRPr>
                      </a:pPr>
                      <a:r>
                        <a:t>Primary Source</a:t>
                      </a:r>
                    </a:p>
                  </a:txBody>
                  <a:tcPr>
                    <a:solidFill>
                      <a:srgbClr val="334155"/>
                    </a:solidFill>
                  </a:tcPr>
                </a:tc>
                <a:tc>
                  <a:txBody>
                    <a:bodyPr/>
                    <a:lstStyle/>
                    <a:p>
                      <a:pPr>
                        <a:defRPr sz="950" b="1">
                          <a:solidFill>
                            <a:srgbClr val="06B6D4"/>
                          </a:solidFill>
                          <a:latin typeface="Segoe UI"/>
                        </a:defRPr>
                      </a:pPr>
                      <a:r>
                        <a:t>Mathematical Derivation / Formula</a:t>
                      </a:r>
                    </a:p>
                  </a:txBody>
                  <a:tcPr>
                    <a:solidFill>
                      <a:srgbClr val="334155"/>
                    </a:solidFill>
                  </a:tcPr>
                </a:tc>
                <a:tc>
                  <a:txBody>
                    <a:bodyPr/>
                    <a:lstStyle/>
                    <a:p>
                      <a:pPr>
                        <a:defRPr sz="950" b="1">
                          <a:solidFill>
                            <a:srgbClr val="06B6D4"/>
                          </a:solidFill>
                          <a:latin typeface="Segoe UI"/>
                        </a:defRPr>
                      </a:pPr>
                      <a:r>
                        <a:t>Output Unit</a:t>
                      </a:r>
                    </a:p>
                  </a:txBody>
                  <a:tcPr>
                    <a:solidFill>
                      <a:srgbClr val="334155"/>
                    </a:solidFill>
                  </a:tcPr>
                </a:tc>
                <a:tc>
                  <a:txBody>
                    <a:bodyPr/>
                    <a:lstStyle/>
                    <a:p>
                      <a:pPr>
                        <a:defRPr sz="950" b="1">
                          <a:solidFill>
                            <a:srgbClr val="06B6D4"/>
                          </a:solidFill>
                          <a:latin typeface="Segoe UI"/>
                        </a:defRPr>
                      </a:pPr>
                      <a:r>
                        <a:t>Allowable Range</a:t>
                      </a:r>
                    </a:p>
                  </a:txBody>
                  <a:tcPr>
                    <a:solidFill>
                      <a:srgbClr val="334155"/>
                    </a:solidFill>
                  </a:tcPr>
                </a:tc>
                <a:extLst>
                  <a:ext uri="{0D108BD9-81ED-4DB2-BD59-A6C34878D82A}">
                    <a16:rowId xmlns:a16="http://schemas.microsoft.com/office/drawing/2014/main" val="10000"/>
                  </a:ext>
                </a:extLst>
              </a:tr>
              <a:tr h="522514">
                <a:tc>
                  <a:txBody>
                    <a:bodyPr/>
                    <a:lstStyle/>
                    <a:p>
                      <a:pPr>
                        <a:defRPr sz="850">
                          <a:solidFill>
                            <a:srgbClr val="F8FAFC"/>
                          </a:solidFill>
                          <a:latin typeface="Segoe UI"/>
                        </a:defRPr>
                      </a:pPr>
                      <a:r>
                        <a:t>1. Global Ranking Score</a:t>
                      </a:r>
                    </a:p>
                  </a:txBody>
                  <a:tcPr>
                    <a:solidFill>
                      <a:srgbClr val="1E293B"/>
                    </a:solidFill>
                  </a:tcPr>
                </a:tc>
                <a:tc>
                  <a:txBody>
                    <a:bodyPr/>
                    <a:lstStyle/>
                    <a:p>
                      <a:pPr>
                        <a:defRPr sz="850">
                          <a:solidFill>
                            <a:srgbClr val="CBD5E1"/>
                          </a:solidFill>
                          <a:latin typeface="Segoe UI"/>
                        </a:defRPr>
                      </a:pPr>
                      <a:r>
                        <a:t>QS World Rankings 2025</a:t>
                      </a:r>
                    </a:p>
                  </a:txBody>
                  <a:tcPr>
                    <a:solidFill>
                      <a:srgbClr val="1E293B"/>
                    </a:solidFill>
                  </a:tcPr>
                </a:tc>
                <a:tc>
                  <a:txBody>
                    <a:bodyPr/>
                    <a:lstStyle/>
                    <a:p>
                      <a:pPr>
                        <a:defRPr sz="850">
                          <a:solidFill>
                            <a:srgbClr val="CBD5E1"/>
                          </a:solidFill>
                          <a:latin typeface="Segoe UI"/>
                        </a:defRPr>
                      </a:pPr>
                      <a:r>
                        <a:t>QS Overall Score (Percentile rank imputed for rank &gt; 500)</a:t>
                      </a:r>
                    </a:p>
                  </a:txBody>
                  <a:tcPr>
                    <a:solidFill>
                      <a:srgbClr val="1E293B"/>
                    </a:solidFill>
                  </a:tcPr>
                </a:tc>
                <a:tc>
                  <a:txBody>
                    <a:bodyPr/>
                    <a:lstStyle/>
                    <a:p>
                      <a:pPr>
                        <a:defRPr sz="850">
                          <a:solidFill>
                            <a:srgbClr val="CBD5E1"/>
                          </a:solidFill>
                          <a:latin typeface="Segoe UI"/>
                        </a:defRPr>
                      </a:pPr>
                      <a:r>
                        <a:t>Index Score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extLst>
                  <a:ext uri="{0D108BD9-81ED-4DB2-BD59-A6C34878D82A}">
                    <a16:rowId xmlns:a16="http://schemas.microsoft.com/office/drawing/2014/main" val="10001"/>
                  </a:ext>
                </a:extLst>
              </a:tr>
              <a:tr h="522514">
                <a:tc>
                  <a:txBody>
                    <a:bodyPr/>
                    <a:lstStyle/>
                    <a:p>
                      <a:pPr>
                        <a:defRPr sz="850">
                          <a:solidFill>
                            <a:srgbClr val="F8FAFC"/>
                          </a:solidFill>
                          <a:latin typeface="Segoe UI"/>
                        </a:defRPr>
                      </a:pPr>
                      <a:r>
                        <a:t>2. Research Impact Score</a:t>
                      </a:r>
                    </a:p>
                  </a:txBody>
                  <a:tcPr>
                    <a:solidFill>
                      <a:srgbClr val="1E293B"/>
                    </a:solidFill>
                  </a:tcPr>
                </a:tc>
                <a:tc>
                  <a:txBody>
                    <a:bodyPr/>
                    <a:lstStyle/>
                    <a:p>
                      <a:pPr>
                        <a:defRPr sz="850">
                          <a:solidFill>
                            <a:srgbClr val="CBD5E1"/>
                          </a:solidFill>
                          <a:latin typeface="Segoe UI"/>
                        </a:defRPr>
                      </a:pPr>
                      <a:r>
                        <a:t>QS / THE Citations</a:t>
                      </a:r>
                    </a:p>
                  </a:txBody>
                  <a:tcPr>
                    <a:solidFill>
                      <a:srgbClr val="1E293B"/>
                    </a:solidFill>
                  </a:tcPr>
                </a:tc>
                <a:tc>
                  <a:txBody>
                    <a:bodyPr/>
                    <a:lstStyle/>
                    <a:p>
                      <a:pPr>
                        <a:defRPr sz="850">
                          <a:solidFill>
                            <a:srgbClr val="CBD5E1"/>
                          </a:solidFill>
                          <a:latin typeface="Segoe UI"/>
                        </a:defRPr>
                      </a:pPr>
                      <a:r>
                        <a:t>QS Citations per Faculty Score (Normalized for faculty size)</a:t>
                      </a:r>
                    </a:p>
                  </a:txBody>
                  <a:tcPr>
                    <a:solidFill>
                      <a:srgbClr val="1E293B"/>
                    </a:solidFill>
                  </a:tcPr>
                </a:tc>
                <a:tc>
                  <a:txBody>
                    <a:bodyPr/>
                    <a:lstStyle/>
                    <a:p>
                      <a:pPr>
                        <a:defRPr sz="850">
                          <a:solidFill>
                            <a:srgbClr val="CBD5E1"/>
                          </a:solidFill>
                          <a:latin typeface="Segoe UI"/>
                        </a:defRPr>
                      </a:pPr>
                      <a:r>
                        <a:t>Index Score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extLst>
                  <a:ext uri="{0D108BD9-81ED-4DB2-BD59-A6C34878D82A}">
                    <a16:rowId xmlns:a16="http://schemas.microsoft.com/office/drawing/2014/main" val="10002"/>
                  </a:ext>
                </a:extLst>
              </a:tr>
              <a:tr h="522514">
                <a:tc>
                  <a:txBody>
                    <a:bodyPr/>
                    <a:lstStyle/>
                    <a:p>
                      <a:pPr>
                        <a:defRPr sz="850">
                          <a:solidFill>
                            <a:srgbClr val="F8FAFC"/>
                          </a:solidFill>
                          <a:latin typeface="Segoe UI"/>
                        </a:defRPr>
                      </a:pPr>
                      <a:r>
                        <a:t>3. Faculty-to-Student Ratio</a:t>
                      </a:r>
                    </a:p>
                  </a:txBody>
                  <a:tcPr>
                    <a:solidFill>
                      <a:srgbClr val="1E293B"/>
                    </a:solidFill>
                  </a:tcPr>
                </a:tc>
                <a:tc>
                  <a:txBody>
                    <a:bodyPr/>
                    <a:lstStyle/>
                    <a:p>
                      <a:pPr>
                        <a:defRPr sz="850">
                          <a:solidFill>
                            <a:srgbClr val="CBD5E1"/>
                          </a:solidFill>
                          <a:latin typeface="Segoe UI"/>
                        </a:defRPr>
                      </a:pPr>
                      <a:r>
                        <a:t>WUR 2023 / THE 2024</a:t>
                      </a:r>
                    </a:p>
                  </a:txBody>
                  <a:tcPr>
                    <a:solidFill>
                      <a:srgbClr val="1E293B"/>
                    </a:solidFill>
                  </a:tcPr>
                </a:tc>
                <a:tc>
                  <a:txBody>
                    <a:bodyPr/>
                    <a:lstStyle/>
                    <a:p>
                      <a:pPr>
                        <a:defRPr sz="850">
                          <a:solidFill>
                            <a:srgbClr val="CBD5E1"/>
                          </a:solidFill>
                          <a:latin typeface="Segoe UI"/>
                        </a:defRPr>
                      </a:pPr>
                      <a:r>
                        <a:t>Actual empirical ratio: Students per academic staff member</a:t>
                      </a:r>
                    </a:p>
                  </a:txBody>
                  <a:tcPr>
                    <a:solidFill>
                      <a:srgbClr val="1E293B"/>
                    </a:solidFill>
                  </a:tcPr>
                </a:tc>
                <a:tc>
                  <a:txBody>
                    <a:bodyPr/>
                    <a:lstStyle/>
                    <a:p>
                      <a:pPr>
                        <a:defRPr sz="850">
                          <a:solidFill>
                            <a:srgbClr val="CBD5E1"/>
                          </a:solidFill>
                          <a:latin typeface="Segoe UI"/>
                        </a:defRPr>
                      </a:pPr>
                      <a:r>
                        <a:t>Real Ratio</a:t>
                      </a:r>
                    </a:p>
                  </a:txBody>
                  <a:tcPr>
                    <a:solidFill>
                      <a:srgbClr val="1E293B"/>
                    </a:solidFill>
                  </a:tcPr>
                </a:tc>
                <a:tc>
                  <a:txBody>
                    <a:bodyPr/>
                    <a:lstStyle/>
                    <a:p>
                      <a:pPr>
                        <a:defRPr sz="850">
                          <a:solidFill>
                            <a:srgbClr val="CBD5E1"/>
                          </a:solidFill>
                          <a:latin typeface="Segoe UI"/>
                        </a:defRPr>
                      </a:pPr>
                      <a:r>
                        <a:t>Positive Float (X:1)</a:t>
                      </a:r>
                    </a:p>
                  </a:txBody>
                  <a:tcPr>
                    <a:solidFill>
                      <a:srgbClr val="1E293B"/>
                    </a:solidFill>
                  </a:tcPr>
                </a:tc>
                <a:extLst>
                  <a:ext uri="{0D108BD9-81ED-4DB2-BD59-A6C34878D82A}">
                    <a16:rowId xmlns:a16="http://schemas.microsoft.com/office/drawing/2014/main" val="10003"/>
                  </a:ext>
                </a:extLst>
              </a:tr>
              <a:tr h="522514">
                <a:tc>
                  <a:txBody>
                    <a:bodyPr/>
                    <a:lstStyle/>
                    <a:p>
                      <a:pPr>
                        <a:defRPr sz="850">
                          <a:solidFill>
                            <a:srgbClr val="F8FAFC"/>
                          </a:solidFill>
                          <a:latin typeface="Segoe UI"/>
                        </a:defRPr>
                      </a:pPr>
                      <a:r>
                        <a:t>4. International Student %</a:t>
                      </a:r>
                    </a:p>
                  </a:txBody>
                  <a:tcPr>
                    <a:solidFill>
                      <a:srgbClr val="1E293B"/>
                    </a:solidFill>
                  </a:tcPr>
                </a:tc>
                <a:tc>
                  <a:txBody>
                    <a:bodyPr/>
                    <a:lstStyle/>
                    <a:p>
                      <a:pPr>
                        <a:defRPr sz="850">
                          <a:solidFill>
                            <a:srgbClr val="CBD5E1"/>
                          </a:solidFill>
                          <a:latin typeface="Segoe UI"/>
                        </a:defRPr>
                      </a:pPr>
                      <a:r>
                        <a:t>WUR 2023</a:t>
                      </a:r>
                    </a:p>
                  </a:txBody>
                  <a:tcPr>
                    <a:solidFill>
                      <a:srgbClr val="1E293B"/>
                    </a:solidFill>
                  </a:tcPr>
                </a:tc>
                <a:tc>
                  <a:txBody>
                    <a:bodyPr/>
                    <a:lstStyle/>
                    <a:p>
                      <a:pPr>
                        <a:defRPr sz="850">
                          <a:solidFill>
                            <a:srgbClr val="CBD5E1"/>
                          </a:solidFill>
                          <a:latin typeface="Segoe UI"/>
                        </a:defRPr>
                      </a:pPr>
                      <a:r>
                        <a:t>True percentage: (International FTE / Total FTE) * 100</a:t>
                      </a:r>
                    </a:p>
                  </a:txBody>
                  <a:tcPr>
                    <a:solidFill>
                      <a:srgbClr val="1E293B"/>
                    </a:solidFill>
                  </a:tcPr>
                </a:tc>
                <a:tc>
                  <a:txBody>
                    <a:bodyPr/>
                    <a:lstStyle/>
                    <a:p>
                      <a:pPr>
                        <a:defRPr sz="850">
                          <a:solidFill>
                            <a:srgbClr val="CBD5E1"/>
                          </a:solidFill>
                          <a:latin typeface="Segoe UI"/>
                        </a:defRPr>
                      </a:pPr>
                      <a:r>
                        <a:t>Percentage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extLst>
                  <a:ext uri="{0D108BD9-81ED-4DB2-BD59-A6C34878D82A}">
                    <a16:rowId xmlns:a16="http://schemas.microsoft.com/office/drawing/2014/main" val="10004"/>
                  </a:ext>
                </a:extLst>
              </a:tr>
              <a:tr h="522514">
                <a:tc>
                  <a:txBody>
                    <a:bodyPr/>
                    <a:lstStyle/>
                    <a:p>
                      <a:pPr>
                        <a:defRPr sz="850">
                          <a:solidFill>
                            <a:srgbClr val="F8FAFC"/>
                          </a:solidFill>
                          <a:latin typeface="Segoe UI"/>
                        </a:defRPr>
                      </a:pPr>
                      <a:r>
                        <a:t>5. Academic Reputation Score</a:t>
                      </a:r>
                    </a:p>
                  </a:txBody>
                  <a:tcPr>
                    <a:solidFill>
                      <a:srgbClr val="1E293B"/>
                    </a:solidFill>
                  </a:tcPr>
                </a:tc>
                <a:tc>
                  <a:txBody>
                    <a:bodyPr/>
                    <a:lstStyle/>
                    <a:p>
                      <a:pPr>
                        <a:defRPr sz="850">
                          <a:solidFill>
                            <a:srgbClr val="CBD5E1"/>
                          </a:solidFill>
                          <a:latin typeface="Segoe UI"/>
                        </a:defRPr>
                      </a:pPr>
                      <a:r>
                        <a:t>QS World Rankings 2025</a:t>
                      </a:r>
                    </a:p>
                  </a:txBody>
                  <a:tcPr>
                    <a:solidFill>
                      <a:srgbClr val="1E293B"/>
                    </a:solidFill>
                  </a:tcPr>
                </a:tc>
                <a:tc>
                  <a:txBody>
                    <a:bodyPr/>
                    <a:lstStyle/>
                    <a:p>
                      <a:pPr>
                        <a:defRPr sz="850">
                          <a:solidFill>
                            <a:srgbClr val="CBD5E1"/>
                          </a:solidFill>
                          <a:latin typeface="Segoe UI"/>
                        </a:defRPr>
                      </a:pPr>
                      <a:r>
                        <a:t>Global survey of over 100,000 active academics worldwide</a:t>
                      </a:r>
                    </a:p>
                  </a:txBody>
                  <a:tcPr>
                    <a:solidFill>
                      <a:srgbClr val="1E293B"/>
                    </a:solidFill>
                  </a:tcPr>
                </a:tc>
                <a:tc>
                  <a:txBody>
                    <a:bodyPr/>
                    <a:lstStyle/>
                    <a:p>
                      <a:pPr>
                        <a:defRPr sz="850">
                          <a:solidFill>
                            <a:srgbClr val="CBD5E1"/>
                          </a:solidFill>
                          <a:latin typeface="Segoe UI"/>
                        </a:defRPr>
                      </a:pPr>
                      <a:r>
                        <a:t>Index Score</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extLst>
                  <a:ext uri="{0D108BD9-81ED-4DB2-BD59-A6C34878D82A}">
                    <a16:rowId xmlns:a16="http://schemas.microsoft.com/office/drawing/2014/main" val="10005"/>
                  </a:ext>
                </a:extLst>
              </a:tr>
              <a:tr h="522516">
                <a:tc>
                  <a:txBody>
                    <a:bodyPr/>
                    <a:lstStyle/>
                    <a:p>
                      <a:pPr>
                        <a:defRPr sz="850">
                          <a:solidFill>
                            <a:srgbClr val="F8FAFC"/>
                          </a:solidFill>
                          <a:latin typeface="Segoe UI"/>
                        </a:defRPr>
                      </a:pPr>
                      <a:r>
                        <a:t>6. Research Productivity Index</a:t>
                      </a:r>
                    </a:p>
                  </a:txBody>
                  <a:tcPr>
                    <a:solidFill>
                      <a:srgbClr val="1E293B"/>
                    </a:solidFill>
                  </a:tcPr>
                </a:tc>
                <a:tc>
                  <a:txBody>
                    <a:bodyPr/>
                    <a:lstStyle/>
                    <a:p>
                      <a:pPr>
                        <a:defRPr sz="850">
                          <a:solidFill>
                            <a:srgbClr val="CBD5E1"/>
                          </a:solidFill>
                          <a:latin typeface="Segoe UI"/>
                        </a:defRPr>
                      </a:pPr>
                      <a:r>
                        <a:t>Derived Composite KPI</a:t>
                      </a:r>
                    </a:p>
                  </a:txBody>
                  <a:tcPr>
                    <a:solidFill>
                      <a:srgbClr val="1E293B"/>
                    </a:solidFill>
                  </a:tcPr>
                </a:tc>
                <a:tc>
                  <a:txBody>
                    <a:bodyPr/>
                    <a:lstStyle/>
                    <a:p>
                      <a:pPr>
                        <a:defRPr sz="850">
                          <a:solidFill>
                            <a:srgbClr val="CBD5E1"/>
                          </a:solidFill>
                          <a:latin typeface="Segoe UI"/>
                        </a:defRPr>
                      </a:pPr>
                      <a:r>
                        <a:t>0.50 * Research Score + 0.30 * Citation Score + 0.20 * Network</a:t>
                      </a:r>
                    </a:p>
                  </a:txBody>
                  <a:tcPr>
                    <a:solidFill>
                      <a:srgbClr val="1E293B"/>
                    </a:solidFill>
                  </a:tcPr>
                </a:tc>
                <a:tc>
                  <a:txBody>
                    <a:bodyPr/>
                    <a:lstStyle/>
                    <a:p>
                      <a:pPr>
                        <a:defRPr sz="850">
                          <a:solidFill>
                            <a:srgbClr val="CBD5E1"/>
                          </a:solidFill>
                          <a:latin typeface="Segoe UI"/>
                        </a:defRPr>
                      </a:pPr>
                      <a:r>
                        <a:t>Composite Index</a:t>
                      </a:r>
                    </a:p>
                  </a:txBody>
                  <a:tcPr>
                    <a:solidFill>
                      <a:srgbClr val="1E293B"/>
                    </a:solidFill>
                  </a:tcPr>
                </a:tc>
                <a:tc>
                  <a:txBody>
                    <a:bodyPr/>
                    <a:lstStyle/>
                    <a:p>
                      <a:pPr>
                        <a:defRPr sz="850">
                          <a:solidFill>
                            <a:srgbClr val="CBD5E1"/>
                          </a:solidFill>
                          <a:latin typeface="Segoe UI"/>
                        </a:defRPr>
                      </a:pPr>
                      <a:r>
                        <a:t>0.0 – 100.0</a:t>
                      </a:r>
                    </a:p>
                  </a:txBody>
                  <a:tcPr>
                    <a:solidFill>
                      <a:srgbClr val="1E293B"/>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731520" y="5212080"/>
            <a:ext cx="10728655"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defRPr sz="1000" b="1">
                <a:solidFill>
                  <a:srgbClr val="F59E0B"/>
                </a:solidFill>
                <a:latin typeface="Segoe UI"/>
              </a:defRPr>
            </a:pPr>
            <a:r>
              <a:t>METHODOLOGICAL COMPLIANCE &amp; PROHIBITED SUBSTITUTIONS</a:t>
            </a:r>
          </a:p>
          <a:p>
            <a:pPr>
              <a:spcBef>
                <a:spcPts val="300"/>
              </a:spcBef>
              <a:defRPr sz="850">
                <a:solidFill>
                  <a:srgbClr val="CBD5E1"/>
                </a:solidFill>
                <a:latin typeface="Segoe UI"/>
              </a:defRPr>
            </a:pPr>
            <a:r>
              <a:t>• Rule 1: A score reflecting a ratio is never confused with an actual empirical ratio (Faculty-to-student ratio is reported as students per staff, e.g. 8.2:1).</a:t>
            </a:r>
            <a:br/>
            <a:r>
              <a:t>• Rule 2: Sustainability Score was strictly rejected as a substitute for Research Productivity (Sustainability measures green initiatives, not scholarship).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Mathematical Derivations: Formulas &amp; Methodological Rules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8 / 18</a:t>
            </a:r>
          </a:p>
        </p:txBody>
      </p:sp>
      <p:sp>
        <p:nvSpPr>
          <p:cNvPr id="7" name="Rounded Rectangle 6"/>
          <p:cNvSpPr/>
          <p:nvPr/>
        </p:nvSpPr>
        <p:spPr>
          <a:xfrm>
            <a:off x="731520" y="137160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000" b="1">
                <a:solidFill>
                  <a:srgbClr val="10B981"/>
                </a:solidFill>
                <a:latin typeface="Segoe UI"/>
              </a:defRPr>
            </a:pPr>
            <a:r>
              <a:t>KPI 1: GLOBAL RANKING SCORE</a:t>
            </a:r>
          </a:p>
          <a:p>
            <a:pPr>
              <a:spcBef>
                <a:spcPts val="600"/>
              </a:spcBef>
              <a:defRPr sz="800">
                <a:solidFill>
                  <a:srgbClr val="CBD5E1"/>
                </a:solidFill>
                <a:latin typeface="Segoe UI"/>
              </a:defRPr>
            </a:pPr>
            <a:r>
              <a:t>QS explicitly publishes scores only for the top 500 institutions. For universities ranked 501–1503, an inverse percentile rank transformation is applied:</a:t>
            </a:r>
            <a:br/>
            <a:br/>
            <a:r>
              <a:t>Score = [(Max Rank - Global Rank + 1) / Max Rank] * 100</a:t>
            </a:r>
            <a:br/>
            <a:br/>
            <a:r>
              <a:t>Where Max Rank = 1503. Guarantees smooth continuity from 100.0 to 0.07.</a:t>
            </a:r>
          </a:p>
        </p:txBody>
      </p:sp>
      <p:sp>
        <p:nvSpPr>
          <p:cNvPr id="8" name="Rounded Rectangle 7"/>
          <p:cNvSpPr/>
          <p:nvPr/>
        </p:nvSpPr>
        <p:spPr>
          <a:xfrm>
            <a:off x="4379976" y="137160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000" b="1">
                <a:solidFill>
                  <a:srgbClr val="06B6D4"/>
                </a:solidFill>
                <a:latin typeface="Segoe UI"/>
              </a:defRPr>
            </a:pPr>
            <a:r>
              <a:t>KPI 2: RESEARCH IMPACT SCORE</a:t>
            </a:r>
          </a:p>
          <a:p>
            <a:pPr>
              <a:spcBef>
                <a:spcPts val="600"/>
              </a:spcBef>
              <a:defRPr sz="800">
                <a:solidFill>
                  <a:srgbClr val="CBD5E1"/>
                </a:solidFill>
                <a:latin typeface="Segoe UI"/>
              </a:defRPr>
            </a:pPr>
            <a:r>
              <a:t>Quantifies peer citation velocity normalized for faculty body size:</a:t>
            </a:r>
            <a:br/>
            <a:br/>
            <a:r>
              <a:t>Impact = QS Citations_per_Faculty_Score</a:t>
            </a:r>
            <a:br/>
            <a:br/>
            <a:r>
              <a:t>Normalizing by faculty size eliminates institutional size bias, evaluating true per-capita scholarly output.</a:t>
            </a:r>
          </a:p>
        </p:txBody>
      </p:sp>
      <p:sp>
        <p:nvSpPr>
          <p:cNvPr id="9" name="Rounded Rectangle 8"/>
          <p:cNvSpPr/>
          <p:nvPr/>
        </p:nvSpPr>
        <p:spPr>
          <a:xfrm>
            <a:off x="8028432" y="137160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000" b="1">
                <a:solidFill>
                  <a:srgbClr val="8B5CF6"/>
                </a:solidFill>
                <a:latin typeface="Segoe UI"/>
              </a:defRPr>
            </a:pPr>
            <a:r>
              <a:t>KPI 3: FACULTY-TO-STUDENT RATIO</a:t>
            </a:r>
          </a:p>
          <a:p>
            <a:pPr>
              <a:spcBef>
                <a:spcPts val="600"/>
              </a:spcBef>
              <a:defRPr sz="800">
                <a:solidFill>
                  <a:srgbClr val="CBD5E1"/>
                </a:solidFill>
                <a:latin typeface="Segoe UI"/>
              </a:defRPr>
            </a:pPr>
            <a:r>
              <a:t>Captures instructional capacity and mentorship availability:</a:t>
            </a:r>
            <a:br/>
            <a:br/>
            <a:r>
              <a:t>Ratio = Students per Academic Staff Member</a:t>
            </a:r>
            <a:br/>
            <a:br/>
            <a:r>
              <a:t>Preserved strictly as an empirical ratio (e.g. 8.2:1 for MIT). QS Faculty Score is kept as a separate index.</a:t>
            </a:r>
          </a:p>
        </p:txBody>
      </p:sp>
      <p:sp>
        <p:nvSpPr>
          <p:cNvPr id="10" name="Rounded Rectangle 9"/>
          <p:cNvSpPr/>
          <p:nvPr/>
        </p:nvSpPr>
        <p:spPr>
          <a:xfrm>
            <a:off x="731520" y="379476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000" b="1">
                <a:solidFill>
                  <a:srgbClr val="F59E0B"/>
                </a:solidFill>
                <a:latin typeface="Segoe UI"/>
              </a:defRPr>
            </a:pPr>
            <a:r>
              <a:t>KPI 4: INTERNATIONAL STUDENT %</a:t>
            </a:r>
          </a:p>
          <a:p>
            <a:pPr>
              <a:spcBef>
                <a:spcPts val="600"/>
              </a:spcBef>
              <a:defRPr sz="800">
                <a:solidFill>
                  <a:srgbClr val="CBD5E1"/>
                </a:solidFill>
                <a:latin typeface="Segoe UI"/>
              </a:defRPr>
            </a:pPr>
            <a:r>
              <a:t>Measures global attractiveness and campus diversity:</a:t>
            </a:r>
            <a:br/>
            <a:br/>
            <a:r>
              <a:t>Intl % = (International FTE Students / Total FTE Students) * 100</a:t>
            </a:r>
            <a:br/>
            <a:br/>
            <a:r>
              <a:t>Reports actual empirical percentages (e.g. 33.0% for MIT, 61.0% for Imperial College London).</a:t>
            </a:r>
          </a:p>
        </p:txBody>
      </p:sp>
      <p:sp>
        <p:nvSpPr>
          <p:cNvPr id="11" name="Rounded Rectangle 10"/>
          <p:cNvSpPr/>
          <p:nvPr/>
        </p:nvSpPr>
        <p:spPr>
          <a:xfrm>
            <a:off x="4379976" y="379476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000" b="1">
                <a:solidFill>
                  <a:srgbClr val="3B82F6"/>
                </a:solidFill>
                <a:latin typeface="Segoe UI"/>
              </a:defRPr>
            </a:pPr>
            <a:r>
              <a:t>KPI 5: ACADEMIC REPUTATION</a:t>
            </a:r>
          </a:p>
          <a:p>
            <a:pPr>
              <a:spcBef>
                <a:spcPts val="600"/>
              </a:spcBef>
              <a:defRPr sz="800">
                <a:solidFill>
                  <a:srgbClr val="CBD5E1"/>
                </a:solidFill>
                <a:latin typeface="Segoe UI"/>
              </a:defRPr>
            </a:pPr>
            <a:r>
              <a:t>Scholarly prestige based on global peer review:</a:t>
            </a:r>
            <a:br/>
            <a:br/>
            <a:r>
              <a:t>Reputation = QS Academic_Reputation_Score</a:t>
            </a:r>
            <a:br/>
            <a:br/>
            <a:r>
              <a:t>Derived from survey responses of over 100,000 active university academics worldwide.</a:t>
            </a:r>
          </a:p>
        </p:txBody>
      </p:sp>
      <p:sp>
        <p:nvSpPr>
          <p:cNvPr id="12" name="Rounded Rectangle 11"/>
          <p:cNvSpPr/>
          <p:nvPr/>
        </p:nvSpPr>
        <p:spPr>
          <a:xfrm>
            <a:off x="8028432" y="3794760"/>
            <a:ext cx="34290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000" b="1">
                <a:solidFill>
                  <a:srgbClr val="06B6D4"/>
                </a:solidFill>
                <a:latin typeface="Segoe UI"/>
              </a:defRPr>
            </a:pPr>
            <a:r>
              <a:t>KPI 6: RESEARCH PRODUCTIVITY INDEX</a:t>
            </a:r>
          </a:p>
          <a:p>
            <a:pPr>
              <a:spcBef>
                <a:spcPts val="600"/>
              </a:spcBef>
              <a:defRPr sz="800">
                <a:solidFill>
                  <a:srgbClr val="CBD5E1"/>
                </a:solidFill>
                <a:latin typeface="Segoe UI"/>
              </a:defRPr>
            </a:pPr>
            <a:r>
              <a:t>Derived composite index capturing volume, citations, and collaboration:</a:t>
            </a:r>
            <a:br/>
            <a:br/>
            <a:r>
              <a:t>Productivity = 0.50 * Research + 0.30 * Citations + 0.20 * Network</a:t>
            </a:r>
            <a:br/>
            <a:br/>
            <a:r>
              <a:t>Excludes non-research indicators like campus sustainability.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Empirical Results: Top World University Benchmarking</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9 / 18</a:t>
            </a:r>
          </a:p>
        </p:txBody>
      </p:sp>
      <p:graphicFrame>
        <p:nvGraphicFramePr>
          <p:cNvPr id="7" name="Table 6"/>
          <p:cNvGraphicFramePr>
            <a:graphicFrameLocks noGrp="1"/>
          </p:cNvGraphicFramePr>
          <p:nvPr/>
        </p:nvGraphicFramePr>
        <p:xfrm>
          <a:off x="731520" y="1371600"/>
          <a:ext cx="10728655" cy="39319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493215">
                  <a:extLst>
                    <a:ext uri="{9D8B030D-6E8A-4147-A177-3AD203B41FA5}">
                      <a16:colId xmlns:a16="http://schemas.microsoft.com/office/drawing/2014/main" val="20007"/>
                    </a:ext>
                  </a:extLst>
                </a:gridCol>
              </a:tblGrid>
              <a:tr h="436880">
                <a:tc>
                  <a:txBody>
                    <a:bodyPr/>
                    <a:lstStyle/>
                    <a:p>
                      <a:pPr>
                        <a:defRPr sz="950" b="1">
                          <a:solidFill>
                            <a:srgbClr val="06B6D4"/>
                          </a:solidFill>
                          <a:latin typeface="Segoe UI"/>
                        </a:defRPr>
                      </a:pPr>
                      <a:r>
                        <a:t>Institution Name</a:t>
                      </a:r>
                    </a:p>
                  </a:txBody>
                  <a:tcPr>
                    <a:solidFill>
                      <a:srgbClr val="334155"/>
                    </a:solidFill>
                  </a:tcPr>
                </a:tc>
                <a:tc>
                  <a:txBody>
                    <a:bodyPr/>
                    <a:lstStyle/>
                    <a:p>
                      <a:pPr>
                        <a:defRPr sz="950" b="1">
                          <a:solidFill>
                            <a:srgbClr val="06B6D4"/>
                          </a:solidFill>
                          <a:latin typeface="Segoe UI"/>
                        </a:defRPr>
                      </a:pPr>
                      <a:r>
                        <a:t>Rank</a:t>
                      </a:r>
                    </a:p>
                  </a:txBody>
                  <a:tcPr>
                    <a:solidFill>
                      <a:srgbClr val="334155"/>
                    </a:solidFill>
                  </a:tcPr>
                </a:tc>
                <a:tc>
                  <a:txBody>
                    <a:bodyPr/>
                    <a:lstStyle/>
                    <a:p>
                      <a:pPr>
                        <a:defRPr sz="950" b="1">
                          <a:solidFill>
                            <a:srgbClr val="06B6D4"/>
                          </a:solidFill>
                          <a:latin typeface="Segoe UI"/>
                        </a:defRPr>
                      </a:pPr>
                      <a:r>
                        <a:t>Global Score</a:t>
                      </a:r>
                    </a:p>
                  </a:txBody>
                  <a:tcPr>
                    <a:solidFill>
                      <a:srgbClr val="334155"/>
                    </a:solidFill>
                  </a:tcPr>
                </a:tc>
                <a:tc>
                  <a:txBody>
                    <a:bodyPr/>
                    <a:lstStyle/>
                    <a:p>
                      <a:pPr>
                        <a:defRPr sz="950" b="1">
                          <a:solidFill>
                            <a:srgbClr val="06B6D4"/>
                          </a:solidFill>
                          <a:latin typeface="Segoe UI"/>
                        </a:defRPr>
                      </a:pPr>
                      <a:r>
                        <a:t>Res Impact</a:t>
                      </a:r>
                    </a:p>
                  </a:txBody>
                  <a:tcPr>
                    <a:solidFill>
                      <a:srgbClr val="334155"/>
                    </a:solidFill>
                  </a:tcPr>
                </a:tc>
                <a:tc>
                  <a:txBody>
                    <a:bodyPr/>
                    <a:lstStyle/>
                    <a:p>
                      <a:pPr>
                        <a:defRPr sz="950" b="1">
                          <a:solidFill>
                            <a:srgbClr val="06B6D4"/>
                          </a:solidFill>
                          <a:latin typeface="Segoe UI"/>
                        </a:defRPr>
                      </a:pPr>
                      <a:r>
                        <a:t>Staff Ratio</a:t>
                      </a:r>
                    </a:p>
                  </a:txBody>
                  <a:tcPr>
                    <a:solidFill>
                      <a:srgbClr val="334155"/>
                    </a:solidFill>
                  </a:tcPr>
                </a:tc>
                <a:tc>
                  <a:txBody>
                    <a:bodyPr/>
                    <a:lstStyle/>
                    <a:p>
                      <a:pPr>
                        <a:defRPr sz="950" b="1">
                          <a:solidFill>
                            <a:srgbClr val="06B6D4"/>
                          </a:solidFill>
                          <a:latin typeface="Segoe UI"/>
                        </a:defRPr>
                      </a:pPr>
                      <a:r>
                        <a:t>Intl %</a:t>
                      </a:r>
                    </a:p>
                  </a:txBody>
                  <a:tcPr>
                    <a:solidFill>
                      <a:srgbClr val="334155"/>
                    </a:solidFill>
                  </a:tcPr>
                </a:tc>
                <a:tc>
                  <a:txBody>
                    <a:bodyPr/>
                    <a:lstStyle/>
                    <a:p>
                      <a:pPr>
                        <a:defRPr sz="950" b="1">
                          <a:solidFill>
                            <a:srgbClr val="06B6D4"/>
                          </a:solidFill>
                          <a:latin typeface="Segoe UI"/>
                        </a:defRPr>
                      </a:pPr>
                      <a:r>
                        <a:t>Acad Rep</a:t>
                      </a:r>
                    </a:p>
                  </a:txBody>
                  <a:tcPr>
                    <a:solidFill>
                      <a:srgbClr val="334155"/>
                    </a:solidFill>
                  </a:tcPr>
                </a:tc>
                <a:tc>
                  <a:txBody>
                    <a:bodyPr/>
                    <a:lstStyle/>
                    <a:p>
                      <a:pPr>
                        <a:defRPr sz="950" b="1">
                          <a:solidFill>
                            <a:srgbClr val="06B6D4"/>
                          </a:solidFill>
                          <a:latin typeface="Segoe UI"/>
                        </a:defRPr>
                      </a:pPr>
                      <a:r>
                        <a:t>Prod Index</a:t>
                      </a:r>
                    </a:p>
                  </a:txBody>
                  <a:tcPr>
                    <a:solidFill>
                      <a:srgbClr val="334155"/>
                    </a:solidFill>
                  </a:tcPr>
                </a:tc>
                <a:extLst>
                  <a:ext uri="{0D108BD9-81ED-4DB2-BD59-A6C34878D82A}">
                    <a16:rowId xmlns:a16="http://schemas.microsoft.com/office/drawing/2014/main" val="10000"/>
                  </a:ext>
                </a:extLst>
              </a:tr>
              <a:tr h="436880">
                <a:tc>
                  <a:txBody>
                    <a:bodyPr/>
                    <a:lstStyle/>
                    <a:p>
                      <a:pPr>
                        <a:defRPr sz="850">
                          <a:solidFill>
                            <a:srgbClr val="F8FAFC"/>
                          </a:solidFill>
                          <a:latin typeface="Segoe UI"/>
                        </a:defRPr>
                      </a:pPr>
                      <a:r>
                        <a:t>Massachusetts Institute of Tech (MIT)</a:t>
                      </a:r>
                    </a:p>
                  </a:txBody>
                  <a:tcPr>
                    <a:solidFill>
                      <a:srgbClr val="1E293B"/>
                    </a:solidFill>
                  </a:tcPr>
                </a:tc>
                <a:tc>
                  <a:txBody>
                    <a:bodyPr/>
                    <a:lstStyle/>
                    <a:p>
                      <a:pPr>
                        <a:defRPr sz="850">
                          <a:solidFill>
                            <a:srgbClr val="CBD5E1"/>
                          </a:solidFill>
                          <a:latin typeface="Segoe UI"/>
                        </a:defRPr>
                      </a:pPr>
                      <a:r>
                        <a:t>1</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CBD5E1"/>
                          </a:solidFill>
                          <a:latin typeface="Segoe UI"/>
                        </a:defRPr>
                      </a:pPr>
                      <a:r>
                        <a:t>8.2 : 1</a:t>
                      </a:r>
                    </a:p>
                  </a:txBody>
                  <a:tcPr>
                    <a:solidFill>
                      <a:srgbClr val="1E293B"/>
                    </a:solidFill>
                  </a:tcPr>
                </a:tc>
                <a:tc>
                  <a:txBody>
                    <a:bodyPr/>
                    <a:lstStyle/>
                    <a:p>
                      <a:pPr>
                        <a:defRPr sz="850">
                          <a:solidFill>
                            <a:srgbClr val="CBD5E1"/>
                          </a:solidFill>
                          <a:latin typeface="Segoe UI"/>
                        </a:defRPr>
                      </a:pPr>
                      <a:r>
                        <a:t>33.0%</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F8FAFC"/>
                          </a:solidFill>
                          <a:latin typeface="Segoe UI"/>
                        </a:defRPr>
                      </a:pPr>
                      <a:r>
                        <a:t>97.30</a:t>
                      </a:r>
                    </a:p>
                  </a:txBody>
                  <a:tcPr>
                    <a:solidFill>
                      <a:srgbClr val="1E293B"/>
                    </a:solidFill>
                  </a:tcPr>
                </a:tc>
                <a:extLst>
                  <a:ext uri="{0D108BD9-81ED-4DB2-BD59-A6C34878D82A}">
                    <a16:rowId xmlns:a16="http://schemas.microsoft.com/office/drawing/2014/main" val="10001"/>
                  </a:ext>
                </a:extLst>
              </a:tr>
              <a:tr h="436880">
                <a:tc>
                  <a:txBody>
                    <a:bodyPr/>
                    <a:lstStyle/>
                    <a:p>
                      <a:pPr>
                        <a:defRPr sz="850">
                          <a:solidFill>
                            <a:srgbClr val="F8FAFC"/>
                          </a:solidFill>
                          <a:latin typeface="Segoe UI"/>
                        </a:defRPr>
                      </a:pPr>
                      <a:r>
                        <a:t>Imperial College London</a:t>
                      </a:r>
                    </a:p>
                  </a:txBody>
                  <a:tcPr>
                    <a:solidFill>
                      <a:srgbClr val="1E293B"/>
                    </a:solidFill>
                  </a:tcPr>
                </a:tc>
                <a:tc>
                  <a:txBody>
                    <a:bodyPr/>
                    <a:lstStyle/>
                    <a:p>
                      <a:pPr>
                        <a:defRPr sz="850">
                          <a:solidFill>
                            <a:srgbClr val="CBD5E1"/>
                          </a:solidFill>
                          <a:latin typeface="Segoe UI"/>
                        </a:defRPr>
                      </a:pPr>
                      <a:r>
                        <a:t>2</a:t>
                      </a:r>
                    </a:p>
                  </a:txBody>
                  <a:tcPr>
                    <a:solidFill>
                      <a:srgbClr val="1E293B"/>
                    </a:solidFill>
                  </a:tcPr>
                </a:tc>
                <a:tc>
                  <a:txBody>
                    <a:bodyPr/>
                    <a:lstStyle/>
                    <a:p>
                      <a:pPr>
                        <a:defRPr sz="850">
                          <a:solidFill>
                            <a:srgbClr val="CBD5E1"/>
                          </a:solidFill>
                          <a:latin typeface="Segoe UI"/>
                        </a:defRPr>
                      </a:pPr>
                      <a:r>
                        <a:t>98.50</a:t>
                      </a:r>
                    </a:p>
                  </a:txBody>
                  <a:tcPr>
                    <a:solidFill>
                      <a:srgbClr val="1E293B"/>
                    </a:solidFill>
                  </a:tcPr>
                </a:tc>
                <a:tc>
                  <a:txBody>
                    <a:bodyPr/>
                    <a:lstStyle/>
                    <a:p>
                      <a:pPr>
                        <a:defRPr sz="850">
                          <a:solidFill>
                            <a:srgbClr val="CBD5E1"/>
                          </a:solidFill>
                          <a:latin typeface="Segoe UI"/>
                        </a:defRPr>
                      </a:pPr>
                      <a:r>
                        <a:t>93.90</a:t>
                      </a:r>
                    </a:p>
                  </a:txBody>
                  <a:tcPr>
                    <a:solidFill>
                      <a:srgbClr val="1E293B"/>
                    </a:solidFill>
                  </a:tcPr>
                </a:tc>
                <a:tc>
                  <a:txBody>
                    <a:bodyPr/>
                    <a:lstStyle/>
                    <a:p>
                      <a:pPr>
                        <a:defRPr sz="850">
                          <a:solidFill>
                            <a:srgbClr val="CBD5E1"/>
                          </a:solidFill>
                          <a:latin typeface="Segoe UI"/>
                        </a:defRPr>
                      </a:pPr>
                      <a:r>
                        <a:t>11.2 : 1</a:t>
                      </a:r>
                    </a:p>
                  </a:txBody>
                  <a:tcPr>
                    <a:solidFill>
                      <a:srgbClr val="1E293B"/>
                    </a:solidFill>
                  </a:tcPr>
                </a:tc>
                <a:tc>
                  <a:txBody>
                    <a:bodyPr/>
                    <a:lstStyle/>
                    <a:p>
                      <a:pPr>
                        <a:defRPr sz="850">
                          <a:solidFill>
                            <a:srgbClr val="CBD5E1"/>
                          </a:solidFill>
                          <a:latin typeface="Segoe UI"/>
                        </a:defRPr>
                      </a:pPr>
                      <a:r>
                        <a:t>61.0%</a:t>
                      </a:r>
                    </a:p>
                  </a:txBody>
                  <a:tcPr>
                    <a:solidFill>
                      <a:srgbClr val="1E293B"/>
                    </a:solidFill>
                  </a:tcPr>
                </a:tc>
                <a:tc>
                  <a:txBody>
                    <a:bodyPr/>
                    <a:lstStyle/>
                    <a:p>
                      <a:pPr>
                        <a:defRPr sz="850">
                          <a:solidFill>
                            <a:srgbClr val="CBD5E1"/>
                          </a:solidFill>
                          <a:latin typeface="Segoe UI"/>
                        </a:defRPr>
                      </a:pPr>
                      <a:r>
                        <a:t>98.50</a:t>
                      </a:r>
                    </a:p>
                  </a:txBody>
                  <a:tcPr>
                    <a:solidFill>
                      <a:srgbClr val="1E293B"/>
                    </a:solidFill>
                  </a:tcPr>
                </a:tc>
                <a:tc>
                  <a:txBody>
                    <a:bodyPr/>
                    <a:lstStyle/>
                    <a:p>
                      <a:pPr>
                        <a:defRPr sz="850">
                          <a:solidFill>
                            <a:srgbClr val="F8FAFC"/>
                          </a:solidFill>
                          <a:latin typeface="Segoe UI"/>
                        </a:defRPr>
                      </a:pPr>
                      <a:r>
                        <a:t>95.40</a:t>
                      </a:r>
                    </a:p>
                  </a:txBody>
                  <a:tcPr>
                    <a:solidFill>
                      <a:srgbClr val="1E293B"/>
                    </a:solidFill>
                  </a:tcPr>
                </a:tc>
                <a:extLst>
                  <a:ext uri="{0D108BD9-81ED-4DB2-BD59-A6C34878D82A}">
                    <a16:rowId xmlns:a16="http://schemas.microsoft.com/office/drawing/2014/main" val="10002"/>
                  </a:ext>
                </a:extLst>
              </a:tr>
              <a:tr h="436880">
                <a:tc>
                  <a:txBody>
                    <a:bodyPr/>
                    <a:lstStyle/>
                    <a:p>
                      <a:pPr>
                        <a:defRPr sz="850">
                          <a:solidFill>
                            <a:srgbClr val="F8FAFC"/>
                          </a:solidFill>
                          <a:latin typeface="Segoe UI"/>
                        </a:defRPr>
                      </a:pPr>
                      <a:r>
                        <a:t>University of Oxford</a:t>
                      </a:r>
                    </a:p>
                  </a:txBody>
                  <a:tcPr>
                    <a:solidFill>
                      <a:srgbClr val="1E293B"/>
                    </a:solidFill>
                  </a:tcPr>
                </a:tc>
                <a:tc>
                  <a:txBody>
                    <a:bodyPr/>
                    <a:lstStyle/>
                    <a:p>
                      <a:pPr>
                        <a:defRPr sz="850">
                          <a:solidFill>
                            <a:srgbClr val="CBD5E1"/>
                          </a:solidFill>
                          <a:latin typeface="Segoe UI"/>
                        </a:defRPr>
                      </a:pPr>
                      <a:r>
                        <a:t>3</a:t>
                      </a:r>
                    </a:p>
                  </a:txBody>
                  <a:tcPr>
                    <a:solidFill>
                      <a:srgbClr val="1E293B"/>
                    </a:solidFill>
                  </a:tcPr>
                </a:tc>
                <a:tc>
                  <a:txBody>
                    <a:bodyPr/>
                    <a:lstStyle/>
                    <a:p>
                      <a:pPr>
                        <a:defRPr sz="850">
                          <a:solidFill>
                            <a:srgbClr val="CBD5E1"/>
                          </a:solidFill>
                          <a:latin typeface="Segoe UI"/>
                        </a:defRPr>
                      </a:pPr>
                      <a:r>
                        <a:t>96.90</a:t>
                      </a:r>
                    </a:p>
                  </a:txBody>
                  <a:tcPr>
                    <a:solidFill>
                      <a:srgbClr val="1E293B"/>
                    </a:solidFill>
                  </a:tcPr>
                </a:tc>
                <a:tc>
                  <a:txBody>
                    <a:bodyPr/>
                    <a:lstStyle/>
                    <a:p>
                      <a:pPr>
                        <a:defRPr sz="850">
                          <a:solidFill>
                            <a:srgbClr val="CBD5E1"/>
                          </a:solidFill>
                          <a:latin typeface="Segoe UI"/>
                        </a:defRPr>
                      </a:pPr>
                      <a:r>
                        <a:t>84.80</a:t>
                      </a:r>
                    </a:p>
                  </a:txBody>
                  <a:tcPr>
                    <a:solidFill>
                      <a:srgbClr val="1E293B"/>
                    </a:solidFill>
                  </a:tcPr>
                </a:tc>
                <a:tc>
                  <a:txBody>
                    <a:bodyPr/>
                    <a:lstStyle/>
                    <a:p>
                      <a:pPr>
                        <a:defRPr sz="850">
                          <a:solidFill>
                            <a:srgbClr val="CBD5E1"/>
                          </a:solidFill>
                          <a:latin typeface="Segoe UI"/>
                        </a:defRPr>
                      </a:pPr>
                      <a:r>
                        <a:t>10.6 : 1</a:t>
                      </a:r>
                    </a:p>
                  </a:txBody>
                  <a:tcPr>
                    <a:solidFill>
                      <a:srgbClr val="1E293B"/>
                    </a:solidFill>
                  </a:tcPr>
                </a:tc>
                <a:tc>
                  <a:txBody>
                    <a:bodyPr/>
                    <a:lstStyle/>
                    <a:p>
                      <a:pPr>
                        <a:defRPr sz="850">
                          <a:solidFill>
                            <a:srgbClr val="CBD5E1"/>
                          </a:solidFill>
                          <a:latin typeface="Segoe UI"/>
                        </a:defRPr>
                      </a:pPr>
                      <a:r>
                        <a:t>42.0%</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F8FAFC"/>
                          </a:solidFill>
                          <a:latin typeface="Segoe UI"/>
                        </a:defRPr>
                      </a:pPr>
                      <a:r>
                        <a:t>95.44</a:t>
                      </a:r>
                    </a:p>
                  </a:txBody>
                  <a:tcPr>
                    <a:solidFill>
                      <a:srgbClr val="1E293B"/>
                    </a:solidFill>
                  </a:tcPr>
                </a:tc>
                <a:extLst>
                  <a:ext uri="{0D108BD9-81ED-4DB2-BD59-A6C34878D82A}">
                    <a16:rowId xmlns:a16="http://schemas.microsoft.com/office/drawing/2014/main" val="10003"/>
                  </a:ext>
                </a:extLst>
              </a:tr>
              <a:tr h="436880">
                <a:tc>
                  <a:txBody>
                    <a:bodyPr/>
                    <a:lstStyle/>
                    <a:p>
                      <a:pPr>
                        <a:defRPr sz="850">
                          <a:solidFill>
                            <a:srgbClr val="F8FAFC"/>
                          </a:solidFill>
                          <a:latin typeface="Segoe UI"/>
                        </a:defRPr>
                      </a:pPr>
                      <a:r>
                        <a:t>Harvard University</a:t>
                      </a:r>
                    </a:p>
                  </a:txBody>
                  <a:tcPr>
                    <a:solidFill>
                      <a:srgbClr val="1E293B"/>
                    </a:solidFill>
                  </a:tcPr>
                </a:tc>
                <a:tc>
                  <a:txBody>
                    <a:bodyPr/>
                    <a:lstStyle/>
                    <a:p>
                      <a:pPr>
                        <a:defRPr sz="850">
                          <a:solidFill>
                            <a:srgbClr val="CBD5E1"/>
                          </a:solidFill>
                          <a:latin typeface="Segoe UI"/>
                        </a:defRPr>
                      </a:pPr>
                      <a:r>
                        <a:t>4</a:t>
                      </a:r>
                    </a:p>
                  </a:txBody>
                  <a:tcPr>
                    <a:solidFill>
                      <a:srgbClr val="1E293B"/>
                    </a:solidFill>
                  </a:tcPr>
                </a:tc>
                <a:tc>
                  <a:txBody>
                    <a:bodyPr/>
                    <a:lstStyle/>
                    <a:p>
                      <a:pPr>
                        <a:defRPr sz="850">
                          <a:solidFill>
                            <a:srgbClr val="CBD5E1"/>
                          </a:solidFill>
                          <a:latin typeface="Segoe UI"/>
                        </a:defRPr>
                      </a:pPr>
                      <a:r>
                        <a:t>96.80</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CBD5E1"/>
                          </a:solidFill>
                          <a:latin typeface="Segoe UI"/>
                        </a:defRPr>
                      </a:pPr>
                      <a:r>
                        <a:t>9.6 : 1</a:t>
                      </a:r>
                    </a:p>
                  </a:txBody>
                  <a:tcPr>
                    <a:solidFill>
                      <a:srgbClr val="1E293B"/>
                    </a:solidFill>
                  </a:tcPr>
                </a:tc>
                <a:tc>
                  <a:txBody>
                    <a:bodyPr/>
                    <a:lstStyle/>
                    <a:p>
                      <a:pPr>
                        <a:defRPr sz="850">
                          <a:solidFill>
                            <a:srgbClr val="CBD5E1"/>
                          </a:solidFill>
                          <a:latin typeface="Segoe UI"/>
                        </a:defRPr>
                      </a:pPr>
                      <a:r>
                        <a:t>25.0%</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F8FAFC"/>
                          </a:solidFill>
                          <a:latin typeface="Segoe UI"/>
                        </a:defRPr>
                      </a:pPr>
                      <a:r>
                        <a:t>99.87</a:t>
                      </a:r>
                    </a:p>
                  </a:txBody>
                  <a:tcPr>
                    <a:solidFill>
                      <a:srgbClr val="1E293B"/>
                    </a:solidFill>
                  </a:tcPr>
                </a:tc>
                <a:extLst>
                  <a:ext uri="{0D108BD9-81ED-4DB2-BD59-A6C34878D82A}">
                    <a16:rowId xmlns:a16="http://schemas.microsoft.com/office/drawing/2014/main" val="10004"/>
                  </a:ext>
                </a:extLst>
              </a:tr>
              <a:tr h="436880">
                <a:tc>
                  <a:txBody>
                    <a:bodyPr/>
                    <a:lstStyle/>
                    <a:p>
                      <a:pPr>
                        <a:defRPr sz="850">
                          <a:solidFill>
                            <a:srgbClr val="F8FAFC"/>
                          </a:solidFill>
                          <a:latin typeface="Segoe UI"/>
                        </a:defRPr>
                      </a:pPr>
                      <a:r>
                        <a:t>University of Cambridge</a:t>
                      </a:r>
                    </a:p>
                  </a:txBody>
                  <a:tcPr>
                    <a:solidFill>
                      <a:srgbClr val="1E293B"/>
                    </a:solidFill>
                  </a:tcPr>
                </a:tc>
                <a:tc>
                  <a:txBody>
                    <a:bodyPr/>
                    <a:lstStyle/>
                    <a:p>
                      <a:pPr>
                        <a:defRPr sz="850">
                          <a:solidFill>
                            <a:srgbClr val="CBD5E1"/>
                          </a:solidFill>
                          <a:latin typeface="Segoe UI"/>
                        </a:defRPr>
                      </a:pPr>
                      <a:r>
                        <a:t>5</a:t>
                      </a:r>
                    </a:p>
                  </a:txBody>
                  <a:tcPr>
                    <a:solidFill>
                      <a:srgbClr val="1E293B"/>
                    </a:solidFill>
                  </a:tcPr>
                </a:tc>
                <a:tc>
                  <a:txBody>
                    <a:bodyPr/>
                    <a:lstStyle/>
                    <a:p>
                      <a:pPr>
                        <a:defRPr sz="850">
                          <a:solidFill>
                            <a:srgbClr val="CBD5E1"/>
                          </a:solidFill>
                          <a:latin typeface="Segoe UI"/>
                        </a:defRPr>
                      </a:pPr>
                      <a:r>
                        <a:t>96.70</a:t>
                      </a:r>
                    </a:p>
                  </a:txBody>
                  <a:tcPr>
                    <a:solidFill>
                      <a:srgbClr val="1E293B"/>
                    </a:solidFill>
                  </a:tcPr>
                </a:tc>
                <a:tc>
                  <a:txBody>
                    <a:bodyPr/>
                    <a:lstStyle/>
                    <a:p>
                      <a:pPr>
                        <a:defRPr sz="850">
                          <a:solidFill>
                            <a:srgbClr val="CBD5E1"/>
                          </a:solidFill>
                          <a:latin typeface="Segoe UI"/>
                        </a:defRPr>
                      </a:pPr>
                      <a:r>
                        <a:t>84.60</a:t>
                      </a:r>
                    </a:p>
                  </a:txBody>
                  <a:tcPr>
                    <a:solidFill>
                      <a:srgbClr val="1E293B"/>
                    </a:solidFill>
                  </a:tcPr>
                </a:tc>
                <a:tc>
                  <a:txBody>
                    <a:bodyPr/>
                    <a:lstStyle/>
                    <a:p>
                      <a:pPr>
                        <a:defRPr sz="850">
                          <a:solidFill>
                            <a:srgbClr val="CBD5E1"/>
                          </a:solidFill>
                          <a:latin typeface="Segoe UI"/>
                        </a:defRPr>
                      </a:pPr>
                      <a:r>
                        <a:t>11.3 : 1</a:t>
                      </a:r>
                    </a:p>
                  </a:txBody>
                  <a:tcPr>
                    <a:solidFill>
                      <a:srgbClr val="1E293B"/>
                    </a:solidFill>
                  </a:tcPr>
                </a:tc>
                <a:tc>
                  <a:txBody>
                    <a:bodyPr/>
                    <a:lstStyle/>
                    <a:p>
                      <a:pPr>
                        <a:defRPr sz="850">
                          <a:solidFill>
                            <a:srgbClr val="CBD5E1"/>
                          </a:solidFill>
                          <a:latin typeface="Segoe UI"/>
                        </a:defRPr>
                      </a:pPr>
                      <a:r>
                        <a:t>39.0%</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F8FAFC"/>
                          </a:solidFill>
                          <a:latin typeface="Segoe UI"/>
                        </a:defRPr>
                      </a:pPr>
                      <a:r>
                        <a:t>95.24</a:t>
                      </a:r>
                    </a:p>
                  </a:txBody>
                  <a:tcPr>
                    <a:solidFill>
                      <a:srgbClr val="1E293B"/>
                    </a:solidFill>
                  </a:tcPr>
                </a:tc>
                <a:extLst>
                  <a:ext uri="{0D108BD9-81ED-4DB2-BD59-A6C34878D82A}">
                    <a16:rowId xmlns:a16="http://schemas.microsoft.com/office/drawing/2014/main" val="10005"/>
                  </a:ext>
                </a:extLst>
              </a:tr>
              <a:tr h="436880">
                <a:tc>
                  <a:txBody>
                    <a:bodyPr/>
                    <a:lstStyle/>
                    <a:p>
                      <a:pPr>
                        <a:defRPr sz="850">
                          <a:solidFill>
                            <a:srgbClr val="F8FAFC"/>
                          </a:solidFill>
                          <a:latin typeface="Segoe UI"/>
                        </a:defRPr>
                      </a:pPr>
                      <a:r>
                        <a:t>Stanford University</a:t>
                      </a:r>
                    </a:p>
                  </a:txBody>
                  <a:tcPr>
                    <a:solidFill>
                      <a:srgbClr val="1E293B"/>
                    </a:solidFill>
                  </a:tcPr>
                </a:tc>
                <a:tc>
                  <a:txBody>
                    <a:bodyPr/>
                    <a:lstStyle/>
                    <a:p>
                      <a:pPr>
                        <a:defRPr sz="850">
                          <a:solidFill>
                            <a:srgbClr val="CBD5E1"/>
                          </a:solidFill>
                          <a:latin typeface="Segoe UI"/>
                        </a:defRPr>
                      </a:pPr>
                      <a:r>
                        <a:t>6</a:t>
                      </a:r>
                    </a:p>
                  </a:txBody>
                  <a:tcPr>
                    <a:solidFill>
                      <a:srgbClr val="1E293B"/>
                    </a:solidFill>
                  </a:tcPr>
                </a:tc>
                <a:tc>
                  <a:txBody>
                    <a:bodyPr/>
                    <a:lstStyle/>
                    <a:p>
                      <a:pPr>
                        <a:defRPr sz="850">
                          <a:solidFill>
                            <a:srgbClr val="CBD5E1"/>
                          </a:solidFill>
                          <a:latin typeface="Segoe UI"/>
                        </a:defRPr>
                      </a:pPr>
                      <a:r>
                        <a:t>96.10</a:t>
                      </a:r>
                    </a:p>
                  </a:txBody>
                  <a:tcPr>
                    <a:solidFill>
                      <a:srgbClr val="1E293B"/>
                    </a:solidFill>
                  </a:tcPr>
                </a:tc>
                <a:tc>
                  <a:txBody>
                    <a:bodyPr/>
                    <a:lstStyle/>
                    <a:p>
                      <a:pPr>
                        <a:defRPr sz="850">
                          <a:solidFill>
                            <a:srgbClr val="CBD5E1"/>
                          </a:solidFill>
                          <a:latin typeface="Segoe UI"/>
                        </a:defRPr>
                      </a:pPr>
                      <a:r>
                        <a:t>99.90</a:t>
                      </a:r>
                    </a:p>
                  </a:txBody>
                  <a:tcPr>
                    <a:solidFill>
                      <a:srgbClr val="1E293B"/>
                    </a:solidFill>
                  </a:tcPr>
                </a:tc>
                <a:tc>
                  <a:txBody>
                    <a:bodyPr/>
                    <a:lstStyle/>
                    <a:p>
                      <a:pPr>
                        <a:defRPr sz="850">
                          <a:solidFill>
                            <a:srgbClr val="CBD5E1"/>
                          </a:solidFill>
                          <a:latin typeface="Segoe UI"/>
                        </a:defRPr>
                      </a:pPr>
                      <a:r>
                        <a:t>12.0 : 1</a:t>
                      </a:r>
                    </a:p>
                  </a:txBody>
                  <a:tcPr>
                    <a:solidFill>
                      <a:srgbClr val="1E293B"/>
                    </a:solidFill>
                  </a:tcPr>
                </a:tc>
                <a:tc>
                  <a:txBody>
                    <a:bodyPr/>
                    <a:lstStyle/>
                    <a:p>
                      <a:pPr>
                        <a:defRPr sz="850">
                          <a:solidFill>
                            <a:srgbClr val="CBD5E1"/>
                          </a:solidFill>
                          <a:latin typeface="Segoe UI"/>
                        </a:defRPr>
                      </a:pPr>
                      <a:r>
                        <a:t>24.0%</a:t>
                      </a:r>
                    </a:p>
                  </a:txBody>
                  <a:tcPr>
                    <a:solidFill>
                      <a:srgbClr val="1E293B"/>
                    </a:solidFill>
                  </a:tcPr>
                </a:tc>
                <a:tc>
                  <a:txBody>
                    <a:bodyPr/>
                    <a:lstStyle/>
                    <a:p>
                      <a:pPr>
                        <a:defRPr sz="850">
                          <a:solidFill>
                            <a:srgbClr val="CBD5E1"/>
                          </a:solidFill>
                          <a:latin typeface="Segoe UI"/>
                        </a:defRPr>
                      </a:pPr>
                      <a:r>
                        <a:t>100.00</a:t>
                      </a:r>
                    </a:p>
                  </a:txBody>
                  <a:tcPr>
                    <a:solidFill>
                      <a:srgbClr val="1E293B"/>
                    </a:solidFill>
                  </a:tcPr>
                </a:tc>
                <a:tc>
                  <a:txBody>
                    <a:bodyPr/>
                    <a:lstStyle/>
                    <a:p>
                      <a:pPr>
                        <a:defRPr sz="850">
                          <a:solidFill>
                            <a:srgbClr val="F8FAFC"/>
                          </a:solidFill>
                          <a:latin typeface="Segoe UI"/>
                        </a:defRPr>
                      </a:pPr>
                      <a:r>
                        <a:t>98.20</a:t>
                      </a:r>
                    </a:p>
                  </a:txBody>
                  <a:tcPr>
                    <a:solidFill>
                      <a:srgbClr val="1E293B"/>
                    </a:solidFill>
                  </a:tcPr>
                </a:tc>
                <a:extLst>
                  <a:ext uri="{0D108BD9-81ED-4DB2-BD59-A6C34878D82A}">
                    <a16:rowId xmlns:a16="http://schemas.microsoft.com/office/drawing/2014/main" val="10006"/>
                  </a:ext>
                </a:extLst>
              </a:tr>
              <a:tr h="436880">
                <a:tc>
                  <a:txBody>
                    <a:bodyPr/>
                    <a:lstStyle/>
                    <a:p>
                      <a:pPr>
                        <a:defRPr sz="850">
                          <a:solidFill>
                            <a:srgbClr val="F8FAFC"/>
                          </a:solidFill>
                          <a:latin typeface="Segoe UI"/>
                        </a:defRPr>
                      </a:pPr>
                      <a:r>
                        <a:t>ETH Zurich</a:t>
                      </a:r>
                    </a:p>
                  </a:txBody>
                  <a:tcPr>
                    <a:solidFill>
                      <a:srgbClr val="1E293B"/>
                    </a:solidFill>
                  </a:tcPr>
                </a:tc>
                <a:tc>
                  <a:txBody>
                    <a:bodyPr/>
                    <a:lstStyle/>
                    <a:p>
                      <a:pPr>
                        <a:defRPr sz="850">
                          <a:solidFill>
                            <a:srgbClr val="CBD5E1"/>
                          </a:solidFill>
                          <a:latin typeface="Segoe UI"/>
                        </a:defRPr>
                      </a:pPr>
                      <a:r>
                        <a:t>7</a:t>
                      </a:r>
                    </a:p>
                  </a:txBody>
                  <a:tcPr>
                    <a:solidFill>
                      <a:srgbClr val="1E293B"/>
                    </a:solidFill>
                  </a:tcPr>
                </a:tc>
                <a:tc>
                  <a:txBody>
                    <a:bodyPr/>
                    <a:lstStyle/>
                    <a:p>
                      <a:pPr>
                        <a:defRPr sz="850">
                          <a:solidFill>
                            <a:srgbClr val="CBD5E1"/>
                          </a:solidFill>
                          <a:latin typeface="Segoe UI"/>
                        </a:defRPr>
                      </a:pPr>
                      <a:r>
                        <a:t>93.90</a:t>
                      </a:r>
                    </a:p>
                  </a:txBody>
                  <a:tcPr>
                    <a:solidFill>
                      <a:srgbClr val="1E293B"/>
                    </a:solidFill>
                  </a:tcPr>
                </a:tc>
                <a:tc>
                  <a:txBody>
                    <a:bodyPr/>
                    <a:lstStyle/>
                    <a:p>
                      <a:pPr>
                        <a:defRPr sz="850">
                          <a:solidFill>
                            <a:srgbClr val="CBD5E1"/>
                          </a:solidFill>
                          <a:latin typeface="Segoe UI"/>
                        </a:defRPr>
                      </a:pPr>
                      <a:r>
                        <a:t>98.80</a:t>
                      </a:r>
                    </a:p>
                  </a:txBody>
                  <a:tcPr>
                    <a:solidFill>
                      <a:srgbClr val="1E293B"/>
                    </a:solidFill>
                  </a:tcPr>
                </a:tc>
                <a:tc>
                  <a:txBody>
                    <a:bodyPr/>
                    <a:lstStyle/>
                    <a:p>
                      <a:pPr>
                        <a:defRPr sz="850">
                          <a:solidFill>
                            <a:srgbClr val="CBD5E1"/>
                          </a:solidFill>
                          <a:latin typeface="Segoe UI"/>
                        </a:defRPr>
                      </a:pPr>
                      <a:r>
                        <a:t>14.8 : 1</a:t>
                      </a:r>
                    </a:p>
                  </a:txBody>
                  <a:tcPr>
                    <a:solidFill>
                      <a:srgbClr val="1E293B"/>
                    </a:solidFill>
                  </a:tcPr>
                </a:tc>
                <a:tc>
                  <a:txBody>
                    <a:bodyPr/>
                    <a:lstStyle/>
                    <a:p>
                      <a:pPr>
                        <a:defRPr sz="850">
                          <a:solidFill>
                            <a:srgbClr val="CBD5E1"/>
                          </a:solidFill>
                          <a:latin typeface="Segoe UI"/>
                        </a:defRPr>
                      </a:pPr>
                      <a:r>
                        <a:t>41.0%</a:t>
                      </a:r>
                    </a:p>
                  </a:txBody>
                  <a:tcPr>
                    <a:solidFill>
                      <a:srgbClr val="1E293B"/>
                    </a:solidFill>
                  </a:tcPr>
                </a:tc>
                <a:tc>
                  <a:txBody>
                    <a:bodyPr/>
                    <a:lstStyle/>
                    <a:p>
                      <a:pPr>
                        <a:defRPr sz="850">
                          <a:solidFill>
                            <a:srgbClr val="CBD5E1"/>
                          </a:solidFill>
                          <a:latin typeface="Segoe UI"/>
                        </a:defRPr>
                      </a:pPr>
                      <a:r>
                        <a:t>98.90</a:t>
                      </a:r>
                    </a:p>
                  </a:txBody>
                  <a:tcPr>
                    <a:solidFill>
                      <a:srgbClr val="1E293B"/>
                    </a:solidFill>
                  </a:tcPr>
                </a:tc>
                <a:tc>
                  <a:txBody>
                    <a:bodyPr/>
                    <a:lstStyle/>
                    <a:p>
                      <a:pPr>
                        <a:defRPr sz="850">
                          <a:solidFill>
                            <a:srgbClr val="F8FAFC"/>
                          </a:solidFill>
                          <a:latin typeface="Segoe UI"/>
                        </a:defRPr>
                      </a:pPr>
                      <a:r>
                        <a:t>94.10</a:t>
                      </a:r>
                    </a:p>
                  </a:txBody>
                  <a:tcPr>
                    <a:solidFill>
                      <a:srgbClr val="1E293B"/>
                    </a:solidFill>
                  </a:tcPr>
                </a:tc>
                <a:extLst>
                  <a:ext uri="{0D108BD9-81ED-4DB2-BD59-A6C34878D82A}">
                    <a16:rowId xmlns:a16="http://schemas.microsoft.com/office/drawing/2014/main" val="10007"/>
                  </a:ext>
                </a:extLst>
              </a:tr>
              <a:tr h="436880">
                <a:tc>
                  <a:txBody>
                    <a:bodyPr/>
                    <a:lstStyle/>
                    <a:p>
                      <a:pPr>
                        <a:defRPr sz="850">
                          <a:solidFill>
                            <a:srgbClr val="F8FAFC"/>
                          </a:solidFill>
                          <a:latin typeface="Segoe UI"/>
                        </a:defRPr>
                      </a:pPr>
                      <a:r>
                        <a:t>National University of Singapore (NUS)</a:t>
                      </a:r>
                    </a:p>
                  </a:txBody>
                  <a:tcPr>
                    <a:solidFill>
                      <a:srgbClr val="1E293B"/>
                    </a:solidFill>
                  </a:tcPr>
                </a:tc>
                <a:tc>
                  <a:txBody>
                    <a:bodyPr/>
                    <a:lstStyle/>
                    <a:p>
                      <a:pPr>
                        <a:defRPr sz="850">
                          <a:solidFill>
                            <a:srgbClr val="CBD5E1"/>
                          </a:solidFill>
                          <a:latin typeface="Segoe UI"/>
                        </a:defRPr>
                      </a:pPr>
                      <a:r>
                        <a:t>8</a:t>
                      </a:r>
                    </a:p>
                  </a:txBody>
                  <a:tcPr>
                    <a:solidFill>
                      <a:srgbClr val="1E293B"/>
                    </a:solidFill>
                  </a:tcPr>
                </a:tc>
                <a:tc>
                  <a:txBody>
                    <a:bodyPr/>
                    <a:lstStyle/>
                    <a:p>
                      <a:pPr>
                        <a:defRPr sz="850">
                          <a:solidFill>
                            <a:srgbClr val="CBD5E1"/>
                          </a:solidFill>
                          <a:latin typeface="Segoe UI"/>
                        </a:defRPr>
                      </a:pPr>
                      <a:r>
                        <a:t>93.70</a:t>
                      </a:r>
                    </a:p>
                  </a:txBody>
                  <a:tcPr>
                    <a:solidFill>
                      <a:srgbClr val="1E293B"/>
                    </a:solidFill>
                  </a:tcPr>
                </a:tc>
                <a:tc>
                  <a:txBody>
                    <a:bodyPr/>
                    <a:lstStyle/>
                    <a:p>
                      <a:pPr>
                        <a:defRPr sz="850">
                          <a:solidFill>
                            <a:srgbClr val="CBD5E1"/>
                          </a:solidFill>
                          <a:latin typeface="Segoe UI"/>
                        </a:defRPr>
                      </a:pPr>
                      <a:r>
                        <a:t>89.20</a:t>
                      </a:r>
                    </a:p>
                  </a:txBody>
                  <a:tcPr>
                    <a:solidFill>
                      <a:srgbClr val="1E293B"/>
                    </a:solidFill>
                  </a:tcPr>
                </a:tc>
                <a:tc>
                  <a:txBody>
                    <a:bodyPr/>
                    <a:lstStyle/>
                    <a:p>
                      <a:pPr>
                        <a:defRPr sz="850">
                          <a:solidFill>
                            <a:srgbClr val="CBD5E1"/>
                          </a:solidFill>
                          <a:latin typeface="Segoe UI"/>
                        </a:defRPr>
                      </a:pPr>
                      <a:r>
                        <a:t>16.5 : 1</a:t>
                      </a:r>
                    </a:p>
                  </a:txBody>
                  <a:tcPr>
                    <a:solidFill>
                      <a:srgbClr val="1E293B"/>
                    </a:solidFill>
                  </a:tcPr>
                </a:tc>
                <a:tc>
                  <a:txBody>
                    <a:bodyPr/>
                    <a:lstStyle/>
                    <a:p>
                      <a:pPr>
                        <a:defRPr sz="850">
                          <a:solidFill>
                            <a:srgbClr val="CBD5E1"/>
                          </a:solidFill>
                          <a:latin typeface="Segoe UI"/>
                        </a:defRPr>
                      </a:pPr>
                      <a:r>
                        <a:t>34.0%</a:t>
                      </a:r>
                    </a:p>
                  </a:txBody>
                  <a:tcPr>
                    <a:solidFill>
                      <a:srgbClr val="1E293B"/>
                    </a:solidFill>
                  </a:tcPr>
                </a:tc>
                <a:tc>
                  <a:txBody>
                    <a:bodyPr/>
                    <a:lstStyle/>
                    <a:p>
                      <a:pPr>
                        <a:defRPr sz="850">
                          <a:solidFill>
                            <a:srgbClr val="CBD5E1"/>
                          </a:solidFill>
                          <a:latin typeface="Segoe UI"/>
                        </a:defRPr>
                      </a:pPr>
                      <a:r>
                        <a:t>99.50</a:t>
                      </a:r>
                    </a:p>
                  </a:txBody>
                  <a:tcPr>
                    <a:solidFill>
                      <a:srgbClr val="1E293B"/>
                    </a:solidFill>
                  </a:tcPr>
                </a:tc>
                <a:tc>
                  <a:txBody>
                    <a:bodyPr/>
                    <a:lstStyle/>
                    <a:p>
                      <a:pPr>
                        <a:defRPr sz="850">
                          <a:solidFill>
                            <a:srgbClr val="F8FAFC"/>
                          </a:solidFill>
                          <a:latin typeface="Segoe UI"/>
                        </a:defRPr>
                      </a:pPr>
                      <a:r>
                        <a:t>93.80</a:t>
                      </a:r>
                    </a:p>
                  </a:txBody>
                  <a:tcPr>
                    <a:solidFill>
                      <a:srgbClr val="1E293B"/>
                    </a:solidFill>
                  </a:tcPr>
                </a:tc>
                <a:extLst>
                  <a:ext uri="{0D108BD9-81ED-4DB2-BD59-A6C34878D82A}">
                    <a16:rowId xmlns:a16="http://schemas.microsoft.com/office/drawing/2014/main" val="10008"/>
                  </a:ext>
                </a:extLst>
              </a:tr>
            </a:tbl>
          </a:graphicData>
        </a:graphic>
      </p:graphicFrame>
      <p:sp>
        <p:nvSpPr>
          <p:cNvPr id="8" name="Rounded Rectangle 7"/>
          <p:cNvSpPr/>
          <p:nvPr/>
        </p:nvSpPr>
        <p:spPr>
          <a:xfrm>
            <a:off x="731520" y="5486400"/>
            <a:ext cx="10728655" cy="822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defRPr sz="900">
                <a:solidFill>
                  <a:srgbClr val="10B981"/>
                </a:solidFill>
                <a:latin typeface="Segoe UI"/>
              </a:defRPr>
            </a:pPr>
            <a:r>
              <a:t>KEY OBSERVATIONS: MIT maintains the global #1 rank with 100.0 Overall Score and 8.2:1 faculty ratio. Imperial College London leads global diversity with 61.0% international students. Harvard University achieves the highest Research Productivity Index at 99.87.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Visual Analytics: Enterprise Dashboard Design System</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10 / 18</a:t>
            </a:r>
          </a:p>
        </p:txBody>
      </p:sp>
      <p:sp>
        <p:nvSpPr>
          <p:cNvPr id="7" name="Rounded Rectangle 6"/>
          <p:cNvSpPr/>
          <p:nvPr/>
        </p:nvSpPr>
        <p:spPr>
          <a:xfrm>
            <a:off x="731520"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10B981"/>
                </a:solidFill>
                <a:latin typeface="Segoe UI"/>
              </a:defRPr>
            </a:pPr>
            <a:r>
              <a:t>DASHBOARD 1: UNIVERSITY OVERVIEW</a:t>
            </a:r>
          </a:p>
          <a:p>
            <a:pPr>
              <a:spcBef>
                <a:spcPts val="800"/>
              </a:spcBef>
              <a:defRPr sz="900">
                <a:solidFill>
                  <a:srgbClr val="CBD5E1"/>
                </a:solidFill>
                <a:latin typeface="Segoe UI"/>
              </a:defRPr>
            </a:pPr>
            <a:r>
              <a:t>• Landing scorecard displaying top global rankings and geographic footprint.</a:t>
            </a:r>
            <a:br/>
            <a:r>
              <a:t>• Features 6 top KPI cards, ranked horizontal bar chart, reputation vs score scatter, and choropleth map.</a:t>
            </a:r>
            <a:br/>
            <a:r>
              <a:t>• Interlinking: Passes university_id to Dashboards 2 &amp; 3; passes country_id to Dashboard 4.</a:t>
            </a:r>
          </a:p>
        </p:txBody>
      </p:sp>
      <p:sp>
        <p:nvSpPr>
          <p:cNvPr id="8" name="Rounded Rectangle 7"/>
          <p:cNvSpPr/>
          <p:nvPr/>
        </p:nvSpPr>
        <p:spPr>
          <a:xfrm>
            <a:off x="6208776"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06B6D4"/>
                </a:solidFill>
                <a:latin typeface="Segoe UI"/>
              </a:defRPr>
            </a:pPr>
            <a:r>
              <a:t>DASHBOARD 2: RESEARCH ANALYTICS</a:t>
            </a:r>
          </a:p>
          <a:p>
            <a:pPr>
              <a:spcBef>
                <a:spcPts val="800"/>
              </a:spcBef>
              <a:defRPr sz="900">
                <a:solidFill>
                  <a:srgbClr val="CBD5E1"/>
                </a:solidFill>
                <a:latin typeface="Segoe UI"/>
              </a:defRPr>
            </a:pPr>
            <a:r>
              <a:t>• Deep-dive into institutional research environment, citations, and collaboration networks.</a:t>
            </a:r>
            <a:br/>
            <a:r>
              <a:t>• Features Research Productivity Index rankings and citation vs research scatter plot.</a:t>
            </a:r>
            <a:br/>
            <a:r>
              <a:t>• Interlinking: Pre-filtered for active university with peer benchmark reference lines.</a:t>
            </a:r>
          </a:p>
        </p:txBody>
      </p:sp>
      <p:sp>
        <p:nvSpPr>
          <p:cNvPr id="9" name="Rounded Rectangle 8"/>
          <p:cNvSpPr/>
          <p:nvPr/>
        </p:nvSpPr>
        <p:spPr>
          <a:xfrm>
            <a:off x="731520"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F59E0B"/>
                </a:solidFill>
                <a:latin typeface="Segoe UI"/>
              </a:defRPr>
            </a:pPr>
            <a:r>
              <a:t>DASHBOARD 3: STUDENT ANALYTICS</a:t>
            </a:r>
          </a:p>
          <a:p>
            <a:pPr>
              <a:spcBef>
                <a:spcPts val="800"/>
              </a:spcBef>
              <a:defRPr sz="900">
                <a:solidFill>
                  <a:srgbClr val="CBD5E1"/>
                </a:solidFill>
                <a:latin typeface="Segoe UI"/>
              </a:defRPr>
            </a:pPr>
            <a:r>
              <a:t>• Explores campus diversity, actual faculty-to-student ratios, and gender breakdowns.</a:t>
            </a:r>
            <a:br/>
            <a:r>
              <a:t>• Features international student % histogram and students-per-staff benchmarking.</a:t>
            </a:r>
            <a:br/>
            <a:r>
              <a:t>• Interlinking: Pre-filtered for active university; cross-links to national context.</a:t>
            </a:r>
          </a:p>
        </p:txBody>
      </p:sp>
      <p:sp>
        <p:nvSpPr>
          <p:cNvPr id="10" name="Rounded Rectangle 9"/>
          <p:cNvSpPr/>
          <p:nvPr/>
        </p:nvSpPr>
        <p:spPr>
          <a:xfrm>
            <a:off x="6208776"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8B5CF6"/>
                </a:solidFill>
                <a:latin typeface="Segoe UI"/>
              </a:defRPr>
            </a:pPr>
            <a:r>
              <a:t>DASHBOARD 4: COUNTRY COMPARISON</a:t>
            </a:r>
          </a:p>
          <a:p>
            <a:pPr>
              <a:spcBef>
                <a:spcPts val="800"/>
              </a:spcBef>
              <a:defRPr sz="900">
                <a:solidFill>
                  <a:srgbClr val="CBD5E1"/>
                </a:solidFill>
                <a:latin typeface="Segoe UI"/>
              </a:defRPr>
            </a:pPr>
            <a:r>
              <a:t>• Country-level education benchmarking using World Bank EdStats indicators.</a:t>
            </a:r>
            <a:br/>
            <a:r>
              <a:t>• Features national capacity bar chart, public spend (% GDP) vs score, and enrollment trends.</a:t>
            </a:r>
            <a:br/>
            <a:r>
              <a:t>• Interlinking: Receives country_id from preceding dashboards; multi-country filter.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1: University Overview &amp; Global Rankings</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11 / 18</a:t>
            </a:r>
          </a:p>
        </p:txBody>
      </p:sp>
      <p:pic>
        <p:nvPicPr>
          <p:cNvPr id="7" name="Picture 6" descr="dashboard_1_university_overview.png"/>
          <p:cNvPicPr>
            <a:picLocks noChangeAspect="1"/>
          </p:cNvPicPr>
          <p:nvPr/>
        </p:nvPicPr>
        <p:blipFill>
          <a:blip r:embed="rId2"/>
          <a:stretch>
            <a:fillRect/>
          </a:stretch>
        </p:blipFill>
        <p:spPr>
          <a:xfrm>
            <a:off x="731520" y="1371600"/>
            <a:ext cx="6858000" cy="4846320"/>
          </a:xfrm>
          <a:prstGeom prst="rect">
            <a:avLst/>
          </a:prstGeom>
        </p:spPr>
      </p:pic>
      <p:sp>
        <p:nvSpPr>
          <p:cNvPr id="8" name="Rounded Rectangle 7"/>
          <p:cNvSpPr/>
          <p:nvPr/>
        </p:nvSpPr>
        <p:spPr>
          <a:xfrm>
            <a:off x="7772400" y="1371600"/>
            <a:ext cx="368777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10B981"/>
                </a:solidFill>
                <a:latin typeface="Segoe UI"/>
              </a:defRPr>
            </a:pPr>
            <a:r>
              <a:t>CORE VISUAL ELEMENTS</a:t>
            </a:r>
          </a:p>
          <a:p>
            <a:pPr>
              <a:spcBef>
                <a:spcPts val="800"/>
              </a:spcBef>
              <a:defRPr sz="850">
                <a:solidFill>
                  <a:srgbClr val="CBD5E1"/>
                </a:solidFill>
                <a:latin typeface="Segoe UI"/>
              </a:defRPr>
            </a:pPr>
            <a:r>
              <a:t>• 6 Top KPI Cards: Global Rank (#1 MIT), Overall Score (100.0), Academic Reputation (100.0), Research Impact (100.0), Faculty Ratio (8.2:1), Intl Students (33.0%).</a:t>
            </a:r>
            <a:br/>
            <a:br/>
            <a:r>
              <a:t>• Top 10 Global Universities Bar Chart: Ranked by Overall Score. Highlights MIT, Imperial, Oxford, Harvard, Cambridge.</a:t>
            </a:r>
            <a:br/>
            <a:br/>
            <a:r>
              <a:t>• Academic Reputation vs. Overall Score: Scatter plot comparing peer perception with aggregate performance.</a:t>
            </a:r>
            <a:br/>
            <a:br/>
            <a:r>
              <a:t>• Global University Distribution Map: World choropleth map displaying institutional density.</a:t>
            </a:r>
            <a:br/>
            <a:br/>
            <a:r>
              <a:t>• Regional Distribution Donut: Continental breakdown of top institutions.</a:t>
            </a:r>
            <a:br/>
            <a:br/>
            <a:r>
              <a:t>• Interlinking Action: Clicking any university bar passes university_id to Dashboards 2 &amp; 3. Clicking a country passes country_id to Dashboard 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2: Research Productivity &amp; Citation Impact</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12 / 18</a:t>
            </a:r>
          </a:p>
        </p:txBody>
      </p:sp>
      <p:pic>
        <p:nvPicPr>
          <p:cNvPr id="7" name="Picture 6" descr="dashboard_2_research_analytics.png"/>
          <p:cNvPicPr>
            <a:picLocks noChangeAspect="1"/>
          </p:cNvPicPr>
          <p:nvPr/>
        </p:nvPicPr>
        <p:blipFill>
          <a:blip r:embed="rId2"/>
          <a:stretch>
            <a:fillRect/>
          </a:stretch>
        </p:blipFill>
        <p:spPr>
          <a:xfrm>
            <a:off x="731520" y="1371600"/>
            <a:ext cx="6858000" cy="4846320"/>
          </a:xfrm>
          <a:prstGeom prst="rect">
            <a:avLst/>
          </a:prstGeom>
        </p:spPr>
      </p:pic>
      <p:sp>
        <p:nvSpPr>
          <p:cNvPr id="8" name="Rounded Rectangle 7"/>
          <p:cNvSpPr/>
          <p:nvPr/>
        </p:nvSpPr>
        <p:spPr>
          <a:xfrm>
            <a:off x="7772400" y="1371600"/>
            <a:ext cx="368777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06B6D4"/>
                </a:solidFill>
                <a:latin typeface="Segoe UI"/>
              </a:defRPr>
            </a:pPr>
            <a:r>
              <a:t>RESEARCH INTELLIGENCE</a:t>
            </a:r>
          </a:p>
          <a:p>
            <a:pPr>
              <a:spcBef>
                <a:spcPts val="800"/>
              </a:spcBef>
              <a:defRPr sz="850">
                <a:solidFill>
                  <a:srgbClr val="CBD5E1"/>
                </a:solidFill>
                <a:latin typeface="Segoe UI"/>
              </a:defRPr>
            </a:pPr>
            <a:r>
              <a:t>• Executive KPI Cards: Research Environment Score (THE standard), Citation Impact Score (normalized), Research Productivity Index (KPI 6), International Research Network Score.</a:t>
            </a:r>
            <a:br/>
            <a:br/>
            <a:r>
              <a:t>• Top Research Hubs by Productivity: Ranked bar chart showcasing Harvard (99.87), Stanford (98.20), MIT (97.30), Oxford (95.44), and Cambridge (95.24).</a:t>
            </a:r>
            <a:br/>
            <a:br/>
            <a:r>
              <a:t>• Citation Impact vs. Research Score: Scatter plot identifying institutional research ROI—converting moderate research income into high citation influence.</a:t>
            </a:r>
            <a:br/>
            <a:br/>
            <a:r>
              <a:t>• International Research Network: Evaluates cross-border collaborative co-authorship scores.</a:t>
            </a:r>
            <a:br/>
            <a:br/>
            <a:r>
              <a:t>• Interlinking: Automatically pre-filtered when a user selects an institution on Dashboard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3: Student Analytics &amp; Campus Diversity</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13 / 18</a:t>
            </a:r>
          </a:p>
        </p:txBody>
      </p:sp>
      <p:pic>
        <p:nvPicPr>
          <p:cNvPr id="7" name="Picture 6" descr="dashboard_3_student_analytics.png"/>
          <p:cNvPicPr>
            <a:picLocks noChangeAspect="1"/>
          </p:cNvPicPr>
          <p:nvPr/>
        </p:nvPicPr>
        <p:blipFill>
          <a:blip r:embed="rId2"/>
          <a:stretch>
            <a:fillRect/>
          </a:stretch>
        </p:blipFill>
        <p:spPr>
          <a:xfrm>
            <a:off x="731520" y="1371600"/>
            <a:ext cx="6858000" cy="4846320"/>
          </a:xfrm>
          <a:prstGeom prst="rect">
            <a:avLst/>
          </a:prstGeom>
        </p:spPr>
      </p:pic>
      <p:sp>
        <p:nvSpPr>
          <p:cNvPr id="8" name="Rounded Rectangle 7"/>
          <p:cNvSpPr/>
          <p:nvPr/>
        </p:nvSpPr>
        <p:spPr>
          <a:xfrm>
            <a:off x="7772400" y="1371600"/>
            <a:ext cx="368777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F59E0B"/>
                </a:solidFill>
                <a:latin typeface="Segoe UI"/>
              </a:defRPr>
            </a:pPr>
            <a:r>
              <a:t>STUDENT &amp; FACULTY METRICS</a:t>
            </a:r>
          </a:p>
          <a:p>
            <a:pPr>
              <a:spcBef>
                <a:spcPts val="800"/>
              </a:spcBef>
              <a:defRPr sz="850">
                <a:solidFill>
                  <a:srgbClr val="CBD5E1"/>
                </a:solidFill>
                <a:latin typeface="Segoe UI"/>
              </a:defRPr>
            </a:pPr>
            <a:r>
              <a:t>• Executive KPI Cards: Total FTE Students, Faculty-to-Student Ratio (KPI 3), International Student % (KPI 4), Female-to-Male Gender Ratio.</a:t>
            </a:r>
            <a:br/>
            <a:br/>
            <a:r>
              <a:t>• International Student % Distribution: Ranked benchmark showing cross-border student share. Highlights Imperial College London leading at 61.0% and Oxford at 42.0%.</a:t>
            </a:r>
            <a:br/>
            <a:br/>
            <a:r>
              <a:t>• Students-per-Staff Capacity Benchmark: Evaluates individual mentorship capacity against global mean (10.2:1 top-tier vs 18.7:1 global mean).</a:t>
            </a:r>
            <a:br/>
            <a:br/>
            <a:r>
              <a:t>• Gender Diversity Breakdown: Stacked bar chart analyzing gender parity across institutional cohorts.</a:t>
            </a:r>
            <a:br/>
            <a:br/>
            <a:r>
              <a:t>• Interlinking: Directly cross-links to national educational benchmarks on Dashboard 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Dashboard 4: Macro Education Policy &amp; National Benchmarking</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14 / 18</a:t>
            </a:r>
          </a:p>
        </p:txBody>
      </p:sp>
      <p:pic>
        <p:nvPicPr>
          <p:cNvPr id="7" name="Picture 6" descr="dashboard_4_country_comparison.png"/>
          <p:cNvPicPr>
            <a:picLocks noChangeAspect="1"/>
          </p:cNvPicPr>
          <p:nvPr/>
        </p:nvPicPr>
        <p:blipFill>
          <a:blip r:embed="rId2"/>
          <a:stretch>
            <a:fillRect/>
          </a:stretch>
        </p:blipFill>
        <p:spPr>
          <a:xfrm>
            <a:off x="731520" y="1371600"/>
            <a:ext cx="6858000" cy="4846320"/>
          </a:xfrm>
          <a:prstGeom prst="rect">
            <a:avLst/>
          </a:prstGeom>
        </p:spPr>
      </p:pic>
      <p:sp>
        <p:nvSpPr>
          <p:cNvPr id="8" name="Rounded Rectangle 7"/>
          <p:cNvSpPr/>
          <p:nvPr/>
        </p:nvSpPr>
        <p:spPr>
          <a:xfrm>
            <a:off x="7772400" y="1371600"/>
            <a:ext cx="368777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8B5CF6"/>
                </a:solidFill>
                <a:latin typeface="Segoe UI"/>
              </a:defRPr>
            </a:pPr>
            <a:r>
              <a:t>MACRO EDUCATION BENCHMARK</a:t>
            </a:r>
          </a:p>
          <a:p>
            <a:pPr>
              <a:spcBef>
                <a:spcPts val="800"/>
              </a:spcBef>
              <a:defRPr sz="850">
                <a:solidFill>
                  <a:srgbClr val="CBD5E1"/>
                </a:solidFill>
                <a:latin typeface="Segoe UI"/>
              </a:defRPr>
            </a:pPr>
            <a:r>
              <a:t>• Executive KPI Cards: National University Count, Average National University Score, Public Education Spend (% of GDP), Gross Tertiary Enrollment Rate.</a:t>
            </a:r>
            <a:br/>
            <a:br/>
            <a:r>
              <a:t>• World-Class University Capacity by Nation: Ranked bar chart of top nations (USA: 197, UK: 90, China: 71, Germany: 49, India: 46, Japan: 49).</a:t>
            </a:r>
            <a:br/>
            <a:br/>
            <a:r>
              <a:t>• Public Education Spend (% GDP) vs. Performance: Scatter plot evaluating return on public investment: state spending plotted against top-tier university score.</a:t>
            </a:r>
            <a:br/>
            <a:br/>
            <a:r>
              <a:t>• Tertiary Enrollment Trajectories (2010–2023): Multi-line historical trend comparison across peer economies.</a:t>
            </a:r>
            <a:br/>
            <a:br/>
            <a:r>
              <a:t>• Interlinking: Receives country_id from Dashboards 1, 2, or 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User Experience: Seamless Multi-Tier Dashboard Interlinking</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15 / 18</a:t>
            </a:r>
          </a:p>
        </p:txBody>
      </p:sp>
      <p:sp>
        <p:nvSpPr>
          <p:cNvPr id="7" name="Rounded Rectangle 6"/>
          <p:cNvSpPr/>
          <p:nvPr/>
        </p:nvSpPr>
        <p:spPr>
          <a:xfrm>
            <a:off x="731520"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10B981"/>
                </a:solidFill>
                <a:latin typeface="Segoe UI"/>
              </a:defRPr>
            </a:pPr>
            <a:r>
              <a:t>STEP 1: OVERVIEW DISCOVERY</a:t>
            </a:r>
          </a:p>
          <a:p>
            <a:pPr>
              <a:spcBef>
                <a:spcPts val="1200"/>
              </a:spcBef>
              <a:defRPr sz="950">
                <a:solidFill>
                  <a:srgbClr val="CBD5E1"/>
                </a:solidFill>
                <a:latin typeface="Segoe UI"/>
              </a:defRPr>
            </a:pPr>
            <a:r>
              <a:t>User opens Dashboard 1 (University Overview) and selects 'University of Oxford' (Rank #3, Score 96.9).</a:t>
            </a:r>
            <a:br/>
            <a:br/>
            <a:r>
              <a:t>Tableau Filter Action triggered on mark selection, passing university_id = 'U0003'. Top KPI cards immediately reflect Oxford's scorecard.</a:t>
            </a:r>
          </a:p>
        </p:txBody>
      </p:sp>
      <p:sp>
        <p:nvSpPr>
          <p:cNvPr id="8" name="Rounded Rectangle 7"/>
          <p:cNvSpPr/>
          <p:nvPr/>
        </p:nvSpPr>
        <p:spPr>
          <a:xfrm>
            <a:off x="3465576"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06B6D4"/>
                </a:solidFill>
                <a:latin typeface="Segoe UI"/>
              </a:defRPr>
            </a:pPr>
            <a:r>
              <a:t>STEP 2: RESEARCH DRILL-DOWN</a:t>
            </a:r>
          </a:p>
          <a:p>
            <a:pPr>
              <a:spcBef>
                <a:spcPts val="1200"/>
              </a:spcBef>
              <a:defRPr sz="950">
                <a:solidFill>
                  <a:srgbClr val="CBD5E1"/>
                </a:solidFill>
                <a:latin typeface="Segoe UI"/>
              </a:defRPr>
            </a:pPr>
            <a:r>
              <a:t>User clicks 'Research Analytics →' on persistent top navigation bar.</a:t>
            </a:r>
            <a:br/>
            <a:br/>
            <a:r>
              <a:t>Dashboard 2 opens pre-filtered for Oxford, revealing Research Productivity Index of 95.44, Citations of 84.8, and International Collaboration of 97.8.</a:t>
            </a:r>
          </a:p>
        </p:txBody>
      </p:sp>
      <p:sp>
        <p:nvSpPr>
          <p:cNvPr id="9" name="Rounded Rectangle 8"/>
          <p:cNvSpPr/>
          <p:nvPr/>
        </p:nvSpPr>
        <p:spPr>
          <a:xfrm>
            <a:off x="6199632"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F59E0B"/>
                </a:solidFill>
                <a:latin typeface="Segoe UI"/>
              </a:defRPr>
            </a:pPr>
            <a:r>
              <a:t>STEP 3: STUDENT DEMOGRAPHICS</a:t>
            </a:r>
          </a:p>
          <a:p>
            <a:pPr>
              <a:spcBef>
                <a:spcPts val="1200"/>
              </a:spcBef>
              <a:defRPr sz="950">
                <a:solidFill>
                  <a:srgbClr val="CBD5E1"/>
                </a:solidFill>
                <a:latin typeface="Segoe UI"/>
              </a:defRPr>
            </a:pPr>
            <a:r>
              <a:t>User transitions to Dashboard 3 (Student Analytics).</a:t>
            </a:r>
            <a:br/>
            <a:br/>
            <a:r>
              <a:t>Oxford's demographic profile displays a student-to-staff ratio of 10.6:1 (high mentorship), 20,700 FTE students, and 42.0% international students.</a:t>
            </a:r>
          </a:p>
        </p:txBody>
      </p:sp>
      <p:sp>
        <p:nvSpPr>
          <p:cNvPr id="10" name="Rounded Rectangle 9"/>
          <p:cNvSpPr/>
          <p:nvPr/>
        </p:nvSpPr>
        <p:spPr>
          <a:xfrm>
            <a:off x="8933688" y="1371600"/>
            <a:ext cx="25146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8B5CF6"/>
                </a:solidFill>
                <a:latin typeface="Segoe UI"/>
              </a:defRPr>
            </a:pPr>
            <a:r>
              <a:t>STEP 4: NATIONAL POLICY CONTEXT</a:t>
            </a:r>
          </a:p>
          <a:p>
            <a:pPr>
              <a:spcBef>
                <a:spcPts val="1200"/>
              </a:spcBef>
              <a:defRPr sz="950">
                <a:solidFill>
                  <a:srgbClr val="CBD5E1"/>
                </a:solidFill>
                <a:latin typeface="Segoe UI"/>
              </a:defRPr>
            </a:pPr>
            <a:r>
              <a:t>User clicks country link ('United Kingdom') or navigates to Dashboard 4.</a:t>
            </a:r>
            <a:br/>
            <a:br/>
            <a:r>
              <a:t>Dashboard 4 displays the UK's macroeconomic education benchmarks: 90 ranked world-class universities, 5.2% GDP education spend, and tertiary enrollment trends.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Testing &amp; Validation: Automated Quality Assurance Suite</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16 / 18</a:t>
            </a:r>
          </a:p>
        </p:txBody>
      </p:sp>
      <p:graphicFrame>
        <p:nvGraphicFramePr>
          <p:cNvPr id="7" name="Table 6"/>
          <p:cNvGraphicFramePr>
            <a:graphicFrameLocks noGrp="1"/>
          </p:cNvGraphicFramePr>
          <p:nvPr/>
        </p:nvGraphicFramePr>
        <p:xfrm>
          <a:off x="731520" y="1371600"/>
          <a:ext cx="10728655" cy="36576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499055">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22514">
                <a:tc>
                  <a:txBody>
                    <a:bodyPr/>
                    <a:lstStyle/>
                    <a:p>
                      <a:pPr>
                        <a:defRPr sz="950" b="1">
                          <a:solidFill>
                            <a:srgbClr val="06B6D4"/>
                          </a:solidFill>
                          <a:latin typeface="Segoe UI"/>
                        </a:defRPr>
                      </a:pPr>
                      <a:r>
                        <a:t>Test ID</a:t>
                      </a:r>
                    </a:p>
                  </a:txBody>
                  <a:tcPr>
                    <a:solidFill>
                      <a:srgbClr val="334155"/>
                    </a:solidFill>
                  </a:tcPr>
                </a:tc>
                <a:tc>
                  <a:txBody>
                    <a:bodyPr/>
                    <a:lstStyle/>
                    <a:p>
                      <a:pPr>
                        <a:defRPr sz="950" b="1">
                          <a:solidFill>
                            <a:srgbClr val="06B6D4"/>
                          </a:solidFill>
                          <a:latin typeface="Segoe UI"/>
                        </a:defRPr>
                      </a:pPr>
                      <a:r>
                        <a:t>Test Category</a:t>
                      </a:r>
                    </a:p>
                  </a:txBody>
                  <a:tcPr>
                    <a:solidFill>
                      <a:srgbClr val="334155"/>
                    </a:solidFill>
                  </a:tcPr>
                </a:tc>
                <a:tc>
                  <a:txBody>
                    <a:bodyPr/>
                    <a:lstStyle/>
                    <a:p>
                      <a:pPr>
                        <a:defRPr sz="950" b="1">
                          <a:solidFill>
                            <a:srgbClr val="06B6D4"/>
                          </a:solidFill>
                          <a:latin typeface="Segoe UI"/>
                        </a:defRPr>
                      </a:pPr>
                      <a:r>
                        <a:t>Target Component &amp; Assertion</a:t>
                      </a:r>
                    </a:p>
                  </a:txBody>
                  <a:tcPr>
                    <a:solidFill>
                      <a:srgbClr val="334155"/>
                    </a:solidFill>
                  </a:tcPr>
                </a:tc>
                <a:tc>
                  <a:txBody>
                    <a:bodyPr/>
                    <a:lstStyle/>
                    <a:p>
                      <a:pPr>
                        <a:defRPr sz="950" b="1">
                          <a:solidFill>
                            <a:srgbClr val="06B6D4"/>
                          </a:solidFill>
                          <a:latin typeface="Segoe UI"/>
                        </a:defRPr>
                      </a:pPr>
                      <a:r>
                        <a:t>Observed Value</a:t>
                      </a:r>
                    </a:p>
                  </a:txBody>
                  <a:tcPr>
                    <a:solidFill>
                      <a:srgbClr val="334155"/>
                    </a:solidFill>
                  </a:tcPr>
                </a:tc>
                <a:tc>
                  <a:txBody>
                    <a:bodyPr/>
                    <a:lstStyle/>
                    <a:p>
                      <a:pPr>
                        <a:defRPr sz="950" b="1">
                          <a:solidFill>
                            <a:srgbClr val="06B6D4"/>
                          </a:solidFill>
                          <a:latin typeface="Segoe UI"/>
                        </a:defRPr>
                      </a:pPr>
                      <a:r>
                        <a:t>Status</a:t>
                      </a:r>
                    </a:p>
                  </a:txBody>
                  <a:tcPr>
                    <a:solidFill>
                      <a:srgbClr val="334155"/>
                    </a:solidFill>
                  </a:tcPr>
                </a:tc>
                <a:extLst>
                  <a:ext uri="{0D108BD9-81ED-4DB2-BD59-A6C34878D82A}">
                    <a16:rowId xmlns:a16="http://schemas.microsoft.com/office/drawing/2014/main" val="10000"/>
                  </a:ext>
                </a:extLst>
              </a:tr>
              <a:tr h="522514">
                <a:tc>
                  <a:txBody>
                    <a:bodyPr/>
                    <a:lstStyle/>
                    <a:p>
                      <a:pPr>
                        <a:defRPr sz="850">
                          <a:solidFill>
                            <a:srgbClr val="F8FAFC"/>
                          </a:solidFill>
                          <a:latin typeface="Segoe UI"/>
                        </a:defRPr>
                      </a:pPr>
                      <a:r>
                        <a:t>TC-01</a:t>
                      </a:r>
                    </a:p>
                  </a:txBody>
                  <a:tcPr>
                    <a:solidFill>
                      <a:srgbClr val="1E293B"/>
                    </a:solidFill>
                  </a:tcPr>
                </a:tc>
                <a:tc>
                  <a:txBody>
                    <a:bodyPr/>
                    <a:lstStyle/>
                    <a:p>
                      <a:pPr>
                        <a:defRPr sz="850">
                          <a:solidFill>
                            <a:srgbClr val="CBD5E1"/>
                          </a:solidFill>
                          <a:latin typeface="Segoe UI"/>
                        </a:defRPr>
                      </a:pPr>
                      <a:r>
                        <a:t>Primary Key Uniqueness</a:t>
                      </a:r>
                    </a:p>
                  </a:txBody>
                  <a:tcPr>
                    <a:solidFill>
                      <a:srgbClr val="1E293B"/>
                    </a:solidFill>
                  </a:tcPr>
                </a:tc>
                <a:tc>
                  <a:txBody>
                    <a:bodyPr/>
                    <a:lstStyle/>
                    <a:p>
                      <a:pPr>
                        <a:defRPr sz="850">
                          <a:solidFill>
                            <a:srgbClr val="CBD5E1"/>
                          </a:solidFill>
                          <a:latin typeface="Segoe UI"/>
                        </a:defRPr>
                      </a:pPr>
                      <a:r>
                        <a:t>dim_university.university_id uniqueness</a:t>
                      </a:r>
                    </a:p>
                  </a:txBody>
                  <a:tcPr>
                    <a:solidFill>
                      <a:srgbClr val="1E293B"/>
                    </a:solidFill>
                  </a:tcPr>
                </a:tc>
                <a:tc>
                  <a:txBody>
                    <a:bodyPr/>
                    <a:lstStyle/>
                    <a:p>
                      <a:pPr>
                        <a:defRPr sz="850">
                          <a:solidFill>
                            <a:srgbClr val="CBD5E1"/>
                          </a:solidFill>
                          <a:latin typeface="Segoe UI"/>
                        </a:defRPr>
                      </a:pPr>
                      <a:r>
                        <a:t>1,503 / 1,503 Unique (0 duplicates)</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extLst>
                  <a:ext uri="{0D108BD9-81ED-4DB2-BD59-A6C34878D82A}">
                    <a16:rowId xmlns:a16="http://schemas.microsoft.com/office/drawing/2014/main" val="10001"/>
                  </a:ext>
                </a:extLst>
              </a:tr>
              <a:tr h="522514">
                <a:tc>
                  <a:txBody>
                    <a:bodyPr/>
                    <a:lstStyle/>
                    <a:p>
                      <a:pPr>
                        <a:defRPr sz="850">
                          <a:solidFill>
                            <a:srgbClr val="F8FAFC"/>
                          </a:solidFill>
                          <a:latin typeface="Segoe UI"/>
                        </a:defRPr>
                      </a:pPr>
                      <a:r>
                        <a:t>TC-02</a:t>
                      </a:r>
                    </a:p>
                  </a:txBody>
                  <a:tcPr>
                    <a:solidFill>
                      <a:srgbClr val="1E293B"/>
                    </a:solidFill>
                  </a:tcPr>
                </a:tc>
                <a:tc>
                  <a:txBody>
                    <a:bodyPr/>
                    <a:lstStyle/>
                    <a:p>
                      <a:pPr>
                        <a:defRPr sz="850">
                          <a:solidFill>
                            <a:srgbClr val="CBD5E1"/>
                          </a:solidFill>
                          <a:latin typeface="Segoe UI"/>
                        </a:defRPr>
                      </a:pPr>
                      <a:r>
                        <a:t>Primary Key Uniqueness</a:t>
                      </a:r>
                    </a:p>
                  </a:txBody>
                  <a:tcPr>
                    <a:solidFill>
                      <a:srgbClr val="1E293B"/>
                    </a:solidFill>
                  </a:tcPr>
                </a:tc>
                <a:tc>
                  <a:txBody>
                    <a:bodyPr/>
                    <a:lstStyle/>
                    <a:p>
                      <a:pPr>
                        <a:defRPr sz="850">
                          <a:solidFill>
                            <a:srgbClr val="CBD5E1"/>
                          </a:solidFill>
                          <a:latin typeface="Segoe UI"/>
                        </a:defRPr>
                      </a:pPr>
                      <a:r>
                        <a:t>dim_country.country_id uniqueness</a:t>
                      </a:r>
                    </a:p>
                  </a:txBody>
                  <a:tcPr>
                    <a:solidFill>
                      <a:srgbClr val="1E293B"/>
                    </a:solidFill>
                  </a:tcPr>
                </a:tc>
                <a:tc>
                  <a:txBody>
                    <a:bodyPr/>
                    <a:lstStyle/>
                    <a:p>
                      <a:pPr>
                        <a:defRPr sz="850">
                          <a:solidFill>
                            <a:srgbClr val="CBD5E1"/>
                          </a:solidFill>
                          <a:latin typeface="Segoe UI"/>
                        </a:defRPr>
                      </a:pPr>
                      <a:r>
                        <a:t>106 / 106 Unique (0 duplicates)</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extLst>
                  <a:ext uri="{0D108BD9-81ED-4DB2-BD59-A6C34878D82A}">
                    <a16:rowId xmlns:a16="http://schemas.microsoft.com/office/drawing/2014/main" val="10002"/>
                  </a:ext>
                </a:extLst>
              </a:tr>
              <a:tr h="522514">
                <a:tc>
                  <a:txBody>
                    <a:bodyPr/>
                    <a:lstStyle/>
                    <a:p>
                      <a:pPr>
                        <a:defRPr sz="850">
                          <a:solidFill>
                            <a:srgbClr val="F8FAFC"/>
                          </a:solidFill>
                          <a:latin typeface="Segoe UI"/>
                        </a:defRPr>
                      </a:pPr>
                      <a:r>
                        <a:t>TC-03..07</a:t>
                      </a:r>
                    </a:p>
                  </a:txBody>
                  <a:tcPr>
                    <a:solidFill>
                      <a:srgbClr val="1E293B"/>
                    </a:solidFill>
                  </a:tcPr>
                </a:tc>
                <a:tc>
                  <a:txBody>
                    <a:bodyPr/>
                    <a:lstStyle/>
                    <a:p>
                      <a:pPr>
                        <a:defRPr sz="850">
                          <a:solidFill>
                            <a:srgbClr val="CBD5E1"/>
                          </a:solidFill>
                          <a:latin typeface="Segoe UI"/>
                        </a:defRPr>
                      </a:pPr>
                      <a:r>
                        <a:t>Referential Integrity</a:t>
                      </a:r>
                    </a:p>
                  </a:txBody>
                  <a:tcPr>
                    <a:solidFill>
                      <a:srgbClr val="1E293B"/>
                    </a:solidFill>
                  </a:tcPr>
                </a:tc>
                <a:tc>
                  <a:txBody>
                    <a:bodyPr/>
                    <a:lstStyle/>
                    <a:p>
                      <a:pPr>
                        <a:defRPr sz="850">
                          <a:solidFill>
                            <a:srgbClr val="CBD5E1"/>
                          </a:solidFill>
                          <a:latin typeface="Segoe UI"/>
                        </a:defRPr>
                      </a:pPr>
                      <a:r>
                        <a:t>Foreign key resolution across all fact tables</a:t>
                      </a:r>
                    </a:p>
                  </a:txBody>
                  <a:tcPr>
                    <a:solidFill>
                      <a:srgbClr val="1E293B"/>
                    </a:solidFill>
                  </a:tcPr>
                </a:tc>
                <a:tc>
                  <a:txBody>
                    <a:bodyPr/>
                    <a:lstStyle/>
                    <a:p>
                      <a:pPr>
                        <a:defRPr sz="850">
                          <a:solidFill>
                            <a:srgbClr val="CBD5E1"/>
                          </a:solidFill>
                          <a:latin typeface="Segoe UI"/>
                        </a:defRPr>
                      </a:pPr>
                      <a:r>
                        <a:t>0 Orphan Records (100% matched)</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extLst>
                  <a:ext uri="{0D108BD9-81ED-4DB2-BD59-A6C34878D82A}">
                    <a16:rowId xmlns:a16="http://schemas.microsoft.com/office/drawing/2014/main" val="10003"/>
                  </a:ext>
                </a:extLst>
              </a:tr>
              <a:tr h="522514">
                <a:tc>
                  <a:txBody>
                    <a:bodyPr/>
                    <a:lstStyle/>
                    <a:p>
                      <a:pPr>
                        <a:defRPr sz="850">
                          <a:solidFill>
                            <a:srgbClr val="F8FAFC"/>
                          </a:solidFill>
                          <a:latin typeface="Segoe UI"/>
                        </a:defRPr>
                      </a:pPr>
                      <a:r>
                        <a:t>TC-08</a:t>
                      </a:r>
                    </a:p>
                  </a:txBody>
                  <a:tcPr>
                    <a:solidFill>
                      <a:srgbClr val="1E293B"/>
                    </a:solidFill>
                  </a:tcPr>
                </a:tc>
                <a:tc>
                  <a:txBody>
                    <a:bodyPr/>
                    <a:lstStyle/>
                    <a:p>
                      <a:pPr>
                        <a:defRPr sz="850">
                          <a:solidFill>
                            <a:srgbClr val="CBD5E1"/>
                          </a:solidFill>
                          <a:latin typeface="Segoe UI"/>
                        </a:defRPr>
                      </a:pPr>
                      <a:r>
                        <a:t>KPI Boundary Check</a:t>
                      </a:r>
                    </a:p>
                  </a:txBody>
                  <a:tcPr>
                    <a:solidFill>
                      <a:srgbClr val="1E293B"/>
                    </a:solidFill>
                  </a:tcPr>
                </a:tc>
                <a:tc>
                  <a:txBody>
                    <a:bodyPr/>
                    <a:lstStyle/>
                    <a:p>
                      <a:pPr>
                        <a:defRPr sz="850">
                          <a:solidFill>
                            <a:srgbClr val="CBD5E1"/>
                          </a:solidFill>
                          <a:latin typeface="Segoe UI"/>
                        </a:defRPr>
                      </a:pPr>
                      <a:r>
                        <a:t>kpi_global_ranking_score in [0.0, 100.0]</a:t>
                      </a:r>
                    </a:p>
                  </a:txBody>
                  <a:tcPr>
                    <a:solidFill>
                      <a:srgbClr val="1E293B"/>
                    </a:solidFill>
                  </a:tcPr>
                </a:tc>
                <a:tc>
                  <a:txBody>
                    <a:bodyPr/>
                    <a:lstStyle/>
                    <a:p>
                      <a:pPr>
                        <a:defRPr sz="850">
                          <a:solidFill>
                            <a:srgbClr val="CBD5E1"/>
                          </a:solidFill>
                          <a:latin typeface="Segoe UI"/>
                        </a:defRPr>
                      </a:pPr>
                      <a:r>
                        <a:t>Min: 0.07, Max: 100.00</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extLst>
                  <a:ext uri="{0D108BD9-81ED-4DB2-BD59-A6C34878D82A}">
                    <a16:rowId xmlns:a16="http://schemas.microsoft.com/office/drawing/2014/main" val="10004"/>
                  </a:ext>
                </a:extLst>
              </a:tr>
              <a:tr h="522514">
                <a:tc>
                  <a:txBody>
                    <a:bodyPr/>
                    <a:lstStyle/>
                    <a:p>
                      <a:pPr>
                        <a:defRPr sz="850">
                          <a:solidFill>
                            <a:srgbClr val="F8FAFC"/>
                          </a:solidFill>
                          <a:latin typeface="Segoe UI"/>
                        </a:defRPr>
                      </a:pPr>
                      <a:r>
                        <a:t>TC-09..11</a:t>
                      </a:r>
                    </a:p>
                  </a:txBody>
                  <a:tcPr>
                    <a:solidFill>
                      <a:srgbClr val="1E293B"/>
                    </a:solidFill>
                  </a:tcPr>
                </a:tc>
                <a:tc>
                  <a:txBody>
                    <a:bodyPr/>
                    <a:lstStyle/>
                    <a:p>
                      <a:pPr>
                        <a:defRPr sz="850">
                          <a:solidFill>
                            <a:srgbClr val="CBD5E1"/>
                          </a:solidFill>
                          <a:latin typeface="Segoe UI"/>
                        </a:defRPr>
                      </a:pPr>
                      <a:r>
                        <a:t>KPI Boundary Checks</a:t>
                      </a:r>
                    </a:p>
                  </a:txBody>
                  <a:tcPr>
                    <a:solidFill>
                      <a:srgbClr val="1E293B"/>
                    </a:solidFill>
                  </a:tcPr>
                </a:tc>
                <a:tc>
                  <a:txBody>
                    <a:bodyPr/>
                    <a:lstStyle/>
                    <a:p>
                      <a:pPr>
                        <a:defRPr sz="850">
                          <a:solidFill>
                            <a:srgbClr val="CBD5E1"/>
                          </a:solidFill>
                          <a:latin typeface="Segoe UI"/>
                        </a:defRPr>
                      </a:pPr>
                      <a:r>
                        <a:t>Research Impact, Staff Ratio, Intl Student %</a:t>
                      </a:r>
                    </a:p>
                  </a:txBody>
                  <a:tcPr>
                    <a:solidFill>
                      <a:srgbClr val="1E293B"/>
                    </a:solidFill>
                  </a:tcPr>
                </a:tc>
                <a:tc>
                  <a:txBody>
                    <a:bodyPr/>
                    <a:lstStyle/>
                    <a:p>
                      <a:pPr>
                        <a:defRPr sz="850">
                          <a:solidFill>
                            <a:srgbClr val="CBD5E1"/>
                          </a:solidFill>
                          <a:latin typeface="Segoe UI"/>
                        </a:defRPr>
                      </a:pPr>
                      <a:r>
                        <a:t>All values lie strictly in valid bounds</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extLst>
                  <a:ext uri="{0D108BD9-81ED-4DB2-BD59-A6C34878D82A}">
                    <a16:rowId xmlns:a16="http://schemas.microsoft.com/office/drawing/2014/main" val="10005"/>
                  </a:ext>
                </a:extLst>
              </a:tr>
              <a:tr h="522516">
                <a:tc>
                  <a:txBody>
                    <a:bodyPr/>
                    <a:lstStyle/>
                    <a:p>
                      <a:pPr>
                        <a:defRPr sz="850">
                          <a:solidFill>
                            <a:srgbClr val="F8FAFC"/>
                          </a:solidFill>
                          <a:latin typeface="Segoe UI"/>
                        </a:defRPr>
                      </a:pPr>
                      <a:r>
                        <a:t>TC-12</a:t>
                      </a:r>
                    </a:p>
                  </a:txBody>
                  <a:tcPr>
                    <a:solidFill>
                      <a:srgbClr val="1E293B"/>
                    </a:solidFill>
                  </a:tcPr>
                </a:tc>
                <a:tc>
                  <a:txBody>
                    <a:bodyPr/>
                    <a:lstStyle/>
                    <a:p>
                      <a:pPr>
                        <a:defRPr sz="850">
                          <a:solidFill>
                            <a:srgbClr val="CBD5E1"/>
                          </a:solidFill>
                          <a:latin typeface="Segoe UI"/>
                        </a:defRPr>
                      </a:pPr>
                      <a:r>
                        <a:t>Composite Index Check</a:t>
                      </a:r>
                    </a:p>
                  </a:txBody>
                  <a:tcPr>
                    <a:solidFill>
                      <a:srgbClr val="1E293B"/>
                    </a:solidFill>
                  </a:tcPr>
                </a:tc>
                <a:tc>
                  <a:txBody>
                    <a:bodyPr/>
                    <a:lstStyle/>
                    <a:p>
                      <a:pPr>
                        <a:defRPr sz="850">
                          <a:solidFill>
                            <a:srgbClr val="CBD5E1"/>
                          </a:solidFill>
                          <a:latin typeface="Segoe UI"/>
                        </a:defRPr>
                      </a:pPr>
                      <a:r>
                        <a:t>kpi_research_productivity_index in [0.0, 100.0]</a:t>
                      </a:r>
                    </a:p>
                  </a:txBody>
                  <a:tcPr>
                    <a:solidFill>
                      <a:srgbClr val="1E293B"/>
                    </a:solidFill>
                  </a:tcPr>
                </a:tc>
                <a:tc>
                  <a:txBody>
                    <a:bodyPr/>
                    <a:lstStyle/>
                    <a:p>
                      <a:pPr>
                        <a:defRPr sz="850">
                          <a:solidFill>
                            <a:srgbClr val="CBD5E1"/>
                          </a:solidFill>
                          <a:latin typeface="Segoe UI"/>
                        </a:defRPr>
                      </a:pPr>
                      <a:r>
                        <a:t>Min: 10.50, Max: 99.87 (Harvard)</a:t>
                      </a:r>
                    </a:p>
                  </a:txBody>
                  <a:tcPr>
                    <a:solidFill>
                      <a:srgbClr val="1E293B"/>
                    </a:solidFill>
                  </a:tcPr>
                </a:tc>
                <a:tc>
                  <a:txBody>
                    <a:bodyPr/>
                    <a:lstStyle/>
                    <a:p>
                      <a:pPr>
                        <a:defRPr sz="850">
                          <a:solidFill>
                            <a:srgbClr val="10B981"/>
                          </a:solidFill>
                          <a:latin typeface="Segoe UI"/>
                        </a:defRPr>
                      </a:pPr>
                      <a:r>
                        <a:t>PASS [100%]</a:t>
                      </a:r>
                    </a:p>
                  </a:txBody>
                  <a:tcPr>
                    <a:solidFill>
                      <a:srgbClr val="1E293B"/>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731520" y="5257800"/>
            <a:ext cx="10728655"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defRPr sz="1000" b="1">
                <a:solidFill>
                  <a:srgbClr val="10B981"/>
                </a:solidFill>
                <a:latin typeface="Segoe UI"/>
              </a:defRPr>
            </a:pPr>
            <a:r>
              <a:t>OFFICIAL QUALITY ASSURANCE SIGN-OFF: 100% AUDIT PASS RATE</a:t>
            </a:r>
          </a:p>
          <a:p>
            <a:pPr>
              <a:spcBef>
                <a:spcPts val="300"/>
              </a:spcBef>
              <a:defRPr sz="850">
                <a:solidFill>
                  <a:srgbClr val="CBD5E1"/>
                </a:solidFill>
                <a:latin typeface="Segoe UI"/>
              </a:defRPr>
            </a:pPr>
            <a:r>
              <a:t>• Dimension Completeness: 100.0% (Target: &gt;95.0%) | Missing Value Threshold on Identifiers: 0.0% (Target: &lt;2.0%)</a:t>
            </a:r>
            <a:br/>
            <a:r>
              <a:t>• Relational Integrity: Verified zero duplicate keys, zero orphan records, and 100% valid KPI ranges across all 1,503 institutions.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Analytical Findings: Key Insights from Global Higher Education Data</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17 / 18</a:t>
            </a:r>
          </a:p>
        </p:txBody>
      </p:sp>
      <p:sp>
        <p:nvSpPr>
          <p:cNvPr id="7" name="Rounded Rectangle 6"/>
          <p:cNvSpPr/>
          <p:nvPr/>
        </p:nvSpPr>
        <p:spPr>
          <a:xfrm>
            <a:off x="731520"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06B6D4"/>
                </a:solidFill>
                <a:latin typeface="Segoe UI"/>
              </a:defRPr>
            </a:pPr>
            <a:r>
              <a:t>CITATION CONCENTRATION IN TOP 50 HUBS</a:t>
            </a:r>
          </a:p>
          <a:p>
            <a:pPr>
              <a:spcBef>
                <a:spcPts val="800"/>
              </a:spcBef>
              <a:defRPr sz="950">
                <a:solidFill>
                  <a:srgbClr val="CBD5E1"/>
                </a:solidFill>
                <a:latin typeface="Segoe UI"/>
              </a:defRPr>
            </a:pPr>
            <a:r>
              <a:t>• Over 45% of total high-impact global research citations are generated by universities in the United States and the United Kingdom.</a:t>
            </a:r>
            <a:br/>
            <a:r>
              <a:t>• However, institutions in Singapore (NUS), Switzerland (ETH Zurich), and China (Tsinghua) demonstrate the fastest growth in collaborative research networks.</a:t>
            </a:r>
          </a:p>
        </p:txBody>
      </p:sp>
      <p:sp>
        <p:nvSpPr>
          <p:cNvPr id="8" name="Rounded Rectangle 7"/>
          <p:cNvSpPr/>
          <p:nvPr/>
        </p:nvSpPr>
        <p:spPr>
          <a:xfrm>
            <a:off x="6208776" y="137160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8B5CF6"/>
                </a:solidFill>
                <a:latin typeface="Segoe UI"/>
              </a:defRPr>
            </a:pPr>
            <a:r>
              <a:t>FACULTY RATIO AS A QUALITY PREDICTOR</a:t>
            </a:r>
          </a:p>
          <a:p>
            <a:pPr>
              <a:spcBef>
                <a:spcPts val="800"/>
              </a:spcBef>
              <a:defRPr sz="950">
                <a:solidFill>
                  <a:srgbClr val="CBD5E1"/>
                </a:solidFill>
                <a:latin typeface="Segoe UI"/>
              </a:defRPr>
            </a:pPr>
            <a:r>
              <a:t>• Top 20 world universities maintain an average student-to-staff ratio of 10.2:1, compared to a global average of 18.7:1.</a:t>
            </a:r>
            <a:br/>
            <a:r>
              <a:t>• Strong positive correlation (r = 0.72) observed between low student-to-staff ratios and world-leading academic reputation scores.</a:t>
            </a:r>
          </a:p>
        </p:txBody>
      </p:sp>
      <p:sp>
        <p:nvSpPr>
          <p:cNvPr id="9" name="Rounded Rectangle 8"/>
          <p:cNvSpPr/>
          <p:nvPr/>
        </p:nvSpPr>
        <p:spPr>
          <a:xfrm>
            <a:off x="731520"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F59E0B"/>
                </a:solidFill>
                <a:latin typeface="Segoe UI"/>
              </a:defRPr>
            </a:pPr>
            <a:r>
              <a:t>CROSS-BORDER STUDENT MOBILITY</a:t>
            </a:r>
          </a:p>
          <a:p>
            <a:pPr>
              <a:spcBef>
                <a:spcPts val="800"/>
              </a:spcBef>
              <a:defRPr sz="950">
                <a:solidFill>
                  <a:srgbClr val="CBD5E1"/>
                </a:solidFill>
                <a:latin typeface="Segoe UI"/>
              </a:defRPr>
            </a:pPr>
            <a:r>
              <a:t>• Leading institutions in the United Kingdom and Europe demonstrate exceptionally high international student representation (Imperial College London: 61%, Oxford: 42%, ETH Zurich: 41%).</a:t>
            </a:r>
            <a:br/>
            <a:r>
              <a:t>• Top US institutions average between 20% and 33% international enrollment.</a:t>
            </a:r>
          </a:p>
        </p:txBody>
      </p:sp>
      <p:sp>
        <p:nvSpPr>
          <p:cNvPr id="10" name="Rounded Rectangle 9"/>
          <p:cNvSpPr/>
          <p:nvPr/>
        </p:nvSpPr>
        <p:spPr>
          <a:xfrm>
            <a:off x="6208776" y="3794760"/>
            <a:ext cx="5257800" cy="2240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10B981"/>
                </a:solidFill>
                <a:latin typeface="Segoe UI"/>
              </a:defRPr>
            </a:pPr>
            <a:r>
              <a:t>PUBLIC EDUCATION INVESTMENT VS. EXCELLENCE</a:t>
            </a:r>
          </a:p>
          <a:p>
            <a:pPr>
              <a:spcBef>
                <a:spcPts val="800"/>
              </a:spcBef>
              <a:defRPr sz="950">
                <a:solidFill>
                  <a:srgbClr val="CBD5E1"/>
                </a:solidFill>
                <a:latin typeface="Segoe UI"/>
              </a:defRPr>
            </a:pPr>
            <a:r>
              <a:t>• Nations investing higher proportions of GDP in public education (e.g. Nordic countries at 6–7% GDP) achieve higher tertiary enrollment rates and more equitable national performance.</a:t>
            </a:r>
            <a:br/>
            <a:r>
              <a:t>• Private endowment economies (e.g. USA) concentrate elite world-leading research hubs.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274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38912"/>
            <a:ext cx="10728655" cy="228600"/>
          </a:xfrm>
          <a:prstGeom prst="rect">
            <a:avLst/>
          </a:prstGeom>
          <a:noFill/>
        </p:spPr>
        <p:txBody>
          <a:bodyPr wrap="square" lIns="0" tIns="0" rIns="0" bIns="0">
            <a:spAutoFit/>
          </a:bodyPr>
          <a:lstStyle/>
          <a:p>
            <a:pPr>
              <a:defRPr sz="950" b="1">
                <a:solidFill>
                  <a:srgbClr val="10B981"/>
                </a:solidFill>
                <a:latin typeface="Segoe UI"/>
              </a:defRPr>
            </a:pPr>
            <a:r>
              <a:t>EDUVISION_DV | HIGHER EDUCATION INTELLIGENCE SYSTEM</a:t>
            </a:r>
          </a:p>
        </p:txBody>
      </p:sp>
      <p:sp>
        <p:nvSpPr>
          <p:cNvPr id="5" name="TextBox 4"/>
          <p:cNvSpPr txBox="1"/>
          <p:nvPr/>
        </p:nvSpPr>
        <p:spPr>
          <a:xfrm>
            <a:off x="731520" y="685800"/>
            <a:ext cx="10728655" cy="502920"/>
          </a:xfrm>
          <a:prstGeom prst="rect">
            <a:avLst/>
          </a:prstGeom>
          <a:noFill/>
        </p:spPr>
        <p:txBody>
          <a:bodyPr wrap="square" lIns="0" tIns="0" rIns="0" bIns="0">
            <a:spAutoFit/>
          </a:bodyPr>
          <a:lstStyle/>
          <a:p>
            <a:pPr>
              <a:defRPr sz="1900" b="1">
                <a:solidFill>
                  <a:srgbClr val="F8FAFC"/>
                </a:solidFill>
                <a:latin typeface="Segoe UI"/>
              </a:defRPr>
            </a:pPr>
            <a:r>
              <a:t>Conclusion &amp; Future Roadmap: Project Delivery Summary</a:t>
            </a:r>
          </a:p>
        </p:txBody>
      </p:sp>
      <p:sp>
        <p:nvSpPr>
          <p:cNvPr id="6" name="TextBox 5"/>
          <p:cNvSpPr txBox="1"/>
          <p:nvPr/>
        </p:nvSpPr>
        <p:spPr>
          <a:xfrm>
            <a:off x="731520" y="6473952"/>
            <a:ext cx="10728655" cy="274320"/>
          </a:xfrm>
          <a:prstGeom prst="rect">
            <a:avLst/>
          </a:prstGeom>
          <a:noFill/>
        </p:spPr>
        <p:txBody>
          <a:bodyPr wrap="none" lIns="0" tIns="0" rIns="0" bIns="0">
            <a:spAutoFit/>
          </a:bodyPr>
          <a:lstStyle/>
          <a:p>
            <a:pPr>
              <a:defRPr sz="850">
                <a:solidFill>
                  <a:srgbClr val="94A3B8"/>
                </a:solidFill>
                <a:latin typeface="Segoe UI"/>
              </a:defRPr>
            </a:pPr>
            <a:r>
              <a:t>Infosys Springboard Internship 7.0 | Author: Sujay S | EduVision_DV</a:t>
            </a:r>
          </a:p>
          <a:p>
            <a:pPr algn="r">
              <a:defRPr sz="850">
                <a:solidFill>
                  <a:srgbClr val="94A3B8"/>
                </a:solidFill>
                <a:latin typeface="Segoe UI"/>
              </a:defRPr>
            </a:pPr>
            <a:r>
              <a:t>18 / 18</a:t>
            </a:r>
          </a:p>
        </p:txBody>
      </p:sp>
      <p:sp>
        <p:nvSpPr>
          <p:cNvPr id="7" name="Rounded Rectangle 6"/>
          <p:cNvSpPr/>
          <p:nvPr/>
        </p:nvSpPr>
        <p:spPr>
          <a:xfrm>
            <a:off x="731520" y="1371600"/>
            <a:ext cx="5257800"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10B981"/>
                </a:solidFill>
                <a:latin typeface="Segoe UI"/>
              </a:defRPr>
            </a:pPr>
            <a:r>
              <a:t>KEY ENGINEERING TAKEAWAYS</a:t>
            </a:r>
          </a:p>
          <a:p>
            <a:pPr>
              <a:spcBef>
                <a:spcPts val="800"/>
              </a:spcBef>
              <a:defRPr sz="950">
                <a:solidFill>
                  <a:srgbClr val="CBD5E1"/>
                </a:solidFill>
                <a:latin typeface="Segoe UI"/>
              </a:defRPr>
            </a:pPr>
            <a:r>
              <a:t>• Deterministic Entity Normalization: Solved severe join mismatches through regex parenthetical acronym stripping, avoiding dangerous row-fallback indexing.</a:t>
            </a:r>
            <a:br/>
            <a:br/>
            <a:r>
              <a:t>• Dimensional Star Schema Design: Preserved data grain independence between institutional rankings and macroeconomic country indicators, preventing Cartesian join explosions.</a:t>
            </a:r>
            <a:br/>
            <a:br/>
            <a:r>
              <a:t>• Principles of Ethical KPI Formulation: Never confused scores with actual ratios/percentages; preserved statistical authenticity by refusing blind zero-imputation.</a:t>
            </a:r>
            <a:br/>
            <a:br/>
            <a:r>
              <a:t>• Enterprise Tableau UX: Built cohesive, multi-dashboard interlinking with persistent parameter and filter action workflows.</a:t>
            </a:r>
          </a:p>
        </p:txBody>
      </p:sp>
      <p:sp>
        <p:nvSpPr>
          <p:cNvPr id="8" name="Rounded Rectangle 7"/>
          <p:cNvSpPr/>
          <p:nvPr/>
        </p:nvSpPr>
        <p:spPr>
          <a:xfrm>
            <a:off x="6217920" y="1371600"/>
            <a:ext cx="5242255"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200" b="1">
                <a:solidFill>
                  <a:srgbClr val="06B6D4"/>
                </a:solidFill>
                <a:latin typeface="Segoe UI"/>
              </a:defRPr>
            </a:pPr>
            <a:r>
              <a:t>FUTURE ENHANCEMENTS &amp; ROADMAP</a:t>
            </a:r>
          </a:p>
          <a:p>
            <a:pPr>
              <a:spcBef>
                <a:spcPts val="800"/>
              </a:spcBef>
              <a:defRPr sz="950">
                <a:solidFill>
                  <a:srgbClr val="CBD5E1"/>
                </a:solidFill>
                <a:latin typeface="Segoe UI"/>
              </a:defRPr>
            </a:pPr>
            <a:r>
              <a:t>• 10-Year Longitudinal Tracking: Integrate historical ranking data to visualize institutional trajectories and rank volatility over time.</a:t>
            </a:r>
            <a:br/>
            <a:br/>
            <a:r>
              <a:t>• Subject-Specific Dimensionality: Extend the Star Schema to evaluate departmental rankings (STEM, Medicine, Humanities, Business).</a:t>
            </a:r>
            <a:br/>
            <a:br/>
            <a:r>
              <a:t>• Predictive Machine Learning Forecaster: Train a regression model on publication velocity and faculty recruitment to forecast next year's global rank.</a:t>
            </a:r>
            <a:br/>
            <a:br/>
            <a:r>
              <a:t>• Tableau Cloud Deployment: Publish to Tableau Server / Public for live stakeholder engagement.</a:t>
            </a:r>
          </a:p>
        </p:txBody>
      </p:sp>
      <p:sp>
        <p:nvSpPr>
          <p:cNvPr id="9" name="Rounded Rectangle 8"/>
          <p:cNvSpPr/>
          <p:nvPr/>
        </p:nvSpPr>
        <p:spPr>
          <a:xfrm>
            <a:off x="731520" y="5029200"/>
            <a:ext cx="10728655" cy="1234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400" b="1">
                <a:solidFill>
                  <a:srgbClr val="F59E0B"/>
                </a:solidFill>
                <a:latin typeface="Segoe UI"/>
              </a:defRPr>
            </a:pPr>
            <a:r>
              <a:rPr dirty="0"/>
              <a:t>THANK YOU </a:t>
            </a:r>
          </a:p>
          <a:p>
            <a:pPr algn="ctr">
              <a:spcBef>
                <a:spcPts val="400"/>
              </a:spcBef>
              <a:defRPr sz="1000">
                <a:solidFill>
                  <a:srgbClr val="CBD5E1"/>
                </a:solidFill>
                <a:latin typeface="Segoe UI"/>
              </a:defRPr>
            </a:pPr>
            <a:r>
              <a:rPr dirty="0"/>
              <a:t>Author: Sujay S | Infosys Springboard Internship 7.0 | Domain: Higher Education Analytics &amp; BI | </a:t>
            </a:r>
            <a:r>
              <a:rPr dirty="0" err="1"/>
              <a:t>EduVision_DV</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3995</Words>
  <Application>Microsoft Office PowerPoint</Application>
  <PresentationFormat>Widescreen</PresentationFormat>
  <Paragraphs>342</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SUJAY S</cp:lastModifiedBy>
  <cp:revision>3</cp:revision>
  <dcterms:created xsi:type="dcterms:W3CDTF">2013-01-27T09:14:16Z</dcterms:created>
  <dcterms:modified xsi:type="dcterms:W3CDTF">2026-09-20T17:08:53Z</dcterms:modified>
  <cp:category/>
</cp:coreProperties>
</file>