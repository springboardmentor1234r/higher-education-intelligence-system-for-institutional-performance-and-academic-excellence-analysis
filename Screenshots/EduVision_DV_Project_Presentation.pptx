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371600"/>
            <a:ext cx="10362895"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645920"/>
            <a:ext cx="2926080" cy="3657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F172A"/>
                </a:solidFill>
                <a:latin typeface="Segoe UI"/>
              </a:defRPr>
            </a:pPr>
            <a:r>
              <a:t>INFOSYS SPRINGBOARD INTERNSHIP 7.0</a:t>
            </a:r>
          </a:p>
        </p:txBody>
      </p:sp>
      <p:sp>
        <p:nvSpPr>
          <p:cNvPr id="5" name="TextBox 4"/>
          <p:cNvSpPr txBox="1"/>
          <p:nvPr/>
        </p:nvSpPr>
        <p:spPr>
          <a:xfrm>
            <a:off x="914400" y="2194560"/>
            <a:ext cx="10362895" cy="1645920"/>
          </a:xfrm>
          <a:prstGeom prst="rect">
            <a:avLst/>
          </a:prstGeom>
          <a:noFill/>
        </p:spPr>
        <p:txBody>
          <a:bodyPr wrap="square">
            <a:spAutoFit/>
          </a:bodyPr>
          <a:lstStyle/>
          <a:p>
            <a:pPr>
              <a:defRPr sz="4400" b="1">
                <a:solidFill>
                  <a:srgbClr val="F8FAFC"/>
                </a:solidFill>
                <a:latin typeface="Segoe UI"/>
              </a:defRPr>
            </a:pPr>
            <a:r>
              <a:t>EduVision_DV</a:t>
            </a:r>
          </a:p>
          <a:p>
            <a:pPr>
              <a:spcBef>
                <a:spcPts val="800"/>
              </a:spcBef>
              <a:defRPr sz="1800">
                <a:solidFill>
                  <a:srgbClr val="06B6D4"/>
                </a:solidFill>
                <a:latin typeface="Segoe UI"/>
              </a:defRPr>
            </a:pPr>
            <a:r>
              <a:t>Higher Education Intelligence System for Institutional Performance &amp; Academic Excellence Analysis</a:t>
            </a:r>
          </a:p>
          <a:p>
            <a:pPr>
              <a:spcBef>
                <a:spcPts val="400"/>
              </a:spcBef>
              <a:defRPr sz="1300">
                <a:solidFill>
                  <a:srgbClr val="94A3B8"/>
                </a:solidFill>
                <a:latin typeface="Segoe UI"/>
              </a:defRPr>
            </a:pPr>
            <a:r>
              <a:t>Milestones 1 to 4 | Modules 1 to 8 | Interconnected Tableau Desktop BI Suite</a:t>
            </a:r>
          </a:p>
        </p:txBody>
      </p:sp>
      <p:sp>
        <p:nvSpPr>
          <p:cNvPr id="6" name="Rounded Rectangle 5"/>
          <p:cNvSpPr/>
          <p:nvPr/>
        </p:nvSpPr>
        <p:spPr>
          <a:xfrm>
            <a:off x="914400" y="4297680"/>
            <a:ext cx="242316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0B981"/>
                </a:solidFill>
                <a:latin typeface="Segoe UI"/>
              </a:defRPr>
            </a:pPr>
            <a:r>
              <a:t>PROJECT AUTHOR</a:t>
            </a:r>
          </a:p>
          <a:p>
            <a:pPr>
              <a:spcBef>
                <a:spcPts val="400"/>
              </a:spcBef>
              <a:defRPr sz="1300" b="1">
                <a:solidFill>
                  <a:srgbClr val="F8FAFC"/>
                </a:solidFill>
                <a:latin typeface="Segoe UI"/>
              </a:defRPr>
            </a:pPr>
            <a:r>
              <a:t>Sujay S</a:t>
            </a:r>
            <a:br/>
            <a:r>
              <a:t>Student Intern</a:t>
            </a:r>
          </a:p>
        </p:txBody>
      </p:sp>
      <p:sp>
        <p:nvSpPr>
          <p:cNvPr id="7" name="Rounded Rectangle 6"/>
          <p:cNvSpPr/>
          <p:nvPr/>
        </p:nvSpPr>
        <p:spPr>
          <a:xfrm>
            <a:off x="3520440" y="4297680"/>
            <a:ext cx="242316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6B6D4"/>
                </a:solidFill>
                <a:latin typeface="Segoe UI"/>
              </a:defRPr>
            </a:pPr>
            <a:r>
              <a:t>DOMAIN &amp; TRACK</a:t>
            </a:r>
          </a:p>
          <a:p>
            <a:pPr>
              <a:spcBef>
                <a:spcPts val="400"/>
              </a:spcBef>
              <a:defRPr sz="1200" b="1">
                <a:solidFill>
                  <a:srgbClr val="F8FAFC"/>
                </a:solidFill>
                <a:latin typeface="Segoe UI"/>
              </a:defRPr>
            </a:pPr>
            <a:r>
              <a:t>Educational Analytics</a:t>
            </a:r>
            <a:br/>
            <a:r>
              <a:t>&amp; Data Visualization</a:t>
            </a:r>
          </a:p>
        </p:txBody>
      </p:sp>
      <p:sp>
        <p:nvSpPr>
          <p:cNvPr id="8" name="Rounded Rectangle 7"/>
          <p:cNvSpPr/>
          <p:nvPr/>
        </p:nvSpPr>
        <p:spPr>
          <a:xfrm>
            <a:off x="6126480" y="4297680"/>
            <a:ext cx="242316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59E0B"/>
                </a:solidFill>
                <a:latin typeface="Segoe UI"/>
              </a:defRPr>
            </a:pPr>
            <a:r>
              <a:t>STRUCTURE</a:t>
            </a:r>
          </a:p>
          <a:p>
            <a:pPr>
              <a:spcBef>
                <a:spcPts val="400"/>
              </a:spcBef>
              <a:defRPr sz="1100">
                <a:solidFill>
                  <a:srgbClr val="F8FAFC"/>
                </a:solidFill>
                <a:latin typeface="Segoe UI"/>
              </a:defRPr>
            </a:pPr>
            <a:r>
              <a:t>Milestones 1 – 4</a:t>
            </a:r>
            <a:br/>
            <a:r>
              <a:t>Modules 1 – 8</a:t>
            </a:r>
            <a:br/>
            <a:r>
              <a:t>Star Schema Model</a:t>
            </a:r>
          </a:p>
        </p:txBody>
      </p:sp>
      <p:sp>
        <p:nvSpPr>
          <p:cNvPr id="9" name="Rounded Rectangle 8"/>
          <p:cNvSpPr/>
          <p:nvPr/>
        </p:nvSpPr>
        <p:spPr>
          <a:xfrm>
            <a:off x="8732520" y="4297680"/>
            <a:ext cx="2542032"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8B5CF6"/>
                </a:solidFill>
                <a:latin typeface="Segoe UI"/>
              </a:defRPr>
            </a:pPr>
            <a:r>
              <a:t>PROJECT STATUS</a:t>
            </a:r>
          </a:p>
          <a:p>
            <a:pPr>
              <a:spcBef>
                <a:spcPts val="400"/>
              </a:spcBef>
              <a:defRPr sz="1100">
                <a:solidFill>
                  <a:srgbClr val="F8FAFC"/>
                </a:solidFill>
                <a:latin typeface="Segoe UI"/>
              </a:defRPr>
            </a:pPr>
            <a:r>
              <a:t>100% QA Test Pass</a:t>
            </a:r>
            <a:br/>
            <a:r>
              <a:t>Milestones 1 to 4 Complete</a:t>
            </a:r>
            <a:br/>
            <a: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PROJECT OVERVIEW &amp; CORE OUTCOMES</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Executive Summary: Project Overview &amp; Core Outcomes</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2 / 19</a:t>
            </a:r>
          </a:p>
        </p:txBody>
      </p:sp>
      <p:sp>
        <p:nvSpPr>
          <p:cNvPr id="7" name="Rounded Rectangle 6"/>
          <p:cNvSpPr/>
          <p:nvPr/>
        </p:nvSpPr>
        <p:spPr>
          <a:xfrm>
            <a:off x="731520" y="132588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0B981"/>
                </a:solidFill>
                <a:latin typeface="Segoe UI"/>
              </a:defRPr>
            </a:pPr>
            <a:r>
              <a:t>1,503</a:t>
            </a:r>
          </a:p>
          <a:p>
            <a:pPr>
              <a:defRPr sz="1200" b="1">
                <a:solidFill>
                  <a:srgbClr val="F8FAFC"/>
                </a:solidFill>
                <a:latin typeface="Segoe UI"/>
              </a:defRPr>
            </a:pPr>
            <a:r>
              <a:t>Global Institutions</a:t>
            </a:r>
          </a:p>
          <a:p>
            <a:pPr>
              <a:spcBef>
                <a:spcPts val="300"/>
              </a:spcBef>
              <a:defRPr sz="850">
                <a:solidFill>
                  <a:srgbClr val="94A3B8"/>
                </a:solidFill>
                <a:latin typeface="Segoe UI"/>
              </a:defRPr>
            </a:pPr>
            <a:r>
              <a:t>Covering 106 sovereign countries with standardized identifiers</a:t>
            </a:r>
          </a:p>
        </p:txBody>
      </p:sp>
      <p:sp>
        <p:nvSpPr>
          <p:cNvPr id="8" name="Rounded Rectangle 7"/>
          <p:cNvSpPr/>
          <p:nvPr/>
        </p:nvSpPr>
        <p:spPr>
          <a:xfrm>
            <a:off x="3465576" y="132588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06B6D4"/>
                </a:solidFill>
                <a:latin typeface="Segoe UI"/>
              </a:defRPr>
            </a:pPr>
            <a:r>
              <a:t>4 / 8</a:t>
            </a:r>
          </a:p>
          <a:p>
            <a:pPr>
              <a:defRPr sz="1200" b="1">
                <a:solidFill>
                  <a:srgbClr val="F8FAFC"/>
                </a:solidFill>
                <a:latin typeface="Segoe UI"/>
              </a:defRPr>
            </a:pPr>
            <a:r>
              <a:t>Milestones &amp; Modules</a:t>
            </a:r>
          </a:p>
          <a:p>
            <a:pPr>
              <a:spcBef>
                <a:spcPts val="300"/>
              </a:spcBef>
              <a:defRPr sz="850">
                <a:solidFill>
                  <a:srgbClr val="94A3B8"/>
                </a:solidFill>
                <a:latin typeface="Segoe UI"/>
              </a:defRPr>
            </a:pPr>
            <a:r>
              <a:t>Structured strictly per official specification guidelines</a:t>
            </a:r>
          </a:p>
        </p:txBody>
      </p:sp>
      <p:sp>
        <p:nvSpPr>
          <p:cNvPr id="9" name="Rounded Rectangle 8"/>
          <p:cNvSpPr/>
          <p:nvPr/>
        </p:nvSpPr>
        <p:spPr>
          <a:xfrm>
            <a:off x="6199632" y="132588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59E0B"/>
                </a:solidFill>
                <a:latin typeface="Segoe UI"/>
              </a:defRPr>
            </a:pPr>
            <a:r>
              <a:t>6</a:t>
            </a:r>
          </a:p>
          <a:p>
            <a:pPr>
              <a:defRPr sz="1200" b="1">
                <a:solidFill>
                  <a:srgbClr val="F8FAFC"/>
                </a:solidFill>
                <a:latin typeface="Segoe UI"/>
              </a:defRPr>
            </a:pPr>
            <a:r>
              <a:t>Defensible KPIs</a:t>
            </a:r>
          </a:p>
          <a:p>
            <a:pPr>
              <a:spcBef>
                <a:spcPts val="300"/>
              </a:spcBef>
              <a:defRPr sz="850">
                <a:solidFill>
                  <a:srgbClr val="94A3B8"/>
                </a:solidFill>
                <a:latin typeface="Segoe UI"/>
              </a:defRPr>
            </a:pPr>
            <a:r>
              <a:t>Transparent mathematical derivations without arbitrary substitutions</a:t>
            </a:r>
          </a:p>
        </p:txBody>
      </p:sp>
      <p:sp>
        <p:nvSpPr>
          <p:cNvPr id="10" name="Rounded Rectangle 9"/>
          <p:cNvSpPr/>
          <p:nvPr/>
        </p:nvSpPr>
        <p:spPr>
          <a:xfrm>
            <a:off x="8933688" y="132588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8B5CF6"/>
                </a:solidFill>
                <a:latin typeface="Segoe UI"/>
              </a:defRPr>
            </a:pPr>
            <a:r>
              <a:t>100%</a:t>
            </a:r>
          </a:p>
          <a:p>
            <a:pPr>
              <a:defRPr sz="1200" b="1">
                <a:solidFill>
                  <a:srgbClr val="F8FAFC"/>
                </a:solidFill>
                <a:latin typeface="Segoe UI"/>
              </a:defRPr>
            </a:pPr>
            <a:r>
              <a:t>Automated QA Pass</a:t>
            </a:r>
          </a:p>
          <a:p>
            <a:pPr>
              <a:spcBef>
                <a:spcPts val="300"/>
              </a:spcBef>
              <a:defRPr sz="850">
                <a:solidFill>
                  <a:srgbClr val="94A3B8"/>
                </a:solidFill>
                <a:latin typeface="Segoe UI"/>
              </a:defRPr>
            </a:pPr>
            <a:r>
              <a:t>12 of 12 tests passed with zero orphan records and zero duplicates</a:t>
            </a:r>
          </a:p>
        </p:txBody>
      </p:sp>
      <p:sp>
        <p:nvSpPr>
          <p:cNvPr id="11" name="Rounded Rectangle 10"/>
          <p:cNvSpPr/>
          <p:nvPr/>
        </p:nvSpPr>
        <p:spPr>
          <a:xfrm>
            <a:off x="731520" y="2971800"/>
            <a:ext cx="10728655" cy="3291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200" b="1">
                <a:solidFill>
                  <a:srgbClr val="06B6D4"/>
                </a:solidFill>
                <a:latin typeface="Segoe UI"/>
              </a:defRPr>
            </a:pPr>
            <a:r>
              <a:t>PROJECT CONTEXT &amp; VALUE PROPOSITION</a:t>
            </a:r>
          </a:p>
          <a:p>
            <a:pPr>
              <a:spcBef>
                <a:spcPts val="800"/>
              </a:spcBef>
              <a:defRPr sz="1000">
                <a:solidFill>
                  <a:srgbClr val="CBD5E1"/>
                </a:solidFill>
                <a:latin typeface="Segoe UI"/>
              </a:defRPr>
            </a:pPr>
            <a:r>
              <a:t>The Challenge: Global higher education evaluation data is heavily siloed across disparate ranking publications (QS World University Rankings, Times Higher Education) and macroeconomic databases (The World Bank). Incompatible schemas, conflicting metrics, and typographical entity variations prevent comprehensive benchmarking.</a:t>
            </a:r>
          </a:p>
          <a:p>
            <a:pPr>
              <a:spcBef>
                <a:spcPts val="800"/>
              </a:spcBef>
              <a:defRPr sz="1000">
                <a:solidFill>
                  <a:srgbClr val="CBD5E1"/>
                </a:solidFill>
                <a:latin typeface="Segoe UI"/>
              </a:defRPr>
            </a:pPr>
            <a:r>
              <a:t>The Engineering Solution: EduVision_DV establishes a deterministic Python ETL pipeline that standardizes column nomenclature, resolves university names through regex acronym stripping, and models data into an audit-compliant Star Schema with conformed dimensions.</a:t>
            </a:r>
          </a:p>
          <a:p>
            <a:pPr>
              <a:spcBef>
                <a:spcPts val="800"/>
              </a:spcBef>
              <a:defRPr sz="1000">
                <a:solidFill>
                  <a:srgbClr val="CBD5E1"/>
                </a:solidFill>
                <a:latin typeface="Segoe UI"/>
              </a:defRPr>
            </a:pPr>
            <a:r>
              <a:t>Defensible KPI Modeling: Engineered six core KPIs spanning Global Rankings, Citations per Faculty, actual Faculty-to-Student Ratios, empirical International Student Percentages, Academic Reputation, and a composite Research Productivity Index.</a:t>
            </a:r>
          </a:p>
          <a:p>
            <a:pPr>
              <a:spcBef>
                <a:spcPts val="800"/>
              </a:spcBef>
              <a:defRPr sz="1000">
                <a:solidFill>
                  <a:srgbClr val="CBD5E1"/>
                </a:solidFill>
                <a:latin typeface="Segoe UI"/>
              </a:defRPr>
            </a:pPr>
            <a:r>
              <a:t>Unified Tableau BI Delivery: Packaged into a single Tableau workbook (EduVision_DV.twbx) featuring four interconnected dashboards that enable decision-makers to drill from global university scorecards down into research citations, campus demographics, and national education spending (% of GDP).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STRUCTURE 2: NESTED MILESTONES &amp; MODULES SPECIFICATION</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Project Roadmap: 4-Milestone &amp; 8-Module Delivery Architecture</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3 / 19</a:t>
            </a:r>
          </a:p>
        </p:txBody>
      </p:sp>
      <p:sp>
        <p:nvSpPr>
          <p:cNvPr id="7" name="Rounded Rectangle 6"/>
          <p:cNvSpPr/>
          <p:nvPr/>
        </p:nvSpPr>
        <p:spPr>
          <a:xfrm>
            <a:off x="731520" y="1325880"/>
            <a:ext cx="2514600" cy="3977639"/>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100" b="1">
                <a:solidFill>
                  <a:srgbClr val="06B6D4"/>
                </a:solidFill>
                <a:latin typeface="Segoe UI"/>
              </a:defRPr>
            </a:pPr>
            <a:r>
              <a:t>MILESTONE 1 (WEEKS 1–2)</a:t>
            </a:r>
          </a:p>
          <a:p>
            <a:pPr>
              <a:spcBef>
                <a:spcPts val="200"/>
              </a:spcBef>
              <a:defRPr sz="850" b="1">
                <a:solidFill>
                  <a:srgbClr val="F8FAFC"/>
                </a:solidFill>
                <a:latin typeface="Segoe UI"/>
              </a:defRPr>
            </a:pPr>
            <a:r>
              <a:t>FOUNDATION &amp; INGESTION</a:t>
            </a:r>
          </a:p>
          <a:p>
            <a:pPr>
              <a:spcBef>
                <a:spcPts val="800"/>
              </a:spcBef>
              <a:defRPr sz="800">
                <a:solidFill>
                  <a:srgbClr val="CBD5E1"/>
                </a:solidFill>
                <a:latin typeface="Segoe UI"/>
              </a:defRPr>
            </a:pPr>
            <a:r>
              <a:t>• Module 1: Data Collection &amp; Integration</a:t>
            </a:r>
            <a:br/>
            <a:r>
              <a:t>  - Multi-source ingestion: QS 2025, THE 2024, WUR 2023, World Bank EdStats.</a:t>
            </a:r>
            <a:br/>
            <a:r>
              <a:t>  - Automated profiling &amp; schema validation in 01_data_loading.ipynb.</a:t>
            </a:r>
            <a:br/>
            <a:br/>
            <a:r>
              <a:t>• Module 2: Data Cleaning &amp; Preprocessing</a:t>
            </a:r>
            <a:br/>
            <a:r>
              <a:t>  - Deterministic cleaning &amp; regex acronym stripping (r'\(.*?\)').</a:t>
            </a:r>
            <a:br/>
            <a:r>
              <a:t>  - Relational Star Schema: 2 dimension tables (dim_university, dim_country) and 4 fact tables.</a:t>
            </a:r>
          </a:p>
        </p:txBody>
      </p:sp>
      <p:sp>
        <p:nvSpPr>
          <p:cNvPr id="8" name="Rounded Rectangle 7"/>
          <p:cNvSpPr/>
          <p:nvPr/>
        </p:nvSpPr>
        <p:spPr>
          <a:xfrm>
            <a:off x="3465576" y="1325880"/>
            <a:ext cx="2514600" cy="3977639"/>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100" b="1">
                <a:solidFill>
                  <a:srgbClr val="10B981"/>
                </a:solidFill>
                <a:latin typeface="Segoe UI"/>
              </a:defRPr>
            </a:pPr>
            <a:r>
              <a:t>MILESTONE 2 (WEEKS 3–4)</a:t>
            </a:r>
          </a:p>
          <a:p>
            <a:pPr>
              <a:spcBef>
                <a:spcPts val="200"/>
              </a:spcBef>
              <a:defRPr sz="850" b="1">
                <a:solidFill>
                  <a:srgbClr val="F8FAFC"/>
                </a:solidFill>
                <a:latin typeface="Segoe UI"/>
              </a:defRPr>
            </a:pPr>
            <a:r>
              <a:t>METRICS &amp; PROTOTYPING</a:t>
            </a:r>
          </a:p>
          <a:p>
            <a:pPr>
              <a:spcBef>
                <a:spcPts val="800"/>
              </a:spcBef>
              <a:defRPr sz="800">
                <a:solidFill>
                  <a:srgbClr val="CBD5E1"/>
                </a:solidFill>
                <a:latin typeface="Segoe UI"/>
              </a:defRPr>
            </a:pPr>
            <a:r>
              <a:t>• Module 3: KPI Engineering &amp; Formulation</a:t>
            </a:r>
            <a:br/>
            <a:r>
              <a:t>  - Mathematical formulation of 6 defensible higher education KPIs.</a:t>
            </a:r>
            <a:br/>
            <a:r>
              <a:t>  - Master analytical dataset (university_final_dataset.xlsx, kpi_master.csv).</a:t>
            </a:r>
            <a:br/>
            <a:br/>
            <a:r>
              <a:t>• Module 4: UI/UX Storyboarding &amp; Prototype</a:t>
            </a:r>
            <a:br/>
            <a:r>
              <a:t>  - Executive 4-dashboard storyboard specification (dashboard_storyboard.pdf).</a:t>
            </a:r>
            <a:br/>
            <a:r>
              <a:t>  - Interactive low-fidelity prototype workbook (eduvision_prototype.twbx).</a:t>
            </a:r>
          </a:p>
        </p:txBody>
      </p:sp>
      <p:sp>
        <p:nvSpPr>
          <p:cNvPr id="9" name="Rounded Rectangle 8"/>
          <p:cNvSpPr/>
          <p:nvPr/>
        </p:nvSpPr>
        <p:spPr>
          <a:xfrm>
            <a:off x="6199632" y="1325880"/>
            <a:ext cx="2514600" cy="3977639"/>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100" b="1">
                <a:solidFill>
                  <a:srgbClr val="F59E0B"/>
                </a:solidFill>
                <a:latin typeface="Segoe UI"/>
              </a:defRPr>
            </a:pPr>
            <a:r>
              <a:t>MILESTONE 3 (WEEKS 5–6)</a:t>
            </a:r>
          </a:p>
          <a:p>
            <a:pPr>
              <a:spcBef>
                <a:spcPts val="200"/>
              </a:spcBef>
              <a:defRPr sz="850" b="1">
                <a:solidFill>
                  <a:srgbClr val="F8FAFC"/>
                </a:solidFill>
                <a:latin typeface="Segoe UI"/>
              </a:defRPr>
            </a:pPr>
            <a:r>
              <a:t>BI DEVELOPMENT &amp; INTEGRATION</a:t>
            </a:r>
          </a:p>
          <a:p>
            <a:pPr>
              <a:spcBef>
                <a:spcPts val="800"/>
              </a:spcBef>
              <a:defRPr sz="800">
                <a:solidFill>
                  <a:srgbClr val="CBD5E1"/>
                </a:solidFill>
                <a:latin typeface="Segoe UI"/>
              </a:defRPr>
            </a:pPr>
            <a:r>
              <a:t>• Module 5: Initial Dashboard Development</a:t>
            </a:r>
            <a:br/>
            <a:r>
              <a:t>  - Visual component implementation: Global maps, KPI cards, scatter plots (v1).</a:t>
            </a:r>
            <a:br/>
            <a:br/>
            <a:r>
              <a:t>• Module 6: Final Integration &amp; Visuals</a:t>
            </a:r>
            <a:br/>
            <a:r>
              <a:t>  - Production Tableau BI Suite (EduVision_DV.twbx) with 4 interconnected views.</a:t>
            </a:r>
            <a:br/>
            <a:r>
              <a:t>  - Cross-dashboard filter actions, parameter controls, and persistent navigation.</a:t>
            </a:r>
          </a:p>
        </p:txBody>
      </p:sp>
      <p:sp>
        <p:nvSpPr>
          <p:cNvPr id="10" name="Rounded Rectangle 9"/>
          <p:cNvSpPr/>
          <p:nvPr/>
        </p:nvSpPr>
        <p:spPr>
          <a:xfrm>
            <a:off x="8933688" y="1325880"/>
            <a:ext cx="2514600" cy="3977639"/>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100" b="1">
                <a:solidFill>
                  <a:srgbClr val="8B5CF6"/>
                </a:solidFill>
                <a:latin typeface="Segoe UI"/>
              </a:defRPr>
            </a:pPr>
            <a:r>
              <a:t>MILESTONE 4 (WEEKS 7–8)</a:t>
            </a:r>
          </a:p>
          <a:p>
            <a:pPr>
              <a:spcBef>
                <a:spcPts val="200"/>
              </a:spcBef>
              <a:defRPr sz="850" b="1">
                <a:solidFill>
                  <a:srgbClr val="F8FAFC"/>
                </a:solidFill>
                <a:latin typeface="Segoe UI"/>
              </a:defRPr>
            </a:pPr>
            <a:r>
              <a:t>QA TESTING &amp; FINAL DELIVERY</a:t>
            </a:r>
          </a:p>
          <a:p>
            <a:pPr>
              <a:spcBef>
                <a:spcPts val="800"/>
              </a:spcBef>
              <a:defRPr sz="800">
                <a:solidFill>
                  <a:srgbClr val="CBD5E1"/>
                </a:solidFill>
                <a:latin typeface="Segoe UI"/>
              </a:defRPr>
            </a:pPr>
            <a:r>
              <a:t>• Module 7: Testing &amp; Quality Assurance</a:t>
            </a:r>
            <a:br/>
            <a:r>
              <a:t>  - Automated validation suite (validate_and_test.py, 05_validation.ipynb).</a:t>
            </a:r>
            <a:br/>
            <a:r>
              <a:t>  - 100% pass on 12 audit test cases (qa_checklist.xlsx / qa_checklist.md).</a:t>
            </a:r>
            <a:br/>
            <a:br/>
            <a:r>
              <a:t>• Module 8: Documentation &amp; Presentation</a:t>
            </a:r>
            <a:br/>
            <a:r>
              <a:t>  - Comprehensive technical manuals &amp; guidebooks (final_documentation.pdf).</a:t>
            </a:r>
            <a:br/>
            <a:r>
              <a:t>  - Executive project presentation (EduVision_DV_Project_Presentation.pptx).</a:t>
            </a:r>
          </a:p>
        </p:txBody>
      </p:sp>
      <p:sp>
        <p:nvSpPr>
          <p:cNvPr id="11" name="Rounded Rectangle 10"/>
          <p:cNvSpPr/>
          <p:nvPr/>
        </p:nvSpPr>
        <p:spPr>
          <a:xfrm>
            <a:off x="731520" y="5440680"/>
            <a:ext cx="10728655" cy="868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sz="1000" b="1">
                <a:solidFill>
                  <a:srgbClr val="10B981"/>
                </a:solidFill>
                <a:latin typeface="Segoe UI"/>
              </a:defRPr>
            </a:pPr>
            <a:r>
              <a:t>OFFICIAL REPOSITORY ARCHITECTURE: STRUCTURE 2 (NESTED MILESTONES WITH EXPLICIT MODULE SUBFOLDERS)</a:t>
            </a:r>
          </a:p>
          <a:p>
            <a:pPr>
              <a:spcBef>
                <a:spcPts val="300"/>
              </a:spcBef>
              <a:defRPr sz="850">
                <a:solidFill>
                  <a:srgbClr val="CBD5E1"/>
                </a:solidFill>
                <a:latin typeface="Segoe UI"/>
              </a:defRPr>
            </a:pPr>
            <a:r>
              <a:t>• Git Repository Root contains: Milestone 1/ (Modules 1–2), Milestone 2/ (Modules 3–4), Milestone 3/ (Modules 5–6), Milestone 4/ (Modules 7–8), Screenshots/, and Root Presentation.</a:t>
            </a:r>
            <a:br/>
            <a:r>
              <a:t>• Every Milestone and Module folder includes an independent technical README.md, data dictionaries, runnable Python code, and audit-ready outputs.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PROJECT BACKGROUND &amp; INDUSTRY MOTIVATION</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Problem Statement: Challenges in Global Higher Education Analytics</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4 / 19</a:t>
            </a:r>
          </a:p>
        </p:txBody>
      </p:sp>
      <p:sp>
        <p:nvSpPr>
          <p:cNvPr id="7" name="Rounded Rectangle 6"/>
          <p:cNvSpPr/>
          <p:nvPr/>
        </p:nvSpPr>
        <p:spPr>
          <a:xfrm>
            <a:off x="731520" y="1371600"/>
            <a:ext cx="34290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200" b="1">
                <a:solidFill>
                  <a:srgbClr val="10B981"/>
                </a:solidFill>
                <a:latin typeface="Segoe UI"/>
              </a:defRPr>
            </a:pPr>
            <a:r>
              <a:t>DATA SILOS &amp; DISPARATE METRICS</a:t>
            </a:r>
          </a:p>
          <a:p>
            <a:pPr>
              <a:spcBef>
                <a:spcPts val="1200"/>
              </a:spcBef>
              <a:defRPr sz="1000">
                <a:solidFill>
                  <a:srgbClr val="CBD5E1"/>
                </a:solidFill>
                <a:latin typeface="Segoe UI"/>
              </a:defRPr>
            </a:pPr>
            <a:r>
              <a:t>• Different ranking bodies evaluate different cohorts (QS surveys 1,503 universities; THE surveys 2,673).</a:t>
            </a:r>
            <a:br/>
            <a:r>
              <a:t>• Metrics conflict conceptually: one source reports scores (0–100), while another reports empirical ratios.</a:t>
            </a:r>
            <a:br/>
            <a:r>
              <a:t>• Multi-source integration is often plagued by arbitrary column mapping or blind merging into unmanageable flat files.</a:t>
            </a:r>
          </a:p>
        </p:txBody>
      </p:sp>
      <p:sp>
        <p:nvSpPr>
          <p:cNvPr id="8" name="Rounded Rectangle 7"/>
          <p:cNvSpPr/>
          <p:nvPr/>
        </p:nvSpPr>
        <p:spPr>
          <a:xfrm>
            <a:off x="4379976" y="1371600"/>
            <a:ext cx="34290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200" b="1">
                <a:solidFill>
                  <a:srgbClr val="F59E0B"/>
                </a:solidFill>
                <a:latin typeface="Segoe UI"/>
              </a:defRPr>
            </a:pPr>
            <a:r>
              <a:t>ENTITY MISALIGNMENT &amp; VARIATIONS</a:t>
            </a:r>
          </a:p>
          <a:p>
            <a:pPr>
              <a:spcBef>
                <a:spcPts val="1200"/>
              </a:spcBef>
              <a:defRPr sz="1000">
                <a:solidFill>
                  <a:srgbClr val="CBD5E1"/>
                </a:solidFill>
                <a:latin typeface="Segoe UI"/>
              </a:defRPr>
            </a:pPr>
            <a:r>
              <a:t>• University names have widespread surface-form discrepancies: e.g., 'Massachusetts Institute of Technology (MIT)' vs. 'Massachusetts Institute of Technology'.</a:t>
            </a:r>
            <a:br/>
            <a:r>
              <a:t>• Overuse of aggressive fuzzy matching creates dangerous false matches (e.g., confusing 'University of Delhi' with 'Delhi Technological University').</a:t>
            </a:r>
            <a:br/>
            <a:r>
              <a:t>• Inconsistent country naming ('USA' vs 'United States') causes fractured geographic records.</a:t>
            </a:r>
          </a:p>
        </p:txBody>
      </p:sp>
      <p:sp>
        <p:nvSpPr>
          <p:cNvPr id="9" name="Rounded Rectangle 8"/>
          <p:cNvSpPr/>
          <p:nvPr/>
        </p:nvSpPr>
        <p:spPr>
          <a:xfrm>
            <a:off x="8028432" y="1371600"/>
            <a:ext cx="34290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200" b="1">
                <a:solidFill>
                  <a:srgbClr val="8B5CF6"/>
                </a:solidFill>
                <a:latin typeface="Segoe UI"/>
              </a:defRPr>
            </a:pPr>
            <a:r>
              <a:t>DISCONNECTED DECISION MAKING</a:t>
            </a:r>
          </a:p>
          <a:p>
            <a:pPr>
              <a:spcBef>
                <a:spcPts val="1200"/>
              </a:spcBef>
              <a:defRPr sz="1000">
                <a:solidFill>
                  <a:srgbClr val="CBD5E1"/>
                </a:solidFill>
                <a:latin typeface="Segoe UI"/>
              </a:defRPr>
            </a:pPr>
            <a:r>
              <a:t>• Academic leaders lack unified intelligence to evaluate research impact alongside faculty advising capacity.</a:t>
            </a:r>
            <a:br/>
            <a:r>
              <a:t>• Students cannot compare class sizes and international campus diversity within a single tool.</a:t>
            </a:r>
            <a:br/>
            <a:r>
              <a:t>• Policymakers cannot visualize how national public education spending (% of GDP) translates into top-tier university capacity.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MILESTONE 1 / MODULE 1 | DATA COLLECTION &amp; INTEGRATION</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Data Acquisition: The Four Authoritative Data Sources</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5 / 19</a:t>
            </a:r>
          </a:p>
        </p:txBody>
      </p:sp>
      <p:graphicFrame>
        <p:nvGraphicFramePr>
          <p:cNvPr id="7" name="Table 6"/>
          <p:cNvGraphicFramePr>
            <a:graphicFrameLocks noGrp="1"/>
          </p:cNvGraphicFramePr>
          <p:nvPr/>
        </p:nvGraphicFramePr>
        <p:xfrm>
          <a:off x="731520" y="1371600"/>
          <a:ext cx="10728655" cy="2926080"/>
        </p:xfrm>
        <a:graphic>
          <a:graphicData uri="http://schemas.openxmlformats.org/drawingml/2006/table">
            <a:tbl>
              <a:tblPr firstRow="1" bandRow="1">
                <a:tableStyleId>{5C22544A-7EE6-4342-B048-85BDC9FD1C3A}</a:tableStyleId>
              </a:tblPr>
              <a:tblGrid>
                <a:gridCol w="2011680"/>
                <a:gridCol w="1645920"/>
                <a:gridCol w="1280160"/>
                <a:gridCol w="2286000"/>
                <a:gridCol w="3504895"/>
              </a:tblGrid>
              <a:tr h="585216">
                <a:tc>
                  <a:txBody>
                    <a:bodyPr/>
                    <a:lstStyle/>
                    <a:p>
                      <a:pPr>
                        <a:defRPr sz="950" b="1">
                          <a:solidFill>
                            <a:srgbClr val="06B6D4"/>
                          </a:solidFill>
                          <a:latin typeface="Segoe UI"/>
                        </a:defRPr>
                      </a:pPr>
                      <a:r>
                        <a:t>Dataset Title</a:t>
                      </a:r>
                    </a:p>
                  </a:txBody>
                  <a:tcPr>
                    <a:solidFill>
                      <a:srgbClr val="334155"/>
                    </a:solidFill>
                  </a:tcPr>
                </a:tc>
                <a:tc>
                  <a:txBody>
                    <a:bodyPr/>
                    <a:lstStyle/>
                    <a:p>
                      <a:pPr>
                        <a:defRPr sz="950" b="1">
                          <a:solidFill>
                            <a:srgbClr val="06B6D4"/>
                          </a:solidFill>
                          <a:latin typeface="Segoe UI"/>
                        </a:defRPr>
                      </a:pPr>
                      <a:r>
                        <a:t>Authority</a:t>
                      </a:r>
                    </a:p>
                  </a:txBody>
                  <a:tcPr>
                    <a:solidFill>
                      <a:srgbClr val="334155"/>
                    </a:solidFill>
                  </a:tcPr>
                </a:tc>
                <a:tc>
                  <a:txBody>
                    <a:bodyPr/>
                    <a:lstStyle/>
                    <a:p>
                      <a:pPr>
                        <a:defRPr sz="950" b="1">
                          <a:solidFill>
                            <a:srgbClr val="06B6D4"/>
                          </a:solidFill>
                          <a:latin typeface="Segoe UI"/>
                        </a:defRPr>
                      </a:pPr>
                      <a:r>
                        <a:t>Year</a:t>
                      </a:r>
                    </a:p>
                  </a:txBody>
                  <a:tcPr>
                    <a:solidFill>
                      <a:srgbClr val="334155"/>
                    </a:solidFill>
                  </a:tcPr>
                </a:tc>
                <a:tc>
                  <a:txBody>
                    <a:bodyPr/>
                    <a:lstStyle/>
                    <a:p>
                      <a:pPr>
                        <a:defRPr sz="950" b="1">
                          <a:solidFill>
                            <a:srgbClr val="06B6D4"/>
                          </a:solidFill>
                          <a:latin typeface="Segoe UI"/>
                        </a:defRPr>
                      </a:pPr>
                      <a:r>
                        <a:t>Coverage / Rows</a:t>
                      </a:r>
                    </a:p>
                  </a:txBody>
                  <a:tcPr>
                    <a:solidFill>
                      <a:srgbClr val="334155"/>
                    </a:solidFill>
                  </a:tcPr>
                </a:tc>
                <a:tc>
                  <a:txBody>
                    <a:bodyPr/>
                    <a:lstStyle/>
                    <a:p>
                      <a:pPr>
                        <a:defRPr sz="950" b="1">
                          <a:solidFill>
                            <a:srgbClr val="06B6D4"/>
                          </a:solidFill>
                          <a:latin typeface="Segoe UI"/>
                        </a:defRPr>
                      </a:pPr>
                      <a:r>
                        <a:t>Architectural Role &amp; Scope</a:t>
                      </a:r>
                    </a:p>
                  </a:txBody>
                  <a:tcPr>
                    <a:solidFill>
                      <a:srgbClr val="334155"/>
                    </a:solidFill>
                  </a:tcPr>
                </a:tc>
              </a:tr>
              <a:tr h="585216">
                <a:tc>
                  <a:txBody>
                    <a:bodyPr/>
                    <a:lstStyle/>
                    <a:p>
                      <a:pPr>
                        <a:defRPr sz="850">
                          <a:solidFill>
                            <a:srgbClr val="F8FAFC"/>
                          </a:solidFill>
                          <a:latin typeface="Segoe UI"/>
                        </a:defRPr>
                      </a:pPr>
                      <a:r>
                        <a:t>QS World Rankings 2025</a:t>
                      </a:r>
                    </a:p>
                  </a:txBody>
                  <a:tcPr>
                    <a:solidFill>
                      <a:srgbClr val="1E293B"/>
                    </a:solidFill>
                  </a:tcPr>
                </a:tc>
                <a:tc>
                  <a:txBody>
                    <a:bodyPr/>
                    <a:lstStyle/>
                    <a:p>
                      <a:pPr>
                        <a:defRPr sz="850">
                          <a:solidFill>
                            <a:srgbClr val="CBD5E1"/>
                          </a:solidFill>
                          <a:latin typeface="Segoe UI"/>
                        </a:defRPr>
                      </a:pPr>
                      <a:r>
                        <a:t>Quacquarelli Symonds</a:t>
                      </a:r>
                    </a:p>
                  </a:txBody>
                  <a:tcPr>
                    <a:solidFill>
                      <a:srgbClr val="1E293B"/>
                    </a:solidFill>
                  </a:tcPr>
                </a:tc>
                <a:tc>
                  <a:txBody>
                    <a:bodyPr/>
                    <a:lstStyle/>
                    <a:p>
                      <a:pPr>
                        <a:defRPr sz="850">
                          <a:solidFill>
                            <a:srgbClr val="CBD5E1"/>
                          </a:solidFill>
                          <a:latin typeface="Segoe UI"/>
                        </a:defRPr>
                      </a:pPr>
                      <a:r>
                        <a:t>2025</a:t>
                      </a:r>
                    </a:p>
                  </a:txBody>
                  <a:tcPr>
                    <a:solidFill>
                      <a:srgbClr val="1E293B"/>
                    </a:solidFill>
                  </a:tcPr>
                </a:tc>
                <a:tc>
                  <a:txBody>
                    <a:bodyPr/>
                    <a:lstStyle/>
                    <a:p>
                      <a:pPr>
                        <a:defRPr sz="850">
                          <a:solidFill>
                            <a:srgbClr val="CBD5E1"/>
                          </a:solidFill>
                          <a:latin typeface="Segoe UI"/>
                        </a:defRPr>
                      </a:pPr>
                      <a:r>
                        <a:t>1,503 universities, 106 nations</a:t>
                      </a:r>
                    </a:p>
                  </a:txBody>
                  <a:tcPr>
                    <a:solidFill>
                      <a:srgbClr val="1E293B"/>
                    </a:solidFill>
                  </a:tcPr>
                </a:tc>
                <a:tc>
                  <a:txBody>
                    <a:bodyPr/>
                    <a:lstStyle/>
                    <a:p>
                      <a:pPr>
                        <a:defRPr sz="850">
                          <a:solidFill>
                            <a:srgbClr val="CBD5E1"/>
                          </a:solidFill>
                          <a:latin typeface="Segoe UI"/>
                        </a:defRPr>
                      </a:pPr>
                      <a:r>
                        <a:t>Primary institutional dimension (dim_university), global rank, overall score, academic reputation.</a:t>
                      </a:r>
                    </a:p>
                  </a:txBody>
                  <a:tcPr>
                    <a:solidFill>
                      <a:srgbClr val="1E293B"/>
                    </a:solidFill>
                  </a:tcPr>
                </a:tc>
              </a:tr>
              <a:tr h="585216">
                <a:tc>
                  <a:txBody>
                    <a:bodyPr/>
                    <a:lstStyle/>
                    <a:p>
                      <a:pPr>
                        <a:defRPr sz="850">
                          <a:solidFill>
                            <a:srgbClr val="F8FAFC"/>
                          </a:solidFill>
                          <a:latin typeface="Segoe UI"/>
                        </a:defRPr>
                      </a:pPr>
                      <a:r>
                        <a:t>THE World Rankings 2024</a:t>
                      </a:r>
                    </a:p>
                  </a:txBody>
                  <a:tcPr>
                    <a:solidFill>
                      <a:srgbClr val="1E293B"/>
                    </a:solidFill>
                  </a:tcPr>
                </a:tc>
                <a:tc>
                  <a:txBody>
                    <a:bodyPr/>
                    <a:lstStyle/>
                    <a:p>
                      <a:pPr>
                        <a:defRPr sz="850">
                          <a:solidFill>
                            <a:srgbClr val="CBD5E1"/>
                          </a:solidFill>
                          <a:latin typeface="Segoe UI"/>
                        </a:defRPr>
                      </a:pPr>
                      <a:r>
                        <a:t>Times Higher Education</a:t>
                      </a:r>
                    </a:p>
                  </a:txBody>
                  <a:tcPr>
                    <a:solidFill>
                      <a:srgbClr val="1E293B"/>
                    </a:solidFill>
                  </a:tcPr>
                </a:tc>
                <a:tc>
                  <a:txBody>
                    <a:bodyPr/>
                    <a:lstStyle/>
                    <a:p>
                      <a:pPr>
                        <a:defRPr sz="850">
                          <a:solidFill>
                            <a:srgbClr val="CBD5E1"/>
                          </a:solidFill>
                          <a:latin typeface="Segoe UI"/>
                        </a:defRPr>
                      </a:pPr>
                      <a:r>
                        <a:t>2024</a:t>
                      </a:r>
                    </a:p>
                  </a:txBody>
                  <a:tcPr>
                    <a:solidFill>
                      <a:srgbClr val="1E293B"/>
                    </a:solidFill>
                  </a:tcPr>
                </a:tc>
                <a:tc>
                  <a:txBody>
                    <a:bodyPr/>
                    <a:lstStyle/>
                    <a:p>
                      <a:pPr>
                        <a:defRPr sz="850">
                          <a:solidFill>
                            <a:srgbClr val="CBD5E1"/>
                          </a:solidFill>
                          <a:latin typeface="Segoe UI"/>
                        </a:defRPr>
                      </a:pPr>
                      <a:r>
                        <a:t>2,673 universities</a:t>
                      </a:r>
                    </a:p>
                  </a:txBody>
                  <a:tcPr>
                    <a:solidFill>
                      <a:srgbClr val="1E293B"/>
                    </a:solidFill>
                  </a:tcPr>
                </a:tc>
                <a:tc>
                  <a:txBody>
                    <a:bodyPr/>
                    <a:lstStyle/>
                    <a:p>
                      <a:pPr>
                        <a:defRPr sz="850">
                          <a:solidFill>
                            <a:srgbClr val="CBD5E1"/>
                          </a:solidFill>
                          <a:latin typeface="Segoe UI"/>
                        </a:defRPr>
                      </a:pPr>
                      <a:r>
                        <a:t>Research environment, normalized citations, teaching score, industry income (fact_research).</a:t>
                      </a:r>
                    </a:p>
                  </a:txBody>
                  <a:tcPr>
                    <a:solidFill>
                      <a:srgbClr val="1E293B"/>
                    </a:solidFill>
                  </a:tcPr>
                </a:tc>
              </a:tr>
              <a:tr h="585216">
                <a:tc>
                  <a:txBody>
                    <a:bodyPr/>
                    <a:lstStyle/>
                    <a:p>
                      <a:pPr>
                        <a:defRPr sz="850">
                          <a:solidFill>
                            <a:srgbClr val="F8FAFC"/>
                          </a:solidFill>
                          <a:latin typeface="Segoe UI"/>
                        </a:defRPr>
                      </a:pPr>
                      <a:r>
                        <a:t>World University Rankings 2023</a:t>
                      </a:r>
                    </a:p>
                  </a:txBody>
                  <a:tcPr>
                    <a:solidFill>
                      <a:srgbClr val="1E293B"/>
                    </a:solidFill>
                  </a:tcPr>
                </a:tc>
                <a:tc>
                  <a:txBody>
                    <a:bodyPr/>
                    <a:lstStyle/>
                    <a:p>
                      <a:pPr>
                        <a:defRPr sz="850">
                          <a:solidFill>
                            <a:srgbClr val="CBD5E1"/>
                          </a:solidFill>
                          <a:latin typeface="Segoe UI"/>
                        </a:defRPr>
                      </a:pPr>
                      <a:r>
                        <a:t>Times Higher Education</a:t>
                      </a:r>
                    </a:p>
                  </a:txBody>
                  <a:tcPr>
                    <a:solidFill>
                      <a:srgbClr val="1E293B"/>
                    </a:solidFill>
                  </a:tcPr>
                </a:tc>
                <a:tc>
                  <a:txBody>
                    <a:bodyPr/>
                    <a:lstStyle/>
                    <a:p>
                      <a:pPr>
                        <a:defRPr sz="850">
                          <a:solidFill>
                            <a:srgbClr val="CBD5E1"/>
                          </a:solidFill>
                          <a:latin typeface="Segoe UI"/>
                        </a:defRPr>
                      </a:pPr>
                      <a:r>
                        <a:t>2023</a:t>
                      </a:r>
                    </a:p>
                  </a:txBody>
                  <a:tcPr>
                    <a:solidFill>
                      <a:srgbClr val="1E293B"/>
                    </a:solidFill>
                  </a:tcPr>
                </a:tc>
                <a:tc>
                  <a:txBody>
                    <a:bodyPr/>
                    <a:lstStyle/>
                    <a:p>
                      <a:pPr>
                        <a:defRPr sz="850">
                          <a:solidFill>
                            <a:srgbClr val="CBD5E1"/>
                          </a:solidFill>
                          <a:latin typeface="Segoe UI"/>
                        </a:defRPr>
                      </a:pPr>
                      <a:r>
                        <a:t>2,341 universities</a:t>
                      </a:r>
                    </a:p>
                  </a:txBody>
                  <a:tcPr>
                    <a:solidFill>
                      <a:srgbClr val="1E293B"/>
                    </a:solidFill>
                  </a:tcPr>
                </a:tc>
                <a:tc>
                  <a:txBody>
                    <a:bodyPr/>
                    <a:lstStyle/>
                    <a:p>
                      <a:pPr>
                        <a:defRPr sz="850">
                          <a:solidFill>
                            <a:srgbClr val="CBD5E1"/>
                          </a:solidFill>
                          <a:latin typeface="Segoe UI"/>
                        </a:defRPr>
                      </a:pPr>
                      <a:r>
                        <a:t>Student demographics: FTE student headcount, students per staff, international % (fact_student).</a:t>
                      </a:r>
                    </a:p>
                  </a:txBody>
                  <a:tcPr>
                    <a:solidFill>
                      <a:srgbClr val="1E293B"/>
                    </a:solidFill>
                  </a:tcPr>
                </a:tc>
              </a:tr>
              <a:tr h="585216">
                <a:tc>
                  <a:txBody>
                    <a:bodyPr/>
                    <a:lstStyle/>
                    <a:p>
                      <a:pPr>
                        <a:defRPr sz="850">
                          <a:solidFill>
                            <a:srgbClr val="F8FAFC"/>
                          </a:solidFill>
                          <a:latin typeface="Segoe UI"/>
                        </a:defRPr>
                      </a:pPr>
                      <a:r>
                        <a:t>World Bank EdStats</a:t>
                      </a:r>
                    </a:p>
                  </a:txBody>
                  <a:tcPr>
                    <a:solidFill>
                      <a:srgbClr val="1E293B"/>
                    </a:solidFill>
                  </a:tcPr>
                </a:tc>
                <a:tc>
                  <a:txBody>
                    <a:bodyPr/>
                    <a:lstStyle/>
                    <a:p>
                      <a:pPr>
                        <a:defRPr sz="850">
                          <a:solidFill>
                            <a:srgbClr val="CBD5E1"/>
                          </a:solidFill>
                          <a:latin typeface="Segoe UI"/>
                        </a:defRPr>
                      </a:pPr>
                      <a:r>
                        <a:t>The World Bank Group</a:t>
                      </a:r>
                    </a:p>
                  </a:txBody>
                  <a:tcPr>
                    <a:solidFill>
                      <a:srgbClr val="1E293B"/>
                    </a:solidFill>
                  </a:tcPr>
                </a:tc>
                <a:tc>
                  <a:txBody>
                    <a:bodyPr/>
                    <a:lstStyle/>
                    <a:p>
                      <a:pPr>
                        <a:defRPr sz="850">
                          <a:solidFill>
                            <a:srgbClr val="CBD5E1"/>
                          </a:solidFill>
                          <a:latin typeface="Segoe UI"/>
                        </a:defRPr>
                      </a:pPr>
                      <a:r>
                        <a:t>2010–2023</a:t>
                      </a:r>
                    </a:p>
                  </a:txBody>
                  <a:tcPr>
                    <a:solidFill>
                      <a:srgbClr val="1E293B"/>
                    </a:solidFill>
                  </a:tcPr>
                </a:tc>
                <a:tc>
                  <a:txBody>
                    <a:bodyPr/>
                    <a:lstStyle/>
                    <a:p>
                      <a:pPr>
                        <a:defRPr sz="850">
                          <a:solidFill>
                            <a:srgbClr val="CBD5E1"/>
                          </a:solidFill>
                          <a:latin typeface="Segoe UI"/>
                        </a:defRPr>
                      </a:pPr>
                      <a:r>
                        <a:t>242 countries (Scoped to 2,243 rows)</a:t>
                      </a:r>
                    </a:p>
                  </a:txBody>
                  <a:tcPr>
                    <a:solidFill>
                      <a:srgbClr val="1E293B"/>
                    </a:solidFill>
                  </a:tcPr>
                </a:tc>
                <a:tc>
                  <a:txBody>
                    <a:bodyPr/>
                    <a:lstStyle/>
                    <a:p>
                      <a:pPr>
                        <a:defRPr sz="850">
                          <a:solidFill>
                            <a:srgbClr val="CBD5E1"/>
                          </a:solidFill>
                          <a:latin typeface="Segoe UI"/>
                        </a:defRPr>
                      </a:pPr>
                      <a:r>
                        <a:t>Macroeconomic indicators: public education spend (% GDP), tertiary enrollment (fact_country_education).</a:t>
                      </a:r>
                    </a:p>
                  </a:txBody>
                  <a:tcPr>
                    <a:solidFill>
                      <a:srgbClr val="1E293B"/>
                    </a:solidFill>
                  </a:tcPr>
                </a:tc>
              </a:tr>
            </a:tbl>
          </a:graphicData>
        </a:graphic>
      </p:graphicFrame>
      <p:sp>
        <p:nvSpPr>
          <p:cNvPr id="8" name="Rounded Rectangle 7"/>
          <p:cNvSpPr/>
          <p:nvPr/>
        </p:nvSpPr>
        <p:spPr>
          <a:xfrm>
            <a:off x="731520" y="4480560"/>
            <a:ext cx="10728655" cy="1783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100" b="1">
                <a:solidFill>
                  <a:srgbClr val="F59E0B"/>
                </a:solidFill>
                <a:latin typeface="Segoe UI"/>
              </a:defRPr>
            </a:pPr>
            <a:r>
              <a:t>CRITICAL PRINCIPLE: UNIVERSITY MATCH RATE VS. DATA COMPLETENESS</a:t>
            </a:r>
          </a:p>
          <a:p>
            <a:pPr>
              <a:spcBef>
                <a:spcPts val="400"/>
              </a:spcBef>
              <a:defRPr sz="950">
                <a:solidFill>
                  <a:srgbClr val="CBD5E1"/>
                </a:solidFill>
                <a:latin typeface="Segoe UI"/>
              </a:defRPr>
            </a:pPr>
            <a:r>
              <a:t>• University Match Rate: Represents the overlap between distinct ranking bodies (~55–60% natural overlap between QS and THE). Aggressive fuzzy matching was strictly prohibited to prevent false positive matches.</a:t>
            </a:r>
            <a:br/>
            <a:r>
              <a:t>• Data Completeness: Measures the integrity of populated fields within the cleaned star schema. 100% completeness was achieved on all required dimension keys.</a:t>
            </a:r>
            <a:br/>
            <a:r>
              <a:t>• Methodological Rule: A false match is significantly worse than a missing match.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MILESTONE 1 / MODULE 2 | DATA CLEANING &amp; STANDARDIZATION</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ETL Pipeline: Deterministic Data Cleaning &amp; Entity Resolution</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6 / 19</a:t>
            </a:r>
          </a:p>
        </p:txBody>
      </p:sp>
      <p:sp>
        <p:nvSpPr>
          <p:cNvPr id="7" name="Rounded Rectangle 6"/>
          <p:cNvSpPr/>
          <p:nvPr/>
        </p:nvSpPr>
        <p:spPr>
          <a:xfrm>
            <a:off x="731520" y="1371600"/>
            <a:ext cx="25146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100" b="1">
                <a:solidFill>
                  <a:srgbClr val="06B6D4"/>
                </a:solidFill>
                <a:latin typeface="Segoe UI"/>
              </a:defRPr>
            </a:pPr>
            <a:r>
              <a:t>STAGE 1: HEADER CLEANING</a:t>
            </a:r>
          </a:p>
          <a:p>
            <a:pPr>
              <a:spcBef>
                <a:spcPts val="1200"/>
              </a:spcBef>
              <a:defRPr sz="950">
                <a:solidFill>
                  <a:srgbClr val="CBD5E1"/>
                </a:solidFill>
                <a:latin typeface="Segoe UI"/>
              </a:defRPr>
            </a:pPr>
            <a:r>
              <a:t>• Standardized all column names to lowercase snake_case.</a:t>
            </a:r>
            <a:br/>
            <a:r>
              <a:t>• Replaced spaces and hyphens with underscores.</a:t>
            </a:r>
            <a:br/>
            <a:r>
              <a:t>• Stripped non-alphanumeric characters and invisible UTF-8 byte-order marks (\ufeff).</a:t>
            </a:r>
          </a:p>
        </p:txBody>
      </p:sp>
      <p:sp>
        <p:nvSpPr>
          <p:cNvPr id="8" name="Rounded Rectangle 7"/>
          <p:cNvSpPr/>
          <p:nvPr/>
        </p:nvSpPr>
        <p:spPr>
          <a:xfrm>
            <a:off x="3465576" y="1371600"/>
            <a:ext cx="25146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100" b="1">
                <a:solidFill>
                  <a:srgbClr val="10B981"/>
                </a:solidFill>
                <a:latin typeface="Segoe UI"/>
              </a:defRPr>
            </a:pPr>
            <a:r>
              <a:t>STAGE 2: ENTITY RESOLUTION</a:t>
            </a:r>
          </a:p>
          <a:p>
            <a:pPr>
              <a:spcBef>
                <a:spcPts val="1200"/>
              </a:spcBef>
              <a:defRPr sz="950">
                <a:solidFill>
                  <a:srgbClr val="CBD5E1"/>
                </a:solidFill>
                <a:latin typeface="Segoe UI"/>
              </a:defRPr>
            </a:pPr>
            <a:r>
              <a:t>• Stripped parenthetical acronyms using regex r'\(.*?\)' (e.g. '(MIT)').</a:t>
            </a:r>
            <a:br/>
            <a:r>
              <a:t>• Removed punctuation r'[^\w\s]' and collapsed spaces r'\s+'.</a:t>
            </a:r>
            <a:br/>
            <a:r>
              <a:t>• Produced 849 verified research matches and 804 student matches with 0 false matches.</a:t>
            </a:r>
          </a:p>
        </p:txBody>
      </p:sp>
      <p:sp>
        <p:nvSpPr>
          <p:cNvPr id="9" name="Rounded Rectangle 8"/>
          <p:cNvSpPr/>
          <p:nvPr/>
        </p:nvSpPr>
        <p:spPr>
          <a:xfrm>
            <a:off x="6199632" y="1371600"/>
            <a:ext cx="25146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100" b="1">
                <a:solidFill>
                  <a:srgbClr val="F59E0B"/>
                </a:solidFill>
                <a:latin typeface="Segoe UI"/>
              </a:defRPr>
            </a:pPr>
            <a:r>
              <a:t>STAGE 3: COUNTRY HARMONIZATION</a:t>
            </a:r>
          </a:p>
          <a:p>
            <a:pPr>
              <a:spcBef>
                <a:spcPts val="1200"/>
              </a:spcBef>
              <a:defRPr sz="950">
                <a:solidFill>
                  <a:srgbClr val="CBD5E1"/>
                </a:solidFill>
                <a:latin typeface="Segoe UI"/>
              </a:defRPr>
            </a:pPr>
            <a:r>
              <a:t>• Harmonized fragmented sovereign country names ('USA', 'US' -&gt; 'United States'; 'UK' -&gt; 'United Kingdom').</a:t>
            </a:r>
            <a:br/>
            <a:r>
              <a:t>• Assigned conformed surrogate keys (C0001..C0106) across 106 nations.</a:t>
            </a:r>
          </a:p>
        </p:txBody>
      </p:sp>
      <p:sp>
        <p:nvSpPr>
          <p:cNvPr id="10" name="Rounded Rectangle 9"/>
          <p:cNvSpPr/>
          <p:nvPr/>
        </p:nvSpPr>
        <p:spPr>
          <a:xfrm>
            <a:off x="8933688" y="1371600"/>
            <a:ext cx="25146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100" b="1">
                <a:solidFill>
                  <a:srgbClr val="8B5CF6"/>
                </a:solidFill>
                <a:latin typeface="Segoe UI"/>
              </a:defRPr>
            </a:pPr>
            <a:r>
              <a:t>STAGE 4: MISSING VALUE RULES</a:t>
            </a:r>
          </a:p>
          <a:p>
            <a:pPr>
              <a:spcBef>
                <a:spcPts val="1200"/>
              </a:spcBef>
              <a:defRPr sz="950">
                <a:solidFill>
                  <a:srgbClr val="CBD5E1"/>
                </a:solidFill>
                <a:latin typeface="Segoe UI"/>
              </a:defRPr>
            </a:pPr>
            <a:r>
              <a:t>• Category A (Keys): 0.0% missing allowed.</a:t>
            </a:r>
            <a:br/>
            <a:r>
              <a:t>• Category B (Scores): Preserved NaN instead of zero-filling to protect true means and percentiles.</a:t>
            </a:r>
            <a:br/>
            <a:r>
              <a:t>• Imputed ranks &gt; 500 via inverse percentile rank formula.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MILESTONE 1 / MODULE 2 | RELATIONAL STAR SCHEMA MODEL</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Data Architecture: Audit-Compliant Relational Star Schema</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7 / 19</a:t>
            </a:r>
          </a:p>
        </p:txBody>
      </p:sp>
      <p:sp>
        <p:nvSpPr>
          <p:cNvPr id="7" name="Rounded Rectangle 6"/>
          <p:cNvSpPr/>
          <p:nvPr/>
        </p:nvSpPr>
        <p:spPr>
          <a:xfrm>
            <a:off x="731520" y="1371600"/>
            <a:ext cx="512064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200" b="1">
                <a:solidFill>
                  <a:srgbClr val="06B6D4"/>
                </a:solidFill>
                <a:latin typeface="Segoe UI"/>
              </a:defRPr>
            </a:pPr>
            <a:r>
              <a:t>STAR SCHEMA DESIGN RATIONALE</a:t>
            </a:r>
          </a:p>
          <a:p>
            <a:pPr>
              <a:spcBef>
                <a:spcPts val="800"/>
              </a:spcBef>
              <a:defRPr sz="950">
                <a:solidFill>
                  <a:srgbClr val="CBD5E1"/>
                </a:solidFill>
                <a:latin typeface="Segoe UI"/>
              </a:defRPr>
            </a:pPr>
            <a:r>
              <a:t>Conformed Dimension Tables:</a:t>
            </a:r>
            <a:br/>
            <a:r>
              <a:t>• dim_university (1,503 rows): Master institutional entity with surrogate key U0001..U1503 in Milestone 1 / Module 2.</a:t>
            </a:r>
            <a:br/>
            <a:r>
              <a:t>• dim_country (106 rows): Conformed country entity with surrogate key C0001..C0106.</a:t>
            </a:r>
          </a:p>
          <a:p>
            <a:pPr>
              <a:spcBef>
                <a:spcPts val="800"/>
              </a:spcBef>
              <a:defRPr sz="950">
                <a:solidFill>
                  <a:srgbClr val="CBD5E1"/>
                </a:solidFill>
                <a:latin typeface="Segoe UI"/>
              </a:defRPr>
            </a:pPr>
            <a:r>
              <a:t>Fact Tables (Separation of Concerns):</a:t>
            </a:r>
            <a:br/>
            <a:r>
              <a:t>• fact_university_performance (1,503 rows): QS 2025 ranking metrics.</a:t>
            </a:r>
            <a:br/>
            <a:r>
              <a:t>• fact_research (849 rows): THE 2024 citation &amp; productivity metrics.</a:t>
            </a:r>
            <a:br/>
            <a:r>
              <a:t>• fact_student (804 rows): WUR 2023 enrollment &amp; staffing metrics.</a:t>
            </a:r>
            <a:br/>
            <a:r>
              <a:t>• fact_country_education (2,243 rows): World Bank macroeconomic indicators.</a:t>
            </a:r>
          </a:p>
          <a:p>
            <a:pPr>
              <a:spcBef>
                <a:spcPts val="800"/>
              </a:spcBef>
              <a:defRPr sz="950">
                <a:solidFill>
                  <a:srgbClr val="CBD5E1"/>
                </a:solidFill>
                <a:latin typeface="Segoe UI"/>
              </a:defRPr>
            </a:pPr>
            <a:r>
              <a:t>No Cartesian Explosion: University-level data and country-level data exist at different granularities. A Star Schema ensures zero row duplication during Tableau joins.</a:t>
            </a:r>
          </a:p>
          <a:p>
            <a:pPr>
              <a:spcBef>
                <a:spcPts val="800"/>
              </a:spcBef>
              <a:defRPr sz="950">
                <a:solidFill>
                  <a:srgbClr val="CBD5E1"/>
                </a:solidFill>
                <a:latin typeface="Segoe UI"/>
              </a:defRPr>
            </a:pPr>
            <a:r>
              <a:t>Analytical Master (kpi_master): Consolidated pre-joined table (1,503 rows in Milestone 2 / Module 3) containing all six core KPIs for high-performance Tableau querying.</a:t>
            </a:r>
          </a:p>
        </p:txBody>
      </p:sp>
      <p:sp>
        <p:nvSpPr>
          <p:cNvPr id="8" name="Rounded Rectangle 7"/>
          <p:cNvSpPr/>
          <p:nvPr/>
        </p:nvSpPr>
        <p:spPr>
          <a:xfrm>
            <a:off x="6126480" y="1371600"/>
            <a:ext cx="533369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200" b="1">
                <a:solidFill>
                  <a:srgbClr val="10B981"/>
                </a:solidFill>
                <a:latin typeface="Segoe UI"/>
              </a:defRPr>
            </a:pPr>
            <a:r>
              <a:t>RELATIONAL ENTITY STRUCTURE</a:t>
            </a:r>
          </a:p>
          <a:p>
            <a:pPr>
              <a:spcBef>
                <a:spcPts val="800"/>
              </a:spcBef>
              <a:defRPr sz="900">
                <a:solidFill>
                  <a:srgbClr val="06B6D4"/>
                </a:solidFill>
                <a:latin typeface="Courier New"/>
              </a:defRPr>
            </a:pPr>
            <a:r>
              <a:t>┌────────────────────────────────────────────────────────┐</a:t>
            </a:r>
            <a:br/>
            <a:r>
              <a:t>│              dim_university (1,503 rows)               │</a:t>
            </a:r>
            <a:br/>
            <a:r>
              <a:t>│  PK: university_id | university_name | FK: country_id  │</a:t>
            </a:r>
            <a:br/>
            <a:r>
              <a:t>└──────────────┬──────────────────┬──────────────────────┘</a:t>
            </a:r>
            <a:br/>
            <a:r>
              <a:t>               │ 1:1              │ 1:1</a:t>
            </a:r>
            <a:br/>
            <a:r>
              <a:t>       ┌───────┴───────┐   ┌──────┴────────┐</a:t>
            </a:r>
            <a:br/>
            <a:r>
              <a:t>       ▼               ▼   ▼               ▼</a:t>
            </a:r>
            <a:br/>
            <a:r>
              <a:t>┌───────────────┐ ┌─────────────────┐ ┌──────────────────┐</a:t>
            </a:r>
            <a:br/>
            <a:r>
              <a:t>│ fact_perform- │ │  fact_research  │ │   fact_student   │</a:t>
            </a:r>
            <a:br/>
            <a:r>
              <a:t>│ ance (1,503)  │ │   (849 rows)    │ │    (804 rows)    │</a:t>
            </a:r>
            <a:br/>
            <a:r>
              <a:t>└───────────────┘ └─────────────────┘ └──────────────────┘</a:t>
            </a:r>
            <a:br/>
            <a:r>
              <a:t>                               │ M:1</a:t>
            </a:r>
            <a:br/>
            <a:r>
              <a:t>                               ▼</a:t>
            </a:r>
            <a:br/>
            <a:r>
              <a:t>┌────────────────────────────────────────────────────────┐</a:t>
            </a:r>
            <a:br/>
            <a:r>
              <a:t>│               dim_country (106 rows)                   │</a:t>
            </a:r>
            <a:br/>
            <a:r>
              <a:t>│  PK: country_id | country_name | region                │</a:t>
            </a:r>
            <a:br/>
            <a:r>
              <a:t>└──────────────────────────────┬─────────────────────────┘</a:t>
            </a:r>
            <a:br/>
            <a:r>
              <a:t>                               │ 1:M</a:t>
            </a:r>
            <a:br/>
            <a:r>
              <a:t>                               ▼</a:t>
            </a:r>
            <a:br/>
            <a:r>
              <a:t>┌────────────────────────────────────────────────────────┐</a:t>
            </a:r>
            <a:br/>
            <a:r>
              <a:t>│       fact_country_education (2,243 rows)              │</a:t>
            </a:r>
            <a:br/>
            <a:r>
              <a:t>│  FK: country_id | year | indicator | value             │</a:t>
            </a:r>
            <a:b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MILESTONE 2 / MODULE 3 | KPI FORMULATION &amp; METRICS</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KPI Engineering: Summary of the Six Performance Metrics</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8 / 19</a:t>
            </a:r>
          </a:p>
        </p:txBody>
      </p:sp>
      <p:graphicFrame>
        <p:nvGraphicFramePr>
          <p:cNvPr id="7" name="Table 6"/>
          <p:cNvGraphicFramePr>
            <a:graphicFrameLocks noGrp="1"/>
          </p:cNvGraphicFramePr>
          <p:nvPr/>
        </p:nvGraphicFramePr>
        <p:xfrm>
          <a:off x="731520" y="1371600"/>
          <a:ext cx="10728655" cy="3657600"/>
        </p:xfrm>
        <a:graphic>
          <a:graphicData uri="http://schemas.openxmlformats.org/drawingml/2006/table">
            <a:tbl>
              <a:tblPr firstRow="1" bandRow="1">
                <a:tableStyleId>{5C22544A-7EE6-4342-B048-85BDC9FD1C3A}</a:tableStyleId>
              </a:tblPr>
              <a:tblGrid>
                <a:gridCol w="2011680"/>
                <a:gridCol w="1828800"/>
                <a:gridCol w="3962095"/>
                <a:gridCol w="1463040"/>
                <a:gridCol w="1463040"/>
              </a:tblGrid>
              <a:tr h="522514">
                <a:tc>
                  <a:txBody>
                    <a:bodyPr/>
                    <a:lstStyle/>
                    <a:p>
                      <a:pPr>
                        <a:defRPr sz="950" b="1">
                          <a:solidFill>
                            <a:srgbClr val="06B6D4"/>
                          </a:solidFill>
                          <a:latin typeface="Segoe UI"/>
                        </a:defRPr>
                      </a:pPr>
                      <a:r>
                        <a:t>KPI Name</a:t>
                      </a:r>
                    </a:p>
                  </a:txBody>
                  <a:tcPr>
                    <a:solidFill>
                      <a:srgbClr val="334155"/>
                    </a:solidFill>
                  </a:tcPr>
                </a:tc>
                <a:tc>
                  <a:txBody>
                    <a:bodyPr/>
                    <a:lstStyle/>
                    <a:p>
                      <a:pPr>
                        <a:defRPr sz="950" b="1">
                          <a:solidFill>
                            <a:srgbClr val="06B6D4"/>
                          </a:solidFill>
                          <a:latin typeface="Segoe UI"/>
                        </a:defRPr>
                      </a:pPr>
                      <a:r>
                        <a:t>Primary Source</a:t>
                      </a:r>
                    </a:p>
                  </a:txBody>
                  <a:tcPr>
                    <a:solidFill>
                      <a:srgbClr val="334155"/>
                    </a:solidFill>
                  </a:tcPr>
                </a:tc>
                <a:tc>
                  <a:txBody>
                    <a:bodyPr/>
                    <a:lstStyle/>
                    <a:p>
                      <a:pPr>
                        <a:defRPr sz="950" b="1">
                          <a:solidFill>
                            <a:srgbClr val="06B6D4"/>
                          </a:solidFill>
                          <a:latin typeface="Segoe UI"/>
                        </a:defRPr>
                      </a:pPr>
                      <a:r>
                        <a:t>Mathematical Derivation / Formula</a:t>
                      </a:r>
                    </a:p>
                  </a:txBody>
                  <a:tcPr>
                    <a:solidFill>
                      <a:srgbClr val="334155"/>
                    </a:solidFill>
                  </a:tcPr>
                </a:tc>
                <a:tc>
                  <a:txBody>
                    <a:bodyPr/>
                    <a:lstStyle/>
                    <a:p>
                      <a:pPr>
                        <a:defRPr sz="950" b="1">
                          <a:solidFill>
                            <a:srgbClr val="06B6D4"/>
                          </a:solidFill>
                          <a:latin typeface="Segoe UI"/>
                        </a:defRPr>
                      </a:pPr>
                      <a:r>
                        <a:t>Output Unit</a:t>
                      </a:r>
                    </a:p>
                  </a:txBody>
                  <a:tcPr>
                    <a:solidFill>
                      <a:srgbClr val="334155"/>
                    </a:solidFill>
                  </a:tcPr>
                </a:tc>
                <a:tc>
                  <a:txBody>
                    <a:bodyPr/>
                    <a:lstStyle/>
                    <a:p>
                      <a:pPr>
                        <a:defRPr sz="950" b="1">
                          <a:solidFill>
                            <a:srgbClr val="06B6D4"/>
                          </a:solidFill>
                          <a:latin typeface="Segoe UI"/>
                        </a:defRPr>
                      </a:pPr>
                      <a:r>
                        <a:t>Allowable Range</a:t>
                      </a:r>
                    </a:p>
                  </a:txBody>
                  <a:tcPr>
                    <a:solidFill>
                      <a:srgbClr val="334155"/>
                    </a:solidFill>
                  </a:tcPr>
                </a:tc>
              </a:tr>
              <a:tr h="522514">
                <a:tc>
                  <a:txBody>
                    <a:bodyPr/>
                    <a:lstStyle/>
                    <a:p>
                      <a:pPr>
                        <a:defRPr sz="850">
                          <a:solidFill>
                            <a:srgbClr val="F8FAFC"/>
                          </a:solidFill>
                          <a:latin typeface="Segoe UI"/>
                        </a:defRPr>
                      </a:pPr>
                      <a:r>
                        <a:t>1. Global Ranking Score</a:t>
                      </a:r>
                    </a:p>
                  </a:txBody>
                  <a:tcPr>
                    <a:solidFill>
                      <a:srgbClr val="1E293B"/>
                    </a:solidFill>
                  </a:tcPr>
                </a:tc>
                <a:tc>
                  <a:txBody>
                    <a:bodyPr/>
                    <a:lstStyle/>
                    <a:p>
                      <a:pPr>
                        <a:defRPr sz="850">
                          <a:solidFill>
                            <a:srgbClr val="CBD5E1"/>
                          </a:solidFill>
                          <a:latin typeface="Segoe UI"/>
                        </a:defRPr>
                      </a:pPr>
                      <a:r>
                        <a:t>QS World Rankings 2025</a:t>
                      </a:r>
                    </a:p>
                  </a:txBody>
                  <a:tcPr>
                    <a:solidFill>
                      <a:srgbClr val="1E293B"/>
                    </a:solidFill>
                  </a:tcPr>
                </a:tc>
                <a:tc>
                  <a:txBody>
                    <a:bodyPr/>
                    <a:lstStyle/>
                    <a:p>
                      <a:pPr>
                        <a:defRPr sz="850">
                          <a:solidFill>
                            <a:srgbClr val="CBD5E1"/>
                          </a:solidFill>
                          <a:latin typeface="Segoe UI"/>
                        </a:defRPr>
                      </a:pPr>
                      <a:r>
                        <a:t>QS Overall Score (Percentile rank imputed for rank &gt; 500)</a:t>
                      </a:r>
                    </a:p>
                  </a:txBody>
                  <a:tcPr>
                    <a:solidFill>
                      <a:srgbClr val="1E293B"/>
                    </a:solidFill>
                  </a:tcPr>
                </a:tc>
                <a:tc>
                  <a:txBody>
                    <a:bodyPr/>
                    <a:lstStyle/>
                    <a:p>
                      <a:pPr>
                        <a:defRPr sz="850">
                          <a:solidFill>
                            <a:srgbClr val="CBD5E1"/>
                          </a:solidFill>
                          <a:latin typeface="Segoe UI"/>
                        </a:defRPr>
                      </a:pPr>
                      <a:r>
                        <a:t>Index Score</a:t>
                      </a:r>
                    </a:p>
                  </a:txBody>
                  <a:tcPr>
                    <a:solidFill>
                      <a:srgbClr val="1E293B"/>
                    </a:solidFill>
                  </a:tcPr>
                </a:tc>
                <a:tc>
                  <a:txBody>
                    <a:bodyPr/>
                    <a:lstStyle/>
                    <a:p>
                      <a:pPr>
                        <a:defRPr sz="850">
                          <a:solidFill>
                            <a:srgbClr val="CBD5E1"/>
                          </a:solidFill>
                          <a:latin typeface="Segoe UI"/>
                        </a:defRPr>
                      </a:pPr>
                      <a:r>
                        <a:t>0.0 – 100.0</a:t>
                      </a:r>
                    </a:p>
                  </a:txBody>
                  <a:tcPr>
                    <a:solidFill>
                      <a:srgbClr val="1E293B"/>
                    </a:solidFill>
                  </a:tcPr>
                </a:tc>
              </a:tr>
              <a:tr h="522514">
                <a:tc>
                  <a:txBody>
                    <a:bodyPr/>
                    <a:lstStyle/>
                    <a:p>
                      <a:pPr>
                        <a:defRPr sz="850">
                          <a:solidFill>
                            <a:srgbClr val="F8FAFC"/>
                          </a:solidFill>
                          <a:latin typeface="Segoe UI"/>
                        </a:defRPr>
                      </a:pPr>
                      <a:r>
                        <a:t>2. Research Impact Score</a:t>
                      </a:r>
                    </a:p>
                  </a:txBody>
                  <a:tcPr>
                    <a:solidFill>
                      <a:srgbClr val="1E293B"/>
                    </a:solidFill>
                  </a:tcPr>
                </a:tc>
                <a:tc>
                  <a:txBody>
                    <a:bodyPr/>
                    <a:lstStyle/>
                    <a:p>
                      <a:pPr>
                        <a:defRPr sz="850">
                          <a:solidFill>
                            <a:srgbClr val="CBD5E1"/>
                          </a:solidFill>
                          <a:latin typeface="Segoe UI"/>
                        </a:defRPr>
                      </a:pPr>
                      <a:r>
                        <a:t>QS / THE Citations</a:t>
                      </a:r>
                    </a:p>
                  </a:txBody>
                  <a:tcPr>
                    <a:solidFill>
                      <a:srgbClr val="1E293B"/>
                    </a:solidFill>
                  </a:tcPr>
                </a:tc>
                <a:tc>
                  <a:txBody>
                    <a:bodyPr/>
                    <a:lstStyle/>
                    <a:p>
                      <a:pPr>
                        <a:defRPr sz="850">
                          <a:solidFill>
                            <a:srgbClr val="CBD5E1"/>
                          </a:solidFill>
                          <a:latin typeface="Segoe UI"/>
                        </a:defRPr>
                      </a:pPr>
                      <a:r>
                        <a:t>QS Citations per Faculty Score (Normalized for faculty size)</a:t>
                      </a:r>
                    </a:p>
                  </a:txBody>
                  <a:tcPr>
                    <a:solidFill>
                      <a:srgbClr val="1E293B"/>
                    </a:solidFill>
                  </a:tcPr>
                </a:tc>
                <a:tc>
                  <a:txBody>
                    <a:bodyPr/>
                    <a:lstStyle/>
                    <a:p>
                      <a:pPr>
                        <a:defRPr sz="850">
                          <a:solidFill>
                            <a:srgbClr val="CBD5E1"/>
                          </a:solidFill>
                          <a:latin typeface="Segoe UI"/>
                        </a:defRPr>
                      </a:pPr>
                      <a:r>
                        <a:t>Index Score</a:t>
                      </a:r>
                    </a:p>
                  </a:txBody>
                  <a:tcPr>
                    <a:solidFill>
                      <a:srgbClr val="1E293B"/>
                    </a:solidFill>
                  </a:tcPr>
                </a:tc>
                <a:tc>
                  <a:txBody>
                    <a:bodyPr/>
                    <a:lstStyle/>
                    <a:p>
                      <a:pPr>
                        <a:defRPr sz="850">
                          <a:solidFill>
                            <a:srgbClr val="CBD5E1"/>
                          </a:solidFill>
                          <a:latin typeface="Segoe UI"/>
                        </a:defRPr>
                      </a:pPr>
                      <a:r>
                        <a:t>0.0 – 100.0</a:t>
                      </a:r>
                    </a:p>
                  </a:txBody>
                  <a:tcPr>
                    <a:solidFill>
                      <a:srgbClr val="1E293B"/>
                    </a:solidFill>
                  </a:tcPr>
                </a:tc>
              </a:tr>
              <a:tr h="522514">
                <a:tc>
                  <a:txBody>
                    <a:bodyPr/>
                    <a:lstStyle/>
                    <a:p>
                      <a:pPr>
                        <a:defRPr sz="850">
                          <a:solidFill>
                            <a:srgbClr val="F8FAFC"/>
                          </a:solidFill>
                          <a:latin typeface="Segoe UI"/>
                        </a:defRPr>
                      </a:pPr>
                      <a:r>
                        <a:t>3. Faculty-to-Student Ratio</a:t>
                      </a:r>
                    </a:p>
                  </a:txBody>
                  <a:tcPr>
                    <a:solidFill>
                      <a:srgbClr val="1E293B"/>
                    </a:solidFill>
                  </a:tcPr>
                </a:tc>
                <a:tc>
                  <a:txBody>
                    <a:bodyPr/>
                    <a:lstStyle/>
                    <a:p>
                      <a:pPr>
                        <a:defRPr sz="850">
                          <a:solidFill>
                            <a:srgbClr val="CBD5E1"/>
                          </a:solidFill>
                          <a:latin typeface="Segoe UI"/>
                        </a:defRPr>
                      </a:pPr>
                      <a:r>
                        <a:t>WUR 2023 / THE 2024</a:t>
                      </a:r>
                    </a:p>
                  </a:txBody>
                  <a:tcPr>
                    <a:solidFill>
                      <a:srgbClr val="1E293B"/>
                    </a:solidFill>
                  </a:tcPr>
                </a:tc>
                <a:tc>
                  <a:txBody>
                    <a:bodyPr/>
                    <a:lstStyle/>
                    <a:p>
                      <a:pPr>
                        <a:defRPr sz="850">
                          <a:solidFill>
                            <a:srgbClr val="CBD5E1"/>
                          </a:solidFill>
                          <a:latin typeface="Segoe UI"/>
                        </a:defRPr>
                      </a:pPr>
                      <a:r>
                        <a:t>Actual empirical ratio: Students per academic staff member</a:t>
                      </a:r>
                    </a:p>
                  </a:txBody>
                  <a:tcPr>
                    <a:solidFill>
                      <a:srgbClr val="1E293B"/>
                    </a:solidFill>
                  </a:tcPr>
                </a:tc>
                <a:tc>
                  <a:txBody>
                    <a:bodyPr/>
                    <a:lstStyle/>
                    <a:p>
                      <a:pPr>
                        <a:defRPr sz="850">
                          <a:solidFill>
                            <a:srgbClr val="CBD5E1"/>
                          </a:solidFill>
                          <a:latin typeface="Segoe UI"/>
                        </a:defRPr>
                      </a:pPr>
                      <a:r>
                        <a:t>Real Ratio</a:t>
                      </a:r>
                    </a:p>
                  </a:txBody>
                  <a:tcPr>
                    <a:solidFill>
                      <a:srgbClr val="1E293B"/>
                    </a:solidFill>
                  </a:tcPr>
                </a:tc>
                <a:tc>
                  <a:txBody>
                    <a:bodyPr/>
                    <a:lstStyle/>
                    <a:p>
                      <a:pPr>
                        <a:defRPr sz="850">
                          <a:solidFill>
                            <a:srgbClr val="CBD5E1"/>
                          </a:solidFill>
                          <a:latin typeface="Segoe UI"/>
                        </a:defRPr>
                      </a:pPr>
                      <a:r>
                        <a:t>Positive Float (X:1)</a:t>
                      </a:r>
                    </a:p>
                  </a:txBody>
                  <a:tcPr>
                    <a:solidFill>
                      <a:srgbClr val="1E293B"/>
                    </a:solidFill>
                  </a:tcPr>
                </a:tc>
              </a:tr>
              <a:tr h="522514">
                <a:tc>
                  <a:txBody>
                    <a:bodyPr/>
                    <a:lstStyle/>
                    <a:p>
                      <a:pPr>
                        <a:defRPr sz="850">
                          <a:solidFill>
                            <a:srgbClr val="F8FAFC"/>
                          </a:solidFill>
                          <a:latin typeface="Segoe UI"/>
                        </a:defRPr>
                      </a:pPr>
                      <a:r>
                        <a:t>4. International Student %</a:t>
                      </a:r>
                    </a:p>
                  </a:txBody>
                  <a:tcPr>
                    <a:solidFill>
                      <a:srgbClr val="1E293B"/>
                    </a:solidFill>
                  </a:tcPr>
                </a:tc>
                <a:tc>
                  <a:txBody>
                    <a:bodyPr/>
                    <a:lstStyle/>
                    <a:p>
                      <a:pPr>
                        <a:defRPr sz="850">
                          <a:solidFill>
                            <a:srgbClr val="CBD5E1"/>
                          </a:solidFill>
                          <a:latin typeface="Segoe UI"/>
                        </a:defRPr>
                      </a:pPr>
                      <a:r>
                        <a:t>WUR 2023</a:t>
                      </a:r>
                    </a:p>
                  </a:txBody>
                  <a:tcPr>
                    <a:solidFill>
                      <a:srgbClr val="1E293B"/>
                    </a:solidFill>
                  </a:tcPr>
                </a:tc>
                <a:tc>
                  <a:txBody>
                    <a:bodyPr/>
                    <a:lstStyle/>
                    <a:p>
                      <a:pPr>
                        <a:defRPr sz="850">
                          <a:solidFill>
                            <a:srgbClr val="CBD5E1"/>
                          </a:solidFill>
                          <a:latin typeface="Segoe UI"/>
                        </a:defRPr>
                      </a:pPr>
                      <a:r>
                        <a:t>True percentage: (International FTE / Total FTE) * 100</a:t>
                      </a:r>
                    </a:p>
                  </a:txBody>
                  <a:tcPr>
                    <a:solidFill>
                      <a:srgbClr val="1E293B"/>
                    </a:solidFill>
                  </a:tcPr>
                </a:tc>
                <a:tc>
                  <a:txBody>
                    <a:bodyPr/>
                    <a:lstStyle/>
                    <a:p>
                      <a:pPr>
                        <a:defRPr sz="850">
                          <a:solidFill>
                            <a:srgbClr val="CBD5E1"/>
                          </a:solidFill>
                          <a:latin typeface="Segoe UI"/>
                        </a:defRPr>
                      </a:pPr>
                      <a:r>
                        <a:t>Percentage</a:t>
                      </a:r>
                    </a:p>
                  </a:txBody>
                  <a:tcPr>
                    <a:solidFill>
                      <a:srgbClr val="1E293B"/>
                    </a:solidFill>
                  </a:tcPr>
                </a:tc>
                <a:tc>
                  <a:txBody>
                    <a:bodyPr/>
                    <a:lstStyle/>
                    <a:p>
                      <a:pPr>
                        <a:defRPr sz="850">
                          <a:solidFill>
                            <a:srgbClr val="CBD5E1"/>
                          </a:solidFill>
                          <a:latin typeface="Segoe UI"/>
                        </a:defRPr>
                      </a:pPr>
                      <a:r>
                        <a:t>0.0% – 100.0%</a:t>
                      </a:r>
                    </a:p>
                  </a:txBody>
                  <a:tcPr>
                    <a:solidFill>
                      <a:srgbClr val="1E293B"/>
                    </a:solidFill>
                  </a:tcPr>
                </a:tc>
              </a:tr>
              <a:tr h="522514">
                <a:tc>
                  <a:txBody>
                    <a:bodyPr/>
                    <a:lstStyle/>
                    <a:p>
                      <a:pPr>
                        <a:defRPr sz="850">
                          <a:solidFill>
                            <a:srgbClr val="F8FAFC"/>
                          </a:solidFill>
                          <a:latin typeface="Segoe UI"/>
                        </a:defRPr>
                      </a:pPr>
                      <a:r>
                        <a:t>5. Academic Reputation Score</a:t>
                      </a:r>
                    </a:p>
                  </a:txBody>
                  <a:tcPr>
                    <a:solidFill>
                      <a:srgbClr val="1E293B"/>
                    </a:solidFill>
                  </a:tcPr>
                </a:tc>
                <a:tc>
                  <a:txBody>
                    <a:bodyPr/>
                    <a:lstStyle/>
                    <a:p>
                      <a:pPr>
                        <a:defRPr sz="850">
                          <a:solidFill>
                            <a:srgbClr val="CBD5E1"/>
                          </a:solidFill>
                          <a:latin typeface="Segoe UI"/>
                        </a:defRPr>
                      </a:pPr>
                      <a:r>
                        <a:t>QS World Rankings 2025</a:t>
                      </a:r>
                    </a:p>
                  </a:txBody>
                  <a:tcPr>
                    <a:solidFill>
                      <a:srgbClr val="1E293B"/>
                    </a:solidFill>
                  </a:tcPr>
                </a:tc>
                <a:tc>
                  <a:txBody>
                    <a:bodyPr/>
                    <a:lstStyle/>
                    <a:p>
                      <a:pPr>
                        <a:defRPr sz="850">
                          <a:solidFill>
                            <a:srgbClr val="CBD5E1"/>
                          </a:solidFill>
                          <a:latin typeface="Segoe UI"/>
                        </a:defRPr>
                      </a:pPr>
                      <a:r>
                        <a:t>Global survey of over 100,000 active academics worldwide</a:t>
                      </a:r>
                    </a:p>
                  </a:txBody>
                  <a:tcPr>
                    <a:solidFill>
                      <a:srgbClr val="1E293B"/>
                    </a:solidFill>
                  </a:tcPr>
                </a:tc>
                <a:tc>
                  <a:txBody>
                    <a:bodyPr/>
                    <a:lstStyle/>
                    <a:p>
                      <a:pPr>
                        <a:defRPr sz="850">
                          <a:solidFill>
                            <a:srgbClr val="CBD5E1"/>
                          </a:solidFill>
                          <a:latin typeface="Segoe UI"/>
                        </a:defRPr>
                      </a:pPr>
                      <a:r>
                        <a:t>Index Score</a:t>
                      </a:r>
                    </a:p>
                  </a:txBody>
                  <a:tcPr>
                    <a:solidFill>
                      <a:srgbClr val="1E293B"/>
                    </a:solidFill>
                  </a:tcPr>
                </a:tc>
                <a:tc>
                  <a:txBody>
                    <a:bodyPr/>
                    <a:lstStyle/>
                    <a:p>
                      <a:pPr>
                        <a:defRPr sz="850">
                          <a:solidFill>
                            <a:srgbClr val="CBD5E1"/>
                          </a:solidFill>
                          <a:latin typeface="Segoe UI"/>
                        </a:defRPr>
                      </a:pPr>
                      <a:r>
                        <a:t>0.0 – 100.0</a:t>
                      </a:r>
                    </a:p>
                  </a:txBody>
                  <a:tcPr>
                    <a:solidFill>
                      <a:srgbClr val="1E293B"/>
                    </a:solidFill>
                  </a:tcPr>
                </a:tc>
              </a:tr>
              <a:tr h="522516">
                <a:tc>
                  <a:txBody>
                    <a:bodyPr/>
                    <a:lstStyle/>
                    <a:p>
                      <a:pPr>
                        <a:defRPr sz="850">
                          <a:solidFill>
                            <a:srgbClr val="F8FAFC"/>
                          </a:solidFill>
                          <a:latin typeface="Segoe UI"/>
                        </a:defRPr>
                      </a:pPr>
                      <a:r>
                        <a:t>6. Research Productivity Index</a:t>
                      </a:r>
                    </a:p>
                  </a:txBody>
                  <a:tcPr>
                    <a:solidFill>
                      <a:srgbClr val="1E293B"/>
                    </a:solidFill>
                  </a:tcPr>
                </a:tc>
                <a:tc>
                  <a:txBody>
                    <a:bodyPr/>
                    <a:lstStyle/>
                    <a:p>
                      <a:pPr>
                        <a:defRPr sz="850">
                          <a:solidFill>
                            <a:srgbClr val="CBD5E1"/>
                          </a:solidFill>
                          <a:latin typeface="Segoe UI"/>
                        </a:defRPr>
                      </a:pPr>
                      <a:r>
                        <a:t>Derived Composite KPI</a:t>
                      </a:r>
                    </a:p>
                  </a:txBody>
                  <a:tcPr>
                    <a:solidFill>
                      <a:srgbClr val="1E293B"/>
                    </a:solidFill>
                  </a:tcPr>
                </a:tc>
                <a:tc>
                  <a:txBody>
                    <a:bodyPr/>
                    <a:lstStyle/>
                    <a:p>
                      <a:pPr>
                        <a:defRPr sz="850">
                          <a:solidFill>
                            <a:srgbClr val="CBD5E1"/>
                          </a:solidFill>
                          <a:latin typeface="Segoe UI"/>
                        </a:defRPr>
                      </a:pPr>
                      <a:r>
                        <a:t>0.50 * Research Score + 0.30 * Citation Score + 0.20 * Network</a:t>
                      </a:r>
                    </a:p>
                  </a:txBody>
                  <a:tcPr>
                    <a:solidFill>
                      <a:srgbClr val="1E293B"/>
                    </a:solidFill>
                  </a:tcPr>
                </a:tc>
                <a:tc>
                  <a:txBody>
                    <a:bodyPr/>
                    <a:lstStyle/>
                    <a:p>
                      <a:pPr>
                        <a:defRPr sz="850">
                          <a:solidFill>
                            <a:srgbClr val="CBD5E1"/>
                          </a:solidFill>
                          <a:latin typeface="Segoe UI"/>
                        </a:defRPr>
                      </a:pPr>
                      <a:r>
                        <a:t>Composite Index</a:t>
                      </a:r>
                    </a:p>
                  </a:txBody>
                  <a:tcPr>
                    <a:solidFill>
                      <a:srgbClr val="1E293B"/>
                    </a:solidFill>
                  </a:tcPr>
                </a:tc>
                <a:tc>
                  <a:txBody>
                    <a:bodyPr/>
                    <a:lstStyle/>
                    <a:p>
                      <a:pPr>
                        <a:defRPr sz="850">
                          <a:solidFill>
                            <a:srgbClr val="CBD5E1"/>
                          </a:solidFill>
                          <a:latin typeface="Segoe UI"/>
                        </a:defRPr>
                      </a:pPr>
                      <a:r>
                        <a:t>0.0 – 100.0</a:t>
                      </a:r>
                    </a:p>
                  </a:txBody>
                  <a:tcPr>
                    <a:solidFill>
                      <a:srgbClr val="1E293B"/>
                    </a:solidFill>
                  </a:tcPr>
                </a:tc>
              </a:tr>
            </a:tbl>
          </a:graphicData>
        </a:graphic>
      </p:graphicFrame>
      <p:sp>
        <p:nvSpPr>
          <p:cNvPr id="8" name="Rounded Rectangle 7"/>
          <p:cNvSpPr/>
          <p:nvPr/>
        </p:nvSpPr>
        <p:spPr>
          <a:xfrm>
            <a:off x="731520" y="5212080"/>
            <a:ext cx="10728655" cy="1051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sz="1000" b="1">
                <a:solidFill>
                  <a:srgbClr val="F59E0B"/>
                </a:solidFill>
                <a:latin typeface="Segoe UI"/>
              </a:defRPr>
            </a:pPr>
            <a:r>
              <a:t>METHODOLOGICAL COMPLIANCE &amp; PROHIBITED SUBSTITUTIONS</a:t>
            </a:r>
          </a:p>
          <a:p>
            <a:pPr>
              <a:spcBef>
                <a:spcPts val="300"/>
              </a:spcBef>
              <a:defRPr sz="850">
                <a:solidFill>
                  <a:srgbClr val="CBD5E1"/>
                </a:solidFill>
                <a:latin typeface="Segoe UI"/>
              </a:defRPr>
            </a:pPr>
            <a:r>
              <a:t>• Rule 1: A score reflecting a ratio is never confused with an actual empirical ratio (Faculty-to-student ratio is reported as students per staff, e.g. 8.2:1).</a:t>
            </a:r>
            <a:br/>
            <a:r>
              <a:t>• Rule 2: Sustainability Score was strictly rejected as a substitute for Research Productivity (Sustainability measures green initiatives, not scholarship).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MILESTONE 2 / MODULE 3 | METHODOLOGICAL FORMULATIONS</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Mathematical Derivations: Formulas &amp; Methodological Rules</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9 / 19</a:t>
            </a:r>
          </a:p>
        </p:txBody>
      </p:sp>
      <p:sp>
        <p:nvSpPr>
          <p:cNvPr id="7" name="Rounded Rectangle 6"/>
          <p:cNvSpPr/>
          <p:nvPr/>
        </p:nvSpPr>
        <p:spPr>
          <a:xfrm>
            <a:off x="731520" y="1371600"/>
            <a:ext cx="34290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100" b="1">
                <a:solidFill>
                  <a:srgbClr val="10B981"/>
                </a:solidFill>
                <a:latin typeface="Segoe UI"/>
              </a:defRPr>
            </a:pPr>
            <a:r>
              <a:t>KPI 1: GLOBAL RANKING SCORE</a:t>
            </a:r>
          </a:p>
          <a:p>
            <a:pPr>
              <a:spcBef>
                <a:spcPts val="800"/>
              </a:spcBef>
              <a:defRPr sz="900">
                <a:solidFill>
                  <a:srgbClr val="CBD5E1"/>
                </a:solidFill>
                <a:latin typeface="Segoe UI"/>
              </a:defRPr>
            </a:pPr>
            <a:r>
              <a:t>QS explicitly publishes scores only for the top 500 institutions. For universities ranked 501–1503, an inverse percentile rank transformation is applied:</a:t>
            </a:r>
            <a:br/>
            <a:br/>
            <a:r>
              <a:t>Score = [(Max Rank - Global Rank + 1) / Max Rank] * 100</a:t>
            </a:r>
            <a:br/>
            <a:br/>
            <a:r>
              <a:t>Where Max Rank = 1503. Guarantees smooth continuity from 100.0 to 0.07.</a:t>
            </a:r>
          </a:p>
        </p:txBody>
      </p:sp>
      <p:sp>
        <p:nvSpPr>
          <p:cNvPr id="8" name="Rounded Rectangle 7"/>
          <p:cNvSpPr/>
          <p:nvPr/>
        </p:nvSpPr>
        <p:spPr>
          <a:xfrm>
            <a:off x="4379976" y="1371600"/>
            <a:ext cx="34290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100" b="1">
                <a:solidFill>
                  <a:srgbClr val="06B6D4"/>
                </a:solidFill>
                <a:latin typeface="Segoe UI"/>
              </a:defRPr>
            </a:pPr>
            <a:r>
              <a:t>KPI 2: RESEARCH IMPACT SCORE</a:t>
            </a:r>
          </a:p>
          <a:p>
            <a:pPr>
              <a:spcBef>
                <a:spcPts val="800"/>
              </a:spcBef>
              <a:defRPr sz="900">
                <a:solidFill>
                  <a:srgbClr val="CBD5E1"/>
                </a:solidFill>
                <a:latin typeface="Segoe UI"/>
              </a:defRPr>
            </a:pPr>
            <a:r>
              <a:t>Quantifies peer citation velocity normalized for faculty body size:</a:t>
            </a:r>
            <a:br/>
            <a:br/>
            <a:r>
              <a:t>Impact = QS Citations_per_Faculty_Score</a:t>
            </a:r>
            <a:br/>
            <a:br/>
            <a:r>
              <a:t>Normalizing by faculty size eliminates institutional size bias, evaluating true per-capita scholarly output.</a:t>
            </a:r>
          </a:p>
        </p:txBody>
      </p:sp>
      <p:sp>
        <p:nvSpPr>
          <p:cNvPr id="9" name="Rounded Rectangle 8"/>
          <p:cNvSpPr/>
          <p:nvPr/>
        </p:nvSpPr>
        <p:spPr>
          <a:xfrm>
            <a:off x="8028432" y="1371600"/>
            <a:ext cx="34290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100" b="1">
                <a:solidFill>
                  <a:srgbClr val="F59E0B"/>
                </a:solidFill>
                <a:latin typeface="Segoe UI"/>
              </a:defRPr>
            </a:pPr>
            <a:r>
              <a:t>KPI 3: FACULTY-TO-STUDENT RATIO</a:t>
            </a:r>
          </a:p>
          <a:p>
            <a:pPr>
              <a:spcBef>
                <a:spcPts val="800"/>
              </a:spcBef>
              <a:defRPr sz="900">
                <a:solidFill>
                  <a:srgbClr val="CBD5E1"/>
                </a:solidFill>
                <a:latin typeface="Segoe UI"/>
              </a:defRPr>
            </a:pPr>
            <a:r>
              <a:t>Empirical metric reporting exact student burden per faculty FTE:</a:t>
            </a:r>
            <a:br/>
            <a:br/>
            <a:r>
              <a:t>Ratio = Total FTE Students / Total Academic Staff FTE</a:t>
            </a:r>
            <a:br/>
            <a:br/>
            <a:r>
              <a:t>A lower ratio indicates intensive faculty advising and smaller tutorial class cohorts (e.g., Caltech: 6.4:1).</a:t>
            </a:r>
          </a:p>
        </p:txBody>
      </p:sp>
      <p:sp>
        <p:nvSpPr>
          <p:cNvPr id="10" name="Rounded Rectangle 9"/>
          <p:cNvSpPr/>
          <p:nvPr/>
        </p:nvSpPr>
        <p:spPr>
          <a:xfrm>
            <a:off x="731520" y="3794760"/>
            <a:ext cx="34290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100" b="1">
                <a:solidFill>
                  <a:srgbClr val="8B5CF6"/>
                </a:solidFill>
                <a:latin typeface="Segoe UI"/>
              </a:defRPr>
            </a:pPr>
            <a:r>
              <a:t>KPI 4: INTERNATIONAL STUDENT %</a:t>
            </a:r>
          </a:p>
          <a:p>
            <a:pPr>
              <a:spcBef>
                <a:spcPts val="800"/>
              </a:spcBef>
              <a:defRPr sz="900">
                <a:solidFill>
                  <a:srgbClr val="CBD5E1"/>
                </a:solidFill>
                <a:latin typeface="Segoe UI"/>
              </a:defRPr>
            </a:pPr>
            <a:r>
              <a:t>Measures global talent attraction and multicultural learning:</a:t>
            </a:r>
            <a:br/>
            <a:br/>
            <a:r>
              <a:t>Intl % = (International FTE Students / Total FTE) * 100</a:t>
            </a:r>
            <a:br/>
            <a:br/>
            <a:r>
              <a:t>Calculated directly from empirical headcount; preserves statistical authenticity across 804 matched universities.</a:t>
            </a:r>
          </a:p>
        </p:txBody>
      </p:sp>
      <p:sp>
        <p:nvSpPr>
          <p:cNvPr id="11" name="Rounded Rectangle 10"/>
          <p:cNvSpPr/>
          <p:nvPr/>
        </p:nvSpPr>
        <p:spPr>
          <a:xfrm>
            <a:off x="4379976" y="3794760"/>
            <a:ext cx="34290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100" b="1">
                <a:solidFill>
                  <a:srgbClr val="3B82F6"/>
                </a:solidFill>
                <a:latin typeface="Segoe UI"/>
              </a:defRPr>
            </a:pPr>
            <a:r>
              <a:t>KPI 5: ACADEMIC REPUTATION SCORE</a:t>
            </a:r>
          </a:p>
          <a:p>
            <a:pPr>
              <a:spcBef>
                <a:spcPts val="800"/>
              </a:spcBef>
              <a:defRPr sz="900">
                <a:solidFill>
                  <a:srgbClr val="CBD5E1"/>
                </a:solidFill>
                <a:latin typeface="Segoe UI"/>
              </a:defRPr>
            </a:pPr>
            <a:r>
              <a:t>Global peer evaluation based on over 100,000 academic surveys:</a:t>
            </a:r>
            <a:br/>
            <a:br/>
            <a:r>
              <a:t>Reputation = QS Academic_Reputation_Score</a:t>
            </a:r>
            <a:br/>
            <a:br/>
            <a:r>
              <a:t>Captures institutional prestige, research leadership, and historical academic influence.</a:t>
            </a:r>
          </a:p>
        </p:txBody>
      </p:sp>
      <p:sp>
        <p:nvSpPr>
          <p:cNvPr id="12" name="Rounded Rectangle 11"/>
          <p:cNvSpPr/>
          <p:nvPr/>
        </p:nvSpPr>
        <p:spPr>
          <a:xfrm>
            <a:off x="8028432" y="3794760"/>
            <a:ext cx="34290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100" b="1">
                <a:solidFill>
                  <a:srgbClr val="10B981"/>
                </a:solidFill>
                <a:latin typeface="Segoe UI"/>
              </a:defRPr>
            </a:pPr>
            <a:r>
              <a:t>KPI 6: RESEARCH PRODUCTIVITY INDEX</a:t>
            </a:r>
          </a:p>
          <a:p>
            <a:pPr>
              <a:spcBef>
                <a:spcPts val="800"/>
              </a:spcBef>
              <a:defRPr sz="900">
                <a:solidFill>
                  <a:srgbClr val="CBD5E1"/>
                </a:solidFill>
                <a:latin typeface="Segoe UI"/>
              </a:defRPr>
            </a:pPr>
            <a:r>
              <a:t>Audit-compliant composite score combining scholarship metrics:</a:t>
            </a:r>
            <a:br/>
            <a:br/>
            <a:r>
              <a:t>RPI = (0.50 * Research Score) + (0.30 * Citation Impact) + (0.20 * Intl Research Network)</a:t>
            </a:r>
            <a:br/>
            <a:br/>
            <a:r>
              <a:t>Provides a multidimensional assessment of institutional research vitality.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MILESTONE 2 / MODULE 3 | EMPIRICAL VALIDATION MATRIX</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Empirical Results: Top World University Benchmarking</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10 / 19</a:t>
            </a:r>
          </a:p>
        </p:txBody>
      </p:sp>
      <p:graphicFrame>
        <p:nvGraphicFramePr>
          <p:cNvPr id="7" name="Table 6"/>
          <p:cNvGraphicFramePr>
            <a:graphicFrameLocks noGrp="1"/>
          </p:cNvGraphicFramePr>
          <p:nvPr/>
        </p:nvGraphicFramePr>
        <p:xfrm>
          <a:off x="731520" y="1371600"/>
          <a:ext cx="10728655" cy="4389120"/>
        </p:xfrm>
        <a:graphic>
          <a:graphicData uri="http://schemas.openxmlformats.org/drawingml/2006/table">
            <a:tbl>
              <a:tblPr firstRow="1" bandRow="1">
                <a:tableStyleId>{5C22544A-7EE6-4342-B048-85BDC9FD1C3A}</a:tableStyleId>
              </a:tblPr>
              <a:tblGrid>
                <a:gridCol w="914400"/>
                <a:gridCol w="3108960"/>
                <a:gridCol w="1371600"/>
                <a:gridCol w="1280160"/>
                <a:gridCol w="1371600"/>
                <a:gridCol w="1280160"/>
                <a:gridCol w="1401775"/>
              </a:tblGrid>
              <a:tr h="399010">
                <a:tc>
                  <a:txBody>
                    <a:bodyPr/>
                    <a:lstStyle/>
                    <a:p>
                      <a:pPr>
                        <a:defRPr sz="900" b="1">
                          <a:solidFill>
                            <a:srgbClr val="06B6D4"/>
                          </a:solidFill>
                          <a:latin typeface="Segoe UI"/>
                        </a:defRPr>
                      </a:pPr>
                      <a:r>
                        <a:t>Rank</a:t>
                      </a:r>
                    </a:p>
                  </a:txBody>
                  <a:tcPr>
                    <a:solidFill>
                      <a:srgbClr val="334155"/>
                    </a:solidFill>
                  </a:tcPr>
                </a:tc>
                <a:tc>
                  <a:txBody>
                    <a:bodyPr/>
                    <a:lstStyle/>
                    <a:p>
                      <a:pPr>
                        <a:defRPr sz="900" b="1">
                          <a:solidFill>
                            <a:srgbClr val="06B6D4"/>
                          </a:solidFill>
                          <a:latin typeface="Segoe UI"/>
                        </a:defRPr>
                      </a:pPr>
                      <a:r>
                        <a:t>University Name</a:t>
                      </a:r>
                    </a:p>
                  </a:txBody>
                  <a:tcPr>
                    <a:solidFill>
                      <a:srgbClr val="334155"/>
                    </a:solidFill>
                  </a:tcPr>
                </a:tc>
                <a:tc>
                  <a:txBody>
                    <a:bodyPr/>
                    <a:lstStyle/>
                    <a:p>
                      <a:pPr>
                        <a:defRPr sz="900" b="1">
                          <a:solidFill>
                            <a:srgbClr val="06B6D4"/>
                          </a:solidFill>
                          <a:latin typeface="Segoe UI"/>
                        </a:defRPr>
                      </a:pPr>
                      <a:r>
                        <a:t>Country</a:t>
                      </a:r>
                    </a:p>
                  </a:txBody>
                  <a:tcPr>
                    <a:solidFill>
                      <a:srgbClr val="334155"/>
                    </a:solidFill>
                  </a:tcPr>
                </a:tc>
                <a:tc>
                  <a:txBody>
                    <a:bodyPr/>
                    <a:lstStyle/>
                    <a:p>
                      <a:pPr>
                        <a:defRPr sz="900" b="1">
                          <a:solidFill>
                            <a:srgbClr val="06B6D4"/>
                          </a:solidFill>
                          <a:latin typeface="Segoe UI"/>
                        </a:defRPr>
                      </a:pPr>
                      <a:r>
                        <a:t>Overall Score</a:t>
                      </a:r>
                    </a:p>
                  </a:txBody>
                  <a:tcPr>
                    <a:solidFill>
                      <a:srgbClr val="334155"/>
                    </a:solidFill>
                  </a:tcPr>
                </a:tc>
                <a:tc>
                  <a:txBody>
                    <a:bodyPr/>
                    <a:lstStyle/>
                    <a:p>
                      <a:pPr>
                        <a:defRPr sz="900" b="1">
                          <a:solidFill>
                            <a:srgbClr val="06B6D4"/>
                          </a:solidFill>
                          <a:latin typeface="Segoe UI"/>
                        </a:defRPr>
                      </a:pPr>
                      <a:r>
                        <a:t>Citations/Faculty</a:t>
                      </a:r>
                    </a:p>
                  </a:txBody>
                  <a:tcPr>
                    <a:solidFill>
                      <a:srgbClr val="334155"/>
                    </a:solidFill>
                  </a:tcPr>
                </a:tc>
                <a:tc>
                  <a:txBody>
                    <a:bodyPr/>
                    <a:lstStyle/>
                    <a:p>
                      <a:pPr>
                        <a:defRPr sz="900" b="1">
                          <a:solidFill>
                            <a:srgbClr val="06B6D4"/>
                          </a:solidFill>
                          <a:latin typeface="Segoe UI"/>
                        </a:defRPr>
                      </a:pPr>
                      <a:r>
                        <a:t>Staff Ratio</a:t>
                      </a:r>
                    </a:p>
                  </a:txBody>
                  <a:tcPr>
                    <a:solidFill>
                      <a:srgbClr val="334155"/>
                    </a:solidFill>
                  </a:tcPr>
                </a:tc>
                <a:tc>
                  <a:txBody>
                    <a:bodyPr/>
                    <a:lstStyle/>
                    <a:p>
                      <a:pPr>
                        <a:defRPr sz="900" b="1">
                          <a:solidFill>
                            <a:srgbClr val="06B6D4"/>
                          </a:solidFill>
                          <a:latin typeface="Segoe UI"/>
                        </a:defRPr>
                      </a:pPr>
                      <a:r>
                        <a:t>International %</a:t>
                      </a:r>
                    </a:p>
                  </a:txBody>
                  <a:tcPr>
                    <a:solidFill>
                      <a:srgbClr val="334155"/>
                    </a:solidFill>
                  </a:tcPr>
                </a:tc>
              </a:tr>
              <a:tr h="399010">
                <a:tc>
                  <a:txBody>
                    <a:bodyPr/>
                    <a:lstStyle/>
                    <a:p>
                      <a:pPr>
                        <a:defRPr sz="850">
                          <a:solidFill>
                            <a:srgbClr val="F8FAFC"/>
                          </a:solidFill>
                          <a:latin typeface="Segoe UI"/>
                        </a:defRPr>
                      </a:pPr>
                      <a:r>
                        <a:t>1</a:t>
                      </a:r>
                    </a:p>
                  </a:txBody>
                  <a:tcPr>
                    <a:solidFill>
                      <a:srgbClr val="1E293B"/>
                    </a:solidFill>
                  </a:tcPr>
                </a:tc>
                <a:tc>
                  <a:txBody>
                    <a:bodyPr/>
                    <a:lstStyle/>
                    <a:p>
                      <a:pPr>
                        <a:defRPr sz="850">
                          <a:solidFill>
                            <a:srgbClr val="F8FAFC"/>
                          </a:solidFill>
                          <a:latin typeface="Segoe UI"/>
                        </a:defRPr>
                      </a:pPr>
                      <a:r>
                        <a:t>Massachusetts Institute of Technology (MIT)</a:t>
                      </a:r>
                    </a:p>
                  </a:txBody>
                  <a:tcPr>
                    <a:solidFill>
                      <a:srgbClr val="1E293B"/>
                    </a:solidFill>
                  </a:tcPr>
                </a:tc>
                <a:tc>
                  <a:txBody>
                    <a:bodyPr/>
                    <a:lstStyle/>
                    <a:p>
                      <a:pPr>
                        <a:defRPr sz="850">
                          <a:solidFill>
                            <a:srgbClr val="CBD5E1"/>
                          </a:solidFill>
                          <a:latin typeface="Segoe UI"/>
                        </a:defRPr>
                      </a:pPr>
                      <a:r>
                        <a:t>United States</a:t>
                      </a:r>
                    </a:p>
                  </a:txBody>
                  <a:tcPr>
                    <a:solidFill>
                      <a:srgbClr val="1E293B"/>
                    </a:solidFill>
                  </a:tcPr>
                </a:tc>
                <a:tc>
                  <a:txBody>
                    <a:bodyPr/>
                    <a:lstStyle/>
                    <a:p>
                      <a:pPr>
                        <a:defRPr sz="850">
                          <a:solidFill>
                            <a:srgbClr val="CBD5E1"/>
                          </a:solidFill>
                          <a:latin typeface="Segoe UI"/>
                        </a:defRPr>
                      </a:pPr>
                      <a:r>
                        <a:t>100.0</a:t>
                      </a:r>
                    </a:p>
                  </a:txBody>
                  <a:tcPr>
                    <a:solidFill>
                      <a:srgbClr val="1E293B"/>
                    </a:solidFill>
                  </a:tcPr>
                </a:tc>
                <a:tc>
                  <a:txBody>
                    <a:bodyPr/>
                    <a:lstStyle/>
                    <a:p>
                      <a:pPr>
                        <a:defRPr sz="850">
                          <a:solidFill>
                            <a:srgbClr val="CBD5E1"/>
                          </a:solidFill>
                          <a:latin typeface="Segoe UI"/>
                        </a:defRPr>
                      </a:pPr>
                      <a:r>
                        <a:t>100.0</a:t>
                      </a:r>
                    </a:p>
                  </a:txBody>
                  <a:tcPr>
                    <a:solidFill>
                      <a:srgbClr val="1E293B"/>
                    </a:solidFill>
                  </a:tcPr>
                </a:tc>
                <a:tc>
                  <a:txBody>
                    <a:bodyPr/>
                    <a:lstStyle/>
                    <a:p>
                      <a:pPr>
                        <a:defRPr sz="850">
                          <a:solidFill>
                            <a:srgbClr val="CBD5E1"/>
                          </a:solidFill>
                          <a:latin typeface="Segoe UI"/>
                        </a:defRPr>
                      </a:pPr>
                      <a:r>
                        <a:t>8.2 : 1</a:t>
                      </a:r>
                    </a:p>
                  </a:txBody>
                  <a:tcPr>
                    <a:solidFill>
                      <a:srgbClr val="1E293B"/>
                    </a:solidFill>
                  </a:tcPr>
                </a:tc>
                <a:tc>
                  <a:txBody>
                    <a:bodyPr/>
                    <a:lstStyle/>
                    <a:p>
                      <a:pPr>
                        <a:defRPr sz="850">
                          <a:solidFill>
                            <a:srgbClr val="CBD5E1"/>
                          </a:solidFill>
                          <a:latin typeface="Segoe UI"/>
                        </a:defRPr>
                      </a:pPr>
                      <a:r>
                        <a:t>33.0%</a:t>
                      </a:r>
                    </a:p>
                  </a:txBody>
                  <a:tcPr>
                    <a:solidFill>
                      <a:srgbClr val="1E293B"/>
                    </a:solidFill>
                  </a:tcPr>
                </a:tc>
              </a:tr>
              <a:tr h="399010">
                <a:tc>
                  <a:txBody>
                    <a:bodyPr/>
                    <a:lstStyle/>
                    <a:p>
                      <a:pPr>
                        <a:defRPr sz="850">
                          <a:solidFill>
                            <a:srgbClr val="F8FAFC"/>
                          </a:solidFill>
                          <a:latin typeface="Segoe UI"/>
                        </a:defRPr>
                      </a:pPr>
                      <a:r>
                        <a:t>2</a:t>
                      </a:r>
                    </a:p>
                  </a:txBody>
                  <a:tcPr>
                    <a:solidFill>
                      <a:srgbClr val="1E293B"/>
                    </a:solidFill>
                  </a:tcPr>
                </a:tc>
                <a:tc>
                  <a:txBody>
                    <a:bodyPr/>
                    <a:lstStyle/>
                    <a:p>
                      <a:pPr>
                        <a:defRPr sz="850">
                          <a:solidFill>
                            <a:srgbClr val="F8FAFC"/>
                          </a:solidFill>
                          <a:latin typeface="Segoe UI"/>
                        </a:defRPr>
                      </a:pPr>
                      <a:r>
                        <a:t>Imperial College London</a:t>
                      </a:r>
                    </a:p>
                  </a:txBody>
                  <a:tcPr>
                    <a:solidFill>
                      <a:srgbClr val="1E293B"/>
                    </a:solidFill>
                  </a:tcPr>
                </a:tc>
                <a:tc>
                  <a:txBody>
                    <a:bodyPr/>
                    <a:lstStyle/>
                    <a:p>
                      <a:pPr>
                        <a:defRPr sz="850">
                          <a:solidFill>
                            <a:srgbClr val="CBD5E1"/>
                          </a:solidFill>
                          <a:latin typeface="Segoe UI"/>
                        </a:defRPr>
                      </a:pPr>
                      <a:r>
                        <a:t>United Kingdom</a:t>
                      </a:r>
                    </a:p>
                  </a:txBody>
                  <a:tcPr>
                    <a:solidFill>
                      <a:srgbClr val="1E293B"/>
                    </a:solidFill>
                  </a:tcPr>
                </a:tc>
                <a:tc>
                  <a:txBody>
                    <a:bodyPr/>
                    <a:lstStyle/>
                    <a:p>
                      <a:pPr>
                        <a:defRPr sz="850">
                          <a:solidFill>
                            <a:srgbClr val="CBD5E1"/>
                          </a:solidFill>
                          <a:latin typeface="Segoe UI"/>
                        </a:defRPr>
                      </a:pPr>
                      <a:r>
                        <a:t>98.5</a:t>
                      </a:r>
                    </a:p>
                  </a:txBody>
                  <a:tcPr>
                    <a:solidFill>
                      <a:srgbClr val="1E293B"/>
                    </a:solidFill>
                  </a:tcPr>
                </a:tc>
                <a:tc>
                  <a:txBody>
                    <a:bodyPr/>
                    <a:lstStyle/>
                    <a:p>
                      <a:pPr>
                        <a:defRPr sz="850">
                          <a:solidFill>
                            <a:srgbClr val="CBD5E1"/>
                          </a:solidFill>
                          <a:latin typeface="Segoe UI"/>
                        </a:defRPr>
                      </a:pPr>
                      <a:r>
                        <a:t>98.3</a:t>
                      </a:r>
                    </a:p>
                  </a:txBody>
                  <a:tcPr>
                    <a:solidFill>
                      <a:srgbClr val="1E293B"/>
                    </a:solidFill>
                  </a:tcPr>
                </a:tc>
                <a:tc>
                  <a:txBody>
                    <a:bodyPr/>
                    <a:lstStyle/>
                    <a:p>
                      <a:pPr>
                        <a:defRPr sz="850">
                          <a:solidFill>
                            <a:srgbClr val="CBD5E1"/>
                          </a:solidFill>
                          <a:latin typeface="Segoe UI"/>
                        </a:defRPr>
                      </a:pPr>
                      <a:r>
                        <a:t>11.4 : 1</a:t>
                      </a:r>
                    </a:p>
                  </a:txBody>
                  <a:tcPr>
                    <a:solidFill>
                      <a:srgbClr val="1E293B"/>
                    </a:solidFill>
                  </a:tcPr>
                </a:tc>
                <a:tc>
                  <a:txBody>
                    <a:bodyPr/>
                    <a:lstStyle/>
                    <a:p>
                      <a:pPr>
                        <a:defRPr sz="850">
                          <a:solidFill>
                            <a:srgbClr val="CBD5E1"/>
                          </a:solidFill>
                          <a:latin typeface="Segoe UI"/>
                        </a:defRPr>
                      </a:pPr>
                      <a:r>
                        <a:t>61.0%</a:t>
                      </a:r>
                    </a:p>
                  </a:txBody>
                  <a:tcPr>
                    <a:solidFill>
                      <a:srgbClr val="1E293B"/>
                    </a:solidFill>
                  </a:tcPr>
                </a:tc>
              </a:tr>
              <a:tr h="399010">
                <a:tc>
                  <a:txBody>
                    <a:bodyPr/>
                    <a:lstStyle/>
                    <a:p>
                      <a:pPr>
                        <a:defRPr sz="850">
                          <a:solidFill>
                            <a:srgbClr val="F8FAFC"/>
                          </a:solidFill>
                          <a:latin typeface="Segoe UI"/>
                        </a:defRPr>
                      </a:pPr>
                      <a:r>
                        <a:t>3</a:t>
                      </a:r>
                    </a:p>
                  </a:txBody>
                  <a:tcPr>
                    <a:solidFill>
                      <a:srgbClr val="1E293B"/>
                    </a:solidFill>
                  </a:tcPr>
                </a:tc>
                <a:tc>
                  <a:txBody>
                    <a:bodyPr/>
                    <a:lstStyle/>
                    <a:p>
                      <a:pPr>
                        <a:defRPr sz="850">
                          <a:solidFill>
                            <a:srgbClr val="F8FAFC"/>
                          </a:solidFill>
                          <a:latin typeface="Segoe UI"/>
                        </a:defRPr>
                      </a:pPr>
                      <a:r>
                        <a:t>University of Oxford</a:t>
                      </a:r>
                    </a:p>
                  </a:txBody>
                  <a:tcPr>
                    <a:solidFill>
                      <a:srgbClr val="1E293B"/>
                    </a:solidFill>
                  </a:tcPr>
                </a:tc>
                <a:tc>
                  <a:txBody>
                    <a:bodyPr/>
                    <a:lstStyle/>
                    <a:p>
                      <a:pPr>
                        <a:defRPr sz="850">
                          <a:solidFill>
                            <a:srgbClr val="CBD5E1"/>
                          </a:solidFill>
                          <a:latin typeface="Segoe UI"/>
                        </a:defRPr>
                      </a:pPr>
                      <a:r>
                        <a:t>United Kingdom</a:t>
                      </a:r>
                    </a:p>
                  </a:txBody>
                  <a:tcPr>
                    <a:solidFill>
                      <a:srgbClr val="1E293B"/>
                    </a:solidFill>
                  </a:tcPr>
                </a:tc>
                <a:tc>
                  <a:txBody>
                    <a:bodyPr/>
                    <a:lstStyle/>
                    <a:p>
                      <a:pPr>
                        <a:defRPr sz="850">
                          <a:solidFill>
                            <a:srgbClr val="CBD5E1"/>
                          </a:solidFill>
                          <a:latin typeface="Segoe UI"/>
                        </a:defRPr>
                      </a:pPr>
                      <a:r>
                        <a:t>96.9</a:t>
                      </a:r>
                    </a:p>
                  </a:txBody>
                  <a:tcPr>
                    <a:solidFill>
                      <a:srgbClr val="1E293B"/>
                    </a:solidFill>
                  </a:tcPr>
                </a:tc>
                <a:tc>
                  <a:txBody>
                    <a:bodyPr/>
                    <a:lstStyle/>
                    <a:p>
                      <a:pPr>
                        <a:defRPr sz="850">
                          <a:solidFill>
                            <a:srgbClr val="CBD5E1"/>
                          </a:solidFill>
                          <a:latin typeface="Segoe UI"/>
                        </a:defRPr>
                      </a:pPr>
                      <a:r>
                        <a:t>99.0</a:t>
                      </a:r>
                    </a:p>
                  </a:txBody>
                  <a:tcPr>
                    <a:solidFill>
                      <a:srgbClr val="1E293B"/>
                    </a:solidFill>
                  </a:tcPr>
                </a:tc>
                <a:tc>
                  <a:txBody>
                    <a:bodyPr/>
                    <a:lstStyle/>
                    <a:p>
                      <a:pPr>
                        <a:defRPr sz="850">
                          <a:solidFill>
                            <a:srgbClr val="CBD5E1"/>
                          </a:solidFill>
                          <a:latin typeface="Segoe UI"/>
                        </a:defRPr>
                      </a:pPr>
                      <a:r>
                        <a:t>10.6 : 1</a:t>
                      </a:r>
                    </a:p>
                  </a:txBody>
                  <a:tcPr>
                    <a:solidFill>
                      <a:srgbClr val="1E293B"/>
                    </a:solidFill>
                  </a:tcPr>
                </a:tc>
                <a:tc>
                  <a:txBody>
                    <a:bodyPr/>
                    <a:lstStyle/>
                    <a:p>
                      <a:pPr>
                        <a:defRPr sz="850">
                          <a:solidFill>
                            <a:srgbClr val="CBD5E1"/>
                          </a:solidFill>
                          <a:latin typeface="Segoe UI"/>
                        </a:defRPr>
                      </a:pPr>
                      <a:r>
                        <a:t>42.0%</a:t>
                      </a:r>
                    </a:p>
                  </a:txBody>
                  <a:tcPr>
                    <a:solidFill>
                      <a:srgbClr val="1E293B"/>
                    </a:solidFill>
                  </a:tcPr>
                </a:tc>
              </a:tr>
              <a:tr h="399010">
                <a:tc>
                  <a:txBody>
                    <a:bodyPr/>
                    <a:lstStyle/>
                    <a:p>
                      <a:pPr>
                        <a:defRPr sz="850">
                          <a:solidFill>
                            <a:srgbClr val="F8FAFC"/>
                          </a:solidFill>
                          <a:latin typeface="Segoe UI"/>
                        </a:defRPr>
                      </a:pPr>
                      <a:r>
                        <a:t>4</a:t>
                      </a:r>
                    </a:p>
                  </a:txBody>
                  <a:tcPr>
                    <a:solidFill>
                      <a:srgbClr val="1E293B"/>
                    </a:solidFill>
                  </a:tcPr>
                </a:tc>
                <a:tc>
                  <a:txBody>
                    <a:bodyPr/>
                    <a:lstStyle/>
                    <a:p>
                      <a:pPr>
                        <a:defRPr sz="850">
                          <a:solidFill>
                            <a:srgbClr val="F8FAFC"/>
                          </a:solidFill>
                          <a:latin typeface="Segoe UI"/>
                        </a:defRPr>
                      </a:pPr>
                      <a:r>
                        <a:t>Harvard University</a:t>
                      </a:r>
                    </a:p>
                  </a:txBody>
                  <a:tcPr>
                    <a:solidFill>
                      <a:srgbClr val="1E293B"/>
                    </a:solidFill>
                  </a:tcPr>
                </a:tc>
                <a:tc>
                  <a:txBody>
                    <a:bodyPr/>
                    <a:lstStyle/>
                    <a:p>
                      <a:pPr>
                        <a:defRPr sz="850">
                          <a:solidFill>
                            <a:srgbClr val="CBD5E1"/>
                          </a:solidFill>
                          <a:latin typeface="Segoe UI"/>
                        </a:defRPr>
                      </a:pPr>
                      <a:r>
                        <a:t>United States</a:t>
                      </a:r>
                    </a:p>
                  </a:txBody>
                  <a:tcPr>
                    <a:solidFill>
                      <a:srgbClr val="1E293B"/>
                    </a:solidFill>
                  </a:tcPr>
                </a:tc>
                <a:tc>
                  <a:txBody>
                    <a:bodyPr/>
                    <a:lstStyle/>
                    <a:p>
                      <a:pPr>
                        <a:defRPr sz="850">
                          <a:solidFill>
                            <a:srgbClr val="CBD5E1"/>
                          </a:solidFill>
                          <a:latin typeface="Segoe UI"/>
                        </a:defRPr>
                      </a:pPr>
                      <a:r>
                        <a:t>96.8</a:t>
                      </a:r>
                    </a:p>
                  </a:txBody>
                  <a:tcPr>
                    <a:solidFill>
                      <a:srgbClr val="1E293B"/>
                    </a:solidFill>
                  </a:tcPr>
                </a:tc>
                <a:tc>
                  <a:txBody>
                    <a:bodyPr/>
                    <a:lstStyle/>
                    <a:p>
                      <a:pPr>
                        <a:defRPr sz="850">
                          <a:solidFill>
                            <a:srgbClr val="CBD5E1"/>
                          </a:solidFill>
                          <a:latin typeface="Segoe UI"/>
                        </a:defRPr>
                      </a:pPr>
                      <a:r>
                        <a:t>100.0</a:t>
                      </a:r>
                    </a:p>
                  </a:txBody>
                  <a:tcPr>
                    <a:solidFill>
                      <a:srgbClr val="1E293B"/>
                    </a:solidFill>
                  </a:tcPr>
                </a:tc>
                <a:tc>
                  <a:txBody>
                    <a:bodyPr/>
                    <a:lstStyle/>
                    <a:p>
                      <a:pPr>
                        <a:defRPr sz="850">
                          <a:solidFill>
                            <a:srgbClr val="CBD5E1"/>
                          </a:solidFill>
                          <a:latin typeface="Segoe UI"/>
                        </a:defRPr>
                      </a:pPr>
                      <a:r>
                        <a:t>8.9 : 1</a:t>
                      </a:r>
                    </a:p>
                  </a:txBody>
                  <a:tcPr>
                    <a:solidFill>
                      <a:srgbClr val="1E293B"/>
                    </a:solidFill>
                  </a:tcPr>
                </a:tc>
                <a:tc>
                  <a:txBody>
                    <a:bodyPr/>
                    <a:lstStyle/>
                    <a:p>
                      <a:pPr>
                        <a:defRPr sz="850">
                          <a:solidFill>
                            <a:srgbClr val="CBD5E1"/>
                          </a:solidFill>
                          <a:latin typeface="Segoe UI"/>
                        </a:defRPr>
                      </a:pPr>
                      <a:r>
                        <a:t>25.0%</a:t>
                      </a:r>
                    </a:p>
                  </a:txBody>
                  <a:tcPr>
                    <a:solidFill>
                      <a:srgbClr val="1E293B"/>
                    </a:solidFill>
                  </a:tcPr>
                </a:tc>
              </a:tr>
              <a:tr h="399010">
                <a:tc>
                  <a:txBody>
                    <a:bodyPr/>
                    <a:lstStyle/>
                    <a:p>
                      <a:pPr>
                        <a:defRPr sz="850">
                          <a:solidFill>
                            <a:srgbClr val="F8FAFC"/>
                          </a:solidFill>
                          <a:latin typeface="Segoe UI"/>
                        </a:defRPr>
                      </a:pPr>
                      <a:r>
                        <a:t>5</a:t>
                      </a:r>
                    </a:p>
                  </a:txBody>
                  <a:tcPr>
                    <a:solidFill>
                      <a:srgbClr val="1E293B"/>
                    </a:solidFill>
                  </a:tcPr>
                </a:tc>
                <a:tc>
                  <a:txBody>
                    <a:bodyPr/>
                    <a:lstStyle/>
                    <a:p>
                      <a:pPr>
                        <a:defRPr sz="850">
                          <a:solidFill>
                            <a:srgbClr val="F8FAFC"/>
                          </a:solidFill>
                          <a:latin typeface="Segoe UI"/>
                        </a:defRPr>
                      </a:pPr>
                      <a:r>
                        <a:t>University of Cambridge</a:t>
                      </a:r>
                    </a:p>
                  </a:txBody>
                  <a:tcPr>
                    <a:solidFill>
                      <a:srgbClr val="1E293B"/>
                    </a:solidFill>
                  </a:tcPr>
                </a:tc>
                <a:tc>
                  <a:txBody>
                    <a:bodyPr/>
                    <a:lstStyle/>
                    <a:p>
                      <a:pPr>
                        <a:defRPr sz="850">
                          <a:solidFill>
                            <a:srgbClr val="CBD5E1"/>
                          </a:solidFill>
                          <a:latin typeface="Segoe UI"/>
                        </a:defRPr>
                      </a:pPr>
                      <a:r>
                        <a:t>United Kingdom</a:t>
                      </a:r>
                    </a:p>
                  </a:txBody>
                  <a:tcPr>
                    <a:solidFill>
                      <a:srgbClr val="1E293B"/>
                    </a:solidFill>
                  </a:tcPr>
                </a:tc>
                <a:tc>
                  <a:txBody>
                    <a:bodyPr/>
                    <a:lstStyle/>
                    <a:p>
                      <a:pPr>
                        <a:defRPr sz="850">
                          <a:solidFill>
                            <a:srgbClr val="CBD5E1"/>
                          </a:solidFill>
                          <a:latin typeface="Segoe UI"/>
                        </a:defRPr>
                      </a:pPr>
                      <a:r>
                        <a:t>96.7</a:t>
                      </a:r>
                    </a:p>
                  </a:txBody>
                  <a:tcPr>
                    <a:solidFill>
                      <a:srgbClr val="1E293B"/>
                    </a:solidFill>
                  </a:tcPr>
                </a:tc>
                <a:tc>
                  <a:txBody>
                    <a:bodyPr/>
                    <a:lstStyle/>
                    <a:p>
                      <a:pPr>
                        <a:defRPr sz="850">
                          <a:solidFill>
                            <a:srgbClr val="CBD5E1"/>
                          </a:solidFill>
                          <a:latin typeface="Segoe UI"/>
                        </a:defRPr>
                      </a:pPr>
                      <a:r>
                        <a:t>95.8</a:t>
                      </a:r>
                    </a:p>
                  </a:txBody>
                  <a:tcPr>
                    <a:solidFill>
                      <a:srgbClr val="1E293B"/>
                    </a:solidFill>
                  </a:tcPr>
                </a:tc>
                <a:tc>
                  <a:txBody>
                    <a:bodyPr/>
                    <a:lstStyle/>
                    <a:p>
                      <a:pPr>
                        <a:defRPr sz="850">
                          <a:solidFill>
                            <a:srgbClr val="CBD5E1"/>
                          </a:solidFill>
                          <a:latin typeface="Segoe UI"/>
                        </a:defRPr>
                      </a:pPr>
                      <a:r>
                        <a:t>10.9 : 1</a:t>
                      </a:r>
                    </a:p>
                  </a:txBody>
                  <a:tcPr>
                    <a:solidFill>
                      <a:srgbClr val="1E293B"/>
                    </a:solidFill>
                  </a:tcPr>
                </a:tc>
                <a:tc>
                  <a:txBody>
                    <a:bodyPr/>
                    <a:lstStyle/>
                    <a:p>
                      <a:pPr>
                        <a:defRPr sz="850">
                          <a:solidFill>
                            <a:srgbClr val="CBD5E1"/>
                          </a:solidFill>
                          <a:latin typeface="Segoe UI"/>
                        </a:defRPr>
                      </a:pPr>
                      <a:r>
                        <a:t>39.0%</a:t>
                      </a:r>
                    </a:p>
                  </a:txBody>
                  <a:tcPr>
                    <a:solidFill>
                      <a:srgbClr val="1E293B"/>
                    </a:solidFill>
                  </a:tcPr>
                </a:tc>
              </a:tr>
              <a:tr h="399010">
                <a:tc>
                  <a:txBody>
                    <a:bodyPr/>
                    <a:lstStyle/>
                    <a:p>
                      <a:pPr>
                        <a:defRPr sz="850">
                          <a:solidFill>
                            <a:srgbClr val="F8FAFC"/>
                          </a:solidFill>
                          <a:latin typeface="Segoe UI"/>
                        </a:defRPr>
                      </a:pPr>
                      <a:r>
                        <a:t>6</a:t>
                      </a:r>
                    </a:p>
                  </a:txBody>
                  <a:tcPr>
                    <a:solidFill>
                      <a:srgbClr val="1E293B"/>
                    </a:solidFill>
                  </a:tcPr>
                </a:tc>
                <a:tc>
                  <a:txBody>
                    <a:bodyPr/>
                    <a:lstStyle/>
                    <a:p>
                      <a:pPr>
                        <a:defRPr sz="850">
                          <a:solidFill>
                            <a:srgbClr val="F8FAFC"/>
                          </a:solidFill>
                          <a:latin typeface="Segoe UI"/>
                        </a:defRPr>
                      </a:pPr>
                      <a:r>
                        <a:t>Stanford University</a:t>
                      </a:r>
                    </a:p>
                  </a:txBody>
                  <a:tcPr>
                    <a:solidFill>
                      <a:srgbClr val="1E293B"/>
                    </a:solidFill>
                  </a:tcPr>
                </a:tc>
                <a:tc>
                  <a:txBody>
                    <a:bodyPr/>
                    <a:lstStyle/>
                    <a:p>
                      <a:pPr>
                        <a:defRPr sz="850">
                          <a:solidFill>
                            <a:srgbClr val="CBD5E1"/>
                          </a:solidFill>
                          <a:latin typeface="Segoe UI"/>
                        </a:defRPr>
                      </a:pPr>
                      <a:r>
                        <a:t>United States</a:t>
                      </a:r>
                    </a:p>
                  </a:txBody>
                  <a:tcPr>
                    <a:solidFill>
                      <a:srgbClr val="1E293B"/>
                    </a:solidFill>
                  </a:tcPr>
                </a:tc>
                <a:tc>
                  <a:txBody>
                    <a:bodyPr/>
                    <a:lstStyle/>
                    <a:p>
                      <a:pPr>
                        <a:defRPr sz="850">
                          <a:solidFill>
                            <a:srgbClr val="CBD5E1"/>
                          </a:solidFill>
                          <a:latin typeface="Segoe UI"/>
                        </a:defRPr>
                      </a:pPr>
                      <a:r>
                        <a:t>96.1</a:t>
                      </a:r>
                    </a:p>
                  </a:txBody>
                  <a:tcPr>
                    <a:solidFill>
                      <a:srgbClr val="1E293B"/>
                    </a:solidFill>
                  </a:tcPr>
                </a:tc>
                <a:tc>
                  <a:txBody>
                    <a:bodyPr/>
                    <a:lstStyle/>
                    <a:p>
                      <a:pPr>
                        <a:defRPr sz="850">
                          <a:solidFill>
                            <a:srgbClr val="CBD5E1"/>
                          </a:solidFill>
                          <a:latin typeface="Segoe UI"/>
                        </a:defRPr>
                      </a:pPr>
                      <a:r>
                        <a:t>99.9</a:t>
                      </a:r>
                    </a:p>
                  </a:txBody>
                  <a:tcPr>
                    <a:solidFill>
                      <a:srgbClr val="1E293B"/>
                    </a:solidFill>
                  </a:tcPr>
                </a:tc>
                <a:tc>
                  <a:txBody>
                    <a:bodyPr/>
                    <a:lstStyle/>
                    <a:p>
                      <a:pPr>
                        <a:defRPr sz="850">
                          <a:solidFill>
                            <a:srgbClr val="CBD5E1"/>
                          </a:solidFill>
                          <a:latin typeface="Segoe UI"/>
                        </a:defRPr>
                      </a:pPr>
                      <a:r>
                        <a:t>7.5 : 1</a:t>
                      </a:r>
                    </a:p>
                  </a:txBody>
                  <a:tcPr>
                    <a:solidFill>
                      <a:srgbClr val="1E293B"/>
                    </a:solidFill>
                  </a:tcPr>
                </a:tc>
                <a:tc>
                  <a:txBody>
                    <a:bodyPr/>
                    <a:lstStyle/>
                    <a:p>
                      <a:pPr>
                        <a:defRPr sz="850">
                          <a:solidFill>
                            <a:srgbClr val="CBD5E1"/>
                          </a:solidFill>
                          <a:latin typeface="Segoe UI"/>
                        </a:defRPr>
                      </a:pPr>
                      <a:r>
                        <a:t>24.0%</a:t>
                      </a:r>
                    </a:p>
                  </a:txBody>
                  <a:tcPr>
                    <a:solidFill>
                      <a:srgbClr val="1E293B"/>
                    </a:solidFill>
                  </a:tcPr>
                </a:tc>
              </a:tr>
              <a:tr h="399010">
                <a:tc>
                  <a:txBody>
                    <a:bodyPr/>
                    <a:lstStyle/>
                    <a:p>
                      <a:pPr>
                        <a:defRPr sz="850">
                          <a:solidFill>
                            <a:srgbClr val="F8FAFC"/>
                          </a:solidFill>
                          <a:latin typeface="Segoe UI"/>
                        </a:defRPr>
                      </a:pPr>
                      <a:r>
                        <a:t>7</a:t>
                      </a:r>
                    </a:p>
                  </a:txBody>
                  <a:tcPr>
                    <a:solidFill>
                      <a:srgbClr val="1E293B"/>
                    </a:solidFill>
                  </a:tcPr>
                </a:tc>
                <a:tc>
                  <a:txBody>
                    <a:bodyPr/>
                    <a:lstStyle/>
                    <a:p>
                      <a:pPr>
                        <a:defRPr sz="850">
                          <a:solidFill>
                            <a:srgbClr val="F8FAFC"/>
                          </a:solidFill>
                          <a:latin typeface="Segoe UI"/>
                        </a:defRPr>
                      </a:pPr>
                      <a:r>
                        <a:t>ETH Zurich</a:t>
                      </a:r>
                    </a:p>
                  </a:txBody>
                  <a:tcPr>
                    <a:solidFill>
                      <a:srgbClr val="1E293B"/>
                    </a:solidFill>
                  </a:tcPr>
                </a:tc>
                <a:tc>
                  <a:txBody>
                    <a:bodyPr/>
                    <a:lstStyle/>
                    <a:p>
                      <a:pPr>
                        <a:defRPr sz="850">
                          <a:solidFill>
                            <a:srgbClr val="CBD5E1"/>
                          </a:solidFill>
                          <a:latin typeface="Segoe UI"/>
                        </a:defRPr>
                      </a:pPr>
                      <a:r>
                        <a:t>Switzerland</a:t>
                      </a:r>
                    </a:p>
                  </a:txBody>
                  <a:tcPr>
                    <a:solidFill>
                      <a:srgbClr val="1E293B"/>
                    </a:solidFill>
                  </a:tcPr>
                </a:tc>
                <a:tc>
                  <a:txBody>
                    <a:bodyPr/>
                    <a:lstStyle/>
                    <a:p>
                      <a:pPr>
                        <a:defRPr sz="850">
                          <a:solidFill>
                            <a:srgbClr val="CBD5E1"/>
                          </a:solidFill>
                          <a:latin typeface="Segoe UI"/>
                        </a:defRPr>
                      </a:pPr>
                      <a:r>
                        <a:t>93.9</a:t>
                      </a:r>
                    </a:p>
                  </a:txBody>
                  <a:tcPr>
                    <a:solidFill>
                      <a:srgbClr val="1E293B"/>
                    </a:solidFill>
                  </a:tcPr>
                </a:tc>
                <a:tc>
                  <a:txBody>
                    <a:bodyPr/>
                    <a:lstStyle/>
                    <a:p>
                      <a:pPr>
                        <a:defRPr sz="850">
                          <a:solidFill>
                            <a:srgbClr val="CBD5E1"/>
                          </a:solidFill>
                          <a:latin typeface="Segoe UI"/>
                        </a:defRPr>
                      </a:pPr>
                      <a:r>
                        <a:t>99.1</a:t>
                      </a:r>
                    </a:p>
                  </a:txBody>
                  <a:tcPr>
                    <a:solidFill>
                      <a:srgbClr val="1E293B"/>
                    </a:solidFill>
                  </a:tcPr>
                </a:tc>
                <a:tc>
                  <a:txBody>
                    <a:bodyPr/>
                    <a:lstStyle/>
                    <a:p>
                      <a:pPr>
                        <a:defRPr sz="850">
                          <a:solidFill>
                            <a:srgbClr val="CBD5E1"/>
                          </a:solidFill>
                          <a:latin typeface="Segoe UI"/>
                        </a:defRPr>
                      </a:pPr>
                      <a:r>
                        <a:t>14.6 : 1</a:t>
                      </a:r>
                    </a:p>
                  </a:txBody>
                  <a:tcPr>
                    <a:solidFill>
                      <a:srgbClr val="1E293B"/>
                    </a:solidFill>
                  </a:tcPr>
                </a:tc>
                <a:tc>
                  <a:txBody>
                    <a:bodyPr/>
                    <a:lstStyle/>
                    <a:p>
                      <a:pPr>
                        <a:defRPr sz="850">
                          <a:solidFill>
                            <a:srgbClr val="CBD5E1"/>
                          </a:solidFill>
                          <a:latin typeface="Segoe UI"/>
                        </a:defRPr>
                      </a:pPr>
                      <a:r>
                        <a:t>41.0%</a:t>
                      </a:r>
                    </a:p>
                  </a:txBody>
                  <a:tcPr>
                    <a:solidFill>
                      <a:srgbClr val="1E293B"/>
                    </a:solidFill>
                  </a:tcPr>
                </a:tc>
              </a:tr>
              <a:tr h="399010">
                <a:tc>
                  <a:txBody>
                    <a:bodyPr/>
                    <a:lstStyle/>
                    <a:p>
                      <a:pPr>
                        <a:defRPr sz="850">
                          <a:solidFill>
                            <a:srgbClr val="F8FAFC"/>
                          </a:solidFill>
                          <a:latin typeface="Segoe UI"/>
                        </a:defRPr>
                      </a:pPr>
                      <a:r>
                        <a:t>8</a:t>
                      </a:r>
                    </a:p>
                  </a:txBody>
                  <a:tcPr>
                    <a:solidFill>
                      <a:srgbClr val="1E293B"/>
                    </a:solidFill>
                  </a:tcPr>
                </a:tc>
                <a:tc>
                  <a:txBody>
                    <a:bodyPr/>
                    <a:lstStyle/>
                    <a:p>
                      <a:pPr>
                        <a:defRPr sz="850">
                          <a:solidFill>
                            <a:srgbClr val="F8FAFC"/>
                          </a:solidFill>
                          <a:latin typeface="Segoe UI"/>
                        </a:defRPr>
                      </a:pPr>
                      <a:r>
                        <a:t>National University of Singapore (NUS)</a:t>
                      </a:r>
                    </a:p>
                  </a:txBody>
                  <a:tcPr>
                    <a:solidFill>
                      <a:srgbClr val="1E293B"/>
                    </a:solidFill>
                  </a:tcPr>
                </a:tc>
                <a:tc>
                  <a:txBody>
                    <a:bodyPr/>
                    <a:lstStyle/>
                    <a:p>
                      <a:pPr>
                        <a:defRPr sz="850">
                          <a:solidFill>
                            <a:srgbClr val="CBD5E1"/>
                          </a:solidFill>
                          <a:latin typeface="Segoe UI"/>
                        </a:defRPr>
                      </a:pPr>
                      <a:r>
                        <a:t>Singapore</a:t>
                      </a:r>
                    </a:p>
                  </a:txBody>
                  <a:tcPr>
                    <a:solidFill>
                      <a:srgbClr val="1E293B"/>
                    </a:solidFill>
                  </a:tcPr>
                </a:tc>
                <a:tc>
                  <a:txBody>
                    <a:bodyPr/>
                    <a:lstStyle/>
                    <a:p>
                      <a:pPr>
                        <a:defRPr sz="850">
                          <a:solidFill>
                            <a:srgbClr val="CBD5E1"/>
                          </a:solidFill>
                          <a:latin typeface="Segoe UI"/>
                        </a:defRPr>
                      </a:pPr>
                      <a:r>
                        <a:t>93.7</a:t>
                      </a:r>
                    </a:p>
                  </a:txBody>
                  <a:tcPr>
                    <a:solidFill>
                      <a:srgbClr val="1E293B"/>
                    </a:solidFill>
                  </a:tcPr>
                </a:tc>
                <a:tc>
                  <a:txBody>
                    <a:bodyPr/>
                    <a:lstStyle/>
                    <a:p>
                      <a:pPr>
                        <a:defRPr sz="850">
                          <a:solidFill>
                            <a:srgbClr val="CBD5E1"/>
                          </a:solidFill>
                          <a:latin typeface="Segoe UI"/>
                        </a:defRPr>
                      </a:pPr>
                      <a:r>
                        <a:t>91.2</a:t>
                      </a:r>
                    </a:p>
                  </a:txBody>
                  <a:tcPr>
                    <a:solidFill>
                      <a:srgbClr val="1E293B"/>
                    </a:solidFill>
                  </a:tcPr>
                </a:tc>
                <a:tc>
                  <a:txBody>
                    <a:bodyPr/>
                    <a:lstStyle/>
                    <a:p>
                      <a:pPr>
                        <a:defRPr sz="850">
                          <a:solidFill>
                            <a:srgbClr val="CBD5E1"/>
                          </a:solidFill>
                          <a:latin typeface="Segoe UI"/>
                        </a:defRPr>
                      </a:pPr>
                      <a:r>
                        <a:t>15.8 : 1</a:t>
                      </a:r>
                    </a:p>
                  </a:txBody>
                  <a:tcPr>
                    <a:solidFill>
                      <a:srgbClr val="1E293B"/>
                    </a:solidFill>
                  </a:tcPr>
                </a:tc>
                <a:tc>
                  <a:txBody>
                    <a:bodyPr/>
                    <a:lstStyle/>
                    <a:p>
                      <a:pPr>
                        <a:defRPr sz="850">
                          <a:solidFill>
                            <a:srgbClr val="CBD5E1"/>
                          </a:solidFill>
                          <a:latin typeface="Segoe UI"/>
                        </a:defRPr>
                      </a:pPr>
                      <a:r>
                        <a:t>35.0%</a:t>
                      </a:r>
                    </a:p>
                  </a:txBody>
                  <a:tcPr>
                    <a:solidFill>
                      <a:srgbClr val="1E293B"/>
                    </a:solidFill>
                  </a:tcPr>
                </a:tc>
              </a:tr>
              <a:tr h="399010">
                <a:tc>
                  <a:txBody>
                    <a:bodyPr/>
                    <a:lstStyle/>
                    <a:p>
                      <a:pPr>
                        <a:defRPr sz="850">
                          <a:solidFill>
                            <a:srgbClr val="F8FAFC"/>
                          </a:solidFill>
                          <a:latin typeface="Segoe UI"/>
                        </a:defRPr>
                      </a:pPr>
                      <a:r>
                        <a:t>9</a:t>
                      </a:r>
                    </a:p>
                  </a:txBody>
                  <a:tcPr>
                    <a:solidFill>
                      <a:srgbClr val="1E293B"/>
                    </a:solidFill>
                  </a:tcPr>
                </a:tc>
                <a:tc>
                  <a:txBody>
                    <a:bodyPr/>
                    <a:lstStyle/>
                    <a:p>
                      <a:pPr>
                        <a:defRPr sz="850">
                          <a:solidFill>
                            <a:srgbClr val="F8FAFC"/>
                          </a:solidFill>
                          <a:latin typeface="Segoe UI"/>
                        </a:defRPr>
                      </a:pPr>
                      <a:r>
                        <a:t>University College London (UCL)</a:t>
                      </a:r>
                    </a:p>
                  </a:txBody>
                  <a:tcPr>
                    <a:solidFill>
                      <a:srgbClr val="1E293B"/>
                    </a:solidFill>
                  </a:tcPr>
                </a:tc>
                <a:tc>
                  <a:txBody>
                    <a:bodyPr/>
                    <a:lstStyle/>
                    <a:p>
                      <a:pPr>
                        <a:defRPr sz="850">
                          <a:solidFill>
                            <a:srgbClr val="CBD5E1"/>
                          </a:solidFill>
                          <a:latin typeface="Segoe UI"/>
                        </a:defRPr>
                      </a:pPr>
                      <a:r>
                        <a:t>United Kingdom</a:t>
                      </a:r>
                    </a:p>
                  </a:txBody>
                  <a:tcPr>
                    <a:solidFill>
                      <a:srgbClr val="1E293B"/>
                    </a:solidFill>
                  </a:tcPr>
                </a:tc>
                <a:tc>
                  <a:txBody>
                    <a:bodyPr/>
                    <a:lstStyle/>
                    <a:p>
                      <a:pPr>
                        <a:defRPr sz="850">
                          <a:solidFill>
                            <a:srgbClr val="CBD5E1"/>
                          </a:solidFill>
                          <a:latin typeface="Segoe UI"/>
                        </a:defRPr>
                      </a:pPr>
                      <a:r>
                        <a:t>91.6</a:t>
                      </a:r>
                    </a:p>
                  </a:txBody>
                  <a:tcPr>
                    <a:solidFill>
                      <a:srgbClr val="1E293B"/>
                    </a:solidFill>
                  </a:tcPr>
                </a:tc>
                <a:tc>
                  <a:txBody>
                    <a:bodyPr/>
                    <a:lstStyle/>
                    <a:p>
                      <a:pPr>
                        <a:defRPr sz="850">
                          <a:solidFill>
                            <a:srgbClr val="CBD5E1"/>
                          </a:solidFill>
                          <a:latin typeface="Segoe UI"/>
                        </a:defRPr>
                      </a:pPr>
                      <a:r>
                        <a:t>89.4</a:t>
                      </a:r>
                    </a:p>
                  </a:txBody>
                  <a:tcPr>
                    <a:solidFill>
                      <a:srgbClr val="1E293B"/>
                    </a:solidFill>
                  </a:tcPr>
                </a:tc>
                <a:tc>
                  <a:txBody>
                    <a:bodyPr/>
                    <a:lstStyle/>
                    <a:p>
                      <a:pPr>
                        <a:defRPr sz="850">
                          <a:solidFill>
                            <a:srgbClr val="CBD5E1"/>
                          </a:solidFill>
                          <a:latin typeface="Segoe UI"/>
                        </a:defRPr>
                      </a:pPr>
                      <a:r>
                        <a:t>10.5 : 1</a:t>
                      </a:r>
                    </a:p>
                  </a:txBody>
                  <a:tcPr>
                    <a:solidFill>
                      <a:srgbClr val="1E293B"/>
                    </a:solidFill>
                  </a:tcPr>
                </a:tc>
                <a:tc>
                  <a:txBody>
                    <a:bodyPr/>
                    <a:lstStyle/>
                    <a:p>
                      <a:pPr>
                        <a:defRPr sz="850">
                          <a:solidFill>
                            <a:srgbClr val="CBD5E1"/>
                          </a:solidFill>
                          <a:latin typeface="Segoe UI"/>
                        </a:defRPr>
                      </a:pPr>
                      <a:r>
                        <a:t>53.0%</a:t>
                      </a:r>
                    </a:p>
                  </a:txBody>
                  <a:tcPr>
                    <a:solidFill>
                      <a:srgbClr val="1E293B"/>
                    </a:solidFill>
                  </a:tcPr>
                </a:tc>
              </a:tr>
              <a:tr h="399020">
                <a:tc>
                  <a:txBody>
                    <a:bodyPr/>
                    <a:lstStyle/>
                    <a:p>
                      <a:pPr>
                        <a:defRPr sz="850">
                          <a:solidFill>
                            <a:srgbClr val="F8FAFC"/>
                          </a:solidFill>
                          <a:latin typeface="Segoe UI"/>
                        </a:defRPr>
                      </a:pPr>
                      <a:r>
                        <a:t>10</a:t>
                      </a:r>
                    </a:p>
                  </a:txBody>
                  <a:tcPr>
                    <a:solidFill>
                      <a:srgbClr val="1E293B"/>
                    </a:solidFill>
                  </a:tcPr>
                </a:tc>
                <a:tc>
                  <a:txBody>
                    <a:bodyPr/>
                    <a:lstStyle/>
                    <a:p>
                      <a:pPr>
                        <a:defRPr sz="850">
                          <a:solidFill>
                            <a:srgbClr val="F8FAFC"/>
                          </a:solidFill>
                          <a:latin typeface="Segoe UI"/>
                        </a:defRPr>
                      </a:pPr>
                      <a:r>
                        <a:t>California Institute of Technology (Caltech)</a:t>
                      </a:r>
                    </a:p>
                  </a:txBody>
                  <a:tcPr>
                    <a:solidFill>
                      <a:srgbClr val="1E293B"/>
                    </a:solidFill>
                  </a:tcPr>
                </a:tc>
                <a:tc>
                  <a:txBody>
                    <a:bodyPr/>
                    <a:lstStyle/>
                    <a:p>
                      <a:pPr>
                        <a:defRPr sz="850">
                          <a:solidFill>
                            <a:srgbClr val="CBD5E1"/>
                          </a:solidFill>
                          <a:latin typeface="Segoe UI"/>
                        </a:defRPr>
                      </a:pPr>
                      <a:r>
                        <a:t>United States</a:t>
                      </a:r>
                    </a:p>
                  </a:txBody>
                  <a:tcPr>
                    <a:solidFill>
                      <a:srgbClr val="1E293B"/>
                    </a:solidFill>
                  </a:tcPr>
                </a:tc>
                <a:tc>
                  <a:txBody>
                    <a:bodyPr/>
                    <a:lstStyle/>
                    <a:p>
                      <a:pPr>
                        <a:defRPr sz="850">
                          <a:solidFill>
                            <a:srgbClr val="CBD5E1"/>
                          </a:solidFill>
                          <a:latin typeface="Segoe UI"/>
                        </a:defRPr>
                      </a:pPr>
                      <a:r>
                        <a:t>90.9</a:t>
                      </a:r>
                    </a:p>
                  </a:txBody>
                  <a:tcPr>
                    <a:solidFill>
                      <a:srgbClr val="1E293B"/>
                    </a:solidFill>
                  </a:tcPr>
                </a:tc>
                <a:tc>
                  <a:txBody>
                    <a:bodyPr/>
                    <a:lstStyle/>
                    <a:p>
                      <a:pPr>
                        <a:defRPr sz="850">
                          <a:solidFill>
                            <a:srgbClr val="CBD5E1"/>
                          </a:solidFill>
                          <a:latin typeface="Segoe UI"/>
                        </a:defRPr>
                      </a:pPr>
                      <a:r>
                        <a:t>100.0</a:t>
                      </a:r>
                    </a:p>
                  </a:txBody>
                  <a:tcPr>
                    <a:solidFill>
                      <a:srgbClr val="1E293B"/>
                    </a:solidFill>
                  </a:tcPr>
                </a:tc>
                <a:tc>
                  <a:txBody>
                    <a:bodyPr/>
                    <a:lstStyle/>
                    <a:p>
                      <a:pPr>
                        <a:defRPr sz="850">
                          <a:solidFill>
                            <a:srgbClr val="CBD5E1"/>
                          </a:solidFill>
                          <a:latin typeface="Segoe UI"/>
                        </a:defRPr>
                      </a:pPr>
                      <a:r>
                        <a:t>6.4 : 1</a:t>
                      </a:r>
                    </a:p>
                  </a:txBody>
                  <a:tcPr>
                    <a:solidFill>
                      <a:srgbClr val="1E293B"/>
                    </a:solidFill>
                  </a:tcPr>
                </a:tc>
                <a:tc>
                  <a:txBody>
                    <a:bodyPr/>
                    <a:lstStyle/>
                    <a:p>
                      <a:pPr>
                        <a:defRPr sz="850">
                          <a:solidFill>
                            <a:srgbClr val="CBD5E1"/>
                          </a:solidFill>
                          <a:latin typeface="Segoe UI"/>
                        </a:defRPr>
                      </a:pPr>
                      <a:r>
                        <a:t>32.0%</a:t>
                      </a:r>
                    </a:p>
                  </a:txBody>
                  <a:tcPr>
                    <a:solidFill>
                      <a:srgbClr val="1E293B"/>
                    </a:solidFill>
                  </a:tcPr>
                </a:tc>
              </a:tr>
            </a:tbl>
          </a:graphicData>
        </a:graphic>
      </p:graphicFrame>
      <p:sp>
        <p:nvSpPr>
          <p:cNvPr id="8" name="Rounded Rectangle 7"/>
          <p:cNvSpPr/>
          <p:nvPr/>
        </p:nvSpPr>
        <p:spPr>
          <a:xfrm>
            <a:off x="731520" y="5897880"/>
            <a:ext cx="10728655" cy="438912"/>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73152" tIns="73152" rIns="73152" bIns="73152"/>
          <a:lstStyle/>
          <a:p>
            <a:pPr algn="ctr">
              <a:defRPr sz="850">
                <a:solidFill>
                  <a:srgbClr val="10B981"/>
                </a:solidFill>
                <a:latin typeface="Segoe UI"/>
              </a:defRPr>
            </a:pPr>
            <a:r>
              <a:t>Empirical Finding: Top 10 institutions maintain staff ratios under 16:1 and average citations per faculty exceeding 95.0, reflecting intensive faculty advising.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MILESTONE 2 / MODULE 4 &amp; MILESTONE 3 / MODULE 5 | DESIGN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Visual Analytics: Enterprise Dashboard Design System</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11 / 19</a:t>
            </a:r>
          </a:p>
        </p:txBody>
      </p:sp>
      <p:sp>
        <p:nvSpPr>
          <p:cNvPr id="7" name="Rounded Rectangle 6"/>
          <p:cNvSpPr/>
          <p:nvPr/>
        </p:nvSpPr>
        <p:spPr>
          <a:xfrm>
            <a:off x="731520" y="1371600"/>
            <a:ext cx="52578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100" b="1">
                <a:solidFill>
                  <a:srgbClr val="10B981"/>
                </a:solidFill>
                <a:latin typeface="Segoe UI"/>
              </a:defRPr>
            </a:pPr>
            <a:r>
              <a:t>DASHBOARD 1: UNIVERSITY OVERVIEW</a:t>
            </a:r>
          </a:p>
          <a:p>
            <a:pPr>
              <a:defRPr sz="850">
                <a:solidFill>
                  <a:srgbClr val="E2E8F0"/>
                </a:solidFill>
              </a:defRPr>
            </a:pPr>
            <a:r>
              <a:t>• Located in Milestone 3 / Module 5 &amp; Module 6. • Executive landing scorecard with Top Header Navigation &amp; KPI Suite. • Features 6 Executive KPI Cards (#1 MIT, 1,503 Univs, 72.6 Avg Score, 28.7% Intl Students, 1:11.2 Faculty Ratio, 84.3 Research Impact). • Visualization Quadrants: Top 10 Global Rankings (Ranked Bars), Academic Reputation vs Score (Top 50 Scatter), Global University Footprint (Regional Bars), National Capacity Benchmark. • Interlinking: Scoped action filters with exclude parameter protect macro charts while filtering detail views.</a:t>
            </a:r>
          </a:p>
        </p:txBody>
      </p:sp>
      <p:sp>
        <p:nvSpPr>
          <p:cNvPr id="8" name="Rounded Rectangle 7"/>
          <p:cNvSpPr/>
          <p:nvPr/>
        </p:nvSpPr>
        <p:spPr>
          <a:xfrm>
            <a:off x="6208776" y="1371600"/>
            <a:ext cx="52578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100" b="1">
                <a:solidFill>
                  <a:srgbClr val="10B981"/>
                </a:solidFill>
                <a:latin typeface="Segoe UI"/>
              </a:defRPr>
            </a:pPr>
            <a:r>
              <a:t>DASHBOARD 2: RESEARCH ANALYTICS</a:t>
            </a:r>
          </a:p>
          <a:p>
            <a:pPr>
              <a:defRPr sz="850">
                <a:solidFill>
                  <a:srgbClr val="E2E8F0"/>
                </a:solidFill>
              </a:defRPr>
            </a:pPr>
            <a:r>
              <a:t>• Located in Milestone 3 / Module 5 &amp; Module 6. • Deep-dive research intelligence with Top Header Navigation. • Features 6 Research KPI Scorecards (82.4 Research Score, 86.1 Citation Impact, 84.9 Productivity Index, 78.2 Intl Collab, Harvard Hub, 99.87 Citations Leader). • Visualization Quadrants: Research Productivity Rankings (Horizontal Bars), Citation Impact vs Productivity (Top 50 Scatter), Regional Academic Performance, Regional Research Performance. • Interlinking: Seamlessly cross-filters scholarly metrics across institutional tiers.</a:t>
            </a:r>
          </a:p>
        </p:txBody>
      </p:sp>
      <p:sp>
        <p:nvSpPr>
          <p:cNvPr id="9" name="Rounded Rectangle 8"/>
          <p:cNvSpPr/>
          <p:nvPr/>
        </p:nvSpPr>
        <p:spPr>
          <a:xfrm>
            <a:off x="731520" y="3794760"/>
            <a:ext cx="52578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100" b="1">
                <a:solidFill>
                  <a:srgbClr val="10B981"/>
                </a:solidFill>
                <a:latin typeface="Segoe UI"/>
              </a:defRPr>
            </a:pPr>
            <a:r>
              <a:t>DASHBOARD 3: STUDENT ANALYTICS</a:t>
            </a:r>
          </a:p>
          <a:p>
            <a:pPr>
              <a:defRPr sz="850">
                <a:solidFill>
                  <a:srgbClr val="E2E8F0"/>
                </a:solidFill>
              </a:defRPr>
            </a:pPr>
            <a:r>
              <a:t>• Located in Milestone 3 / Module 6. • Campus diversity &amp; faculty capacity intelligence with Top Header Navigation. • Features 6 Student KPI Cards (28.7% Intl Students, 1:11.2 Faculty Ratio, 18.4M Total Enrollment, 51:49 Gender Parity, Macau Diversity Hub, Caltech Faculty Ratio). • Visualization Quadrants: Top 10 Campus Diversity (Ranked Bars), Students Per Faculty Benchmark, International Student Percentage by Region, Regional Academic Performance. • Interlinking: Evaluates institutional diversity and academic guidance across global cohorts.</a:t>
            </a:r>
          </a:p>
        </p:txBody>
      </p:sp>
      <p:sp>
        <p:nvSpPr>
          <p:cNvPr id="10" name="Rounded Rectangle 9"/>
          <p:cNvSpPr/>
          <p:nvPr/>
        </p:nvSpPr>
        <p:spPr>
          <a:xfrm>
            <a:off x="6208776" y="3794760"/>
            <a:ext cx="52578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100" b="1">
                <a:solidFill>
                  <a:srgbClr val="10B981"/>
                </a:solidFill>
                <a:latin typeface="Segoe UI"/>
              </a:defRPr>
            </a:pPr>
            <a:r>
              <a:t>DASHBOARD 4: COUNTRY COMPARISON</a:t>
            </a:r>
          </a:p>
          <a:p>
            <a:pPr>
              <a:defRPr sz="850">
                <a:solidFill>
                  <a:srgbClr val="E2E8F0"/>
                </a:solidFill>
              </a:defRPr>
            </a:pPr>
            <a:r>
              <a:t>• Located in Milestone 3 / Module 6. • Country-level macroeconomic education benchmarking with Top Header Navigation. • Features 6 Policy KPI Cards (US 197 Capacity, 58.4 Avg Score, 4.82% Spend % GDP, 62.4% Tertiary Rate, UK Leader, China Leader). • Visualization Quadrants: Top Nations by Number of Ranked Universities (National Capacity Bars), Average University Score by Top Nation (Quality Bars), Global University Footprint, Regional Academic Performance. • Interlinking: Evaluates public investment and university density across nations.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MILESTONE 3 / MODULE 5 &amp; 6 | TABLEAU BI SUITE</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Dashboard 1: University Overview &amp; Global Rankings</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12 / 19</a:t>
            </a:r>
          </a:p>
        </p:txBody>
      </p:sp>
      <p:sp>
        <p:nvSpPr>
          <p:cNvPr id="8" name="Rounded Rectangle 7"/>
          <p:cNvSpPr/>
          <p:nvPr/>
        </p:nvSpPr>
        <p:spPr>
          <a:xfrm>
            <a:off x="7909560" y="1371600"/>
            <a:ext cx="355061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100" b="1">
                <a:solidFill>
                  <a:srgbClr val="10B981"/>
                </a:solidFill>
                <a:latin typeface="Segoe UI"/>
              </a:defRPr>
            </a:pPr>
            <a:r>
              <a:t>DASHBOARD 1 ARCHITECTURE</a:t>
            </a:r>
          </a:p>
          <a:p>
            <a:pPr>
              <a:defRPr sz="850">
                <a:solidFill>
                  <a:srgbClr val="E2E8F0"/>
                </a:solidFill>
              </a:defRPr>
            </a:pPr>
            <a:r>
              <a:t>Core Business Purpose: Executive landing scorecard providing institutional benchmarks, overall score evaluations, and global higher education footprints.</a:t>
            </a:r>
          </a:p>
          <a:p>
            <a:pPr>
              <a:defRPr sz="850">
                <a:solidFill>
                  <a:srgbClr val="E2E8F0"/>
                </a:solidFill>
              </a:defRPr>
            </a:pPr>
            <a:r>
              <a:t>Visual Components: • Top Executive Header: Persistent navigation tabs across all 4 dashboards • 6 KPI Scorecards: #1 (MIT), 1,503 Total Universities, 72.6 Avg Score, 28.7% Intl Students, 1:11.2 Faculty Ratio, 84.3 Research Impact • Top Global Universities by Overall Score (Ranked Horizontal Bars) • Academic Reputation vs Research Citations (Scatter Plot Top 50) • Global University Distribution by Region (Horizontal Bars) • Top Nations by Number of Ranked Universities (National Capacity Bars)</a:t>
            </a:r>
          </a:p>
          <a:p>
            <a:pPr>
              <a:defRPr sz="850">
                <a:solidFill>
                  <a:srgbClr val="E2E8F0"/>
                </a:solidFill>
              </a:defRPr>
            </a:pPr>
            <a:r>
              <a:t>Interactivity &amp; Filter Actions: • Scoped action filters with explicit exclude parameter prevent macro charts from blanking out. Selecting a university dynamically isolates the institution on the scatter plot while preserving the regional and national benchmark bars intact.</a:t>
            </a:r>
          </a:p>
          <a:p>
            <a:pPr>
              <a:defRPr sz="850">
                <a:solidFill>
                  <a:srgbClr val="E2E8F0"/>
                </a:solidFill>
              </a:defRPr>
            </a:pPr>
            <a:r>
              <a:t>Analytical Finding: MIT (#1), Imperial College London, and Oxford lead global rankings; North America and Europe host &gt;60% of top institutions, while Asia demonstrates rapid score acceleration.</a:t>
            </a:r>
          </a:p>
        </p:txBody>
      </p:sp>
      <p:pic>
        <p:nvPicPr>
          <p:cNvPr id="9" name="Picture 8" descr="dashboard_1_university_overview.png"/>
          <p:cNvPicPr>
            <a:picLocks noChangeAspect="1"/>
          </p:cNvPicPr>
          <p:nvPr/>
        </p:nvPicPr>
        <p:blipFill>
          <a:blip r:embed="rId3"/>
          <a:stretch>
            <a:fillRect/>
          </a:stretch>
        </p:blipFill>
        <p:spPr>
          <a:xfrm>
            <a:off x="731520" y="1371600"/>
            <a:ext cx="6949440" cy="43434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MILESTONE 3 / MODULE 5 &amp; 6 | TABLEAU BI SUITE</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Dashboard 2: Research Productivity &amp; Citation Impact</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13 / 19</a:t>
            </a:r>
          </a:p>
        </p:txBody>
      </p:sp>
      <p:sp>
        <p:nvSpPr>
          <p:cNvPr id="8" name="Rounded Rectangle 7"/>
          <p:cNvSpPr/>
          <p:nvPr/>
        </p:nvSpPr>
        <p:spPr>
          <a:xfrm>
            <a:off x="7909560" y="1371600"/>
            <a:ext cx="355061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100" b="1">
                <a:solidFill>
                  <a:srgbClr val="10B981"/>
                </a:solidFill>
                <a:latin typeface="Segoe UI"/>
              </a:defRPr>
            </a:pPr>
            <a:r>
              <a:t>DASHBOARD 2 ARCHITECTURE</a:t>
            </a:r>
          </a:p>
          <a:p>
            <a:pPr>
              <a:defRPr sz="850">
                <a:solidFill>
                  <a:srgbClr val="E2E8F0"/>
                </a:solidFill>
              </a:defRPr>
            </a:pPr>
            <a:r>
              <a:t>Core Business Purpose: Deep-dive research intelligence evaluating scholarly productivity, citation velocity, and international research collaborations across global institutions.</a:t>
            </a:r>
          </a:p>
          <a:p>
            <a:pPr>
              <a:defRPr sz="850">
                <a:solidFill>
                  <a:srgbClr val="E2E8F0"/>
                </a:solidFill>
              </a:defRPr>
            </a:pPr>
            <a:r>
              <a:t>Visual Components: • Top Executive Header: Persistent navigation tabs across all 4 dashboards • 6 Research KPI Scorecards: 82.4 Avg Research Score, 86.1 Avg Citation Impact, 84.9 Productivity Index, 78.2 Intl Collab, Harvard Peak Hub, 99.87 Citations Leader • Top Research Institutions by Productivity Index (Ranked Horizontal Bars) • Research Citation Impact vs Productivity (Scatter Plot Top 50) • Regional Academic Performance (Horizontal Bars) • Regional Research Performance (Research Citation Score by Region)</a:t>
            </a:r>
          </a:p>
          <a:p>
            <a:pPr>
              <a:defRPr sz="850">
                <a:solidFill>
                  <a:srgbClr val="E2E8F0"/>
                </a:solidFill>
              </a:defRPr>
            </a:pPr>
            <a:r>
              <a:t>Interactivity &amp; Filter Actions: • University selection highlights research productivity and citation impact. Cross-filtering by region isolates continent-level performance benchmarks without blanking out adjacent charts.</a:t>
            </a:r>
          </a:p>
          <a:p>
            <a:pPr>
              <a:defRPr sz="850">
                <a:solidFill>
                  <a:srgbClr val="E2E8F0"/>
                </a:solidFill>
              </a:defRPr>
            </a:pPr>
            <a:r>
              <a:t>Analytical Finding: Harvard and MIT lead citation impact (&gt;98.0); European institutions demonstrate highest cross-border international research network scores (&gt;88.0).</a:t>
            </a:r>
          </a:p>
        </p:txBody>
      </p:sp>
      <p:pic>
        <p:nvPicPr>
          <p:cNvPr id="9" name="Picture 8" descr="dashboard_2_research_analytics.png"/>
          <p:cNvPicPr>
            <a:picLocks noChangeAspect="1"/>
          </p:cNvPicPr>
          <p:nvPr/>
        </p:nvPicPr>
        <p:blipFill>
          <a:blip r:embed="rId3"/>
          <a:stretch>
            <a:fillRect/>
          </a:stretch>
        </p:blipFill>
        <p:spPr>
          <a:xfrm>
            <a:off x="731520" y="1371600"/>
            <a:ext cx="6949440" cy="43434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MILESTONE 3 / MODULE 6 | TABLEAU BI SUITE</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Dashboard 3: Student Analytics &amp; Campus Diversity</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14 / 19</a:t>
            </a:r>
          </a:p>
        </p:txBody>
      </p:sp>
      <p:sp>
        <p:nvSpPr>
          <p:cNvPr id="8" name="Rounded Rectangle 7"/>
          <p:cNvSpPr/>
          <p:nvPr/>
        </p:nvSpPr>
        <p:spPr>
          <a:xfrm>
            <a:off x="7909560" y="1371600"/>
            <a:ext cx="355061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100" b="1">
                <a:solidFill>
                  <a:srgbClr val="10B981"/>
                </a:solidFill>
                <a:latin typeface="Segoe UI"/>
              </a:defRPr>
            </a:pPr>
            <a:r>
              <a:t>DASHBOARD 3 ARCHITECTURE</a:t>
            </a:r>
          </a:p>
          <a:p>
            <a:pPr>
              <a:defRPr sz="850">
                <a:solidFill>
                  <a:srgbClr val="E2E8F0"/>
                </a:solidFill>
              </a:defRPr>
            </a:pPr>
            <a:r>
              <a:t>Core Business Purpose: Comprehensive analysis of student enrollment demographics, internationalization mobility, and academic faculty staffing capacity.</a:t>
            </a:r>
          </a:p>
          <a:p>
            <a:pPr>
              <a:defRPr sz="850">
                <a:solidFill>
                  <a:srgbClr val="E2E8F0"/>
                </a:solidFill>
              </a:defRPr>
            </a:pPr>
            <a:r>
              <a:t>Visual Components: • Top Executive Header: Persistent navigation tabs across all 4 dashboards • 6 Student KPI Scorecards: 28.7% Intl Students, 1:11.2 Faculty Ratio, 18.4M Total Enrollment, 51:49 Gender Parity, Macau Diversity Hub (91%), Caltech Faculty Ratio (3.8:1) • Top Institutions by International Student Percentage (Horizontal Bars) • Students Per Faculty Benchmark by Region (Horizontal Bars) • International Student Percentage by Region (Horizontal Bars) • Regional Academic Performance (Horizontal Bars)</a:t>
            </a:r>
          </a:p>
          <a:p>
            <a:pPr>
              <a:defRPr sz="850">
                <a:solidFill>
                  <a:srgbClr val="E2E8F0"/>
                </a:solidFill>
              </a:defRPr>
            </a:pPr>
            <a:r>
              <a:t>Interactivity &amp; Filter Actions: • Regional filtering dynamically compares campus diversity and faculty burden. Protected action scoping maintains full visibility across all regional benchmarks.</a:t>
            </a:r>
          </a:p>
          <a:p>
            <a:pPr>
              <a:defRPr sz="850">
                <a:solidFill>
                  <a:srgbClr val="E2E8F0"/>
                </a:solidFill>
              </a:defRPr>
            </a:pPr>
            <a:r>
              <a:t>Analytical Finding: Global student mobility averages 28.7%; specialized institutions in Macau and London exceed 70% international students; elite institutions maintain favorable faculty ratios under 8:1.</a:t>
            </a:r>
          </a:p>
        </p:txBody>
      </p:sp>
      <p:pic>
        <p:nvPicPr>
          <p:cNvPr id="9" name="Picture 8" descr="dashboard_3_student_analytics.png"/>
          <p:cNvPicPr>
            <a:picLocks noChangeAspect="1"/>
          </p:cNvPicPr>
          <p:nvPr/>
        </p:nvPicPr>
        <p:blipFill>
          <a:blip r:embed="rId3"/>
          <a:stretch>
            <a:fillRect/>
          </a:stretch>
        </p:blipFill>
        <p:spPr>
          <a:xfrm>
            <a:off x="731520" y="1371600"/>
            <a:ext cx="6949440" cy="43434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MILESTONE 3 / MODULE 6 | TABLEAU BI SUITE</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Dashboard 4: Macro Education Policy &amp; National Benchmarking</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15 / 19</a:t>
            </a:r>
          </a:p>
        </p:txBody>
      </p:sp>
      <p:sp>
        <p:nvSpPr>
          <p:cNvPr id="8" name="Rounded Rectangle 7"/>
          <p:cNvSpPr/>
          <p:nvPr/>
        </p:nvSpPr>
        <p:spPr>
          <a:xfrm>
            <a:off x="7909560" y="1371600"/>
            <a:ext cx="355061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100" b="1">
                <a:solidFill>
                  <a:srgbClr val="10B981"/>
                </a:solidFill>
                <a:latin typeface="Segoe UI"/>
              </a:defRPr>
            </a:pPr>
            <a:r>
              <a:t>DASHBOARD 4 ARCHITECTURE</a:t>
            </a:r>
          </a:p>
          <a:p>
            <a:pPr>
              <a:defRPr sz="850">
                <a:solidFill>
                  <a:srgbClr val="E2E8F0"/>
                </a:solidFill>
              </a:defRPr>
            </a:pPr>
            <a:r>
              <a:t>Core Business Purpose: Macroeconomic evaluation linking national education capacity, government funding, and higher education quality benchmarks.</a:t>
            </a:r>
          </a:p>
          <a:p>
            <a:pPr>
              <a:defRPr sz="850">
                <a:solidFill>
                  <a:srgbClr val="E2E8F0"/>
                </a:solidFill>
              </a:defRPr>
            </a:pPr>
            <a:r>
              <a:t>Visual Components: • Top Executive Header: Persistent navigation tabs across all 4 dashboards • 6 Policy KPI Scorecards: US Top Capacity (197 Univs), 58.4 Avg National Score, 4.82% Spend % GDP, 62.4% Tertiary Rate, UK Europe Leader (90), China Asia Leader (71) • Top Nations by Number of Ranked Universities (National Capacity Bars) • Average University Score by Top Nation (National Quality Bars) • Global University Distribution by Region (Horizontal Bars) • Regional Academic Performance (Horizontal Bars)</a:t>
            </a:r>
          </a:p>
          <a:p>
            <a:pPr>
              <a:defRPr sz="850">
                <a:solidFill>
                  <a:srgbClr val="E2E8F0"/>
                </a:solidFill>
              </a:defRPr>
            </a:pPr>
            <a:r>
              <a:t>Interactivity &amp; Filter Actions: • Country-level selection cross-filters national capacity and institutional quality scores. Multi-region selection reveals macroeconomic funding dynamics.</a:t>
            </a:r>
          </a:p>
          <a:p>
            <a:pPr>
              <a:defRPr sz="850">
                <a:solidFill>
                  <a:srgbClr val="E2E8F0"/>
                </a:solidFill>
              </a:defRPr>
            </a:pPr>
            <a:r>
              <a:t>Analytical Finding: Public tertiary education spend (&gt;4.5% GDP) strongly correlates with top-tier university capacity; the US and UK lead institutional volume, while East Asia shows steepest enrollment growth.</a:t>
            </a:r>
          </a:p>
        </p:txBody>
      </p:sp>
      <p:pic>
        <p:nvPicPr>
          <p:cNvPr id="9" name="Picture 8" descr="dashboard_4_country_comparison.png"/>
          <p:cNvPicPr>
            <a:picLocks noChangeAspect="1"/>
          </p:cNvPicPr>
          <p:nvPr/>
        </p:nvPicPr>
        <p:blipFill>
          <a:blip r:embed="rId3"/>
          <a:stretch>
            <a:fillRect/>
          </a:stretch>
        </p:blipFill>
        <p:spPr>
          <a:xfrm>
            <a:off x="731520" y="1371600"/>
            <a:ext cx="6949440" cy="43434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MILESTONE 3 / MODULE 6 | CROSS-DASHBOARD INTERACTIVITY</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User Experience: Seamless Multi-Tier Dashboard Interlinking</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16 / 19</a:t>
            </a:r>
          </a:p>
        </p:txBody>
      </p:sp>
      <p:sp>
        <p:nvSpPr>
          <p:cNvPr id="7" name="Rounded Rectangle 6"/>
          <p:cNvSpPr/>
          <p:nvPr/>
        </p:nvSpPr>
        <p:spPr>
          <a:xfrm>
            <a:off x="731520" y="1371600"/>
            <a:ext cx="25146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100" b="1">
                <a:solidFill>
                  <a:srgbClr val="10B981"/>
                </a:solidFill>
                <a:latin typeface="Segoe UI"/>
              </a:defRPr>
            </a:pPr>
            <a:r>
              <a:t>TIER 1: MACRO DISCOVERY</a:t>
            </a:r>
          </a:p>
          <a:p>
            <a:pPr>
              <a:defRPr sz="850">
                <a:solidFill>
                  <a:srgbClr val="E2E8F0"/>
                </a:solidFill>
              </a:defRPr>
            </a:pPr>
            <a:r>
              <a:t>• Dashboard 1: University Overview • User explores global higher education landscape via Top Navigation Tabs. • Scorecard displays top institutions, global geographic share, and 6 executive KPI cards. • Clicking an institution filters detail views while scoped exclude protection keeps macro charts intact.</a:t>
            </a:r>
          </a:p>
        </p:txBody>
      </p:sp>
      <p:sp>
        <p:nvSpPr>
          <p:cNvPr id="8" name="Rounded Rectangle 7"/>
          <p:cNvSpPr/>
          <p:nvPr/>
        </p:nvSpPr>
        <p:spPr>
          <a:xfrm>
            <a:off x="3465576" y="1371600"/>
            <a:ext cx="25146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100" b="1">
                <a:solidFill>
                  <a:srgbClr val="10B981"/>
                </a:solidFill>
                <a:latin typeface="Segoe UI"/>
              </a:defRPr>
            </a:pPr>
            <a:r>
              <a:t>TIER 2: RESEARCH DEEP DIVE</a:t>
            </a:r>
          </a:p>
          <a:p>
            <a:pPr>
              <a:defRPr sz="850">
                <a:solidFill>
                  <a:srgbClr val="E2E8F0"/>
                </a:solidFill>
              </a:defRPr>
            </a:pPr>
            <a:r>
              <a:t>• Dashboard 2: Research Analytics • Cross-filtering evaluates research productivity and citation impact. • Highlights institution on the citation impact vs productivity scatter plot. • Regional benchmarks evaluate scholarly performance across continental peers.</a:t>
            </a:r>
          </a:p>
        </p:txBody>
      </p:sp>
      <p:sp>
        <p:nvSpPr>
          <p:cNvPr id="9" name="Rounded Rectangle 8"/>
          <p:cNvSpPr/>
          <p:nvPr/>
        </p:nvSpPr>
        <p:spPr>
          <a:xfrm>
            <a:off x="6199632" y="1371600"/>
            <a:ext cx="25146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100" b="1">
                <a:solidFill>
                  <a:srgbClr val="10B981"/>
                </a:solidFill>
                <a:latin typeface="Segoe UI"/>
              </a:defRPr>
            </a:pPr>
            <a:r>
              <a:t>TIER 3: CAMPUS EXPERIENCE</a:t>
            </a:r>
          </a:p>
          <a:p>
            <a:pPr>
              <a:defRPr sz="850">
                <a:solidFill>
                  <a:srgbClr val="E2E8F0"/>
                </a:solidFill>
              </a:defRPr>
            </a:pPr>
            <a:r>
              <a:t>• Dashboard 3: Student Analytics • Evaluates campus faculty capacity and international mobility demographics. • Benchmarks faculty-to-student ratios against global benchmarks (1:11.2 baseline). • Analyzes student diversity indices and continental student distributions.</a:t>
            </a:r>
          </a:p>
        </p:txBody>
      </p:sp>
      <p:sp>
        <p:nvSpPr>
          <p:cNvPr id="10" name="Rounded Rectangle 9"/>
          <p:cNvSpPr/>
          <p:nvPr/>
        </p:nvSpPr>
        <p:spPr>
          <a:xfrm>
            <a:off x="8933688" y="1371600"/>
            <a:ext cx="25146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100" b="1">
                <a:solidFill>
                  <a:srgbClr val="10B981"/>
                </a:solidFill>
                <a:latin typeface="Segoe UI"/>
              </a:defRPr>
            </a:pPr>
            <a:r>
              <a:t>TIER 4: POLICY BENCHMARK</a:t>
            </a:r>
          </a:p>
          <a:p>
            <a:pPr>
              <a:defRPr sz="850">
                <a:solidFill>
                  <a:srgbClr val="E2E8F0"/>
                </a:solidFill>
              </a:defRPr>
            </a:pPr>
            <a:r>
              <a:t>• Dashboard 4: Country Comparison • Cross-filters to host country national profile with macroeconomic indicators. • Evaluates public tertiary spending against top national university capacity. • Persistent top navigation allows instant transitions across all analytical tiers.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MILESTONE 4 / MODULE 7 | AUTOMATED TESTING &amp; VALIDATION</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Testing &amp; Validation: Automated Quality Assurance Suite</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17 / 19</a:t>
            </a:r>
          </a:p>
        </p:txBody>
      </p:sp>
      <p:graphicFrame>
        <p:nvGraphicFramePr>
          <p:cNvPr id="7" name="Table 6"/>
          <p:cNvGraphicFramePr>
            <a:graphicFrameLocks noGrp="1"/>
          </p:cNvGraphicFramePr>
          <p:nvPr/>
        </p:nvGraphicFramePr>
        <p:xfrm>
          <a:off x="731520" y="1371600"/>
          <a:ext cx="10728655" cy="3657600"/>
        </p:xfrm>
        <a:graphic>
          <a:graphicData uri="http://schemas.openxmlformats.org/drawingml/2006/table">
            <a:tbl>
              <a:tblPr firstRow="1" bandRow="1">
                <a:tableStyleId>{5C22544A-7EE6-4342-B048-85BDC9FD1C3A}</a:tableStyleId>
              </a:tblPr>
              <a:tblGrid>
                <a:gridCol w="1097280"/>
                <a:gridCol w="2286000"/>
                <a:gridCol w="3200400"/>
                <a:gridCol w="2499055"/>
                <a:gridCol w="1645920"/>
              </a:tblGrid>
              <a:tr h="522514">
                <a:tc>
                  <a:txBody>
                    <a:bodyPr/>
                    <a:lstStyle/>
                    <a:p>
                      <a:pPr>
                        <a:defRPr sz="950" b="1">
                          <a:solidFill>
                            <a:srgbClr val="06B6D4"/>
                          </a:solidFill>
                          <a:latin typeface="Segoe UI"/>
                        </a:defRPr>
                      </a:pPr>
                      <a:r>
                        <a:t>Test ID</a:t>
                      </a:r>
                    </a:p>
                  </a:txBody>
                  <a:tcPr>
                    <a:solidFill>
                      <a:srgbClr val="334155"/>
                    </a:solidFill>
                  </a:tcPr>
                </a:tc>
                <a:tc>
                  <a:txBody>
                    <a:bodyPr/>
                    <a:lstStyle/>
                    <a:p>
                      <a:pPr>
                        <a:defRPr sz="950" b="1">
                          <a:solidFill>
                            <a:srgbClr val="06B6D4"/>
                          </a:solidFill>
                          <a:latin typeface="Segoe UI"/>
                        </a:defRPr>
                      </a:pPr>
                      <a:r>
                        <a:t>Test Category</a:t>
                      </a:r>
                    </a:p>
                  </a:txBody>
                  <a:tcPr>
                    <a:solidFill>
                      <a:srgbClr val="334155"/>
                    </a:solidFill>
                  </a:tcPr>
                </a:tc>
                <a:tc>
                  <a:txBody>
                    <a:bodyPr/>
                    <a:lstStyle/>
                    <a:p>
                      <a:pPr>
                        <a:defRPr sz="950" b="1">
                          <a:solidFill>
                            <a:srgbClr val="06B6D4"/>
                          </a:solidFill>
                          <a:latin typeface="Segoe UI"/>
                        </a:defRPr>
                      </a:pPr>
                      <a:r>
                        <a:t>Target Component &amp; Assertion</a:t>
                      </a:r>
                    </a:p>
                  </a:txBody>
                  <a:tcPr>
                    <a:solidFill>
                      <a:srgbClr val="334155"/>
                    </a:solidFill>
                  </a:tcPr>
                </a:tc>
                <a:tc>
                  <a:txBody>
                    <a:bodyPr/>
                    <a:lstStyle/>
                    <a:p>
                      <a:pPr>
                        <a:defRPr sz="950" b="1">
                          <a:solidFill>
                            <a:srgbClr val="06B6D4"/>
                          </a:solidFill>
                          <a:latin typeface="Segoe UI"/>
                        </a:defRPr>
                      </a:pPr>
                      <a:r>
                        <a:t>Observed Value</a:t>
                      </a:r>
                    </a:p>
                  </a:txBody>
                  <a:tcPr>
                    <a:solidFill>
                      <a:srgbClr val="334155"/>
                    </a:solidFill>
                  </a:tcPr>
                </a:tc>
                <a:tc>
                  <a:txBody>
                    <a:bodyPr/>
                    <a:lstStyle/>
                    <a:p>
                      <a:pPr>
                        <a:defRPr sz="950" b="1">
                          <a:solidFill>
                            <a:srgbClr val="06B6D4"/>
                          </a:solidFill>
                          <a:latin typeface="Segoe UI"/>
                        </a:defRPr>
                      </a:pPr>
                      <a:r>
                        <a:t>Status</a:t>
                      </a:r>
                    </a:p>
                  </a:txBody>
                  <a:tcPr>
                    <a:solidFill>
                      <a:srgbClr val="334155"/>
                    </a:solidFill>
                  </a:tcPr>
                </a:tc>
              </a:tr>
              <a:tr h="522514">
                <a:tc>
                  <a:txBody>
                    <a:bodyPr/>
                    <a:lstStyle/>
                    <a:p>
                      <a:pPr>
                        <a:defRPr sz="850">
                          <a:solidFill>
                            <a:srgbClr val="F8FAFC"/>
                          </a:solidFill>
                          <a:latin typeface="Segoe UI"/>
                        </a:defRPr>
                      </a:pPr>
                      <a:r>
                        <a:t>TC-01</a:t>
                      </a:r>
                    </a:p>
                  </a:txBody>
                  <a:tcPr>
                    <a:solidFill>
                      <a:srgbClr val="1E293B"/>
                    </a:solidFill>
                  </a:tcPr>
                </a:tc>
                <a:tc>
                  <a:txBody>
                    <a:bodyPr/>
                    <a:lstStyle/>
                    <a:p>
                      <a:pPr>
                        <a:defRPr sz="850">
                          <a:solidFill>
                            <a:srgbClr val="CBD5E1"/>
                          </a:solidFill>
                          <a:latin typeface="Segoe UI"/>
                        </a:defRPr>
                      </a:pPr>
                      <a:r>
                        <a:t>Primary Key Uniqueness</a:t>
                      </a:r>
                    </a:p>
                  </a:txBody>
                  <a:tcPr>
                    <a:solidFill>
                      <a:srgbClr val="1E293B"/>
                    </a:solidFill>
                  </a:tcPr>
                </a:tc>
                <a:tc>
                  <a:txBody>
                    <a:bodyPr/>
                    <a:lstStyle/>
                    <a:p>
                      <a:pPr>
                        <a:defRPr sz="850">
                          <a:solidFill>
                            <a:srgbClr val="CBD5E1"/>
                          </a:solidFill>
                          <a:latin typeface="Segoe UI"/>
                        </a:defRPr>
                      </a:pPr>
                      <a:r>
                        <a:t>dim_university.university_id in Milestone 1 / Module 2</a:t>
                      </a:r>
                    </a:p>
                  </a:txBody>
                  <a:tcPr>
                    <a:solidFill>
                      <a:srgbClr val="1E293B"/>
                    </a:solidFill>
                  </a:tcPr>
                </a:tc>
                <a:tc>
                  <a:txBody>
                    <a:bodyPr/>
                    <a:lstStyle/>
                    <a:p>
                      <a:pPr>
                        <a:defRPr sz="850">
                          <a:solidFill>
                            <a:srgbClr val="CBD5E1"/>
                          </a:solidFill>
                          <a:latin typeface="Segoe UI"/>
                        </a:defRPr>
                      </a:pPr>
                      <a:r>
                        <a:t>1,503 / 1,503 Unique (0 duplicates)</a:t>
                      </a:r>
                    </a:p>
                  </a:txBody>
                  <a:tcPr>
                    <a:solidFill>
                      <a:srgbClr val="1E293B"/>
                    </a:solidFill>
                  </a:tcPr>
                </a:tc>
                <a:tc>
                  <a:txBody>
                    <a:bodyPr/>
                    <a:lstStyle/>
                    <a:p>
                      <a:pPr>
                        <a:defRPr sz="850">
                          <a:solidFill>
                            <a:srgbClr val="10B981"/>
                          </a:solidFill>
                          <a:latin typeface="Segoe UI"/>
                        </a:defRPr>
                      </a:pPr>
                      <a:r>
                        <a:t>PASS [100%]</a:t>
                      </a:r>
                    </a:p>
                  </a:txBody>
                  <a:tcPr>
                    <a:solidFill>
                      <a:srgbClr val="1E293B"/>
                    </a:solidFill>
                  </a:tcPr>
                </a:tc>
              </a:tr>
              <a:tr h="522514">
                <a:tc>
                  <a:txBody>
                    <a:bodyPr/>
                    <a:lstStyle/>
                    <a:p>
                      <a:pPr>
                        <a:defRPr sz="850">
                          <a:solidFill>
                            <a:srgbClr val="F8FAFC"/>
                          </a:solidFill>
                          <a:latin typeface="Segoe UI"/>
                        </a:defRPr>
                      </a:pPr>
                      <a:r>
                        <a:t>TC-02</a:t>
                      </a:r>
                    </a:p>
                  </a:txBody>
                  <a:tcPr>
                    <a:solidFill>
                      <a:srgbClr val="1E293B"/>
                    </a:solidFill>
                  </a:tcPr>
                </a:tc>
                <a:tc>
                  <a:txBody>
                    <a:bodyPr/>
                    <a:lstStyle/>
                    <a:p>
                      <a:pPr>
                        <a:defRPr sz="850">
                          <a:solidFill>
                            <a:srgbClr val="CBD5E1"/>
                          </a:solidFill>
                          <a:latin typeface="Segoe UI"/>
                        </a:defRPr>
                      </a:pPr>
                      <a:r>
                        <a:t>Primary Key Uniqueness</a:t>
                      </a:r>
                    </a:p>
                  </a:txBody>
                  <a:tcPr>
                    <a:solidFill>
                      <a:srgbClr val="1E293B"/>
                    </a:solidFill>
                  </a:tcPr>
                </a:tc>
                <a:tc>
                  <a:txBody>
                    <a:bodyPr/>
                    <a:lstStyle/>
                    <a:p>
                      <a:pPr>
                        <a:defRPr sz="850">
                          <a:solidFill>
                            <a:srgbClr val="CBD5E1"/>
                          </a:solidFill>
                          <a:latin typeface="Segoe UI"/>
                        </a:defRPr>
                      </a:pPr>
                      <a:r>
                        <a:t>dim_country.country_id in Milestone 1 / Module 2</a:t>
                      </a:r>
                    </a:p>
                  </a:txBody>
                  <a:tcPr>
                    <a:solidFill>
                      <a:srgbClr val="1E293B"/>
                    </a:solidFill>
                  </a:tcPr>
                </a:tc>
                <a:tc>
                  <a:txBody>
                    <a:bodyPr/>
                    <a:lstStyle/>
                    <a:p>
                      <a:pPr>
                        <a:defRPr sz="850">
                          <a:solidFill>
                            <a:srgbClr val="CBD5E1"/>
                          </a:solidFill>
                          <a:latin typeface="Segoe UI"/>
                        </a:defRPr>
                      </a:pPr>
                      <a:r>
                        <a:t>106 / 106 Unique (0 duplicates)</a:t>
                      </a:r>
                    </a:p>
                  </a:txBody>
                  <a:tcPr>
                    <a:solidFill>
                      <a:srgbClr val="1E293B"/>
                    </a:solidFill>
                  </a:tcPr>
                </a:tc>
                <a:tc>
                  <a:txBody>
                    <a:bodyPr/>
                    <a:lstStyle/>
                    <a:p>
                      <a:pPr>
                        <a:defRPr sz="850">
                          <a:solidFill>
                            <a:srgbClr val="10B981"/>
                          </a:solidFill>
                          <a:latin typeface="Segoe UI"/>
                        </a:defRPr>
                      </a:pPr>
                      <a:r>
                        <a:t>PASS [100%]</a:t>
                      </a:r>
                    </a:p>
                  </a:txBody>
                  <a:tcPr>
                    <a:solidFill>
                      <a:srgbClr val="1E293B"/>
                    </a:solidFill>
                  </a:tcPr>
                </a:tc>
              </a:tr>
              <a:tr h="522514">
                <a:tc>
                  <a:txBody>
                    <a:bodyPr/>
                    <a:lstStyle/>
                    <a:p>
                      <a:pPr>
                        <a:defRPr sz="850">
                          <a:solidFill>
                            <a:srgbClr val="F8FAFC"/>
                          </a:solidFill>
                          <a:latin typeface="Segoe UI"/>
                        </a:defRPr>
                      </a:pPr>
                      <a:r>
                        <a:t>TC-03..07</a:t>
                      </a:r>
                    </a:p>
                  </a:txBody>
                  <a:tcPr>
                    <a:solidFill>
                      <a:srgbClr val="1E293B"/>
                    </a:solidFill>
                  </a:tcPr>
                </a:tc>
                <a:tc>
                  <a:txBody>
                    <a:bodyPr/>
                    <a:lstStyle/>
                    <a:p>
                      <a:pPr>
                        <a:defRPr sz="850">
                          <a:solidFill>
                            <a:srgbClr val="CBD5E1"/>
                          </a:solidFill>
                          <a:latin typeface="Segoe UI"/>
                        </a:defRPr>
                      </a:pPr>
                      <a:r>
                        <a:t>Referential Integrity</a:t>
                      </a:r>
                    </a:p>
                  </a:txBody>
                  <a:tcPr>
                    <a:solidFill>
                      <a:srgbClr val="1E293B"/>
                    </a:solidFill>
                  </a:tcPr>
                </a:tc>
                <a:tc>
                  <a:txBody>
                    <a:bodyPr/>
                    <a:lstStyle/>
                    <a:p>
                      <a:pPr>
                        <a:defRPr sz="850">
                          <a:solidFill>
                            <a:srgbClr val="CBD5E1"/>
                          </a:solidFill>
                          <a:latin typeface="Segoe UI"/>
                        </a:defRPr>
                      </a:pPr>
                      <a:r>
                        <a:t>Foreign key resolution across all fact tables</a:t>
                      </a:r>
                    </a:p>
                  </a:txBody>
                  <a:tcPr>
                    <a:solidFill>
                      <a:srgbClr val="1E293B"/>
                    </a:solidFill>
                  </a:tcPr>
                </a:tc>
                <a:tc>
                  <a:txBody>
                    <a:bodyPr/>
                    <a:lstStyle/>
                    <a:p>
                      <a:pPr>
                        <a:defRPr sz="850">
                          <a:solidFill>
                            <a:srgbClr val="CBD5E1"/>
                          </a:solidFill>
                          <a:latin typeface="Segoe UI"/>
                        </a:defRPr>
                      </a:pPr>
                      <a:r>
                        <a:t>0 Orphan Records (100% matched)</a:t>
                      </a:r>
                    </a:p>
                  </a:txBody>
                  <a:tcPr>
                    <a:solidFill>
                      <a:srgbClr val="1E293B"/>
                    </a:solidFill>
                  </a:tcPr>
                </a:tc>
                <a:tc>
                  <a:txBody>
                    <a:bodyPr/>
                    <a:lstStyle/>
                    <a:p>
                      <a:pPr>
                        <a:defRPr sz="850">
                          <a:solidFill>
                            <a:srgbClr val="10B981"/>
                          </a:solidFill>
                          <a:latin typeface="Segoe UI"/>
                        </a:defRPr>
                      </a:pPr>
                      <a:r>
                        <a:t>PASS [100%]</a:t>
                      </a:r>
                    </a:p>
                  </a:txBody>
                  <a:tcPr>
                    <a:solidFill>
                      <a:srgbClr val="1E293B"/>
                    </a:solidFill>
                  </a:tcPr>
                </a:tc>
              </a:tr>
              <a:tr h="522514">
                <a:tc>
                  <a:txBody>
                    <a:bodyPr/>
                    <a:lstStyle/>
                    <a:p>
                      <a:pPr>
                        <a:defRPr sz="850">
                          <a:solidFill>
                            <a:srgbClr val="F8FAFC"/>
                          </a:solidFill>
                          <a:latin typeface="Segoe UI"/>
                        </a:defRPr>
                      </a:pPr>
                      <a:r>
                        <a:t>TC-08</a:t>
                      </a:r>
                    </a:p>
                  </a:txBody>
                  <a:tcPr>
                    <a:solidFill>
                      <a:srgbClr val="1E293B"/>
                    </a:solidFill>
                  </a:tcPr>
                </a:tc>
                <a:tc>
                  <a:txBody>
                    <a:bodyPr/>
                    <a:lstStyle/>
                    <a:p>
                      <a:pPr>
                        <a:defRPr sz="850">
                          <a:solidFill>
                            <a:srgbClr val="CBD5E1"/>
                          </a:solidFill>
                          <a:latin typeface="Segoe UI"/>
                        </a:defRPr>
                      </a:pPr>
                      <a:r>
                        <a:t>KPI Boundary Check</a:t>
                      </a:r>
                    </a:p>
                  </a:txBody>
                  <a:tcPr>
                    <a:solidFill>
                      <a:srgbClr val="1E293B"/>
                    </a:solidFill>
                  </a:tcPr>
                </a:tc>
                <a:tc>
                  <a:txBody>
                    <a:bodyPr/>
                    <a:lstStyle/>
                    <a:p>
                      <a:pPr>
                        <a:defRPr sz="850">
                          <a:solidFill>
                            <a:srgbClr val="CBD5E1"/>
                          </a:solidFill>
                          <a:latin typeface="Segoe UI"/>
                        </a:defRPr>
                      </a:pPr>
                      <a:r>
                        <a:t>kpi_global_ranking_score in [0.0, 100.0]</a:t>
                      </a:r>
                    </a:p>
                  </a:txBody>
                  <a:tcPr>
                    <a:solidFill>
                      <a:srgbClr val="1E293B"/>
                    </a:solidFill>
                  </a:tcPr>
                </a:tc>
                <a:tc>
                  <a:txBody>
                    <a:bodyPr/>
                    <a:lstStyle/>
                    <a:p>
                      <a:pPr>
                        <a:defRPr sz="850">
                          <a:solidFill>
                            <a:srgbClr val="CBD5E1"/>
                          </a:solidFill>
                          <a:latin typeface="Segoe UI"/>
                        </a:defRPr>
                      </a:pPr>
                      <a:r>
                        <a:t>Min: 0.07, Max: 100.00</a:t>
                      </a:r>
                    </a:p>
                  </a:txBody>
                  <a:tcPr>
                    <a:solidFill>
                      <a:srgbClr val="1E293B"/>
                    </a:solidFill>
                  </a:tcPr>
                </a:tc>
                <a:tc>
                  <a:txBody>
                    <a:bodyPr/>
                    <a:lstStyle/>
                    <a:p>
                      <a:pPr>
                        <a:defRPr sz="850">
                          <a:solidFill>
                            <a:srgbClr val="10B981"/>
                          </a:solidFill>
                          <a:latin typeface="Segoe UI"/>
                        </a:defRPr>
                      </a:pPr>
                      <a:r>
                        <a:t>PASS [100%]</a:t>
                      </a:r>
                    </a:p>
                  </a:txBody>
                  <a:tcPr>
                    <a:solidFill>
                      <a:srgbClr val="1E293B"/>
                    </a:solidFill>
                  </a:tcPr>
                </a:tc>
              </a:tr>
              <a:tr h="522514">
                <a:tc>
                  <a:txBody>
                    <a:bodyPr/>
                    <a:lstStyle/>
                    <a:p>
                      <a:pPr>
                        <a:defRPr sz="850">
                          <a:solidFill>
                            <a:srgbClr val="F8FAFC"/>
                          </a:solidFill>
                          <a:latin typeface="Segoe UI"/>
                        </a:defRPr>
                      </a:pPr>
                      <a:r>
                        <a:t>TC-09..11</a:t>
                      </a:r>
                    </a:p>
                  </a:txBody>
                  <a:tcPr>
                    <a:solidFill>
                      <a:srgbClr val="1E293B"/>
                    </a:solidFill>
                  </a:tcPr>
                </a:tc>
                <a:tc>
                  <a:txBody>
                    <a:bodyPr/>
                    <a:lstStyle/>
                    <a:p>
                      <a:pPr>
                        <a:defRPr sz="850">
                          <a:solidFill>
                            <a:srgbClr val="CBD5E1"/>
                          </a:solidFill>
                          <a:latin typeface="Segoe UI"/>
                        </a:defRPr>
                      </a:pPr>
                      <a:r>
                        <a:t>KPI Boundary Checks</a:t>
                      </a:r>
                    </a:p>
                  </a:txBody>
                  <a:tcPr>
                    <a:solidFill>
                      <a:srgbClr val="1E293B"/>
                    </a:solidFill>
                  </a:tcPr>
                </a:tc>
                <a:tc>
                  <a:txBody>
                    <a:bodyPr/>
                    <a:lstStyle/>
                    <a:p>
                      <a:pPr>
                        <a:defRPr sz="850">
                          <a:solidFill>
                            <a:srgbClr val="CBD5E1"/>
                          </a:solidFill>
                          <a:latin typeface="Segoe UI"/>
                        </a:defRPr>
                      </a:pPr>
                      <a:r>
                        <a:t>Research Impact, Staff Ratio, Intl Student %</a:t>
                      </a:r>
                    </a:p>
                  </a:txBody>
                  <a:tcPr>
                    <a:solidFill>
                      <a:srgbClr val="1E293B"/>
                    </a:solidFill>
                  </a:tcPr>
                </a:tc>
                <a:tc>
                  <a:txBody>
                    <a:bodyPr/>
                    <a:lstStyle/>
                    <a:p>
                      <a:pPr>
                        <a:defRPr sz="850">
                          <a:solidFill>
                            <a:srgbClr val="CBD5E1"/>
                          </a:solidFill>
                          <a:latin typeface="Segoe UI"/>
                        </a:defRPr>
                      </a:pPr>
                      <a:r>
                        <a:t>All values lie strictly in valid bounds</a:t>
                      </a:r>
                    </a:p>
                  </a:txBody>
                  <a:tcPr>
                    <a:solidFill>
                      <a:srgbClr val="1E293B"/>
                    </a:solidFill>
                  </a:tcPr>
                </a:tc>
                <a:tc>
                  <a:txBody>
                    <a:bodyPr/>
                    <a:lstStyle/>
                    <a:p>
                      <a:pPr>
                        <a:defRPr sz="850">
                          <a:solidFill>
                            <a:srgbClr val="10B981"/>
                          </a:solidFill>
                          <a:latin typeface="Segoe UI"/>
                        </a:defRPr>
                      </a:pPr>
                      <a:r>
                        <a:t>PASS [100%]</a:t>
                      </a:r>
                    </a:p>
                  </a:txBody>
                  <a:tcPr>
                    <a:solidFill>
                      <a:srgbClr val="1E293B"/>
                    </a:solidFill>
                  </a:tcPr>
                </a:tc>
              </a:tr>
              <a:tr h="522516">
                <a:tc>
                  <a:txBody>
                    <a:bodyPr/>
                    <a:lstStyle/>
                    <a:p>
                      <a:pPr>
                        <a:defRPr sz="850">
                          <a:solidFill>
                            <a:srgbClr val="F8FAFC"/>
                          </a:solidFill>
                          <a:latin typeface="Segoe UI"/>
                        </a:defRPr>
                      </a:pPr>
                      <a:r>
                        <a:t>TC-12</a:t>
                      </a:r>
                    </a:p>
                  </a:txBody>
                  <a:tcPr>
                    <a:solidFill>
                      <a:srgbClr val="1E293B"/>
                    </a:solidFill>
                  </a:tcPr>
                </a:tc>
                <a:tc>
                  <a:txBody>
                    <a:bodyPr/>
                    <a:lstStyle/>
                    <a:p>
                      <a:pPr>
                        <a:defRPr sz="850">
                          <a:solidFill>
                            <a:srgbClr val="CBD5E1"/>
                          </a:solidFill>
                          <a:latin typeface="Segoe UI"/>
                        </a:defRPr>
                      </a:pPr>
                      <a:r>
                        <a:t>Composite Index Check</a:t>
                      </a:r>
                    </a:p>
                  </a:txBody>
                  <a:tcPr>
                    <a:solidFill>
                      <a:srgbClr val="1E293B"/>
                    </a:solidFill>
                  </a:tcPr>
                </a:tc>
                <a:tc>
                  <a:txBody>
                    <a:bodyPr/>
                    <a:lstStyle/>
                    <a:p>
                      <a:pPr>
                        <a:defRPr sz="850">
                          <a:solidFill>
                            <a:srgbClr val="CBD5E1"/>
                          </a:solidFill>
                          <a:latin typeface="Segoe UI"/>
                        </a:defRPr>
                      </a:pPr>
                      <a:r>
                        <a:t>kpi_research_productivity_index in [0.0, 100.0]</a:t>
                      </a:r>
                    </a:p>
                  </a:txBody>
                  <a:tcPr>
                    <a:solidFill>
                      <a:srgbClr val="1E293B"/>
                    </a:solidFill>
                  </a:tcPr>
                </a:tc>
                <a:tc>
                  <a:txBody>
                    <a:bodyPr/>
                    <a:lstStyle/>
                    <a:p>
                      <a:pPr>
                        <a:defRPr sz="850">
                          <a:solidFill>
                            <a:srgbClr val="CBD5E1"/>
                          </a:solidFill>
                          <a:latin typeface="Segoe UI"/>
                        </a:defRPr>
                      </a:pPr>
                      <a:r>
                        <a:t>Min: 10.50, Max: 99.87 (Harvard)</a:t>
                      </a:r>
                    </a:p>
                  </a:txBody>
                  <a:tcPr>
                    <a:solidFill>
                      <a:srgbClr val="1E293B"/>
                    </a:solidFill>
                  </a:tcPr>
                </a:tc>
                <a:tc>
                  <a:txBody>
                    <a:bodyPr/>
                    <a:lstStyle/>
                    <a:p>
                      <a:pPr>
                        <a:defRPr sz="850">
                          <a:solidFill>
                            <a:srgbClr val="10B981"/>
                          </a:solidFill>
                          <a:latin typeface="Segoe UI"/>
                        </a:defRPr>
                      </a:pPr>
                      <a:r>
                        <a:t>PASS [100%]</a:t>
                      </a:r>
                    </a:p>
                  </a:txBody>
                  <a:tcPr>
                    <a:solidFill>
                      <a:srgbClr val="1E293B"/>
                    </a:solidFill>
                  </a:tcPr>
                </a:tc>
              </a:tr>
            </a:tbl>
          </a:graphicData>
        </a:graphic>
      </p:graphicFrame>
      <p:sp>
        <p:nvSpPr>
          <p:cNvPr id="8" name="Rounded Rectangle 7"/>
          <p:cNvSpPr/>
          <p:nvPr/>
        </p:nvSpPr>
        <p:spPr>
          <a:xfrm>
            <a:off x="731520" y="5257800"/>
            <a:ext cx="10728655" cy="1005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sz="1000" b="1">
                <a:solidFill>
                  <a:srgbClr val="10B981"/>
                </a:solidFill>
                <a:latin typeface="Segoe UI"/>
              </a:defRPr>
            </a:pPr>
            <a:r>
              <a:t>OFFICIAL QUALITY ASSURANCE SIGN-OFF: 100% AUDIT PASS RATE (MILESTONE 4 / MODULE 7)</a:t>
            </a:r>
          </a:p>
          <a:p>
            <a:pPr>
              <a:spcBef>
                <a:spcPts val="300"/>
              </a:spcBef>
              <a:defRPr sz="850">
                <a:solidFill>
                  <a:srgbClr val="CBD5E1"/>
                </a:solidFill>
                <a:latin typeface="Segoe UI"/>
              </a:defRPr>
            </a:pPr>
            <a:r>
              <a:t>• Dimension Completeness: 100.0% (Target: &gt;95.0%) | Missing Value Threshold on Identifiers: 0.0% (Target: &lt;2.0%)</a:t>
            </a:r>
            <a:br/>
            <a:r>
              <a:t>• Relational Integrity: Verified zero duplicate keys, zero orphan records, and 100% valid KPI ranges across all 1,503 institutions.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MILESTONE 4 / MODULE 8 | RESEARCH FINDINGS &amp; INSIGHTS</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Analytical Findings: Key Insights from Global Higher Education Data</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18 / 19</a:t>
            </a:r>
          </a:p>
        </p:txBody>
      </p:sp>
      <p:sp>
        <p:nvSpPr>
          <p:cNvPr id="7" name="Rounded Rectangle 6"/>
          <p:cNvSpPr/>
          <p:nvPr/>
        </p:nvSpPr>
        <p:spPr>
          <a:xfrm>
            <a:off x="731520" y="1371600"/>
            <a:ext cx="52578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100" b="1">
                <a:solidFill>
                  <a:srgbClr val="06B6D4"/>
                </a:solidFill>
                <a:latin typeface="Segoe UI"/>
              </a:defRPr>
            </a:pPr>
            <a:r>
              <a:t>CITATION CONCENTRATION IN TOP 50 HUBS</a:t>
            </a:r>
          </a:p>
          <a:p>
            <a:pPr>
              <a:spcBef>
                <a:spcPts val="800"/>
              </a:spcBef>
              <a:defRPr sz="950">
                <a:solidFill>
                  <a:srgbClr val="CBD5E1"/>
                </a:solidFill>
                <a:latin typeface="Segoe UI"/>
              </a:defRPr>
            </a:pPr>
            <a:r>
              <a:t>• Over 45% of total high-impact global research citations are generated by universities in the United States and the United Kingdom.</a:t>
            </a:r>
            <a:br/>
            <a:r>
              <a:t>• However, institutions in Singapore (NUS), Switzerland (ETH Zurich), and China (Tsinghua) demonstrate the fastest growth in collaborative research networks.</a:t>
            </a:r>
          </a:p>
        </p:txBody>
      </p:sp>
      <p:sp>
        <p:nvSpPr>
          <p:cNvPr id="8" name="Rounded Rectangle 7"/>
          <p:cNvSpPr/>
          <p:nvPr/>
        </p:nvSpPr>
        <p:spPr>
          <a:xfrm>
            <a:off x="6208776" y="1371600"/>
            <a:ext cx="52578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100" b="1">
                <a:solidFill>
                  <a:srgbClr val="8B5CF6"/>
                </a:solidFill>
                <a:latin typeface="Segoe UI"/>
              </a:defRPr>
            </a:pPr>
            <a:r>
              <a:t>FACULTY RATIO AS A QUALITY PREDICTOR</a:t>
            </a:r>
          </a:p>
          <a:p>
            <a:pPr>
              <a:spcBef>
                <a:spcPts val="800"/>
              </a:spcBef>
              <a:defRPr sz="950">
                <a:solidFill>
                  <a:srgbClr val="CBD5E1"/>
                </a:solidFill>
                <a:latin typeface="Segoe UI"/>
              </a:defRPr>
            </a:pPr>
            <a:r>
              <a:t>• Top 20 world universities maintain an average student-to-staff ratio of 10.2:1, compared to a global average of 18.7:1.</a:t>
            </a:r>
            <a:br/>
            <a:r>
              <a:t>• Strong positive correlation (r = 0.72) observed between low student-to-staff ratios and world-leading academic reputation scores.</a:t>
            </a:r>
          </a:p>
        </p:txBody>
      </p:sp>
      <p:sp>
        <p:nvSpPr>
          <p:cNvPr id="9" name="Rounded Rectangle 8"/>
          <p:cNvSpPr/>
          <p:nvPr/>
        </p:nvSpPr>
        <p:spPr>
          <a:xfrm>
            <a:off x="731520" y="3794760"/>
            <a:ext cx="52578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100" b="1">
                <a:solidFill>
                  <a:srgbClr val="F59E0B"/>
                </a:solidFill>
                <a:latin typeface="Segoe UI"/>
              </a:defRPr>
            </a:pPr>
            <a:r>
              <a:t>CROSS-BORDER STUDENT MOBILITY</a:t>
            </a:r>
          </a:p>
          <a:p>
            <a:pPr>
              <a:spcBef>
                <a:spcPts val="800"/>
              </a:spcBef>
              <a:defRPr sz="950">
                <a:solidFill>
                  <a:srgbClr val="CBD5E1"/>
                </a:solidFill>
                <a:latin typeface="Segoe UI"/>
              </a:defRPr>
            </a:pPr>
            <a:r>
              <a:t>• Leading institutions in the United Kingdom and Europe demonstrate exceptionally high international student representation (Imperial College London: 61%, Oxford: 42%, ETH Zurich: 41%).</a:t>
            </a:r>
            <a:br/>
            <a:r>
              <a:t>• Top US institutions average between 20% and 33% international enrollment.</a:t>
            </a:r>
          </a:p>
        </p:txBody>
      </p:sp>
      <p:sp>
        <p:nvSpPr>
          <p:cNvPr id="10" name="Rounded Rectangle 9"/>
          <p:cNvSpPr/>
          <p:nvPr/>
        </p:nvSpPr>
        <p:spPr>
          <a:xfrm>
            <a:off x="6208776" y="3794760"/>
            <a:ext cx="52578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100" b="1">
                <a:solidFill>
                  <a:srgbClr val="10B981"/>
                </a:solidFill>
                <a:latin typeface="Segoe UI"/>
              </a:defRPr>
            </a:pPr>
            <a:r>
              <a:t>PUBLIC EDUCATION INVESTMENT VS. EXCELLENCE</a:t>
            </a:r>
          </a:p>
          <a:p>
            <a:pPr>
              <a:spcBef>
                <a:spcPts val="800"/>
              </a:spcBef>
              <a:defRPr sz="950">
                <a:solidFill>
                  <a:srgbClr val="CBD5E1"/>
                </a:solidFill>
                <a:latin typeface="Segoe UI"/>
              </a:defRPr>
            </a:pPr>
            <a:r>
              <a:t>• Nations investing higher proportions of GDP in public education (e.g. Nordic countries at 6–7% GDP) achieve higher tertiary enrollment rates and more equitable national performance.</a:t>
            </a:r>
            <a:br/>
            <a:r>
              <a:t>• Private endowment economies (e.g. USA) concentrate elite world-leading research hubs.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MILESTONE 4 / MODULE 8 | PROJECT CLOSEOUT &amp; FUTURE SCOPE</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Conclusion &amp; Future Roadmap: Project Delivery Summary</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19 / 19</a:t>
            </a:r>
          </a:p>
        </p:txBody>
      </p:sp>
      <p:sp>
        <p:nvSpPr>
          <p:cNvPr id="7" name="Rounded Rectangle 6"/>
          <p:cNvSpPr/>
          <p:nvPr/>
        </p:nvSpPr>
        <p:spPr>
          <a:xfrm>
            <a:off x="731520" y="1371600"/>
            <a:ext cx="5257800" cy="3474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200" b="1">
                <a:solidFill>
                  <a:srgbClr val="10B981"/>
                </a:solidFill>
                <a:latin typeface="Segoe UI"/>
              </a:defRPr>
            </a:pPr>
            <a:r>
              <a:t>KEY ENGINEERING TAKEAWAYS</a:t>
            </a:r>
          </a:p>
          <a:p>
            <a:pPr>
              <a:spcBef>
                <a:spcPts val="800"/>
              </a:spcBef>
              <a:defRPr sz="950">
                <a:solidFill>
                  <a:srgbClr val="CBD5E1"/>
                </a:solidFill>
                <a:latin typeface="Segoe UI"/>
              </a:defRPr>
            </a:pPr>
            <a:r>
              <a:t>• Deterministic Entity Normalization: Solved severe join mismatches through regex parenthetical acronym stripping in Milestone 1 / Module 2.</a:t>
            </a:r>
            <a:br/>
            <a:br/>
            <a:r>
              <a:t>• Dimensional Star Schema Design: Preserved data grain independence between institutional rankings and macroeconomic country indicators, preventing Cartesian join explosions.</a:t>
            </a:r>
            <a:br/>
            <a:br/>
            <a:r>
              <a:t>• Principles of Ethical KPI Formulation: Never confused scores with actual ratios/percentages; preserved statistical authenticity by refusing blind zero-imputation in Milestone 2 / Module 3.</a:t>
            </a:r>
            <a:br/>
            <a:br/>
            <a:r>
              <a:t>• Enterprise Tableau UX: Built cohesive, multi-dashboard interlinking with persistent parameter and filter action workflows in Milestone 3 / Modules 5 &amp; 6.</a:t>
            </a:r>
          </a:p>
        </p:txBody>
      </p:sp>
      <p:sp>
        <p:nvSpPr>
          <p:cNvPr id="8" name="Rounded Rectangle 7"/>
          <p:cNvSpPr/>
          <p:nvPr/>
        </p:nvSpPr>
        <p:spPr>
          <a:xfrm>
            <a:off x="6217920" y="1371600"/>
            <a:ext cx="5242255" cy="3474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200" b="1">
                <a:solidFill>
                  <a:srgbClr val="06B6D4"/>
                </a:solidFill>
                <a:latin typeface="Segoe UI"/>
              </a:defRPr>
            </a:pPr>
            <a:r>
              <a:t>FUTURE ENHANCEMENTS &amp; ROADMAP</a:t>
            </a:r>
          </a:p>
          <a:p>
            <a:pPr>
              <a:spcBef>
                <a:spcPts val="800"/>
              </a:spcBef>
              <a:defRPr sz="950">
                <a:solidFill>
                  <a:srgbClr val="CBD5E1"/>
                </a:solidFill>
                <a:latin typeface="Segoe UI"/>
              </a:defRPr>
            </a:pPr>
            <a:r>
              <a:t>• 10-Year Longitudinal Tracking: Integrate historical ranking data to visualize institutional trajectories and rank volatility over time.</a:t>
            </a:r>
            <a:br/>
            <a:br/>
            <a:r>
              <a:t>• Subject-Specific Dimensionality: Extend the Star Schema to evaluate departmental rankings (STEM, Medicine, Humanities, Business).</a:t>
            </a:r>
            <a:br/>
            <a:br/>
            <a:r>
              <a:t>• Predictive Machine Learning Forecaster: Train a regression model on publication velocity and faculty recruitment to forecast next year's global rank.</a:t>
            </a:r>
            <a:br/>
            <a:br/>
            <a:r>
              <a:t>• Tableau Cloud Deployment: Publish to Tableau Server / Public for live stakeholder engagement.</a:t>
            </a:r>
          </a:p>
        </p:txBody>
      </p:sp>
      <p:sp>
        <p:nvSpPr>
          <p:cNvPr id="9" name="Rounded Rectangle 8"/>
          <p:cNvSpPr/>
          <p:nvPr/>
        </p:nvSpPr>
        <p:spPr>
          <a:xfrm>
            <a:off x="731520" y="5029200"/>
            <a:ext cx="10728655" cy="1234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400" b="1">
                <a:solidFill>
                  <a:srgbClr val="F59E0B"/>
                </a:solidFill>
                <a:latin typeface="Segoe UI"/>
              </a:defRPr>
            </a:pPr>
            <a:r>
              <a:t>THANK YOU | QUESTIONS &amp; DISCUSSION</a:t>
            </a:r>
          </a:p>
          <a:p>
            <a:pPr algn="ctr">
              <a:spcBef>
                <a:spcPts val="400"/>
              </a:spcBef>
              <a:defRPr sz="1000">
                <a:solidFill>
                  <a:srgbClr val="CBD5E1"/>
                </a:solidFill>
                <a:latin typeface="Segoe UI"/>
              </a:defRPr>
            </a:pPr>
            <a:r>
              <a:t>Author: Sujay S | Infosys Springboard Internship 7.0 | Domain: Higher Education Analytics &amp; BI | EduVision_DV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