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5" d="100"/>
          <a:sy n="85" d="100"/>
        </p:scale>
        <p:origin x="562" y="6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459949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0D16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-1371600"/>
            <a:ext cx="5486400" cy="5486400"/>
          </a:xfrm>
          <a:prstGeom prst="ellipse">
            <a:avLst/>
          </a:prstGeom>
          <a:solidFill>
            <a:srgbClr val="7C6FF7">
              <a:alpha val="1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686800" y="3200400"/>
            <a:ext cx="3657600" cy="3657600"/>
          </a:xfrm>
          <a:prstGeom prst="ellipse">
            <a:avLst/>
          </a:prstGeom>
          <a:solidFill>
            <a:srgbClr val="22D3EE">
              <a:alpha val="10000"/>
            </a:srgbClr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280160" y="521208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</a:rPr>
              <a:t>EduVision</a:t>
            </a:r>
            <a:endParaRPr lang="en-US" sz="3000" dirty="0"/>
          </a:p>
        </p:txBody>
      </p:sp>
      <p:sp>
        <p:nvSpPr>
          <p:cNvPr id="8" name="Text 6"/>
          <p:cNvSpPr txBox="1"/>
          <p:nvPr/>
        </p:nvSpPr>
        <p:spPr>
          <a:xfrm>
            <a:off x="2926080" y="50292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7C6FF7"/>
                </a:solidFill>
              </a:rPr>
              <a:t>_DV</a:t>
            </a: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502920" y="1261872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8A90AC"/>
                </a:solidFill>
              </a:rPr>
              <a:t>Higher Education Performance Dashboard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502920" y="1737360"/>
            <a:ext cx="2377440" cy="320040"/>
          </a:xfrm>
          <a:prstGeom prst="roundRect">
            <a:avLst>
              <a:gd name="adj" fmla="val 22857"/>
            </a:avLst>
          </a:prstGeom>
          <a:solidFill>
            <a:srgbClr val="7C6FF7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02920" y="17373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Dashboard Storyboard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502920" y="2212848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170"/>
                </a:solidFill>
              </a:rPr>
              <a:t>Milestone 2  ·  Module 4  ·  Dashboard Planning &amp; Prototyping  ·  Internship Project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02920" y="2834640"/>
            <a:ext cx="2578608" cy="960120"/>
          </a:xfrm>
          <a:prstGeom prst="roundRect">
            <a:avLst>
              <a:gd name="adj" fmla="val 7619"/>
            </a:avLst>
          </a:prstGeom>
          <a:solidFill>
            <a:srgbClr val="131728"/>
          </a:solidFill>
          <a:ln w="12700">
            <a:solidFill>
              <a:srgbClr val="232A4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0936" y="2962656"/>
            <a:ext cx="347472" cy="347472"/>
          </a:xfrm>
          <a:prstGeom prst="roundRect">
            <a:avLst>
              <a:gd name="adj" fmla="val 15789"/>
            </a:avLst>
          </a:prstGeom>
          <a:solidFill>
            <a:srgbClr val="7C6FF7">
              <a:alpha val="25000"/>
            </a:srgbClr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30936" y="296265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7C6FF7"/>
                </a:solidFill>
              </a:rPr>
              <a:t>01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1069848" y="301752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University Overview</a:t>
            </a:r>
            <a:endParaRPr lang="en-US" sz="950" dirty="0"/>
          </a:p>
        </p:txBody>
      </p:sp>
      <p:sp>
        <p:nvSpPr>
          <p:cNvPr id="17" name="Text 15"/>
          <p:cNvSpPr txBox="1"/>
          <p:nvPr/>
        </p:nvSpPr>
        <p:spPr>
          <a:xfrm>
            <a:off x="1069848" y="3328416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A90AC"/>
                </a:solidFill>
              </a:rPr>
              <a:t>Dashboard Module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3291840" y="2834640"/>
            <a:ext cx="2578608" cy="960120"/>
          </a:xfrm>
          <a:prstGeom prst="roundRect">
            <a:avLst>
              <a:gd name="adj" fmla="val 7619"/>
            </a:avLst>
          </a:prstGeom>
          <a:solidFill>
            <a:srgbClr val="131728"/>
          </a:solidFill>
          <a:ln w="12700">
            <a:solidFill>
              <a:srgbClr val="232A4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419856" y="2962656"/>
            <a:ext cx="347472" cy="347472"/>
          </a:xfrm>
          <a:prstGeom prst="roundRect">
            <a:avLst>
              <a:gd name="adj" fmla="val 15789"/>
            </a:avLst>
          </a:prstGeom>
          <a:solidFill>
            <a:srgbClr val="22D3EE">
              <a:alpha val="25000"/>
            </a:srgbClr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3419856" y="296265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2D3EE"/>
                </a:solidFill>
              </a:rPr>
              <a:t>02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3858768" y="301752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Research Analytics</a:t>
            </a:r>
            <a:endParaRPr lang="en-US" sz="950" dirty="0"/>
          </a:p>
        </p:txBody>
      </p:sp>
      <p:sp>
        <p:nvSpPr>
          <p:cNvPr id="22" name="Text 20"/>
          <p:cNvSpPr txBox="1"/>
          <p:nvPr/>
        </p:nvSpPr>
        <p:spPr>
          <a:xfrm>
            <a:off x="3858768" y="3328416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A90AC"/>
                </a:solidFill>
              </a:rPr>
              <a:t>Dashboard Module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6080760" y="2834640"/>
            <a:ext cx="2578608" cy="960120"/>
          </a:xfrm>
          <a:prstGeom prst="roundRect">
            <a:avLst>
              <a:gd name="adj" fmla="val 7619"/>
            </a:avLst>
          </a:prstGeom>
          <a:solidFill>
            <a:srgbClr val="131728"/>
          </a:solidFill>
          <a:ln w="12700">
            <a:solidFill>
              <a:srgbClr val="232A44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208776" y="2962656"/>
            <a:ext cx="347472" cy="347472"/>
          </a:xfrm>
          <a:prstGeom prst="roundRect">
            <a:avLst>
              <a:gd name="adj" fmla="val 15789"/>
            </a:avLst>
          </a:prstGeom>
          <a:solidFill>
            <a:srgbClr val="34D399">
              <a:alpha val="25000"/>
            </a:srgbClr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6208776" y="296265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4D399"/>
                </a:solidFill>
              </a:rPr>
              <a:t>03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6647688" y="301752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Student Analytics</a:t>
            </a:r>
            <a:endParaRPr lang="en-US" sz="950" dirty="0"/>
          </a:p>
        </p:txBody>
      </p:sp>
      <p:sp>
        <p:nvSpPr>
          <p:cNvPr id="27" name="Text 25"/>
          <p:cNvSpPr txBox="1"/>
          <p:nvPr/>
        </p:nvSpPr>
        <p:spPr>
          <a:xfrm>
            <a:off x="6647688" y="3328416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A90AC"/>
                </a:solidFill>
              </a:rPr>
              <a:t>Dashboard Module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8869680" y="2834640"/>
            <a:ext cx="2578608" cy="960120"/>
          </a:xfrm>
          <a:prstGeom prst="roundRect">
            <a:avLst>
              <a:gd name="adj" fmla="val 7619"/>
            </a:avLst>
          </a:prstGeom>
          <a:solidFill>
            <a:srgbClr val="131728"/>
          </a:solidFill>
          <a:ln w="12700">
            <a:solidFill>
              <a:srgbClr val="232A44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997696" y="2962656"/>
            <a:ext cx="347472" cy="347472"/>
          </a:xfrm>
          <a:prstGeom prst="roundRect">
            <a:avLst>
              <a:gd name="adj" fmla="val 15789"/>
            </a:avLst>
          </a:prstGeom>
          <a:solidFill>
            <a:srgbClr val="FBBF24">
              <a:alpha val="25000"/>
            </a:srgbClr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8997696" y="296265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BBF24"/>
                </a:solidFill>
              </a:rPr>
              <a:t>04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9436608" y="301752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Country Comparison</a:t>
            </a:r>
            <a:endParaRPr lang="en-US" sz="950" dirty="0"/>
          </a:p>
        </p:txBody>
      </p:sp>
      <p:sp>
        <p:nvSpPr>
          <p:cNvPr id="32" name="Text 30"/>
          <p:cNvSpPr txBox="1"/>
          <p:nvPr/>
        </p:nvSpPr>
        <p:spPr>
          <a:xfrm>
            <a:off x="9436608" y="3328416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A90AC"/>
                </a:solidFill>
              </a:rPr>
              <a:t>Dashboard Module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502920" y="3977640"/>
            <a:ext cx="2578608" cy="960120"/>
          </a:xfrm>
          <a:prstGeom prst="roundRect">
            <a:avLst>
              <a:gd name="adj" fmla="val 7619"/>
            </a:avLst>
          </a:prstGeom>
          <a:solidFill>
            <a:srgbClr val="131728"/>
          </a:solidFill>
          <a:ln w="12700">
            <a:solidFill>
              <a:srgbClr val="232A44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30936" y="4105656"/>
            <a:ext cx="347472" cy="347472"/>
          </a:xfrm>
          <a:prstGeom prst="roundRect">
            <a:avLst>
              <a:gd name="adj" fmla="val 15789"/>
            </a:avLst>
          </a:prstGeom>
          <a:solidFill>
            <a:srgbClr val="7C6FF7">
              <a:alpha val="25000"/>
            </a:srgbClr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630936" y="410565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7C6FF7"/>
                </a:solidFill>
              </a:rPr>
              <a:t>05</a:t>
            </a:r>
            <a:endParaRPr lang="en-US" sz="1100" dirty="0"/>
          </a:p>
        </p:txBody>
      </p:sp>
      <p:sp>
        <p:nvSpPr>
          <p:cNvPr id="36" name="Text 34"/>
          <p:cNvSpPr txBox="1"/>
          <p:nvPr/>
        </p:nvSpPr>
        <p:spPr>
          <a:xfrm>
            <a:off x="1069848" y="416052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Navigation &amp; Filters</a:t>
            </a:r>
            <a:endParaRPr lang="en-US" sz="950" dirty="0"/>
          </a:p>
        </p:txBody>
      </p:sp>
      <p:sp>
        <p:nvSpPr>
          <p:cNvPr id="37" name="Text 35"/>
          <p:cNvSpPr txBox="1"/>
          <p:nvPr/>
        </p:nvSpPr>
        <p:spPr>
          <a:xfrm>
            <a:off x="1069848" y="4471416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A90AC"/>
                </a:solidFill>
              </a:rPr>
              <a:t>Dashboard Module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3291840" y="3977640"/>
            <a:ext cx="2578608" cy="960120"/>
          </a:xfrm>
          <a:prstGeom prst="roundRect">
            <a:avLst>
              <a:gd name="adj" fmla="val 7619"/>
            </a:avLst>
          </a:prstGeom>
          <a:solidFill>
            <a:srgbClr val="131728"/>
          </a:solidFill>
          <a:ln w="12700">
            <a:solidFill>
              <a:srgbClr val="232A44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419856" y="4105656"/>
            <a:ext cx="347472" cy="347472"/>
          </a:xfrm>
          <a:prstGeom prst="roundRect">
            <a:avLst>
              <a:gd name="adj" fmla="val 15789"/>
            </a:avLst>
          </a:prstGeom>
          <a:solidFill>
            <a:srgbClr val="22D3EE">
              <a:alpha val="25000"/>
            </a:srgbClr>
          </a:solidFill>
          <a:ln/>
        </p:spPr>
      </p:sp>
      <p:sp>
        <p:nvSpPr>
          <p:cNvPr id="40" name="Text 38"/>
          <p:cNvSpPr txBox="1"/>
          <p:nvPr/>
        </p:nvSpPr>
        <p:spPr>
          <a:xfrm>
            <a:off x="3419856" y="410565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2D3EE"/>
                </a:solidFill>
              </a:rPr>
              <a:t>06</a:t>
            </a:r>
            <a:endParaRPr lang="en-US" sz="1100" dirty="0"/>
          </a:p>
        </p:txBody>
      </p:sp>
      <p:sp>
        <p:nvSpPr>
          <p:cNvPr id="41" name="Text 39"/>
          <p:cNvSpPr txBox="1"/>
          <p:nvPr/>
        </p:nvSpPr>
        <p:spPr>
          <a:xfrm>
            <a:off x="3858768" y="416052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Actions &amp; Interactions</a:t>
            </a:r>
            <a:endParaRPr lang="en-US" sz="950" dirty="0"/>
          </a:p>
        </p:txBody>
      </p:sp>
      <p:sp>
        <p:nvSpPr>
          <p:cNvPr id="42" name="Text 40"/>
          <p:cNvSpPr txBox="1"/>
          <p:nvPr/>
        </p:nvSpPr>
        <p:spPr>
          <a:xfrm>
            <a:off x="3858768" y="4471416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A90AC"/>
                </a:solidFill>
              </a:rPr>
              <a:t>Dashboard Module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6080760" y="3977640"/>
            <a:ext cx="2578608" cy="960120"/>
          </a:xfrm>
          <a:prstGeom prst="roundRect">
            <a:avLst>
              <a:gd name="adj" fmla="val 7619"/>
            </a:avLst>
          </a:prstGeom>
          <a:solidFill>
            <a:srgbClr val="131728"/>
          </a:solidFill>
          <a:ln w="12700">
            <a:solidFill>
              <a:srgbClr val="232A44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208776" y="4105656"/>
            <a:ext cx="347472" cy="347472"/>
          </a:xfrm>
          <a:prstGeom prst="roundRect">
            <a:avLst>
              <a:gd name="adj" fmla="val 15789"/>
            </a:avLst>
          </a:prstGeom>
          <a:solidFill>
            <a:srgbClr val="34D399">
              <a:alpha val="25000"/>
            </a:srgbClr>
          </a:solidFill>
          <a:ln/>
        </p:spPr>
      </p:sp>
      <p:sp>
        <p:nvSpPr>
          <p:cNvPr id="45" name="Text 43"/>
          <p:cNvSpPr txBox="1"/>
          <p:nvPr/>
        </p:nvSpPr>
        <p:spPr>
          <a:xfrm>
            <a:off x="6208776" y="410565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4D399"/>
                </a:solidFill>
              </a:rPr>
              <a:t>07</a:t>
            </a:r>
            <a:endParaRPr lang="en-US" sz="1100" dirty="0"/>
          </a:p>
        </p:txBody>
      </p:sp>
      <p:sp>
        <p:nvSpPr>
          <p:cNvPr id="46" name="Text 44"/>
          <p:cNvSpPr txBox="1"/>
          <p:nvPr/>
        </p:nvSpPr>
        <p:spPr>
          <a:xfrm>
            <a:off x="6647688" y="416052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KPI Reference</a:t>
            </a:r>
            <a:endParaRPr lang="en-US" sz="950" dirty="0"/>
          </a:p>
        </p:txBody>
      </p:sp>
      <p:sp>
        <p:nvSpPr>
          <p:cNvPr id="47" name="Text 45"/>
          <p:cNvSpPr txBox="1"/>
          <p:nvPr/>
        </p:nvSpPr>
        <p:spPr>
          <a:xfrm>
            <a:off x="6647688" y="4471416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A90AC"/>
                </a:solidFill>
              </a:rPr>
              <a:t>Dashboard Module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8869680" y="3977640"/>
            <a:ext cx="2578608" cy="960120"/>
          </a:xfrm>
          <a:prstGeom prst="roundRect">
            <a:avLst>
              <a:gd name="adj" fmla="val 7619"/>
            </a:avLst>
          </a:prstGeom>
          <a:solidFill>
            <a:srgbClr val="131728"/>
          </a:solidFill>
          <a:ln w="12700">
            <a:solidFill>
              <a:srgbClr val="232A44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8997696" y="4105656"/>
            <a:ext cx="347472" cy="347472"/>
          </a:xfrm>
          <a:prstGeom prst="roundRect">
            <a:avLst>
              <a:gd name="adj" fmla="val 15789"/>
            </a:avLst>
          </a:prstGeom>
          <a:solidFill>
            <a:srgbClr val="FBBF24">
              <a:alpha val="25000"/>
            </a:srgbClr>
          </a:solidFill>
          <a:ln/>
        </p:spPr>
      </p:sp>
      <p:sp>
        <p:nvSpPr>
          <p:cNvPr id="50" name="Text 48"/>
          <p:cNvSpPr txBox="1"/>
          <p:nvPr/>
        </p:nvSpPr>
        <p:spPr>
          <a:xfrm>
            <a:off x="8997696" y="410565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BBF24"/>
                </a:solidFill>
              </a:rPr>
              <a:t>08</a:t>
            </a:r>
            <a:endParaRPr lang="en-US" sz="1100" dirty="0"/>
          </a:p>
        </p:txBody>
      </p:sp>
      <p:sp>
        <p:nvSpPr>
          <p:cNvPr id="51" name="Text 49"/>
          <p:cNvSpPr txBox="1"/>
          <p:nvPr/>
        </p:nvSpPr>
        <p:spPr>
          <a:xfrm>
            <a:off x="9436608" y="416052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Field Mapping</a:t>
            </a:r>
            <a:endParaRPr lang="en-US" sz="950" dirty="0"/>
          </a:p>
        </p:txBody>
      </p:sp>
      <p:sp>
        <p:nvSpPr>
          <p:cNvPr id="52" name="Text 50"/>
          <p:cNvSpPr txBox="1"/>
          <p:nvPr/>
        </p:nvSpPr>
        <p:spPr>
          <a:xfrm>
            <a:off x="9436608" y="4471416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A90AC"/>
                </a:solidFill>
              </a:rPr>
              <a:t>Dashboard Module</a:t>
            </a:r>
            <a:endParaRPr lang="en-US" sz="800" dirty="0"/>
          </a:p>
        </p:txBody>
      </p:sp>
      <p:sp>
        <p:nvSpPr>
          <p:cNvPr id="53" name="Text 51"/>
          <p:cNvSpPr txBox="1"/>
          <p:nvPr/>
        </p:nvSpPr>
        <p:spPr>
          <a:xfrm>
            <a:off x="502920" y="5193792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7C6FF7"/>
                </a:solidFill>
              </a:rPr>
              <a:t>7</a:t>
            </a:r>
            <a:endParaRPr lang="en-US" sz="2200" dirty="0"/>
          </a:p>
        </p:txBody>
      </p:sp>
      <p:sp>
        <p:nvSpPr>
          <p:cNvPr id="54" name="Text 52"/>
          <p:cNvSpPr txBox="1"/>
          <p:nvPr/>
        </p:nvSpPr>
        <p:spPr>
          <a:xfrm>
            <a:off x="502920" y="555955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90AC"/>
                </a:solidFill>
              </a:rPr>
              <a:t>Data Sources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2514600" y="5239512"/>
            <a:ext cx="22860" cy="502920"/>
          </a:xfrm>
          <a:prstGeom prst="rect">
            <a:avLst/>
          </a:prstGeom>
          <a:solidFill>
            <a:srgbClr val="232A44"/>
          </a:solidFill>
          <a:ln/>
        </p:spPr>
      </p:sp>
      <p:sp>
        <p:nvSpPr>
          <p:cNvPr id="56" name="Text 54"/>
          <p:cNvSpPr txBox="1"/>
          <p:nvPr/>
        </p:nvSpPr>
        <p:spPr>
          <a:xfrm>
            <a:off x="2715768" y="5193792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7C6FF7"/>
                </a:solidFill>
              </a:rPr>
              <a:t>1,373</a:t>
            </a:r>
            <a:endParaRPr lang="en-US" sz="2200" dirty="0"/>
          </a:p>
        </p:txBody>
      </p:sp>
      <p:sp>
        <p:nvSpPr>
          <p:cNvPr id="57" name="Text 55"/>
          <p:cNvSpPr txBox="1"/>
          <p:nvPr/>
        </p:nvSpPr>
        <p:spPr>
          <a:xfrm>
            <a:off x="2715768" y="555955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90AC"/>
                </a:solidFill>
              </a:rPr>
              <a:t>Universities</a:t>
            </a:r>
            <a:endParaRPr lang="en-US" sz="850" dirty="0"/>
          </a:p>
        </p:txBody>
      </p:sp>
      <p:sp>
        <p:nvSpPr>
          <p:cNvPr id="58" name="Shape 56"/>
          <p:cNvSpPr/>
          <p:nvPr/>
        </p:nvSpPr>
        <p:spPr>
          <a:xfrm>
            <a:off x="4727448" y="5239512"/>
            <a:ext cx="22860" cy="502920"/>
          </a:xfrm>
          <a:prstGeom prst="rect">
            <a:avLst/>
          </a:prstGeom>
          <a:solidFill>
            <a:srgbClr val="232A44"/>
          </a:solidFill>
          <a:ln/>
        </p:spPr>
      </p:sp>
      <p:sp>
        <p:nvSpPr>
          <p:cNvPr id="59" name="Text 57"/>
          <p:cNvSpPr txBox="1"/>
          <p:nvPr/>
        </p:nvSpPr>
        <p:spPr>
          <a:xfrm>
            <a:off x="4928616" y="5193792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7C6FF7"/>
                </a:solidFill>
              </a:rPr>
              <a:t>4</a:t>
            </a:r>
            <a:endParaRPr lang="en-US" sz="2200" dirty="0"/>
          </a:p>
        </p:txBody>
      </p:sp>
      <p:sp>
        <p:nvSpPr>
          <p:cNvPr id="60" name="Text 58"/>
          <p:cNvSpPr txBox="1"/>
          <p:nvPr/>
        </p:nvSpPr>
        <p:spPr>
          <a:xfrm>
            <a:off x="4928616" y="555955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90AC"/>
                </a:solidFill>
              </a:rPr>
              <a:t>Ranking Methods</a:t>
            </a:r>
            <a:endParaRPr lang="en-US" sz="850" dirty="0"/>
          </a:p>
        </p:txBody>
      </p:sp>
      <p:sp>
        <p:nvSpPr>
          <p:cNvPr id="61" name="Shape 59"/>
          <p:cNvSpPr/>
          <p:nvPr/>
        </p:nvSpPr>
        <p:spPr>
          <a:xfrm>
            <a:off x="6940296" y="5239512"/>
            <a:ext cx="22860" cy="502920"/>
          </a:xfrm>
          <a:prstGeom prst="rect">
            <a:avLst/>
          </a:prstGeom>
          <a:solidFill>
            <a:srgbClr val="232A44"/>
          </a:solidFill>
          <a:ln/>
        </p:spPr>
      </p:sp>
      <p:sp>
        <p:nvSpPr>
          <p:cNvPr id="62" name="Text 60"/>
          <p:cNvSpPr txBox="1"/>
          <p:nvPr/>
        </p:nvSpPr>
        <p:spPr>
          <a:xfrm>
            <a:off x="7141464" y="5193792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7C6FF7"/>
                </a:solidFill>
              </a:rPr>
              <a:t>9,800</a:t>
            </a:r>
            <a:endParaRPr lang="en-US" sz="2200" dirty="0"/>
          </a:p>
        </p:txBody>
      </p:sp>
      <p:sp>
        <p:nvSpPr>
          <p:cNvPr id="63" name="Text 61"/>
          <p:cNvSpPr txBox="1"/>
          <p:nvPr/>
        </p:nvSpPr>
        <p:spPr>
          <a:xfrm>
            <a:off x="7141464" y="555955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90AC"/>
                </a:solidFill>
              </a:rPr>
              <a:t>Raw Records</a:t>
            </a:r>
            <a:endParaRPr lang="en-US" sz="850" dirty="0"/>
          </a:p>
        </p:txBody>
      </p:sp>
      <p:sp>
        <p:nvSpPr>
          <p:cNvPr id="64" name="Shape 62"/>
          <p:cNvSpPr/>
          <p:nvPr/>
        </p:nvSpPr>
        <p:spPr>
          <a:xfrm>
            <a:off x="9153144" y="5239512"/>
            <a:ext cx="22860" cy="502920"/>
          </a:xfrm>
          <a:prstGeom prst="rect">
            <a:avLst/>
          </a:prstGeom>
          <a:solidFill>
            <a:srgbClr val="232A44"/>
          </a:solidFill>
          <a:ln/>
        </p:spPr>
      </p:sp>
      <p:sp>
        <p:nvSpPr>
          <p:cNvPr id="65" name="Text 63"/>
          <p:cNvSpPr txBox="1"/>
          <p:nvPr/>
        </p:nvSpPr>
        <p:spPr>
          <a:xfrm>
            <a:off x="9354312" y="5193792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7C6FF7"/>
                </a:solidFill>
              </a:rPr>
              <a:t>6</a:t>
            </a:r>
            <a:endParaRPr lang="en-US" sz="2200" dirty="0"/>
          </a:p>
        </p:txBody>
      </p:sp>
      <p:sp>
        <p:nvSpPr>
          <p:cNvPr id="66" name="Text 64"/>
          <p:cNvSpPr txBox="1"/>
          <p:nvPr/>
        </p:nvSpPr>
        <p:spPr>
          <a:xfrm>
            <a:off x="9354312" y="555955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90AC"/>
                </a:solidFill>
              </a:rPr>
              <a:t>KPIs Computed</a:t>
            </a:r>
            <a:endParaRPr lang="en-US" sz="850" dirty="0"/>
          </a:p>
        </p:txBody>
      </p:sp>
      <p:sp>
        <p:nvSpPr>
          <p:cNvPr id="67" name="Text 65"/>
          <p:cNvSpPr txBox="1"/>
          <p:nvPr/>
        </p:nvSpPr>
        <p:spPr>
          <a:xfrm>
            <a:off x="502920" y="649224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A5170"/>
                </a:solidFill>
              </a:rPr>
              <a:t>Demo build — all figures are synthetic demo data, not official QS/THE statistics.</a:t>
            </a:r>
            <a:endParaRPr lang="en-US" sz="750" dirty="0"/>
          </a:p>
        </p:txBody>
      </p:sp>
      <p:pic>
        <p:nvPicPr>
          <p:cNvPr id="69" name="Picture 68" descr="Infosys Springboard - Apps on Google Play">
            <a:extLst>
              <a:ext uri="{FF2B5EF4-FFF2-40B4-BE49-F238E27FC236}">
                <a16:creationId xmlns:a16="http://schemas.microsoft.com/office/drawing/2014/main" id="{2E72256B-4164-8B7E-8B92-50226B80E6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3076" y="363967"/>
            <a:ext cx="786384" cy="78638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6096" y="20619"/>
            <a:ext cx="12192000" cy="6858000"/>
          </a:xfrm>
          <a:prstGeom prst="rect">
            <a:avLst/>
          </a:prstGeom>
          <a:solidFill>
            <a:srgbClr val="0A0D16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137160"/>
            <a:ext cx="1554480" cy="256032"/>
          </a:xfrm>
          <a:prstGeom prst="roundRect">
            <a:avLst>
              <a:gd name="adj" fmla="val 17857"/>
            </a:avLst>
          </a:prstGeom>
          <a:solidFill>
            <a:srgbClr val="7C6FF7">
              <a:alpha val="20000"/>
            </a:srgbClr>
          </a:solidFill>
          <a:ln w="12700">
            <a:solidFill>
              <a:srgbClr val="7C6FF7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3716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7C6FF7"/>
                </a:solidFill>
              </a:rPr>
              <a:t>DASHBOARD 01</a:t>
            </a:r>
            <a:endParaRPr lang="en-US" sz="750" dirty="0"/>
          </a:p>
        </p:txBody>
      </p:sp>
      <p:sp>
        <p:nvSpPr>
          <p:cNvPr id="5" name="Text 3"/>
          <p:cNvSpPr txBox="1"/>
          <p:nvPr/>
        </p:nvSpPr>
        <p:spPr>
          <a:xfrm>
            <a:off x="2372868" y="54864"/>
            <a:ext cx="4983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University Overview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576072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90AC"/>
                </a:solidFill>
              </a:rPr>
              <a:t>Executive entry point  ·  global KPIs + ranking + performance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932688"/>
            <a:ext cx="1481328" cy="5394960"/>
          </a:xfrm>
          <a:prstGeom prst="roundRect">
            <a:avLst>
              <a:gd name="adj" fmla="val 4938"/>
            </a:avLst>
          </a:prstGeom>
          <a:solidFill>
            <a:srgbClr val="131728"/>
          </a:solidFill>
          <a:ln w="12700">
            <a:solidFill>
              <a:srgbClr val="232A4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1024128"/>
            <a:ext cx="1298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7C6FF7"/>
                </a:solidFill>
              </a:rPr>
              <a:t>GLOBAL FILTERS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566928" y="1298448"/>
            <a:ext cx="1078992" cy="228600"/>
          </a:xfrm>
          <a:prstGeom prst="roundRect">
            <a:avLst>
              <a:gd name="adj" fmla="val 20000"/>
            </a:avLst>
          </a:prstGeom>
          <a:solidFill>
            <a:srgbClr val="1A2036"/>
          </a:solidFill>
          <a:ln w="12700">
            <a:solidFill>
              <a:srgbClr val="232A4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66928" y="1298448"/>
            <a:ext cx="10789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A90AC"/>
                </a:solidFill>
              </a:rPr>
              <a:t>Year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566928" y="1682496"/>
            <a:ext cx="1078992" cy="228600"/>
          </a:xfrm>
          <a:prstGeom prst="roundRect">
            <a:avLst>
              <a:gd name="adj" fmla="val 20000"/>
            </a:avLst>
          </a:prstGeom>
          <a:solidFill>
            <a:srgbClr val="1A2036"/>
          </a:solidFill>
          <a:ln w="12700">
            <a:solidFill>
              <a:srgbClr val="232A4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66928" y="1682496"/>
            <a:ext cx="10789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A90AC"/>
                </a:solidFill>
              </a:rPr>
              <a:t>Region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566928" y="2066544"/>
            <a:ext cx="1078992" cy="228600"/>
          </a:xfrm>
          <a:prstGeom prst="roundRect">
            <a:avLst>
              <a:gd name="adj" fmla="val 20000"/>
            </a:avLst>
          </a:prstGeom>
          <a:solidFill>
            <a:srgbClr val="1A2036"/>
          </a:solidFill>
          <a:ln w="12700">
            <a:solidFill>
              <a:srgbClr val="232A4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66928" y="2066544"/>
            <a:ext cx="10789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A90AC"/>
                </a:solidFill>
              </a:rPr>
              <a:t>Country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566928" y="2450592"/>
            <a:ext cx="1078992" cy="228600"/>
          </a:xfrm>
          <a:prstGeom prst="roundRect">
            <a:avLst>
              <a:gd name="adj" fmla="val 20000"/>
            </a:avLst>
          </a:prstGeom>
          <a:solidFill>
            <a:srgbClr val="1A2036"/>
          </a:solidFill>
          <a:ln w="12700">
            <a:solidFill>
              <a:srgbClr val="232A4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66928" y="2450592"/>
            <a:ext cx="10789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A90AC"/>
                </a:solidFill>
              </a:rPr>
              <a:t>Subject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566928" y="2834640"/>
            <a:ext cx="1078992" cy="228600"/>
          </a:xfrm>
          <a:prstGeom prst="roundRect">
            <a:avLst>
              <a:gd name="adj" fmla="val 20000"/>
            </a:avLst>
          </a:prstGeom>
          <a:solidFill>
            <a:srgbClr val="1A2036"/>
          </a:solidFill>
          <a:ln w="12700">
            <a:solidFill>
              <a:srgbClr val="232A44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66928" y="2834640"/>
            <a:ext cx="10789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A90AC"/>
                </a:solidFill>
              </a:rPr>
              <a:t>Search</a:t>
            </a:r>
            <a:endParaRPr lang="en-US" sz="800" dirty="0"/>
          </a:p>
        </p:txBody>
      </p:sp>
      <p:sp>
        <p:nvSpPr>
          <p:cNvPr id="19" name="Text 17"/>
          <p:cNvSpPr txBox="1"/>
          <p:nvPr/>
        </p:nvSpPr>
        <p:spPr>
          <a:xfrm>
            <a:off x="566928" y="3310128"/>
            <a:ext cx="10789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87171"/>
                </a:solidFill>
              </a:rPr>
              <a:t>Reset Filters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2057400" y="932688"/>
            <a:ext cx="1170432" cy="1005840"/>
          </a:xfrm>
          <a:prstGeom prst="roundRect">
            <a:avLst>
              <a:gd name="adj" fmla="val 7273"/>
            </a:avLst>
          </a:prstGeom>
          <a:solidFill>
            <a:srgbClr val="131728"/>
          </a:solidFill>
          <a:ln w="12700">
            <a:solidFill>
              <a:srgbClr val="232A4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194560" y="1060704"/>
            <a:ext cx="109728" cy="109728"/>
          </a:xfrm>
          <a:prstGeom prst="ellipse">
            <a:avLst/>
          </a:prstGeom>
          <a:solidFill>
            <a:srgbClr val="7C6FF7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2363724" y="1005840"/>
            <a:ext cx="987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8A90AC"/>
                </a:solidFill>
              </a:rPr>
              <a:t>GLOBAL UNIVERSITIES</a:t>
            </a:r>
            <a:endParaRPr lang="en-US" sz="700" dirty="0"/>
          </a:p>
        </p:txBody>
      </p:sp>
      <p:sp>
        <p:nvSpPr>
          <p:cNvPr id="23" name="Text 21"/>
          <p:cNvSpPr txBox="1"/>
          <p:nvPr/>
        </p:nvSpPr>
        <p:spPr>
          <a:xfrm>
            <a:off x="2148840" y="1225296"/>
            <a:ext cx="987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1,373</a:t>
            </a:r>
            <a:endParaRPr lang="en-US" sz="2000" dirty="0"/>
          </a:p>
        </p:txBody>
      </p:sp>
      <p:sp>
        <p:nvSpPr>
          <p:cNvPr id="24" name="Text 22"/>
          <p:cNvSpPr txBox="1"/>
          <p:nvPr/>
        </p:nvSpPr>
        <p:spPr>
          <a:xfrm>
            <a:off x="2148840" y="1645920"/>
            <a:ext cx="987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7C6FF7"/>
                </a:solidFill>
              </a:rPr>
              <a:t>+12 vs last year</a:t>
            </a:r>
            <a:endParaRPr lang="en-US" sz="700" dirty="0"/>
          </a:p>
        </p:txBody>
      </p:sp>
      <p:sp>
        <p:nvSpPr>
          <p:cNvPr id="25" name="Shape 23"/>
          <p:cNvSpPr/>
          <p:nvPr/>
        </p:nvSpPr>
        <p:spPr>
          <a:xfrm>
            <a:off x="3291840" y="932688"/>
            <a:ext cx="1170432" cy="1005840"/>
          </a:xfrm>
          <a:prstGeom prst="roundRect">
            <a:avLst>
              <a:gd name="adj" fmla="val 7273"/>
            </a:avLst>
          </a:prstGeom>
          <a:solidFill>
            <a:srgbClr val="131728"/>
          </a:solidFill>
          <a:ln w="12700">
            <a:solidFill>
              <a:srgbClr val="232A44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429000" y="1060704"/>
            <a:ext cx="109728" cy="109728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3584448" y="1005840"/>
            <a:ext cx="987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8A90AC"/>
                </a:solidFill>
              </a:rPr>
              <a:t>AVG OVERALL SCORE</a:t>
            </a:r>
            <a:endParaRPr lang="en-US" sz="700" dirty="0"/>
          </a:p>
        </p:txBody>
      </p:sp>
      <p:sp>
        <p:nvSpPr>
          <p:cNvPr id="28" name="Text 26"/>
          <p:cNvSpPr txBox="1"/>
          <p:nvPr/>
        </p:nvSpPr>
        <p:spPr>
          <a:xfrm>
            <a:off x="3383280" y="1225296"/>
            <a:ext cx="987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62.4</a:t>
            </a:r>
            <a:endParaRPr lang="en-US" sz="2000" dirty="0"/>
          </a:p>
        </p:txBody>
      </p:sp>
      <p:sp>
        <p:nvSpPr>
          <p:cNvPr id="29" name="Text 27"/>
          <p:cNvSpPr txBox="1"/>
          <p:nvPr/>
        </p:nvSpPr>
        <p:spPr>
          <a:xfrm>
            <a:off x="3383280" y="1645920"/>
            <a:ext cx="987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22D3EE"/>
                </a:solidFill>
              </a:rPr>
              <a:t>↑ 1.8 pts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4526280" y="932688"/>
            <a:ext cx="1170432" cy="1005840"/>
          </a:xfrm>
          <a:prstGeom prst="roundRect">
            <a:avLst>
              <a:gd name="adj" fmla="val 7273"/>
            </a:avLst>
          </a:prstGeom>
          <a:solidFill>
            <a:srgbClr val="131728"/>
          </a:solidFill>
          <a:ln w="12700">
            <a:solidFill>
              <a:srgbClr val="232A44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663440" y="1060704"/>
            <a:ext cx="109728" cy="109728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4864608" y="1005840"/>
            <a:ext cx="987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8A90AC"/>
                </a:solidFill>
              </a:rPr>
              <a:t>TOP RANKED</a:t>
            </a:r>
            <a:endParaRPr lang="en-US" sz="700" dirty="0"/>
          </a:p>
        </p:txBody>
      </p:sp>
      <p:sp>
        <p:nvSpPr>
          <p:cNvPr id="33" name="Text 31"/>
          <p:cNvSpPr txBox="1"/>
          <p:nvPr/>
        </p:nvSpPr>
        <p:spPr>
          <a:xfrm>
            <a:off x="4617720" y="1225296"/>
            <a:ext cx="987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Harvard</a:t>
            </a:r>
            <a:endParaRPr lang="en-US" sz="2000" dirty="0"/>
          </a:p>
        </p:txBody>
      </p:sp>
      <p:sp>
        <p:nvSpPr>
          <p:cNvPr id="34" name="Text 32"/>
          <p:cNvSpPr txBox="1"/>
          <p:nvPr/>
        </p:nvSpPr>
        <p:spPr>
          <a:xfrm>
            <a:off x="4617720" y="1645920"/>
            <a:ext cx="987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34D399"/>
                </a:solidFill>
              </a:rPr>
              <a:t>#1 across 4 sources</a:t>
            </a:r>
            <a:endParaRPr lang="en-US" sz="700" dirty="0"/>
          </a:p>
        </p:txBody>
      </p:sp>
      <p:sp>
        <p:nvSpPr>
          <p:cNvPr id="35" name="Shape 33"/>
          <p:cNvSpPr/>
          <p:nvPr/>
        </p:nvSpPr>
        <p:spPr>
          <a:xfrm>
            <a:off x="5760720" y="932688"/>
            <a:ext cx="1170432" cy="1005840"/>
          </a:xfrm>
          <a:prstGeom prst="roundRect">
            <a:avLst>
              <a:gd name="adj" fmla="val 7273"/>
            </a:avLst>
          </a:prstGeom>
          <a:solidFill>
            <a:srgbClr val="131728"/>
          </a:solidFill>
          <a:ln w="12700">
            <a:solidFill>
              <a:srgbClr val="232A44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897880" y="1060704"/>
            <a:ext cx="109728" cy="109728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6089904" y="1024128"/>
            <a:ext cx="987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8A90AC"/>
                </a:solidFill>
              </a:rPr>
              <a:t>AVG REPUTATION</a:t>
            </a:r>
            <a:endParaRPr lang="en-US" sz="700" dirty="0"/>
          </a:p>
        </p:txBody>
      </p:sp>
      <p:sp>
        <p:nvSpPr>
          <p:cNvPr id="38" name="Text 36"/>
          <p:cNvSpPr txBox="1"/>
          <p:nvPr/>
        </p:nvSpPr>
        <p:spPr>
          <a:xfrm>
            <a:off x="5852160" y="1225296"/>
            <a:ext cx="987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61.1</a:t>
            </a:r>
            <a:endParaRPr lang="en-US" sz="2000" dirty="0"/>
          </a:p>
        </p:txBody>
      </p:sp>
      <p:sp>
        <p:nvSpPr>
          <p:cNvPr id="39" name="Text 37"/>
          <p:cNvSpPr txBox="1"/>
          <p:nvPr/>
        </p:nvSpPr>
        <p:spPr>
          <a:xfrm>
            <a:off x="5852160" y="1645920"/>
            <a:ext cx="987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FBBF24"/>
                </a:solidFill>
              </a:rPr>
              <a:t>THE teaching proxy</a:t>
            </a:r>
            <a:endParaRPr lang="en-US" sz="700" dirty="0"/>
          </a:p>
        </p:txBody>
      </p:sp>
      <p:sp>
        <p:nvSpPr>
          <p:cNvPr id="40" name="Shape 38"/>
          <p:cNvSpPr/>
          <p:nvPr/>
        </p:nvSpPr>
        <p:spPr>
          <a:xfrm>
            <a:off x="6995160" y="932688"/>
            <a:ext cx="1170432" cy="1005840"/>
          </a:xfrm>
          <a:prstGeom prst="roundRect">
            <a:avLst>
              <a:gd name="adj" fmla="val 7273"/>
            </a:avLst>
          </a:prstGeom>
          <a:solidFill>
            <a:srgbClr val="131728"/>
          </a:solidFill>
          <a:ln w="12700">
            <a:solidFill>
              <a:srgbClr val="232A44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132320" y="1060704"/>
            <a:ext cx="109728" cy="109728"/>
          </a:xfrm>
          <a:prstGeom prst="ellipse">
            <a:avLst/>
          </a:prstGeom>
          <a:solidFill>
            <a:srgbClr val="7C6FF7"/>
          </a:solidFill>
          <a:ln/>
        </p:spPr>
      </p:sp>
      <p:sp>
        <p:nvSpPr>
          <p:cNvPr id="42" name="Text 40"/>
          <p:cNvSpPr txBox="1"/>
          <p:nvPr/>
        </p:nvSpPr>
        <p:spPr>
          <a:xfrm>
            <a:off x="7296195" y="1005840"/>
            <a:ext cx="987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8A90AC"/>
                </a:solidFill>
              </a:rPr>
              <a:t>AVG RESEARCH IMPACT</a:t>
            </a:r>
            <a:endParaRPr lang="en-US" sz="700" dirty="0"/>
          </a:p>
        </p:txBody>
      </p:sp>
      <p:sp>
        <p:nvSpPr>
          <p:cNvPr id="43" name="Text 41"/>
          <p:cNvSpPr txBox="1"/>
          <p:nvPr/>
        </p:nvSpPr>
        <p:spPr>
          <a:xfrm>
            <a:off x="7086600" y="1225296"/>
            <a:ext cx="987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48.3</a:t>
            </a:r>
            <a:endParaRPr lang="en-US" sz="2000" dirty="0"/>
          </a:p>
        </p:txBody>
      </p:sp>
      <p:sp>
        <p:nvSpPr>
          <p:cNvPr id="44" name="Text 42"/>
          <p:cNvSpPr txBox="1"/>
          <p:nvPr/>
        </p:nvSpPr>
        <p:spPr>
          <a:xfrm>
            <a:off x="7086600" y="1645920"/>
            <a:ext cx="987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7C6FF7"/>
                </a:solidFill>
              </a:rPr>
              <a:t>Citation-weighted</a:t>
            </a:r>
            <a:endParaRPr lang="en-US" sz="700" dirty="0"/>
          </a:p>
        </p:txBody>
      </p:sp>
      <p:sp>
        <p:nvSpPr>
          <p:cNvPr id="45" name="Shape 43"/>
          <p:cNvSpPr/>
          <p:nvPr/>
        </p:nvSpPr>
        <p:spPr>
          <a:xfrm>
            <a:off x="8229600" y="932688"/>
            <a:ext cx="1170432" cy="1005840"/>
          </a:xfrm>
          <a:prstGeom prst="roundRect">
            <a:avLst>
              <a:gd name="adj" fmla="val 7273"/>
            </a:avLst>
          </a:prstGeom>
          <a:solidFill>
            <a:srgbClr val="131728"/>
          </a:solidFill>
          <a:ln w="12700">
            <a:solidFill>
              <a:srgbClr val="232A44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366760" y="1060704"/>
            <a:ext cx="109728" cy="109728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47" name="Text 45"/>
          <p:cNvSpPr txBox="1"/>
          <p:nvPr/>
        </p:nvSpPr>
        <p:spPr>
          <a:xfrm>
            <a:off x="8545068" y="1024128"/>
            <a:ext cx="987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8A90AC"/>
                </a:solidFill>
              </a:rPr>
              <a:t>INTL STUDENT %</a:t>
            </a:r>
            <a:endParaRPr lang="en-US" sz="700" dirty="0"/>
          </a:p>
        </p:txBody>
      </p:sp>
      <p:sp>
        <p:nvSpPr>
          <p:cNvPr id="48" name="Text 46"/>
          <p:cNvSpPr txBox="1"/>
          <p:nvPr/>
        </p:nvSpPr>
        <p:spPr>
          <a:xfrm>
            <a:off x="8321040" y="1225296"/>
            <a:ext cx="987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28.6%</a:t>
            </a:r>
            <a:endParaRPr lang="en-US" sz="2000" dirty="0"/>
          </a:p>
        </p:txBody>
      </p:sp>
      <p:sp>
        <p:nvSpPr>
          <p:cNvPr id="49" name="Text 47"/>
          <p:cNvSpPr txBox="1"/>
          <p:nvPr/>
        </p:nvSpPr>
        <p:spPr>
          <a:xfrm>
            <a:off x="8321040" y="1645920"/>
            <a:ext cx="987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22D3EE"/>
                </a:solidFill>
              </a:rPr>
              <a:t>Avg across sources</a:t>
            </a:r>
            <a:endParaRPr lang="en-US" sz="700" dirty="0"/>
          </a:p>
        </p:txBody>
      </p:sp>
      <p:sp>
        <p:nvSpPr>
          <p:cNvPr id="50" name="Shape 48"/>
          <p:cNvSpPr/>
          <p:nvPr/>
        </p:nvSpPr>
        <p:spPr>
          <a:xfrm>
            <a:off x="9464040" y="932688"/>
            <a:ext cx="1170432" cy="1005840"/>
          </a:xfrm>
          <a:prstGeom prst="roundRect">
            <a:avLst>
              <a:gd name="adj" fmla="val 7273"/>
            </a:avLst>
          </a:prstGeom>
          <a:solidFill>
            <a:srgbClr val="131728"/>
          </a:solidFill>
          <a:ln w="12700">
            <a:solidFill>
              <a:srgbClr val="232A44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9601200" y="1060704"/>
            <a:ext cx="109728" cy="109728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52" name="Text 50"/>
          <p:cNvSpPr txBox="1"/>
          <p:nvPr/>
        </p:nvSpPr>
        <p:spPr>
          <a:xfrm>
            <a:off x="9816084" y="1001178"/>
            <a:ext cx="987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8A90AC"/>
                </a:solidFill>
              </a:rPr>
              <a:t>FACULTY : STUDENT</a:t>
            </a:r>
            <a:endParaRPr lang="en-US" sz="700" dirty="0"/>
          </a:p>
        </p:txBody>
      </p:sp>
      <p:sp>
        <p:nvSpPr>
          <p:cNvPr id="53" name="Text 51"/>
          <p:cNvSpPr txBox="1"/>
          <p:nvPr/>
        </p:nvSpPr>
        <p:spPr>
          <a:xfrm>
            <a:off x="9555480" y="1225296"/>
            <a:ext cx="987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1 : 16</a:t>
            </a:r>
            <a:endParaRPr lang="en-US" sz="2000" dirty="0"/>
          </a:p>
        </p:txBody>
      </p:sp>
      <p:sp>
        <p:nvSpPr>
          <p:cNvPr id="54" name="Text 52"/>
          <p:cNvSpPr txBox="1"/>
          <p:nvPr/>
        </p:nvSpPr>
        <p:spPr>
          <a:xfrm>
            <a:off x="9555480" y="1645920"/>
            <a:ext cx="987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34D399"/>
                </a:solidFill>
              </a:rPr>
              <a:t>Avg staffing ratio</a:t>
            </a:r>
            <a:endParaRPr lang="en-US" sz="700" dirty="0"/>
          </a:p>
        </p:txBody>
      </p:sp>
      <p:sp>
        <p:nvSpPr>
          <p:cNvPr id="55" name="Shape 53"/>
          <p:cNvSpPr/>
          <p:nvPr/>
        </p:nvSpPr>
        <p:spPr>
          <a:xfrm>
            <a:off x="10698480" y="932688"/>
            <a:ext cx="1170432" cy="1005840"/>
          </a:xfrm>
          <a:prstGeom prst="roundRect">
            <a:avLst>
              <a:gd name="adj" fmla="val 7273"/>
            </a:avLst>
          </a:prstGeom>
          <a:solidFill>
            <a:srgbClr val="131728"/>
          </a:solidFill>
          <a:ln w="12700">
            <a:solidFill>
              <a:srgbClr val="232A44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10835640" y="1060704"/>
            <a:ext cx="109728" cy="109728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57" name="Text 55"/>
          <p:cNvSpPr txBox="1"/>
          <p:nvPr/>
        </p:nvSpPr>
        <p:spPr>
          <a:xfrm>
            <a:off x="10977372" y="942818"/>
            <a:ext cx="987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8A90AC"/>
                </a:solidFill>
              </a:rPr>
              <a:t>TOTAL PUBLICATIONS</a:t>
            </a:r>
            <a:endParaRPr lang="en-US" sz="700" dirty="0"/>
          </a:p>
        </p:txBody>
      </p:sp>
      <p:sp>
        <p:nvSpPr>
          <p:cNvPr id="58" name="Text 56"/>
          <p:cNvSpPr txBox="1"/>
          <p:nvPr/>
        </p:nvSpPr>
        <p:spPr>
          <a:xfrm>
            <a:off x="10789920" y="1225296"/>
            <a:ext cx="987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1.4M</a:t>
            </a:r>
            <a:endParaRPr lang="en-US" sz="2000" dirty="0"/>
          </a:p>
        </p:txBody>
      </p:sp>
      <p:sp>
        <p:nvSpPr>
          <p:cNvPr id="59" name="Text 57"/>
          <p:cNvSpPr txBox="1"/>
          <p:nvPr/>
        </p:nvSpPr>
        <p:spPr>
          <a:xfrm>
            <a:off x="10789920" y="1645920"/>
            <a:ext cx="987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FBBF24"/>
                </a:solidFill>
              </a:rPr>
              <a:t>ARWU + CWUR sources</a:t>
            </a:r>
            <a:endParaRPr lang="en-US" sz="700" dirty="0"/>
          </a:p>
        </p:txBody>
      </p:sp>
      <p:sp>
        <p:nvSpPr>
          <p:cNvPr id="60" name="Shape 58"/>
          <p:cNvSpPr/>
          <p:nvPr/>
        </p:nvSpPr>
        <p:spPr>
          <a:xfrm>
            <a:off x="2057400" y="2103120"/>
            <a:ext cx="4754880" cy="1691640"/>
          </a:xfrm>
          <a:prstGeom prst="roundRect">
            <a:avLst>
              <a:gd name="adj" fmla="val 4324"/>
            </a:avLst>
          </a:prstGeom>
          <a:solidFill>
            <a:srgbClr val="131728"/>
          </a:solidFill>
          <a:ln w="12700">
            <a:solidFill>
              <a:srgbClr val="232A44"/>
            </a:solidFill>
            <a:prstDash val="solid"/>
          </a:ln>
        </p:spPr>
      </p:sp>
      <p:sp>
        <p:nvSpPr>
          <p:cNvPr id="61" name="Text 59"/>
          <p:cNvSpPr txBox="1"/>
          <p:nvPr/>
        </p:nvSpPr>
        <p:spPr>
          <a:xfrm>
            <a:off x="2194560" y="2212848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7C6FF7"/>
                </a:solidFill>
              </a:rPr>
              <a:t>BAR CHART</a:t>
            </a:r>
            <a:endParaRPr lang="en-US" sz="700" dirty="0"/>
          </a:p>
        </p:txBody>
      </p:sp>
      <p:sp>
        <p:nvSpPr>
          <p:cNvPr id="62" name="Text 60"/>
          <p:cNvSpPr txBox="1"/>
          <p:nvPr/>
        </p:nvSpPr>
        <p:spPr>
          <a:xfrm>
            <a:off x="2194560" y="2414016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Top Universities Ranking</a:t>
            </a:r>
            <a:endParaRPr lang="en-US" sz="1000" dirty="0"/>
          </a:p>
        </p:txBody>
      </p:sp>
      <p:sp>
        <p:nvSpPr>
          <p:cNvPr id="63" name="Text 61"/>
          <p:cNvSpPr txBox="1"/>
          <p:nvPr/>
        </p:nvSpPr>
        <p:spPr>
          <a:xfrm>
            <a:off x="2194560" y="2688336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90AC"/>
                </a:solidFill>
              </a:rPr>
              <a:t>Horizontal bar · Top 5/10/20/50 toggle · click bar → profile</a:t>
            </a:r>
            <a:endParaRPr lang="en-US" sz="850" dirty="0"/>
          </a:p>
        </p:txBody>
      </p:sp>
      <p:sp>
        <p:nvSpPr>
          <p:cNvPr id="64" name="Shape 62"/>
          <p:cNvSpPr/>
          <p:nvPr/>
        </p:nvSpPr>
        <p:spPr>
          <a:xfrm>
            <a:off x="2240280" y="3154680"/>
            <a:ext cx="109728" cy="411480"/>
          </a:xfrm>
          <a:prstGeom prst="roundRect">
            <a:avLst>
              <a:gd name="adj" fmla="val 16667"/>
            </a:avLst>
          </a:prstGeom>
          <a:solidFill>
            <a:srgbClr val="7C6FF7">
              <a:alpha val="65000"/>
            </a:srgbClr>
          </a:solidFill>
          <a:ln/>
        </p:spPr>
      </p:sp>
      <p:sp>
        <p:nvSpPr>
          <p:cNvPr id="65" name="Shape 63"/>
          <p:cNvSpPr/>
          <p:nvPr/>
        </p:nvSpPr>
        <p:spPr>
          <a:xfrm>
            <a:off x="2404872" y="2926080"/>
            <a:ext cx="109728" cy="640080"/>
          </a:xfrm>
          <a:prstGeom prst="roundRect">
            <a:avLst>
              <a:gd name="adj" fmla="val 16667"/>
            </a:avLst>
          </a:prstGeom>
          <a:solidFill>
            <a:srgbClr val="22D3EE">
              <a:alpha val="65000"/>
            </a:srgbClr>
          </a:solidFill>
          <a:ln/>
        </p:spPr>
      </p:sp>
      <p:sp>
        <p:nvSpPr>
          <p:cNvPr id="66" name="Shape 64"/>
          <p:cNvSpPr/>
          <p:nvPr/>
        </p:nvSpPr>
        <p:spPr>
          <a:xfrm>
            <a:off x="2569464" y="3063240"/>
            <a:ext cx="109728" cy="502920"/>
          </a:xfrm>
          <a:prstGeom prst="roundRect">
            <a:avLst>
              <a:gd name="adj" fmla="val 16667"/>
            </a:avLst>
          </a:prstGeom>
          <a:solidFill>
            <a:srgbClr val="7C6FF7">
              <a:alpha val="65000"/>
            </a:srgbClr>
          </a:solidFill>
          <a:ln/>
        </p:spPr>
      </p:sp>
      <p:sp>
        <p:nvSpPr>
          <p:cNvPr id="67" name="Shape 65"/>
          <p:cNvSpPr/>
          <p:nvPr/>
        </p:nvSpPr>
        <p:spPr>
          <a:xfrm>
            <a:off x="2734056" y="3246120"/>
            <a:ext cx="109728" cy="320040"/>
          </a:xfrm>
          <a:prstGeom prst="roundRect">
            <a:avLst>
              <a:gd name="adj" fmla="val 16667"/>
            </a:avLst>
          </a:prstGeom>
          <a:solidFill>
            <a:srgbClr val="22D3EE">
              <a:alpha val="65000"/>
            </a:srgbClr>
          </a:solidFill>
          <a:ln/>
        </p:spPr>
      </p:sp>
      <p:sp>
        <p:nvSpPr>
          <p:cNvPr id="68" name="Shape 66"/>
          <p:cNvSpPr/>
          <p:nvPr/>
        </p:nvSpPr>
        <p:spPr>
          <a:xfrm>
            <a:off x="2898648" y="3017520"/>
            <a:ext cx="109728" cy="548640"/>
          </a:xfrm>
          <a:prstGeom prst="roundRect">
            <a:avLst>
              <a:gd name="adj" fmla="val 16667"/>
            </a:avLst>
          </a:prstGeom>
          <a:solidFill>
            <a:srgbClr val="7C6FF7">
              <a:alpha val="65000"/>
            </a:srgbClr>
          </a:solidFill>
          <a:ln/>
        </p:spPr>
      </p:sp>
      <p:sp>
        <p:nvSpPr>
          <p:cNvPr id="69" name="Shape 67"/>
          <p:cNvSpPr/>
          <p:nvPr/>
        </p:nvSpPr>
        <p:spPr>
          <a:xfrm>
            <a:off x="3063240" y="3108960"/>
            <a:ext cx="109728" cy="457200"/>
          </a:xfrm>
          <a:prstGeom prst="roundRect">
            <a:avLst>
              <a:gd name="adj" fmla="val 16667"/>
            </a:avLst>
          </a:prstGeom>
          <a:solidFill>
            <a:srgbClr val="22D3EE">
              <a:alpha val="65000"/>
            </a:srgbClr>
          </a:solidFill>
          <a:ln/>
        </p:spPr>
      </p:sp>
      <p:sp>
        <p:nvSpPr>
          <p:cNvPr id="70" name="Shape 68"/>
          <p:cNvSpPr/>
          <p:nvPr/>
        </p:nvSpPr>
        <p:spPr>
          <a:xfrm>
            <a:off x="3227832" y="3200400"/>
            <a:ext cx="109728" cy="365760"/>
          </a:xfrm>
          <a:prstGeom prst="roundRect">
            <a:avLst>
              <a:gd name="adj" fmla="val 16667"/>
            </a:avLst>
          </a:prstGeom>
          <a:solidFill>
            <a:srgbClr val="7C6FF7">
              <a:alpha val="65000"/>
            </a:srgbClr>
          </a:solidFill>
          <a:ln/>
        </p:spPr>
      </p:sp>
      <p:sp>
        <p:nvSpPr>
          <p:cNvPr id="71" name="Shape 69"/>
          <p:cNvSpPr/>
          <p:nvPr/>
        </p:nvSpPr>
        <p:spPr>
          <a:xfrm>
            <a:off x="3392424" y="2971800"/>
            <a:ext cx="109728" cy="594360"/>
          </a:xfrm>
          <a:prstGeom prst="roundRect">
            <a:avLst>
              <a:gd name="adj" fmla="val 16667"/>
            </a:avLst>
          </a:prstGeom>
          <a:solidFill>
            <a:srgbClr val="22D3EE">
              <a:alpha val="65000"/>
            </a:srgbClr>
          </a:solidFill>
          <a:ln/>
        </p:spPr>
      </p:sp>
      <p:sp>
        <p:nvSpPr>
          <p:cNvPr id="72" name="Shape 70"/>
          <p:cNvSpPr/>
          <p:nvPr/>
        </p:nvSpPr>
        <p:spPr>
          <a:xfrm>
            <a:off x="6949440" y="2103120"/>
            <a:ext cx="2286000" cy="1691640"/>
          </a:xfrm>
          <a:prstGeom prst="roundRect">
            <a:avLst>
              <a:gd name="adj" fmla="val 4324"/>
            </a:avLst>
          </a:prstGeom>
          <a:solidFill>
            <a:srgbClr val="131728"/>
          </a:solidFill>
          <a:ln w="12700">
            <a:solidFill>
              <a:srgbClr val="232A44"/>
            </a:solidFill>
            <a:prstDash val="solid"/>
          </a:ln>
        </p:spPr>
      </p:sp>
      <p:sp>
        <p:nvSpPr>
          <p:cNvPr id="73" name="Text 71"/>
          <p:cNvSpPr txBox="1"/>
          <p:nvPr/>
        </p:nvSpPr>
        <p:spPr>
          <a:xfrm>
            <a:off x="7086600" y="2212848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7C6FF7"/>
                </a:solidFill>
              </a:rPr>
              <a:t>DONUT</a:t>
            </a:r>
            <a:endParaRPr lang="en-US" sz="700" dirty="0"/>
          </a:p>
        </p:txBody>
      </p:sp>
      <p:sp>
        <p:nvSpPr>
          <p:cNvPr id="74" name="Text 72"/>
          <p:cNvSpPr txBox="1"/>
          <p:nvPr/>
        </p:nvSpPr>
        <p:spPr>
          <a:xfrm>
            <a:off x="7086600" y="241401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Universities by Region</a:t>
            </a:r>
            <a:endParaRPr lang="en-US" sz="1000" dirty="0"/>
          </a:p>
        </p:txBody>
      </p:sp>
      <p:sp>
        <p:nvSpPr>
          <p:cNvPr id="75" name="Text 73"/>
          <p:cNvSpPr txBox="1"/>
          <p:nvPr/>
        </p:nvSpPr>
        <p:spPr>
          <a:xfrm>
            <a:off x="7086600" y="2688336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90AC"/>
                </a:solidFill>
              </a:rPr>
              <a:t>North America · Europe · Asia · Oceania · Others</a:t>
            </a:r>
            <a:endParaRPr lang="en-US" sz="850" dirty="0"/>
          </a:p>
        </p:txBody>
      </p:sp>
      <p:sp>
        <p:nvSpPr>
          <p:cNvPr id="76" name="Shape 74"/>
          <p:cNvSpPr/>
          <p:nvPr/>
        </p:nvSpPr>
        <p:spPr>
          <a:xfrm>
            <a:off x="7132320" y="3154680"/>
            <a:ext cx="109728" cy="411480"/>
          </a:xfrm>
          <a:prstGeom prst="roundRect">
            <a:avLst>
              <a:gd name="adj" fmla="val 16667"/>
            </a:avLst>
          </a:prstGeom>
          <a:solidFill>
            <a:srgbClr val="7C6FF7">
              <a:alpha val="65000"/>
            </a:srgbClr>
          </a:solidFill>
          <a:ln/>
        </p:spPr>
      </p:sp>
      <p:sp>
        <p:nvSpPr>
          <p:cNvPr id="77" name="Shape 75"/>
          <p:cNvSpPr/>
          <p:nvPr/>
        </p:nvSpPr>
        <p:spPr>
          <a:xfrm>
            <a:off x="7296912" y="2926080"/>
            <a:ext cx="109728" cy="640080"/>
          </a:xfrm>
          <a:prstGeom prst="roundRect">
            <a:avLst>
              <a:gd name="adj" fmla="val 16667"/>
            </a:avLst>
          </a:prstGeom>
          <a:solidFill>
            <a:srgbClr val="22D3EE">
              <a:alpha val="65000"/>
            </a:srgbClr>
          </a:solidFill>
          <a:ln/>
        </p:spPr>
      </p:sp>
      <p:sp>
        <p:nvSpPr>
          <p:cNvPr id="78" name="Shape 76"/>
          <p:cNvSpPr/>
          <p:nvPr/>
        </p:nvSpPr>
        <p:spPr>
          <a:xfrm>
            <a:off x="7461504" y="3063240"/>
            <a:ext cx="109728" cy="502920"/>
          </a:xfrm>
          <a:prstGeom prst="roundRect">
            <a:avLst>
              <a:gd name="adj" fmla="val 16667"/>
            </a:avLst>
          </a:prstGeom>
          <a:solidFill>
            <a:srgbClr val="7C6FF7">
              <a:alpha val="65000"/>
            </a:srgbClr>
          </a:solidFill>
          <a:ln/>
        </p:spPr>
      </p:sp>
      <p:sp>
        <p:nvSpPr>
          <p:cNvPr id="79" name="Shape 77"/>
          <p:cNvSpPr/>
          <p:nvPr/>
        </p:nvSpPr>
        <p:spPr>
          <a:xfrm>
            <a:off x="7626096" y="3246120"/>
            <a:ext cx="109728" cy="320040"/>
          </a:xfrm>
          <a:prstGeom prst="roundRect">
            <a:avLst>
              <a:gd name="adj" fmla="val 16667"/>
            </a:avLst>
          </a:prstGeom>
          <a:solidFill>
            <a:srgbClr val="22D3EE">
              <a:alpha val="65000"/>
            </a:srgbClr>
          </a:solidFill>
          <a:ln/>
        </p:spPr>
      </p:sp>
      <p:sp>
        <p:nvSpPr>
          <p:cNvPr id="80" name="Shape 78"/>
          <p:cNvSpPr/>
          <p:nvPr/>
        </p:nvSpPr>
        <p:spPr>
          <a:xfrm>
            <a:off x="7790688" y="3017520"/>
            <a:ext cx="109728" cy="548640"/>
          </a:xfrm>
          <a:prstGeom prst="roundRect">
            <a:avLst>
              <a:gd name="adj" fmla="val 16667"/>
            </a:avLst>
          </a:prstGeom>
          <a:solidFill>
            <a:srgbClr val="7C6FF7">
              <a:alpha val="65000"/>
            </a:srgbClr>
          </a:solidFill>
          <a:ln/>
        </p:spPr>
      </p:sp>
      <p:sp>
        <p:nvSpPr>
          <p:cNvPr id="81" name="Shape 79"/>
          <p:cNvSpPr/>
          <p:nvPr/>
        </p:nvSpPr>
        <p:spPr>
          <a:xfrm>
            <a:off x="7955280" y="3108960"/>
            <a:ext cx="109728" cy="457200"/>
          </a:xfrm>
          <a:prstGeom prst="roundRect">
            <a:avLst>
              <a:gd name="adj" fmla="val 16667"/>
            </a:avLst>
          </a:prstGeom>
          <a:solidFill>
            <a:srgbClr val="22D3EE">
              <a:alpha val="65000"/>
            </a:srgbClr>
          </a:solidFill>
          <a:ln/>
        </p:spPr>
      </p:sp>
      <p:sp>
        <p:nvSpPr>
          <p:cNvPr id="82" name="Shape 80"/>
          <p:cNvSpPr/>
          <p:nvPr/>
        </p:nvSpPr>
        <p:spPr>
          <a:xfrm>
            <a:off x="8119872" y="3200400"/>
            <a:ext cx="109728" cy="365760"/>
          </a:xfrm>
          <a:prstGeom prst="roundRect">
            <a:avLst>
              <a:gd name="adj" fmla="val 16667"/>
            </a:avLst>
          </a:prstGeom>
          <a:solidFill>
            <a:srgbClr val="7C6FF7">
              <a:alpha val="65000"/>
            </a:srgbClr>
          </a:solidFill>
          <a:ln/>
        </p:spPr>
      </p:sp>
      <p:sp>
        <p:nvSpPr>
          <p:cNvPr id="83" name="Shape 81"/>
          <p:cNvSpPr/>
          <p:nvPr/>
        </p:nvSpPr>
        <p:spPr>
          <a:xfrm>
            <a:off x="8284464" y="2971800"/>
            <a:ext cx="109728" cy="594360"/>
          </a:xfrm>
          <a:prstGeom prst="roundRect">
            <a:avLst>
              <a:gd name="adj" fmla="val 16667"/>
            </a:avLst>
          </a:prstGeom>
          <a:solidFill>
            <a:srgbClr val="22D3EE">
              <a:alpha val="65000"/>
            </a:srgbClr>
          </a:solidFill>
          <a:ln/>
        </p:spPr>
      </p:sp>
      <p:sp>
        <p:nvSpPr>
          <p:cNvPr id="84" name="Shape 82"/>
          <p:cNvSpPr/>
          <p:nvPr/>
        </p:nvSpPr>
        <p:spPr>
          <a:xfrm>
            <a:off x="9372600" y="2103120"/>
            <a:ext cx="2377440" cy="1691640"/>
          </a:xfrm>
          <a:prstGeom prst="roundRect">
            <a:avLst>
              <a:gd name="adj" fmla="val 4324"/>
            </a:avLst>
          </a:prstGeom>
          <a:solidFill>
            <a:srgbClr val="131728"/>
          </a:solidFill>
          <a:ln w="12700">
            <a:solidFill>
              <a:srgbClr val="232A44"/>
            </a:solidFill>
            <a:prstDash val="solid"/>
          </a:ln>
        </p:spPr>
      </p:sp>
      <p:sp>
        <p:nvSpPr>
          <p:cNvPr id="85" name="Text 83"/>
          <p:cNvSpPr txBox="1"/>
          <p:nvPr/>
        </p:nvSpPr>
        <p:spPr>
          <a:xfrm>
            <a:off x="9509760" y="2212848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7C6FF7"/>
                </a:solidFill>
              </a:rPr>
              <a:t>LINE</a:t>
            </a:r>
            <a:endParaRPr lang="en-US" sz="700" dirty="0"/>
          </a:p>
        </p:txBody>
      </p:sp>
      <p:sp>
        <p:nvSpPr>
          <p:cNvPr id="86" name="Text 84"/>
          <p:cNvSpPr txBox="1"/>
          <p:nvPr/>
        </p:nvSpPr>
        <p:spPr>
          <a:xfrm>
            <a:off x="9509760" y="2414016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Ranking Trend</a:t>
            </a:r>
            <a:endParaRPr lang="en-US" sz="1000" dirty="0"/>
          </a:p>
        </p:txBody>
      </p:sp>
      <p:sp>
        <p:nvSpPr>
          <p:cNvPr id="87" name="Text 85"/>
          <p:cNvSpPr txBox="1"/>
          <p:nvPr/>
        </p:nvSpPr>
        <p:spPr>
          <a:xfrm>
            <a:off x="9509760" y="2688336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90AC"/>
                </a:solidFill>
              </a:rPr>
              <a:t>Select up to 5 universities · score across years</a:t>
            </a:r>
            <a:endParaRPr lang="en-US" sz="850" dirty="0"/>
          </a:p>
        </p:txBody>
      </p:sp>
      <p:sp>
        <p:nvSpPr>
          <p:cNvPr id="88" name="Shape 86"/>
          <p:cNvSpPr/>
          <p:nvPr/>
        </p:nvSpPr>
        <p:spPr>
          <a:xfrm>
            <a:off x="9555480" y="3154680"/>
            <a:ext cx="109728" cy="411480"/>
          </a:xfrm>
          <a:prstGeom prst="roundRect">
            <a:avLst>
              <a:gd name="adj" fmla="val 16667"/>
            </a:avLst>
          </a:prstGeom>
          <a:solidFill>
            <a:srgbClr val="7C6FF7">
              <a:alpha val="65000"/>
            </a:srgbClr>
          </a:solidFill>
          <a:ln/>
        </p:spPr>
      </p:sp>
      <p:sp>
        <p:nvSpPr>
          <p:cNvPr id="89" name="Shape 87"/>
          <p:cNvSpPr/>
          <p:nvPr/>
        </p:nvSpPr>
        <p:spPr>
          <a:xfrm>
            <a:off x="9720072" y="2926080"/>
            <a:ext cx="109728" cy="640080"/>
          </a:xfrm>
          <a:prstGeom prst="roundRect">
            <a:avLst>
              <a:gd name="adj" fmla="val 16667"/>
            </a:avLst>
          </a:prstGeom>
          <a:solidFill>
            <a:srgbClr val="22D3EE">
              <a:alpha val="65000"/>
            </a:srgbClr>
          </a:solidFill>
          <a:ln/>
        </p:spPr>
      </p:sp>
      <p:sp>
        <p:nvSpPr>
          <p:cNvPr id="90" name="Shape 88"/>
          <p:cNvSpPr/>
          <p:nvPr/>
        </p:nvSpPr>
        <p:spPr>
          <a:xfrm>
            <a:off x="9884664" y="3063240"/>
            <a:ext cx="109728" cy="502920"/>
          </a:xfrm>
          <a:prstGeom prst="roundRect">
            <a:avLst>
              <a:gd name="adj" fmla="val 16667"/>
            </a:avLst>
          </a:prstGeom>
          <a:solidFill>
            <a:srgbClr val="7C6FF7">
              <a:alpha val="65000"/>
            </a:srgbClr>
          </a:solidFill>
          <a:ln/>
        </p:spPr>
      </p:sp>
      <p:sp>
        <p:nvSpPr>
          <p:cNvPr id="91" name="Shape 89"/>
          <p:cNvSpPr/>
          <p:nvPr/>
        </p:nvSpPr>
        <p:spPr>
          <a:xfrm>
            <a:off x="10049256" y="3246120"/>
            <a:ext cx="109728" cy="320040"/>
          </a:xfrm>
          <a:prstGeom prst="roundRect">
            <a:avLst>
              <a:gd name="adj" fmla="val 16667"/>
            </a:avLst>
          </a:prstGeom>
          <a:solidFill>
            <a:srgbClr val="22D3EE">
              <a:alpha val="65000"/>
            </a:srgbClr>
          </a:solidFill>
          <a:ln/>
        </p:spPr>
      </p:sp>
      <p:sp>
        <p:nvSpPr>
          <p:cNvPr id="92" name="Shape 90"/>
          <p:cNvSpPr/>
          <p:nvPr/>
        </p:nvSpPr>
        <p:spPr>
          <a:xfrm>
            <a:off x="10213848" y="3017520"/>
            <a:ext cx="109728" cy="548640"/>
          </a:xfrm>
          <a:prstGeom prst="roundRect">
            <a:avLst>
              <a:gd name="adj" fmla="val 16667"/>
            </a:avLst>
          </a:prstGeom>
          <a:solidFill>
            <a:srgbClr val="7C6FF7">
              <a:alpha val="65000"/>
            </a:srgbClr>
          </a:solidFill>
          <a:ln/>
        </p:spPr>
      </p:sp>
      <p:sp>
        <p:nvSpPr>
          <p:cNvPr id="93" name="Shape 91"/>
          <p:cNvSpPr/>
          <p:nvPr/>
        </p:nvSpPr>
        <p:spPr>
          <a:xfrm>
            <a:off x="10378440" y="3108960"/>
            <a:ext cx="109728" cy="457200"/>
          </a:xfrm>
          <a:prstGeom prst="roundRect">
            <a:avLst>
              <a:gd name="adj" fmla="val 16667"/>
            </a:avLst>
          </a:prstGeom>
          <a:solidFill>
            <a:srgbClr val="22D3EE">
              <a:alpha val="65000"/>
            </a:srgbClr>
          </a:solidFill>
          <a:ln/>
        </p:spPr>
      </p:sp>
      <p:sp>
        <p:nvSpPr>
          <p:cNvPr id="94" name="Shape 92"/>
          <p:cNvSpPr/>
          <p:nvPr/>
        </p:nvSpPr>
        <p:spPr>
          <a:xfrm>
            <a:off x="10543032" y="3200400"/>
            <a:ext cx="109728" cy="365760"/>
          </a:xfrm>
          <a:prstGeom prst="roundRect">
            <a:avLst>
              <a:gd name="adj" fmla="val 16667"/>
            </a:avLst>
          </a:prstGeom>
          <a:solidFill>
            <a:srgbClr val="7C6FF7">
              <a:alpha val="65000"/>
            </a:srgbClr>
          </a:solidFill>
          <a:ln/>
        </p:spPr>
      </p:sp>
      <p:sp>
        <p:nvSpPr>
          <p:cNvPr id="95" name="Shape 93"/>
          <p:cNvSpPr/>
          <p:nvPr/>
        </p:nvSpPr>
        <p:spPr>
          <a:xfrm>
            <a:off x="10707624" y="2971800"/>
            <a:ext cx="109728" cy="594360"/>
          </a:xfrm>
          <a:prstGeom prst="roundRect">
            <a:avLst>
              <a:gd name="adj" fmla="val 16667"/>
            </a:avLst>
          </a:prstGeom>
          <a:solidFill>
            <a:srgbClr val="22D3EE">
              <a:alpha val="65000"/>
            </a:srgbClr>
          </a:solidFill>
          <a:ln/>
        </p:spPr>
      </p:sp>
      <p:sp>
        <p:nvSpPr>
          <p:cNvPr id="96" name="Shape 94"/>
          <p:cNvSpPr/>
          <p:nvPr/>
        </p:nvSpPr>
        <p:spPr>
          <a:xfrm>
            <a:off x="2057400" y="3950208"/>
            <a:ext cx="3108960" cy="1874520"/>
          </a:xfrm>
          <a:prstGeom prst="roundRect">
            <a:avLst>
              <a:gd name="adj" fmla="val 3902"/>
            </a:avLst>
          </a:prstGeom>
          <a:solidFill>
            <a:srgbClr val="131728"/>
          </a:solidFill>
          <a:ln w="12700">
            <a:solidFill>
              <a:srgbClr val="232A44"/>
            </a:solidFill>
            <a:prstDash val="solid"/>
          </a:ln>
        </p:spPr>
      </p:sp>
      <p:sp>
        <p:nvSpPr>
          <p:cNvPr id="97" name="Text 95"/>
          <p:cNvSpPr txBox="1"/>
          <p:nvPr/>
        </p:nvSpPr>
        <p:spPr>
          <a:xfrm>
            <a:off x="2194560" y="4059936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7C6FF7"/>
                </a:solidFill>
              </a:rPr>
              <a:t>BAR CHART</a:t>
            </a:r>
            <a:endParaRPr lang="en-US" sz="700" dirty="0"/>
          </a:p>
        </p:txBody>
      </p:sp>
      <p:sp>
        <p:nvSpPr>
          <p:cNvPr id="98" name="Text 96"/>
          <p:cNvSpPr txBox="1"/>
          <p:nvPr/>
        </p:nvSpPr>
        <p:spPr>
          <a:xfrm>
            <a:off x="2194560" y="4261104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Academic Reputation</a:t>
            </a:r>
            <a:endParaRPr lang="en-US" sz="1000" dirty="0"/>
          </a:p>
        </p:txBody>
      </p:sp>
      <p:sp>
        <p:nvSpPr>
          <p:cNvPr id="99" name="Text 97"/>
          <p:cNvSpPr txBox="1"/>
          <p:nvPr/>
        </p:nvSpPr>
        <p:spPr>
          <a:xfrm>
            <a:off x="2194560" y="4535424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90AC"/>
                </a:solidFill>
              </a:rPr>
              <a:t>Top 10 by reputation score · colored by region</a:t>
            </a:r>
            <a:endParaRPr lang="en-US" sz="850" dirty="0"/>
          </a:p>
        </p:txBody>
      </p:sp>
      <p:sp>
        <p:nvSpPr>
          <p:cNvPr id="100" name="Shape 98"/>
          <p:cNvSpPr/>
          <p:nvPr/>
        </p:nvSpPr>
        <p:spPr>
          <a:xfrm>
            <a:off x="2240280" y="5184648"/>
            <a:ext cx="109728" cy="411480"/>
          </a:xfrm>
          <a:prstGeom prst="roundRect">
            <a:avLst>
              <a:gd name="adj" fmla="val 16667"/>
            </a:avLst>
          </a:prstGeom>
          <a:solidFill>
            <a:srgbClr val="7C6FF7">
              <a:alpha val="65000"/>
            </a:srgbClr>
          </a:solidFill>
          <a:ln/>
        </p:spPr>
      </p:sp>
      <p:sp>
        <p:nvSpPr>
          <p:cNvPr id="101" name="Shape 99"/>
          <p:cNvSpPr/>
          <p:nvPr/>
        </p:nvSpPr>
        <p:spPr>
          <a:xfrm>
            <a:off x="2404872" y="4956048"/>
            <a:ext cx="109728" cy="640080"/>
          </a:xfrm>
          <a:prstGeom prst="roundRect">
            <a:avLst>
              <a:gd name="adj" fmla="val 16667"/>
            </a:avLst>
          </a:prstGeom>
          <a:solidFill>
            <a:srgbClr val="22D3EE">
              <a:alpha val="65000"/>
            </a:srgbClr>
          </a:solidFill>
          <a:ln/>
        </p:spPr>
      </p:sp>
      <p:sp>
        <p:nvSpPr>
          <p:cNvPr id="102" name="Shape 100"/>
          <p:cNvSpPr/>
          <p:nvPr/>
        </p:nvSpPr>
        <p:spPr>
          <a:xfrm>
            <a:off x="2569464" y="5093208"/>
            <a:ext cx="109728" cy="502920"/>
          </a:xfrm>
          <a:prstGeom prst="roundRect">
            <a:avLst>
              <a:gd name="adj" fmla="val 16667"/>
            </a:avLst>
          </a:prstGeom>
          <a:solidFill>
            <a:srgbClr val="7C6FF7">
              <a:alpha val="65000"/>
            </a:srgbClr>
          </a:solidFill>
          <a:ln/>
        </p:spPr>
      </p:sp>
      <p:sp>
        <p:nvSpPr>
          <p:cNvPr id="103" name="Shape 101"/>
          <p:cNvSpPr/>
          <p:nvPr/>
        </p:nvSpPr>
        <p:spPr>
          <a:xfrm>
            <a:off x="2734056" y="5276088"/>
            <a:ext cx="109728" cy="320040"/>
          </a:xfrm>
          <a:prstGeom prst="roundRect">
            <a:avLst>
              <a:gd name="adj" fmla="val 16667"/>
            </a:avLst>
          </a:prstGeom>
          <a:solidFill>
            <a:srgbClr val="22D3EE">
              <a:alpha val="65000"/>
            </a:srgbClr>
          </a:solidFill>
          <a:ln/>
        </p:spPr>
      </p:sp>
      <p:sp>
        <p:nvSpPr>
          <p:cNvPr id="104" name="Shape 102"/>
          <p:cNvSpPr/>
          <p:nvPr/>
        </p:nvSpPr>
        <p:spPr>
          <a:xfrm>
            <a:off x="2898648" y="5047488"/>
            <a:ext cx="109728" cy="548640"/>
          </a:xfrm>
          <a:prstGeom prst="roundRect">
            <a:avLst>
              <a:gd name="adj" fmla="val 16667"/>
            </a:avLst>
          </a:prstGeom>
          <a:solidFill>
            <a:srgbClr val="7C6FF7">
              <a:alpha val="65000"/>
            </a:srgbClr>
          </a:solidFill>
          <a:ln/>
        </p:spPr>
      </p:sp>
      <p:sp>
        <p:nvSpPr>
          <p:cNvPr id="105" name="Shape 103"/>
          <p:cNvSpPr/>
          <p:nvPr/>
        </p:nvSpPr>
        <p:spPr>
          <a:xfrm>
            <a:off x="3063240" y="5138928"/>
            <a:ext cx="109728" cy="457200"/>
          </a:xfrm>
          <a:prstGeom prst="roundRect">
            <a:avLst>
              <a:gd name="adj" fmla="val 16667"/>
            </a:avLst>
          </a:prstGeom>
          <a:solidFill>
            <a:srgbClr val="22D3EE">
              <a:alpha val="65000"/>
            </a:srgbClr>
          </a:solidFill>
          <a:ln/>
        </p:spPr>
      </p:sp>
      <p:sp>
        <p:nvSpPr>
          <p:cNvPr id="106" name="Shape 104"/>
          <p:cNvSpPr/>
          <p:nvPr/>
        </p:nvSpPr>
        <p:spPr>
          <a:xfrm>
            <a:off x="3227832" y="5230368"/>
            <a:ext cx="109728" cy="365760"/>
          </a:xfrm>
          <a:prstGeom prst="roundRect">
            <a:avLst>
              <a:gd name="adj" fmla="val 16667"/>
            </a:avLst>
          </a:prstGeom>
          <a:solidFill>
            <a:srgbClr val="7C6FF7">
              <a:alpha val="65000"/>
            </a:srgbClr>
          </a:solidFill>
          <a:ln/>
        </p:spPr>
      </p:sp>
      <p:sp>
        <p:nvSpPr>
          <p:cNvPr id="107" name="Shape 105"/>
          <p:cNvSpPr/>
          <p:nvPr/>
        </p:nvSpPr>
        <p:spPr>
          <a:xfrm>
            <a:off x="3392424" y="5001768"/>
            <a:ext cx="109728" cy="594360"/>
          </a:xfrm>
          <a:prstGeom prst="roundRect">
            <a:avLst>
              <a:gd name="adj" fmla="val 16667"/>
            </a:avLst>
          </a:prstGeom>
          <a:solidFill>
            <a:srgbClr val="22D3EE">
              <a:alpha val="65000"/>
            </a:srgbClr>
          </a:solidFill>
          <a:ln/>
        </p:spPr>
      </p:sp>
      <p:sp>
        <p:nvSpPr>
          <p:cNvPr id="108" name="Shape 106"/>
          <p:cNvSpPr/>
          <p:nvPr/>
        </p:nvSpPr>
        <p:spPr>
          <a:xfrm>
            <a:off x="5303520" y="3950208"/>
            <a:ext cx="4617720" cy="1874520"/>
          </a:xfrm>
          <a:prstGeom prst="roundRect">
            <a:avLst>
              <a:gd name="adj" fmla="val 3902"/>
            </a:avLst>
          </a:prstGeom>
          <a:solidFill>
            <a:srgbClr val="131728"/>
          </a:solidFill>
          <a:ln w="12700">
            <a:solidFill>
              <a:srgbClr val="232A44"/>
            </a:solidFill>
            <a:prstDash val="solid"/>
          </a:ln>
        </p:spPr>
      </p:sp>
      <p:sp>
        <p:nvSpPr>
          <p:cNvPr id="109" name="Text 107"/>
          <p:cNvSpPr txBox="1"/>
          <p:nvPr/>
        </p:nvSpPr>
        <p:spPr>
          <a:xfrm>
            <a:off x="5440680" y="4059936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7C6FF7"/>
                </a:solidFill>
              </a:rPr>
              <a:t>SCATTER</a:t>
            </a:r>
            <a:endParaRPr lang="en-US" sz="700" dirty="0"/>
          </a:p>
        </p:txBody>
      </p:sp>
      <p:sp>
        <p:nvSpPr>
          <p:cNvPr id="110" name="Text 108"/>
          <p:cNvSpPr txBox="1"/>
          <p:nvPr/>
        </p:nvSpPr>
        <p:spPr>
          <a:xfrm>
            <a:off x="5440680" y="4261104"/>
            <a:ext cx="4343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University Performance</a:t>
            </a:r>
            <a:endParaRPr lang="en-US" sz="1000" dirty="0"/>
          </a:p>
        </p:txBody>
      </p:sp>
      <p:sp>
        <p:nvSpPr>
          <p:cNvPr id="111" name="Text 109"/>
          <p:cNvSpPr txBox="1"/>
          <p:nvPr/>
        </p:nvSpPr>
        <p:spPr>
          <a:xfrm>
            <a:off x="5440680" y="4535424"/>
            <a:ext cx="4343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90AC"/>
                </a:solidFill>
              </a:rPr>
              <a:t>x = Reputation · y = Research Impact · size = Students · color = Region</a:t>
            </a:r>
            <a:endParaRPr lang="en-US" sz="850" dirty="0"/>
          </a:p>
        </p:txBody>
      </p:sp>
      <p:sp>
        <p:nvSpPr>
          <p:cNvPr id="112" name="Shape 110"/>
          <p:cNvSpPr/>
          <p:nvPr/>
        </p:nvSpPr>
        <p:spPr>
          <a:xfrm>
            <a:off x="5486400" y="5184648"/>
            <a:ext cx="109728" cy="411480"/>
          </a:xfrm>
          <a:prstGeom prst="roundRect">
            <a:avLst>
              <a:gd name="adj" fmla="val 16667"/>
            </a:avLst>
          </a:prstGeom>
          <a:solidFill>
            <a:srgbClr val="7C6FF7">
              <a:alpha val="65000"/>
            </a:srgbClr>
          </a:solidFill>
          <a:ln/>
        </p:spPr>
      </p:sp>
      <p:sp>
        <p:nvSpPr>
          <p:cNvPr id="113" name="Shape 111"/>
          <p:cNvSpPr/>
          <p:nvPr/>
        </p:nvSpPr>
        <p:spPr>
          <a:xfrm>
            <a:off x="5650992" y="4956048"/>
            <a:ext cx="109728" cy="640080"/>
          </a:xfrm>
          <a:prstGeom prst="roundRect">
            <a:avLst>
              <a:gd name="adj" fmla="val 16667"/>
            </a:avLst>
          </a:prstGeom>
          <a:solidFill>
            <a:srgbClr val="22D3EE">
              <a:alpha val="65000"/>
            </a:srgbClr>
          </a:solidFill>
          <a:ln/>
        </p:spPr>
      </p:sp>
      <p:sp>
        <p:nvSpPr>
          <p:cNvPr id="114" name="Shape 112"/>
          <p:cNvSpPr/>
          <p:nvPr/>
        </p:nvSpPr>
        <p:spPr>
          <a:xfrm>
            <a:off x="5815584" y="5093208"/>
            <a:ext cx="109728" cy="502920"/>
          </a:xfrm>
          <a:prstGeom prst="roundRect">
            <a:avLst>
              <a:gd name="adj" fmla="val 16667"/>
            </a:avLst>
          </a:prstGeom>
          <a:solidFill>
            <a:srgbClr val="7C6FF7">
              <a:alpha val="65000"/>
            </a:srgbClr>
          </a:solidFill>
          <a:ln/>
        </p:spPr>
      </p:sp>
      <p:sp>
        <p:nvSpPr>
          <p:cNvPr id="115" name="Shape 113"/>
          <p:cNvSpPr/>
          <p:nvPr/>
        </p:nvSpPr>
        <p:spPr>
          <a:xfrm>
            <a:off x="5980176" y="5276088"/>
            <a:ext cx="109728" cy="320040"/>
          </a:xfrm>
          <a:prstGeom prst="roundRect">
            <a:avLst>
              <a:gd name="adj" fmla="val 16667"/>
            </a:avLst>
          </a:prstGeom>
          <a:solidFill>
            <a:srgbClr val="22D3EE">
              <a:alpha val="65000"/>
            </a:srgbClr>
          </a:solidFill>
          <a:ln/>
        </p:spPr>
      </p:sp>
      <p:sp>
        <p:nvSpPr>
          <p:cNvPr id="116" name="Shape 114"/>
          <p:cNvSpPr/>
          <p:nvPr/>
        </p:nvSpPr>
        <p:spPr>
          <a:xfrm>
            <a:off x="6144768" y="5047488"/>
            <a:ext cx="109728" cy="548640"/>
          </a:xfrm>
          <a:prstGeom prst="roundRect">
            <a:avLst>
              <a:gd name="adj" fmla="val 16667"/>
            </a:avLst>
          </a:prstGeom>
          <a:solidFill>
            <a:srgbClr val="7C6FF7">
              <a:alpha val="65000"/>
            </a:srgbClr>
          </a:solidFill>
          <a:ln/>
        </p:spPr>
      </p:sp>
      <p:sp>
        <p:nvSpPr>
          <p:cNvPr id="117" name="Shape 115"/>
          <p:cNvSpPr/>
          <p:nvPr/>
        </p:nvSpPr>
        <p:spPr>
          <a:xfrm>
            <a:off x="6309360" y="5138928"/>
            <a:ext cx="109728" cy="457200"/>
          </a:xfrm>
          <a:prstGeom prst="roundRect">
            <a:avLst>
              <a:gd name="adj" fmla="val 16667"/>
            </a:avLst>
          </a:prstGeom>
          <a:solidFill>
            <a:srgbClr val="22D3EE">
              <a:alpha val="65000"/>
            </a:srgbClr>
          </a:solidFill>
          <a:ln/>
        </p:spPr>
      </p:sp>
      <p:sp>
        <p:nvSpPr>
          <p:cNvPr id="118" name="Shape 116"/>
          <p:cNvSpPr/>
          <p:nvPr/>
        </p:nvSpPr>
        <p:spPr>
          <a:xfrm>
            <a:off x="6473952" y="5230368"/>
            <a:ext cx="109728" cy="365760"/>
          </a:xfrm>
          <a:prstGeom prst="roundRect">
            <a:avLst>
              <a:gd name="adj" fmla="val 16667"/>
            </a:avLst>
          </a:prstGeom>
          <a:solidFill>
            <a:srgbClr val="7C6FF7">
              <a:alpha val="65000"/>
            </a:srgbClr>
          </a:solidFill>
          <a:ln/>
        </p:spPr>
      </p:sp>
      <p:sp>
        <p:nvSpPr>
          <p:cNvPr id="119" name="Shape 117"/>
          <p:cNvSpPr/>
          <p:nvPr/>
        </p:nvSpPr>
        <p:spPr>
          <a:xfrm>
            <a:off x="6638544" y="5001768"/>
            <a:ext cx="109728" cy="594360"/>
          </a:xfrm>
          <a:prstGeom prst="roundRect">
            <a:avLst>
              <a:gd name="adj" fmla="val 16667"/>
            </a:avLst>
          </a:prstGeom>
          <a:solidFill>
            <a:srgbClr val="22D3EE">
              <a:alpha val="65000"/>
            </a:srgbClr>
          </a:solidFill>
          <a:ln/>
        </p:spPr>
      </p:sp>
      <p:sp>
        <p:nvSpPr>
          <p:cNvPr id="120" name="Text 118"/>
          <p:cNvSpPr txBox="1"/>
          <p:nvPr/>
        </p:nvSpPr>
        <p:spPr>
          <a:xfrm>
            <a:off x="2057400" y="6016752"/>
            <a:ext cx="9692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A5170"/>
                </a:solidFill>
              </a:rPr>
              <a:t>Fields used:  university_name  ·  country  ·  region  ·  year  ·  global_ranking_score  ·  academic_reputation_score  ·  research_impact_score  ·  international_student_pct  ·  faculty_student_ratio</a:t>
            </a:r>
            <a:endParaRPr lang="en-US" sz="750" dirty="0"/>
          </a:p>
        </p:txBody>
      </p:sp>
      <p:sp>
        <p:nvSpPr>
          <p:cNvPr id="121" name="Text 119"/>
          <p:cNvSpPr txBox="1"/>
          <p:nvPr/>
        </p:nvSpPr>
        <p:spPr>
          <a:xfrm>
            <a:off x="457200" y="660196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A5170"/>
                </a:solidFill>
              </a:rPr>
              <a:t>EduVision_DV  ·  Dashboard 1 — University Overview</a:t>
            </a:r>
            <a:endParaRPr lang="en-US" sz="800" dirty="0"/>
          </a:p>
        </p:txBody>
      </p:sp>
      <p:sp>
        <p:nvSpPr>
          <p:cNvPr id="122" name="Text 120"/>
          <p:cNvSpPr txBox="1"/>
          <p:nvPr/>
        </p:nvSpPr>
        <p:spPr>
          <a:xfrm>
            <a:off x="10881360" y="658368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4A5170"/>
                </a:solidFill>
              </a:rPr>
              <a:t>2 / 9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0D16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137160"/>
            <a:ext cx="1554480" cy="256032"/>
          </a:xfrm>
          <a:prstGeom prst="roundRect">
            <a:avLst>
              <a:gd name="adj" fmla="val 17857"/>
            </a:avLst>
          </a:prstGeom>
          <a:solidFill>
            <a:srgbClr val="22D3EE">
              <a:alpha val="20000"/>
            </a:srgbClr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3716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22D3EE"/>
                </a:solidFill>
              </a:rPr>
              <a:t>DASHBOARD 02</a:t>
            </a:r>
            <a:endParaRPr lang="en-US" sz="750" dirty="0"/>
          </a:p>
        </p:txBody>
      </p:sp>
      <p:sp>
        <p:nvSpPr>
          <p:cNvPr id="5" name="Text 3"/>
          <p:cNvSpPr txBox="1"/>
          <p:nvPr/>
        </p:nvSpPr>
        <p:spPr>
          <a:xfrm>
            <a:off x="2149378" y="54864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Research Analytics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576072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90AC"/>
                </a:solidFill>
              </a:rPr>
              <a:t>Publication volume · citation impact · productivity trends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932688"/>
            <a:ext cx="1481328" cy="5394960"/>
          </a:xfrm>
          <a:prstGeom prst="roundRect">
            <a:avLst>
              <a:gd name="adj" fmla="val 4938"/>
            </a:avLst>
          </a:prstGeom>
          <a:solidFill>
            <a:srgbClr val="131728"/>
          </a:solidFill>
          <a:ln w="12700">
            <a:solidFill>
              <a:srgbClr val="232A4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1024128"/>
            <a:ext cx="1298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22D3EE"/>
                </a:solidFill>
              </a:rPr>
              <a:t>FILTERS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566928" y="1298448"/>
            <a:ext cx="1078992" cy="228600"/>
          </a:xfrm>
          <a:prstGeom prst="roundRect">
            <a:avLst>
              <a:gd name="adj" fmla="val 20000"/>
            </a:avLst>
          </a:prstGeom>
          <a:solidFill>
            <a:srgbClr val="1A2036"/>
          </a:solidFill>
          <a:ln w="12700">
            <a:solidFill>
              <a:srgbClr val="232A4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66928" y="1298448"/>
            <a:ext cx="10789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A90AC"/>
                </a:solidFill>
              </a:rPr>
              <a:t>Year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566928" y="1682496"/>
            <a:ext cx="1078992" cy="228600"/>
          </a:xfrm>
          <a:prstGeom prst="roundRect">
            <a:avLst>
              <a:gd name="adj" fmla="val 20000"/>
            </a:avLst>
          </a:prstGeom>
          <a:solidFill>
            <a:srgbClr val="1A2036"/>
          </a:solidFill>
          <a:ln w="12700">
            <a:solidFill>
              <a:srgbClr val="232A4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66928" y="1682496"/>
            <a:ext cx="10789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A90AC"/>
                </a:solidFill>
              </a:rPr>
              <a:t>Region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566928" y="2066544"/>
            <a:ext cx="1078992" cy="228600"/>
          </a:xfrm>
          <a:prstGeom prst="roundRect">
            <a:avLst>
              <a:gd name="adj" fmla="val 20000"/>
            </a:avLst>
          </a:prstGeom>
          <a:solidFill>
            <a:srgbClr val="1A2036"/>
          </a:solidFill>
          <a:ln w="12700">
            <a:solidFill>
              <a:srgbClr val="232A4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66928" y="2066544"/>
            <a:ext cx="10789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A90AC"/>
                </a:solidFill>
              </a:rPr>
              <a:t>Country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566928" y="2450592"/>
            <a:ext cx="1078992" cy="228600"/>
          </a:xfrm>
          <a:prstGeom prst="roundRect">
            <a:avLst>
              <a:gd name="adj" fmla="val 20000"/>
            </a:avLst>
          </a:prstGeom>
          <a:solidFill>
            <a:srgbClr val="1A2036"/>
          </a:solidFill>
          <a:ln w="12700">
            <a:solidFill>
              <a:srgbClr val="232A4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66928" y="2450592"/>
            <a:ext cx="10789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A90AC"/>
                </a:solidFill>
              </a:rPr>
              <a:t>University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2057400" y="932688"/>
            <a:ext cx="1572768" cy="1005840"/>
          </a:xfrm>
          <a:prstGeom prst="roundRect">
            <a:avLst>
              <a:gd name="adj" fmla="val 7273"/>
            </a:avLst>
          </a:prstGeom>
          <a:solidFill>
            <a:srgbClr val="131728"/>
          </a:solidFill>
          <a:ln w="12700">
            <a:solidFill>
              <a:srgbClr val="232A4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194560" y="1060704"/>
            <a:ext cx="109728" cy="109728"/>
          </a:xfrm>
          <a:prstGeom prst="ellipse">
            <a:avLst/>
          </a:prstGeom>
          <a:solidFill>
            <a:srgbClr val="7C6FF7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2450592" y="1014984"/>
            <a:ext cx="13898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8A90AC"/>
                </a:solidFill>
              </a:rPr>
              <a:t>TOTAL PUBLICATIONS</a:t>
            </a:r>
            <a:endParaRPr lang="en-US" sz="700" dirty="0"/>
          </a:p>
        </p:txBody>
      </p:sp>
      <p:sp>
        <p:nvSpPr>
          <p:cNvPr id="20" name="Text 18"/>
          <p:cNvSpPr txBox="1"/>
          <p:nvPr/>
        </p:nvSpPr>
        <p:spPr>
          <a:xfrm>
            <a:off x="2148840" y="1225296"/>
            <a:ext cx="13898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1.4M</a:t>
            </a:r>
            <a:endParaRPr lang="en-US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2148840" y="1645920"/>
            <a:ext cx="13898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7C6FF7"/>
                </a:solidFill>
              </a:rPr>
              <a:t>ARWU + CWUR</a:t>
            </a:r>
            <a:endParaRPr lang="en-US" sz="700" dirty="0"/>
          </a:p>
        </p:txBody>
      </p:sp>
      <p:sp>
        <p:nvSpPr>
          <p:cNvPr id="22" name="Shape 20"/>
          <p:cNvSpPr/>
          <p:nvPr/>
        </p:nvSpPr>
        <p:spPr>
          <a:xfrm>
            <a:off x="3703320" y="932688"/>
            <a:ext cx="1572768" cy="1005840"/>
          </a:xfrm>
          <a:prstGeom prst="roundRect">
            <a:avLst>
              <a:gd name="adj" fmla="val 7273"/>
            </a:avLst>
          </a:prstGeom>
          <a:solidFill>
            <a:srgbClr val="131728"/>
          </a:solidFill>
          <a:ln w="12700">
            <a:solidFill>
              <a:srgbClr val="232A44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840480" y="1060704"/>
            <a:ext cx="109728" cy="109728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4100815" y="1024128"/>
            <a:ext cx="13898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8A90AC"/>
                </a:solidFill>
              </a:rPr>
              <a:t>TOTAL CITATIONS</a:t>
            </a:r>
            <a:endParaRPr lang="en-US" sz="700" dirty="0"/>
          </a:p>
        </p:txBody>
      </p:sp>
      <p:sp>
        <p:nvSpPr>
          <p:cNvPr id="25" name="Text 23"/>
          <p:cNvSpPr txBox="1"/>
          <p:nvPr/>
        </p:nvSpPr>
        <p:spPr>
          <a:xfrm>
            <a:off x="3794760" y="1225296"/>
            <a:ext cx="13898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18.2M</a:t>
            </a:r>
            <a:endParaRPr lang="en-US" sz="2000" dirty="0"/>
          </a:p>
        </p:txBody>
      </p:sp>
      <p:sp>
        <p:nvSpPr>
          <p:cNvPr id="26" name="Text 24"/>
          <p:cNvSpPr txBox="1"/>
          <p:nvPr/>
        </p:nvSpPr>
        <p:spPr>
          <a:xfrm>
            <a:off x="3794760" y="1645920"/>
            <a:ext cx="13898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22D3EE"/>
                </a:solidFill>
              </a:rPr>
              <a:t>CWUR citations</a:t>
            </a:r>
            <a:endParaRPr lang="en-US" sz="700" dirty="0"/>
          </a:p>
        </p:txBody>
      </p:sp>
      <p:sp>
        <p:nvSpPr>
          <p:cNvPr id="27" name="Shape 25"/>
          <p:cNvSpPr/>
          <p:nvPr/>
        </p:nvSpPr>
        <p:spPr>
          <a:xfrm>
            <a:off x="5349240" y="932688"/>
            <a:ext cx="1572768" cy="1005840"/>
          </a:xfrm>
          <a:prstGeom prst="roundRect">
            <a:avLst>
              <a:gd name="adj" fmla="val 7273"/>
            </a:avLst>
          </a:prstGeom>
          <a:solidFill>
            <a:srgbClr val="131728"/>
          </a:solidFill>
          <a:ln w="12700">
            <a:solidFill>
              <a:srgbClr val="232A44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486400" y="1060704"/>
            <a:ext cx="109728" cy="109728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5627863" y="1024128"/>
            <a:ext cx="13898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8A90AC"/>
                </a:solidFill>
              </a:rPr>
              <a:t>AVG CITATIONS/PUB</a:t>
            </a:r>
            <a:endParaRPr lang="en-US" sz="700" dirty="0"/>
          </a:p>
        </p:txBody>
      </p:sp>
      <p:sp>
        <p:nvSpPr>
          <p:cNvPr id="30" name="Text 28"/>
          <p:cNvSpPr txBox="1"/>
          <p:nvPr/>
        </p:nvSpPr>
        <p:spPr>
          <a:xfrm>
            <a:off x="5440680" y="1225296"/>
            <a:ext cx="13898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13.0</a:t>
            </a:r>
            <a:endParaRPr lang="en-US" sz="2000" dirty="0"/>
          </a:p>
        </p:txBody>
      </p:sp>
      <p:sp>
        <p:nvSpPr>
          <p:cNvPr id="31" name="Text 29"/>
          <p:cNvSpPr txBox="1"/>
          <p:nvPr/>
        </p:nvSpPr>
        <p:spPr>
          <a:xfrm>
            <a:off x="5440680" y="1645920"/>
            <a:ext cx="13898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34D399"/>
                </a:solidFill>
              </a:rPr>
              <a:t>Citation efficiency</a:t>
            </a:r>
            <a:endParaRPr lang="en-US" sz="700" dirty="0"/>
          </a:p>
        </p:txBody>
      </p:sp>
      <p:sp>
        <p:nvSpPr>
          <p:cNvPr id="32" name="Shape 30"/>
          <p:cNvSpPr/>
          <p:nvPr/>
        </p:nvSpPr>
        <p:spPr>
          <a:xfrm>
            <a:off x="6995160" y="932688"/>
            <a:ext cx="1572768" cy="1005840"/>
          </a:xfrm>
          <a:prstGeom prst="roundRect">
            <a:avLst>
              <a:gd name="adj" fmla="val 7273"/>
            </a:avLst>
          </a:prstGeom>
          <a:solidFill>
            <a:srgbClr val="131728"/>
          </a:solidFill>
          <a:ln w="12700">
            <a:solidFill>
              <a:srgbClr val="232A44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132320" y="1060704"/>
            <a:ext cx="109728" cy="109728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7329544" y="992034"/>
            <a:ext cx="13898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8A90AC"/>
                </a:solidFill>
              </a:rPr>
              <a:t>RESEARCH PROD. IDX</a:t>
            </a:r>
            <a:endParaRPr lang="en-US" sz="700" dirty="0"/>
          </a:p>
        </p:txBody>
      </p:sp>
      <p:sp>
        <p:nvSpPr>
          <p:cNvPr id="35" name="Text 33"/>
          <p:cNvSpPr txBox="1"/>
          <p:nvPr/>
        </p:nvSpPr>
        <p:spPr>
          <a:xfrm>
            <a:off x="7086600" y="1225296"/>
            <a:ext cx="13898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51.3</a:t>
            </a:r>
            <a:endParaRPr lang="en-US" sz="2000" dirty="0"/>
          </a:p>
        </p:txBody>
      </p:sp>
      <p:sp>
        <p:nvSpPr>
          <p:cNvPr id="36" name="Text 34"/>
          <p:cNvSpPr txBox="1"/>
          <p:nvPr/>
        </p:nvSpPr>
        <p:spPr>
          <a:xfrm>
            <a:off x="7086600" y="1645920"/>
            <a:ext cx="13898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FBBF24"/>
                </a:solidFill>
              </a:rPr>
              <a:t>0–100 normalized</a:t>
            </a:r>
            <a:endParaRPr lang="en-US" sz="700" dirty="0"/>
          </a:p>
        </p:txBody>
      </p:sp>
      <p:sp>
        <p:nvSpPr>
          <p:cNvPr id="37" name="Shape 35"/>
          <p:cNvSpPr/>
          <p:nvPr/>
        </p:nvSpPr>
        <p:spPr>
          <a:xfrm>
            <a:off x="8641080" y="932688"/>
            <a:ext cx="1572768" cy="1005840"/>
          </a:xfrm>
          <a:prstGeom prst="roundRect">
            <a:avLst>
              <a:gd name="adj" fmla="val 7273"/>
            </a:avLst>
          </a:prstGeom>
          <a:solidFill>
            <a:srgbClr val="131728"/>
          </a:solidFill>
          <a:ln w="12700">
            <a:solidFill>
              <a:srgbClr val="232A44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778240" y="1060704"/>
            <a:ext cx="109728" cy="109728"/>
          </a:xfrm>
          <a:prstGeom prst="ellipse">
            <a:avLst/>
          </a:prstGeom>
          <a:solidFill>
            <a:srgbClr val="7C6FF7"/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8936019" y="1014984"/>
            <a:ext cx="13898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8A90AC"/>
                </a:solidFill>
              </a:rPr>
              <a:t>RESEARCH IMPACT</a:t>
            </a:r>
            <a:endParaRPr lang="en-US" sz="700" dirty="0"/>
          </a:p>
        </p:txBody>
      </p:sp>
      <p:sp>
        <p:nvSpPr>
          <p:cNvPr id="40" name="Text 38"/>
          <p:cNvSpPr txBox="1"/>
          <p:nvPr/>
        </p:nvSpPr>
        <p:spPr>
          <a:xfrm>
            <a:off x="8732520" y="1225296"/>
            <a:ext cx="13898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48.3</a:t>
            </a:r>
            <a:endParaRPr lang="en-US" sz="2000" dirty="0"/>
          </a:p>
        </p:txBody>
      </p:sp>
      <p:sp>
        <p:nvSpPr>
          <p:cNvPr id="41" name="Text 39"/>
          <p:cNvSpPr txBox="1"/>
          <p:nvPr/>
        </p:nvSpPr>
        <p:spPr>
          <a:xfrm>
            <a:off x="8732520" y="1645920"/>
            <a:ext cx="13898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7C6FF7"/>
                </a:solidFill>
              </a:rPr>
              <a:t>0–100 normalized</a:t>
            </a:r>
            <a:endParaRPr lang="en-US" sz="700" dirty="0"/>
          </a:p>
        </p:txBody>
      </p:sp>
      <p:sp>
        <p:nvSpPr>
          <p:cNvPr id="42" name="Shape 40"/>
          <p:cNvSpPr/>
          <p:nvPr/>
        </p:nvSpPr>
        <p:spPr>
          <a:xfrm>
            <a:off x="10287000" y="932688"/>
            <a:ext cx="1572768" cy="1005840"/>
          </a:xfrm>
          <a:prstGeom prst="roundRect">
            <a:avLst>
              <a:gd name="adj" fmla="val 7273"/>
            </a:avLst>
          </a:prstGeom>
          <a:solidFill>
            <a:srgbClr val="131728"/>
          </a:solidFill>
          <a:ln w="12700">
            <a:solidFill>
              <a:srgbClr val="232A44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0424160" y="1060704"/>
            <a:ext cx="109728" cy="109728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44" name="Text 42"/>
          <p:cNvSpPr txBox="1"/>
          <p:nvPr/>
        </p:nvSpPr>
        <p:spPr>
          <a:xfrm>
            <a:off x="10635996" y="1033272"/>
            <a:ext cx="13898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8A90AC"/>
                </a:solidFill>
              </a:rPr>
              <a:t>TOP INSTITUTION</a:t>
            </a:r>
            <a:endParaRPr lang="en-US" sz="700" dirty="0"/>
          </a:p>
        </p:txBody>
      </p:sp>
      <p:sp>
        <p:nvSpPr>
          <p:cNvPr id="45" name="Text 43"/>
          <p:cNvSpPr txBox="1"/>
          <p:nvPr/>
        </p:nvSpPr>
        <p:spPr>
          <a:xfrm>
            <a:off x="10378440" y="1225296"/>
            <a:ext cx="13898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Harvard</a:t>
            </a:r>
            <a:endParaRPr lang="en-US" sz="2000" dirty="0"/>
          </a:p>
        </p:txBody>
      </p:sp>
      <p:sp>
        <p:nvSpPr>
          <p:cNvPr id="46" name="Text 44"/>
          <p:cNvSpPr txBox="1"/>
          <p:nvPr/>
        </p:nvSpPr>
        <p:spPr>
          <a:xfrm>
            <a:off x="10378440" y="1645920"/>
            <a:ext cx="13898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22D3EE"/>
                </a:solidFill>
              </a:rPr>
              <a:t>#1 by citations</a:t>
            </a:r>
            <a:endParaRPr lang="en-US" sz="700" dirty="0"/>
          </a:p>
        </p:txBody>
      </p:sp>
      <p:sp>
        <p:nvSpPr>
          <p:cNvPr id="47" name="Shape 45"/>
          <p:cNvSpPr/>
          <p:nvPr/>
        </p:nvSpPr>
        <p:spPr>
          <a:xfrm>
            <a:off x="2057400" y="2103120"/>
            <a:ext cx="4663440" cy="1691640"/>
          </a:xfrm>
          <a:prstGeom prst="roundRect">
            <a:avLst>
              <a:gd name="adj" fmla="val 4324"/>
            </a:avLst>
          </a:prstGeom>
          <a:solidFill>
            <a:srgbClr val="131728"/>
          </a:solidFill>
          <a:ln w="12700">
            <a:solidFill>
              <a:srgbClr val="232A44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2194560" y="2212848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7C6FF7"/>
                </a:solidFill>
              </a:rPr>
              <a:t>BAR CHART</a:t>
            </a:r>
            <a:endParaRPr lang="en-US" sz="700" dirty="0"/>
          </a:p>
        </p:txBody>
      </p:sp>
      <p:sp>
        <p:nvSpPr>
          <p:cNvPr id="49" name="Text 47"/>
          <p:cNvSpPr txBox="1"/>
          <p:nvPr/>
        </p:nvSpPr>
        <p:spPr>
          <a:xfrm>
            <a:off x="2194560" y="2414016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Publications by University</a:t>
            </a:r>
            <a:endParaRPr lang="en-US" sz="1000" dirty="0"/>
          </a:p>
        </p:txBody>
      </p:sp>
      <p:sp>
        <p:nvSpPr>
          <p:cNvPr id="50" name="Text 48"/>
          <p:cNvSpPr txBox="1"/>
          <p:nvPr/>
        </p:nvSpPr>
        <p:spPr>
          <a:xfrm>
            <a:off x="2194560" y="2688336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90AC"/>
                </a:solidFill>
              </a:rPr>
              <a:t>Top 10 · horizontal · colored by region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2240280" y="3154680"/>
            <a:ext cx="109728" cy="411480"/>
          </a:xfrm>
          <a:prstGeom prst="roundRect">
            <a:avLst>
              <a:gd name="adj" fmla="val 16667"/>
            </a:avLst>
          </a:prstGeom>
          <a:solidFill>
            <a:srgbClr val="7C6FF7">
              <a:alpha val="65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2404872" y="2926080"/>
            <a:ext cx="109728" cy="640080"/>
          </a:xfrm>
          <a:prstGeom prst="roundRect">
            <a:avLst>
              <a:gd name="adj" fmla="val 16667"/>
            </a:avLst>
          </a:prstGeom>
          <a:solidFill>
            <a:srgbClr val="22D3EE">
              <a:alpha val="65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2569464" y="3063240"/>
            <a:ext cx="109728" cy="502920"/>
          </a:xfrm>
          <a:prstGeom prst="roundRect">
            <a:avLst>
              <a:gd name="adj" fmla="val 16667"/>
            </a:avLst>
          </a:prstGeom>
          <a:solidFill>
            <a:srgbClr val="7C6FF7">
              <a:alpha val="65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2734056" y="3246120"/>
            <a:ext cx="109728" cy="320040"/>
          </a:xfrm>
          <a:prstGeom prst="roundRect">
            <a:avLst>
              <a:gd name="adj" fmla="val 16667"/>
            </a:avLst>
          </a:prstGeom>
          <a:solidFill>
            <a:srgbClr val="22D3EE">
              <a:alpha val="65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2898648" y="3017520"/>
            <a:ext cx="109728" cy="548640"/>
          </a:xfrm>
          <a:prstGeom prst="roundRect">
            <a:avLst>
              <a:gd name="adj" fmla="val 16667"/>
            </a:avLst>
          </a:prstGeom>
          <a:solidFill>
            <a:srgbClr val="7C6FF7">
              <a:alpha val="65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3063240" y="3108960"/>
            <a:ext cx="109728" cy="457200"/>
          </a:xfrm>
          <a:prstGeom prst="roundRect">
            <a:avLst>
              <a:gd name="adj" fmla="val 16667"/>
            </a:avLst>
          </a:prstGeom>
          <a:solidFill>
            <a:srgbClr val="22D3EE">
              <a:alpha val="65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3227832" y="3200400"/>
            <a:ext cx="109728" cy="365760"/>
          </a:xfrm>
          <a:prstGeom prst="roundRect">
            <a:avLst>
              <a:gd name="adj" fmla="val 16667"/>
            </a:avLst>
          </a:prstGeom>
          <a:solidFill>
            <a:srgbClr val="7C6FF7">
              <a:alpha val="65000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3392424" y="2971800"/>
            <a:ext cx="109728" cy="594360"/>
          </a:xfrm>
          <a:prstGeom prst="roundRect">
            <a:avLst>
              <a:gd name="adj" fmla="val 16667"/>
            </a:avLst>
          </a:prstGeom>
          <a:solidFill>
            <a:srgbClr val="22D3EE">
              <a:alpha val="65000"/>
            </a:srgbClr>
          </a:solidFill>
          <a:ln/>
        </p:spPr>
      </p:sp>
      <p:sp>
        <p:nvSpPr>
          <p:cNvPr id="59" name="Shape 57"/>
          <p:cNvSpPr/>
          <p:nvPr/>
        </p:nvSpPr>
        <p:spPr>
          <a:xfrm>
            <a:off x="6858000" y="2103120"/>
            <a:ext cx="4892040" cy="1691640"/>
          </a:xfrm>
          <a:prstGeom prst="roundRect">
            <a:avLst>
              <a:gd name="adj" fmla="val 4324"/>
            </a:avLst>
          </a:prstGeom>
          <a:solidFill>
            <a:srgbClr val="131728"/>
          </a:solidFill>
          <a:ln w="12700">
            <a:solidFill>
              <a:srgbClr val="232A44"/>
            </a:solidFill>
            <a:prstDash val="solid"/>
          </a:ln>
        </p:spPr>
      </p:sp>
      <p:sp>
        <p:nvSpPr>
          <p:cNvPr id="60" name="Text 58"/>
          <p:cNvSpPr txBox="1"/>
          <p:nvPr/>
        </p:nvSpPr>
        <p:spPr>
          <a:xfrm>
            <a:off x="6995160" y="2212848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7C6FF7"/>
                </a:solidFill>
              </a:rPr>
              <a:t>BAR CHART</a:t>
            </a:r>
            <a:endParaRPr lang="en-US" sz="700" dirty="0"/>
          </a:p>
        </p:txBody>
      </p:sp>
      <p:sp>
        <p:nvSpPr>
          <p:cNvPr id="61" name="Text 59"/>
          <p:cNvSpPr txBox="1"/>
          <p:nvPr/>
        </p:nvSpPr>
        <p:spPr>
          <a:xfrm>
            <a:off x="6995160" y="2414016"/>
            <a:ext cx="4617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Citations by University</a:t>
            </a:r>
            <a:endParaRPr lang="en-US" sz="1000" dirty="0"/>
          </a:p>
        </p:txBody>
      </p:sp>
      <p:sp>
        <p:nvSpPr>
          <p:cNvPr id="62" name="Text 60"/>
          <p:cNvSpPr txBox="1"/>
          <p:nvPr/>
        </p:nvSpPr>
        <p:spPr>
          <a:xfrm>
            <a:off x="6995160" y="2688336"/>
            <a:ext cx="4617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90AC"/>
                </a:solidFill>
              </a:rPr>
              <a:t>Top 10 · horizontal · click to drill</a:t>
            </a:r>
            <a:endParaRPr lang="en-US" sz="850" dirty="0"/>
          </a:p>
        </p:txBody>
      </p:sp>
      <p:sp>
        <p:nvSpPr>
          <p:cNvPr id="63" name="Shape 61"/>
          <p:cNvSpPr/>
          <p:nvPr/>
        </p:nvSpPr>
        <p:spPr>
          <a:xfrm>
            <a:off x="7040880" y="3154680"/>
            <a:ext cx="109728" cy="411480"/>
          </a:xfrm>
          <a:prstGeom prst="roundRect">
            <a:avLst>
              <a:gd name="adj" fmla="val 16667"/>
            </a:avLst>
          </a:prstGeom>
          <a:solidFill>
            <a:srgbClr val="7C6FF7">
              <a:alpha val="65000"/>
            </a:srgbClr>
          </a:solidFill>
          <a:ln/>
        </p:spPr>
      </p:sp>
      <p:sp>
        <p:nvSpPr>
          <p:cNvPr id="64" name="Shape 62"/>
          <p:cNvSpPr/>
          <p:nvPr/>
        </p:nvSpPr>
        <p:spPr>
          <a:xfrm>
            <a:off x="7205472" y="2926080"/>
            <a:ext cx="109728" cy="640080"/>
          </a:xfrm>
          <a:prstGeom prst="roundRect">
            <a:avLst>
              <a:gd name="adj" fmla="val 16667"/>
            </a:avLst>
          </a:prstGeom>
          <a:solidFill>
            <a:srgbClr val="22D3EE">
              <a:alpha val="65000"/>
            </a:srgbClr>
          </a:solidFill>
          <a:ln/>
        </p:spPr>
      </p:sp>
      <p:sp>
        <p:nvSpPr>
          <p:cNvPr id="65" name="Shape 63"/>
          <p:cNvSpPr/>
          <p:nvPr/>
        </p:nvSpPr>
        <p:spPr>
          <a:xfrm>
            <a:off x="7370064" y="3063240"/>
            <a:ext cx="109728" cy="502920"/>
          </a:xfrm>
          <a:prstGeom prst="roundRect">
            <a:avLst>
              <a:gd name="adj" fmla="val 16667"/>
            </a:avLst>
          </a:prstGeom>
          <a:solidFill>
            <a:srgbClr val="7C6FF7">
              <a:alpha val="65000"/>
            </a:srgbClr>
          </a:solidFill>
          <a:ln/>
        </p:spPr>
      </p:sp>
      <p:sp>
        <p:nvSpPr>
          <p:cNvPr id="66" name="Shape 64"/>
          <p:cNvSpPr/>
          <p:nvPr/>
        </p:nvSpPr>
        <p:spPr>
          <a:xfrm>
            <a:off x="7534656" y="3246120"/>
            <a:ext cx="109728" cy="320040"/>
          </a:xfrm>
          <a:prstGeom prst="roundRect">
            <a:avLst>
              <a:gd name="adj" fmla="val 16667"/>
            </a:avLst>
          </a:prstGeom>
          <a:solidFill>
            <a:srgbClr val="22D3EE">
              <a:alpha val="65000"/>
            </a:srgbClr>
          </a:solidFill>
          <a:ln/>
        </p:spPr>
      </p:sp>
      <p:sp>
        <p:nvSpPr>
          <p:cNvPr id="67" name="Shape 65"/>
          <p:cNvSpPr/>
          <p:nvPr/>
        </p:nvSpPr>
        <p:spPr>
          <a:xfrm>
            <a:off x="7699248" y="3017520"/>
            <a:ext cx="109728" cy="548640"/>
          </a:xfrm>
          <a:prstGeom prst="roundRect">
            <a:avLst>
              <a:gd name="adj" fmla="val 16667"/>
            </a:avLst>
          </a:prstGeom>
          <a:solidFill>
            <a:srgbClr val="7C6FF7">
              <a:alpha val="65000"/>
            </a:srgbClr>
          </a:solidFill>
          <a:ln/>
        </p:spPr>
      </p:sp>
      <p:sp>
        <p:nvSpPr>
          <p:cNvPr id="68" name="Shape 66"/>
          <p:cNvSpPr/>
          <p:nvPr/>
        </p:nvSpPr>
        <p:spPr>
          <a:xfrm>
            <a:off x="7863840" y="3108960"/>
            <a:ext cx="109728" cy="457200"/>
          </a:xfrm>
          <a:prstGeom prst="roundRect">
            <a:avLst>
              <a:gd name="adj" fmla="val 16667"/>
            </a:avLst>
          </a:prstGeom>
          <a:solidFill>
            <a:srgbClr val="22D3EE">
              <a:alpha val="65000"/>
            </a:srgbClr>
          </a:solidFill>
          <a:ln/>
        </p:spPr>
      </p:sp>
      <p:sp>
        <p:nvSpPr>
          <p:cNvPr id="69" name="Shape 67"/>
          <p:cNvSpPr/>
          <p:nvPr/>
        </p:nvSpPr>
        <p:spPr>
          <a:xfrm>
            <a:off x="8028432" y="3200400"/>
            <a:ext cx="109728" cy="365760"/>
          </a:xfrm>
          <a:prstGeom prst="roundRect">
            <a:avLst>
              <a:gd name="adj" fmla="val 16667"/>
            </a:avLst>
          </a:prstGeom>
          <a:solidFill>
            <a:srgbClr val="7C6FF7">
              <a:alpha val="65000"/>
            </a:srgbClr>
          </a:solidFill>
          <a:ln/>
        </p:spPr>
      </p:sp>
      <p:sp>
        <p:nvSpPr>
          <p:cNvPr id="70" name="Shape 68"/>
          <p:cNvSpPr/>
          <p:nvPr/>
        </p:nvSpPr>
        <p:spPr>
          <a:xfrm>
            <a:off x="8193024" y="2971800"/>
            <a:ext cx="109728" cy="594360"/>
          </a:xfrm>
          <a:prstGeom prst="roundRect">
            <a:avLst>
              <a:gd name="adj" fmla="val 16667"/>
            </a:avLst>
          </a:prstGeom>
          <a:solidFill>
            <a:srgbClr val="22D3EE">
              <a:alpha val="65000"/>
            </a:srgbClr>
          </a:solidFill>
          <a:ln/>
        </p:spPr>
      </p:sp>
      <p:sp>
        <p:nvSpPr>
          <p:cNvPr id="71" name="Shape 69"/>
          <p:cNvSpPr/>
          <p:nvPr/>
        </p:nvSpPr>
        <p:spPr>
          <a:xfrm>
            <a:off x="2057400" y="3950208"/>
            <a:ext cx="2926080" cy="1874520"/>
          </a:xfrm>
          <a:prstGeom prst="roundRect">
            <a:avLst>
              <a:gd name="adj" fmla="val 3902"/>
            </a:avLst>
          </a:prstGeom>
          <a:solidFill>
            <a:srgbClr val="131728"/>
          </a:solidFill>
          <a:ln w="12700">
            <a:solidFill>
              <a:srgbClr val="232A44"/>
            </a:solidFill>
            <a:prstDash val="solid"/>
          </a:ln>
        </p:spPr>
      </p:sp>
      <p:sp>
        <p:nvSpPr>
          <p:cNvPr id="72" name="Text 70"/>
          <p:cNvSpPr txBox="1"/>
          <p:nvPr/>
        </p:nvSpPr>
        <p:spPr>
          <a:xfrm>
            <a:off x="2194560" y="4059936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7C6FF7"/>
                </a:solidFill>
              </a:rPr>
              <a:t>LINE</a:t>
            </a:r>
            <a:endParaRPr lang="en-US" sz="700" dirty="0"/>
          </a:p>
        </p:txBody>
      </p:sp>
      <p:sp>
        <p:nvSpPr>
          <p:cNvPr id="73" name="Text 71"/>
          <p:cNvSpPr txBox="1"/>
          <p:nvPr/>
        </p:nvSpPr>
        <p:spPr>
          <a:xfrm>
            <a:off x="2194560" y="4261104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Research Productivity Trend</a:t>
            </a:r>
            <a:endParaRPr lang="en-US" sz="1000" dirty="0"/>
          </a:p>
        </p:txBody>
      </p:sp>
      <p:sp>
        <p:nvSpPr>
          <p:cNvPr id="74" name="Text 72"/>
          <p:cNvSpPr txBox="1"/>
          <p:nvPr/>
        </p:nvSpPr>
        <p:spPr>
          <a:xfrm>
            <a:off x="2194560" y="4535424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90AC"/>
                </a:solidFill>
              </a:rPr>
              <a:t>Avg Research Productivity Index · by year · current filter set</a:t>
            </a:r>
            <a:endParaRPr lang="en-US" sz="850" dirty="0"/>
          </a:p>
        </p:txBody>
      </p:sp>
      <p:sp>
        <p:nvSpPr>
          <p:cNvPr id="75" name="Shape 73"/>
          <p:cNvSpPr/>
          <p:nvPr/>
        </p:nvSpPr>
        <p:spPr>
          <a:xfrm>
            <a:off x="2240280" y="5184648"/>
            <a:ext cx="109728" cy="411480"/>
          </a:xfrm>
          <a:prstGeom prst="roundRect">
            <a:avLst>
              <a:gd name="adj" fmla="val 16667"/>
            </a:avLst>
          </a:prstGeom>
          <a:solidFill>
            <a:srgbClr val="7C6FF7">
              <a:alpha val="65000"/>
            </a:srgbClr>
          </a:solidFill>
          <a:ln/>
        </p:spPr>
      </p:sp>
      <p:sp>
        <p:nvSpPr>
          <p:cNvPr id="76" name="Shape 74"/>
          <p:cNvSpPr/>
          <p:nvPr/>
        </p:nvSpPr>
        <p:spPr>
          <a:xfrm>
            <a:off x="2404872" y="4956048"/>
            <a:ext cx="109728" cy="640080"/>
          </a:xfrm>
          <a:prstGeom prst="roundRect">
            <a:avLst>
              <a:gd name="adj" fmla="val 16667"/>
            </a:avLst>
          </a:prstGeom>
          <a:solidFill>
            <a:srgbClr val="22D3EE">
              <a:alpha val="65000"/>
            </a:srgbClr>
          </a:solidFill>
          <a:ln/>
        </p:spPr>
      </p:sp>
      <p:sp>
        <p:nvSpPr>
          <p:cNvPr id="77" name="Shape 75"/>
          <p:cNvSpPr/>
          <p:nvPr/>
        </p:nvSpPr>
        <p:spPr>
          <a:xfrm>
            <a:off x="2569464" y="5093208"/>
            <a:ext cx="109728" cy="502920"/>
          </a:xfrm>
          <a:prstGeom prst="roundRect">
            <a:avLst>
              <a:gd name="adj" fmla="val 16667"/>
            </a:avLst>
          </a:prstGeom>
          <a:solidFill>
            <a:srgbClr val="7C6FF7">
              <a:alpha val="65000"/>
            </a:srgbClr>
          </a:solidFill>
          <a:ln/>
        </p:spPr>
      </p:sp>
      <p:sp>
        <p:nvSpPr>
          <p:cNvPr id="78" name="Shape 76"/>
          <p:cNvSpPr/>
          <p:nvPr/>
        </p:nvSpPr>
        <p:spPr>
          <a:xfrm>
            <a:off x="2734056" y="5276088"/>
            <a:ext cx="109728" cy="320040"/>
          </a:xfrm>
          <a:prstGeom prst="roundRect">
            <a:avLst>
              <a:gd name="adj" fmla="val 16667"/>
            </a:avLst>
          </a:prstGeom>
          <a:solidFill>
            <a:srgbClr val="22D3EE">
              <a:alpha val="65000"/>
            </a:srgbClr>
          </a:solidFill>
          <a:ln/>
        </p:spPr>
      </p:sp>
      <p:sp>
        <p:nvSpPr>
          <p:cNvPr id="79" name="Shape 77"/>
          <p:cNvSpPr/>
          <p:nvPr/>
        </p:nvSpPr>
        <p:spPr>
          <a:xfrm>
            <a:off x="2898648" y="5047488"/>
            <a:ext cx="109728" cy="548640"/>
          </a:xfrm>
          <a:prstGeom prst="roundRect">
            <a:avLst>
              <a:gd name="adj" fmla="val 16667"/>
            </a:avLst>
          </a:prstGeom>
          <a:solidFill>
            <a:srgbClr val="7C6FF7">
              <a:alpha val="65000"/>
            </a:srgbClr>
          </a:solidFill>
          <a:ln/>
        </p:spPr>
      </p:sp>
      <p:sp>
        <p:nvSpPr>
          <p:cNvPr id="80" name="Shape 78"/>
          <p:cNvSpPr/>
          <p:nvPr/>
        </p:nvSpPr>
        <p:spPr>
          <a:xfrm>
            <a:off x="3063240" y="5138928"/>
            <a:ext cx="109728" cy="457200"/>
          </a:xfrm>
          <a:prstGeom prst="roundRect">
            <a:avLst>
              <a:gd name="adj" fmla="val 16667"/>
            </a:avLst>
          </a:prstGeom>
          <a:solidFill>
            <a:srgbClr val="22D3EE">
              <a:alpha val="65000"/>
            </a:srgbClr>
          </a:solidFill>
          <a:ln/>
        </p:spPr>
      </p:sp>
      <p:sp>
        <p:nvSpPr>
          <p:cNvPr id="81" name="Shape 79"/>
          <p:cNvSpPr/>
          <p:nvPr/>
        </p:nvSpPr>
        <p:spPr>
          <a:xfrm>
            <a:off x="3227832" y="5230368"/>
            <a:ext cx="109728" cy="365760"/>
          </a:xfrm>
          <a:prstGeom prst="roundRect">
            <a:avLst>
              <a:gd name="adj" fmla="val 16667"/>
            </a:avLst>
          </a:prstGeom>
          <a:solidFill>
            <a:srgbClr val="7C6FF7">
              <a:alpha val="65000"/>
            </a:srgbClr>
          </a:solidFill>
          <a:ln/>
        </p:spPr>
      </p:sp>
      <p:sp>
        <p:nvSpPr>
          <p:cNvPr id="82" name="Shape 80"/>
          <p:cNvSpPr/>
          <p:nvPr/>
        </p:nvSpPr>
        <p:spPr>
          <a:xfrm>
            <a:off x="3392424" y="5001768"/>
            <a:ext cx="109728" cy="594360"/>
          </a:xfrm>
          <a:prstGeom prst="roundRect">
            <a:avLst>
              <a:gd name="adj" fmla="val 16667"/>
            </a:avLst>
          </a:prstGeom>
          <a:solidFill>
            <a:srgbClr val="22D3EE">
              <a:alpha val="65000"/>
            </a:srgbClr>
          </a:solidFill>
          <a:ln/>
        </p:spPr>
      </p:sp>
      <p:sp>
        <p:nvSpPr>
          <p:cNvPr id="83" name="Shape 81"/>
          <p:cNvSpPr/>
          <p:nvPr/>
        </p:nvSpPr>
        <p:spPr>
          <a:xfrm>
            <a:off x="5120640" y="3950208"/>
            <a:ext cx="3474720" cy="1874520"/>
          </a:xfrm>
          <a:prstGeom prst="roundRect">
            <a:avLst>
              <a:gd name="adj" fmla="val 3902"/>
            </a:avLst>
          </a:prstGeom>
          <a:solidFill>
            <a:srgbClr val="131728"/>
          </a:solidFill>
          <a:ln w="12700">
            <a:solidFill>
              <a:srgbClr val="232A44"/>
            </a:solidFill>
            <a:prstDash val="solid"/>
          </a:ln>
        </p:spPr>
      </p:sp>
      <p:sp>
        <p:nvSpPr>
          <p:cNvPr id="84" name="Text 82"/>
          <p:cNvSpPr txBox="1"/>
          <p:nvPr/>
        </p:nvSpPr>
        <p:spPr>
          <a:xfrm>
            <a:off x="5257800" y="4059936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7C6FF7"/>
                </a:solidFill>
              </a:rPr>
              <a:t>SCATTER</a:t>
            </a:r>
            <a:endParaRPr lang="en-US" sz="700" dirty="0"/>
          </a:p>
        </p:txBody>
      </p:sp>
      <p:sp>
        <p:nvSpPr>
          <p:cNvPr id="85" name="Text 83"/>
          <p:cNvSpPr txBox="1"/>
          <p:nvPr/>
        </p:nvSpPr>
        <p:spPr>
          <a:xfrm>
            <a:off x="5257800" y="426110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Impact vs Productivity</a:t>
            </a:r>
            <a:endParaRPr lang="en-US" sz="1000" dirty="0"/>
          </a:p>
        </p:txBody>
      </p:sp>
      <p:sp>
        <p:nvSpPr>
          <p:cNvPr id="86" name="Text 84"/>
          <p:cNvSpPr txBox="1"/>
          <p:nvPr/>
        </p:nvSpPr>
        <p:spPr>
          <a:xfrm>
            <a:off x="5257800" y="4535424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90AC"/>
                </a:solidFill>
              </a:rPr>
              <a:t>x = Publications · y = Citations · size = Research Impact Score</a:t>
            </a:r>
            <a:endParaRPr lang="en-US" sz="850" dirty="0"/>
          </a:p>
        </p:txBody>
      </p:sp>
      <p:sp>
        <p:nvSpPr>
          <p:cNvPr id="87" name="Shape 85"/>
          <p:cNvSpPr/>
          <p:nvPr/>
        </p:nvSpPr>
        <p:spPr>
          <a:xfrm>
            <a:off x="5303520" y="5184648"/>
            <a:ext cx="109728" cy="411480"/>
          </a:xfrm>
          <a:prstGeom prst="roundRect">
            <a:avLst>
              <a:gd name="adj" fmla="val 16667"/>
            </a:avLst>
          </a:prstGeom>
          <a:solidFill>
            <a:srgbClr val="7C6FF7">
              <a:alpha val="65000"/>
            </a:srgbClr>
          </a:solidFill>
          <a:ln/>
        </p:spPr>
      </p:sp>
      <p:sp>
        <p:nvSpPr>
          <p:cNvPr id="88" name="Shape 86"/>
          <p:cNvSpPr/>
          <p:nvPr/>
        </p:nvSpPr>
        <p:spPr>
          <a:xfrm>
            <a:off x="5468112" y="4956048"/>
            <a:ext cx="109728" cy="640080"/>
          </a:xfrm>
          <a:prstGeom prst="roundRect">
            <a:avLst>
              <a:gd name="adj" fmla="val 16667"/>
            </a:avLst>
          </a:prstGeom>
          <a:solidFill>
            <a:srgbClr val="22D3EE">
              <a:alpha val="65000"/>
            </a:srgbClr>
          </a:solidFill>
          <a:ln/>
        </p:spPr>
      </p:sp>
      <p:sp>
        <p:nvSpPr>
          <p:cNvPr id="89" name="Shape 87"/>
          <p:cNvSpPr/>
          <p:nvPr/>
        </p:nvSpPr>
        <p:spPr>
          <a:xfrm>
            <a:off x="5632704" y="5093208"/>
            <a:ext cx="109728" cy="502920"/>
          </a:xfrm>
          <a:prstGeom prst="roundRect">
            <a:avLst>
              <a:gd name="adj" fmla="val 16667"/>
            </a:avLst>
          </a:prstGeom>
          <a:solidFill>
            <a:srgbClr val="7C6FF7">
              <a:alpha val="65000"/>
            </a:srgbClr>
          </a:solidFill>
          <a:ln/>
        </p:spPr>
      </p:sp>
      <p:sp>
        <p:nvSpPr>
          <p:cNvPr id="90" name="Shape 88"/>
          <p:cNvSpPr/>
          <p:nvPr/>
        </p:nvSpPr>
        <p:spPr>
          <a:xfrm>
            <a:off x="5797296" y="5276088"/>
            <a:ext cx="109728" cy="320040"/>
          </a:xfrm>
          <a:prstGeom prst="roundRect">
            <a:avLst>
              <a:gd name="adj" fmla="val 16667"/>
            </a:avLst>
          </a:prstGeom>
          <a:solidFill>
            <a:srgbClr val="22D3EE">
              <a:alpha val="65000"/>
            </a:srgbClr>
          </a:solidFill>
          <a:ln/>
        </p:spPr>
      </p:sp>
      <p:sp>
        <p:nvSpPr>
          <p:cNvPr id="91" name="Shape 89"/>
          <p:cNvSpPr/>
          <p:nvPr/>
        </p:nvSpPr>
        <p:spPr>
          <a:xfrm>
            <a:off x="5961888" y="5047488"/>
            <a:ext cx="109728" cy="548640"/>
          </a:xfrm>
          <a:prstGeom prst="roundRect">
            <a:avLst>
              <a:gd name="adj" fmla="val 16667"/>
            </a:avLst>
          </a:prstGeom>
          <a:solidFill>
            <a:srgbClr val="7C6FF7">
              <a:alpha val="65000"/>
            </a:srgbClr>
          </a:solidFill>
          <a:ln/>
        </p:spPr>
      </p:sp>
      <p:sp>
        <p:nvSpPr>
          <p:cNvPr id="92" name="Shape 90"/>
          <p:cNvSpPr/>
          <p:nvPr/>
        </p:nvSpPr>
        <p:spPr>
          <a:xfrm>
            <a:off x="6126480" y="5138928"/>
            <a:ext cx="109728" cy="457200"/>
          </a:xfrm>
          <a:prstGeom prst="roundRect">
            <a:avLst>
              <a:gd name="adj" fmla="val 16667"/>
            </a:avLst>
          </a:prstGeom>
          <a:solidFill>
            <a:srgbClr val="22D3EE">
              <a:alpha val="65000"/>
            </a:srgbClr>
          </a:solidFill>
          <a:ln/>
        </p:spPr>
      </p:sp>
      <p:sp>
        <p:nvSpPr>
          <p:cNvPr id="93" name="Shape 91"/>
          <p:cNvSpPr/>
          <p:nvPr/>
        </p:nvSpPr>
        <p:spPr>
          <a:xfrm>
            <a:off x="6291072" y="5230368"/>
            <a:ext cx="109728" cy="365760"/>
          </a:xfrm>
          <a:prstGeom prst="roundRect">
            <a:avLst>
              <a:gd name="adj" fmla="val 16667"/>
            </a:avLst>
          </a:prstGeom>
          <a:solidFill>
            <a:srgbClr val="7C6FF7">
              <a:alpha val="65000"/>
            </a:srgbClr>
          </a:solidFill>
          <a:ln/>
        </p:spPr>
      </p:sp>
      <p:sp>
        <p:nvSpPr>
          <p:cNvPr id="94" name="Shape 92"/>
          <p:cNvSpPr/>
          <p:nvPr/>
        </p:nvSpPr>
        <p:spPr>
          <a:xfrm>
            <a:off x="6455664" y="5001768"/>
            <a:ext cx="109728" cy="594360"/>
          </a:xfrm>
          <a:prstGeom prst="roundRect">
            <a:avLst>
              <a:gd name="adj" fmla="val 16667"/>
            </a:avLst>
          </a:prstGeom>
          <a:solidFill>
            <a:srgbClr val="22D3EE">
              <a:alpha val="65000"/>
            </a:srgbClr>
          </a:solidFill>
          <a:ln/>
        </p:spPr>
      </p:sp>
      <p:sp>
        <p:nvSpPr>
          <p:cNvPr id="95" name="Shape 93"/>
          <p:cNvSpPr/>
          <p:nvPr/>
        </p:nvSpPr>
        <p:spPr>
          <a:xfrm>
            <a:off x="8732520" y="3950208"/>
            <a:ext cx="3017520" cy="1874520"/>
          </a:xfrm>
          <a:prstGeom prst="roundRect">
            <a:avLst>
              <a:gd name="adj" fmla="val 3902"/>
            </a:avLst>
          </a:prstGeom>
          <a:solidFill>
            <a:srgbClr val="131728"/>
          </a:solidFill>
          <a:ln w="12700">
            <a:solidFill>
              <a:srgbClr val="232A44"/>
            </a:solidFill>
            <a:prstDash val="solid"/>
          </a:ln>
        </p:spPr>
      </p:sp>
      <p:sp>
        <p:nvSpPr>
          <p:cNvPr id="96" name="Text 94"/>
          <p:cNvSpPr txBox="1"/>
          <p:nvPr/>
        </p:nvSpPr>
        <p:spPr>
          <a:xfrm>
            <a:off x="8869680" y="4059936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7C6FF7"/>
                </a:solidFill>
              </a:rPr>
              <a:t>TABLE</a:t>
            </a:r>
            <a:endParaRPr lang="en-US" sz="700" dirty="0"/>
          </a:p>
        </p:txBody>
      </p:sp>
      <p:sp>
        <p:nvSpPr>
          <p:cNvPr id="97" name="Text 95"/>
          <p:cNvSpPr txBox="1"/>
          <p:nvPr/>
        </p:nvSpPr>
        <p:spPr>
          <a:xfrm>
            <a:off x="8869680" y="426110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Top Research Institutions</a:t>
            </a:r>
            <a:endParaRPr lang="en-US" sz="1000" dirty="0"/>
          </a:p>
        </p:txBody>
      </p:sp>
      <p:sp>
        <p:nvSpPr>
          <p:cNvPr id="98" name="Text 96"/>
          <p:cNvSpPr txBox="1"/>
          <p:nvPr/>
        </p:nvSpPr>
        <p:spPr>
          <a:xfrm>
            <a:off x="8869680" y="4535424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90AC"/>
                </a:solidFill>
              </a:rPr>
              <a:t>University · Country · Publications · Citations · RPI · Impact</a:t>
            </a:r>
            <a:endParaRPr lang="en-US" sz="850" dirty="0"/>
          </a:p>
        </p:txBody>
      </p:sp>
      <p:sp>
        <p:nvSpPr>
          <p:cNvPr id="99" name="Shape 97"/>
          <p:cNvSpPr/>
          <p:nvPr/>
        </p:nvSpPr>
        <p:spPr>
          <a:xfrm>
            <a:off x="8915400" y="5184648"/>
            <a:ext cx="109728" cy="411480"/>
          </a:xfrm>
          <a:prstGeom prst="roundRect">
            <a:avLst>
              <a:gd name="adj" fmla="val 16667"/>
            </a:avLst>
          </a:prstGeom>
          <a:solidFill>
            <a:srgbClr val="7C6FF7">
              <a:alpha val="65000"/>
            </a:srgbClr>
          </a:solidFill>
          <a:ln/>
        </p:spPr>
      </p:sp>
      <p:sp>
        <p:nvSpPr>
          <p:cNvPr id="100" name="Shape 98"/>
          <p:cNvSpPr/>
          <p:nvPr/>
        </p:nvSpPr>
        <p:spPr>
          <a:xfrm>
            <a:off x="9079992" y="4956048"/>
            <a:ext cx="109728" cy="640080"/>
          </a:xfrm>
          <a:prstGeom prst="roundRect">
            <a:avLst>
              <a:gd name="adj" fmla="val 16667"/>
            </a:avLst>
          </a:prstGeom>
          <a:solidFill>
            <a:srgbClr val="22D3EE">
              <a:alpha val="65000"/>
            </a:srgbClr>
          </a:solidFill>
          <a:ln/>
        </p:spPr>
      </p:sp>
      <p:sp>
        <p:nvSpPr>
          <p:cNvPr id="101" name="Shape 99"/>
          <p:cNvSpPr/>
          <p:nvPr/>
        </p:nvSpPr>
        <p:spPr>
          <a:xfrm>
            <a:off x="9244584" y="5093208"/>
            <a:ext cx="109728" cy="502920"/>
          </a:xfrm>
          <a:prstGeom prst="roundRect">
            <a:avLst>
              <a:gd name="adj" fmla="val 16667"/>
            </a:avLst>
          </a:prstGeom>
          <a:solidFill>
            <a:srgbClr val="7C6FF7">
              <a:alpha val="65000"/>
            </a:srgbClr>
          </a:solidFill>
          <a:ln/>
        </p:spPr>
      </p:sp>
      <p:sp>
        <p:nvSpPr>
          <p:cNvPr id="102" name="Shape 100"/>
          <p:cNvSpPr/>
          <p:nvPr/>
        </p:nvSpPr>
        <p:spPr>
          <a:xfrm>
            <a:off x="9409176" y="5276088"/>
            <a:ext cx="109728" cy="320040"/>
          </a:xfrm>
          <a:prstGeom prst="roundRect">
            <a:avLst>
              <a:gd name="adj" fmla="val 16667"/>
            </a:avLst>
          </a:prstGeom>
          <a:solidFill>
            <a:srgbClr val="22D3EE">
              <a:alpha val="65000"/>
            </a:srgbClr>
          </a:solidFill>
          <a:ln/>
        </p:spPr>
      </p:sp>
      <p:sp>
        <p:nvSpPr>
          <p:cNvPr id="103" name="Shape 101"/>
          <p:cNvSpPr/>
          <p:nvPr/>
        </p:nvSpPr>
        <p:spPr>
          <a:xfrm>
            <a:off x="9573768" y="5047488"/>
            <a:ext cx="109728" cy="548640"/>
          </a:xfrm>
          <a:prstGeom prst="roundRect">
            <a:avLst>
              <a:gd name="adj" fmla="val 16667"/>
            </a:avLst>
          </a:prstGeom>
          <a:solidFill>
            <a:srgbClr val="7C6FF7">
              <a:alpha val="65000"/>
            </a:srgbClr>
          </a:solidFill>
          <a:ln/>
        </p:spPr>
      </p:sp>
      <p:sp>
        <p:nvSpPr>
          <p:cNvPr id="104" name="Shape 102"/>
          <p:cNvSpPr/>
          <p:nvPr/>
        </p:nvSpPr>
        <p:spPr>
          <a:xfrm>
            <a:off x="9738360" y="5138928"/>
            <a:ext cx="109728" cy="457200"/>
          </a:xfrm>
          <a:prstGeom prst="roundRect">
            <a:avLst>
              <a:gd name="adj" fmla="val 16667"/>
            </a:avLst>
          </a:prstGeom>
          <a:solidFill>
            <a:srgbClr val="22D3EE">
              <a:alpha val="65000"/>
            </a:srgbClr>
          </a:solidFill>
          <a:ln/>
        </p:spPr>
      </p:sp>
      <p:sp>
        <p:nvSpPr>
          <p:cNvPr id="105" name="Shape 103"/>
          <p:cNvSpPr/>
          <p:nvPr/>
        </p:nvSpPr>
        <p:spPr>
          <a:xfrm>
            <a:off x="9902952" y="5230368"/>
            <a:ext cx="109728" cy="365760"/>
          </a:xfrm>
          <a:prstGeom prst="roundRect">
            <a:avLst>
              <a:gd name="adj" fmla="val 16667"/>
            </a:avLst>
          </a:prstGeom>
          <a:solidFill>
            <a:srgbClr val="7C6FF7">
              <a:alpha val="65000"/>
            </a:srgbClr>
          </a:solidFill>
          <a:ln/>
        </p:spPr>
      </p:sp>
      <p:sp>
        <p:nvSpPr>
          <p:cNvPr id="106" name="Shape 104"/>
          <p:cNvSpPr/>
          <p:nvPr/>
        </p:nvSpPr>
        <p:spPr>
          <a:xfrm>
            <a:off x="10067544" y="5001768"/>
            <a:ext cx="109728" cy="594360"/>
          </a:xfrm>
          <a:prstGeom prst="roundRect">
            <a:avLst>
              <a:gd name="adj" fmla="val 16667"/>
            </a:avLst>
          </a:prstGeom>
          <a:solidFill>
            <a:srgbClr val="22D3EE">
              <a:alpha val="65000"/>
            </a:srgbClr>
          </a:solidFill>
          <a:ln/>
        </p:spPr>
      </p:sp>
      <p:sp>
        <p:nvSpPr>
          <p:cNvPr id="107" name="Text 105"/>
          <p:cNvSpPr txBox="1"/>
          <p:nvPr/>
        </p:nvSpPr>
        <p:spPr>
          <a:xfrm>
            <a:off x="2057400" y="6016752"/>
            <a:ext cx="9692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A5170"/>
                </a:solidFill>
              </a:rPr>
              <a:t>Fields used:  research_productivity_index  ·  research_impact_score  ·  publications (ARWU pub, CWUR)  ·  citations  ·  university_name  ·  country  ·  year</a:t>
            </a:r>
            <a:endParaRPr lang="en-US" sz="750" dirty="0"/>
          </a:p>
        </p:txBody>
      </p:sp>
      <p:sp>
        <p:nvSpPr>
          <p:cNvPr id="108" name="Text 106"/>
          <p:cNvSpPr txBox="1"/>
          <p:nvPr/>
        </p:nvSpPr>
        <p:spPr>
          <a:xfrm>
            <a:off x="457200" y="660196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A5170"/>
                </a:solidFill>
              </a:rPr>
              <a:t>EduVision_DV  ·  Dashboard 2 — Research Analytics</a:t>
            </a:r>
            <a:endParaRPr lang="en-US" sz="800" dirty="0"/>
          </a:p>
        </p:txBody>
      </p:sp>
      <p:sp>
        <p:nvSpPr>
          <p:cNvPr id="109" name="Text 107"/>
          <p:cNvSpPr txBox="1"/>
          <p:nvPr/>
        </p:nvSpPr>
        <p:spPr>
          <a:xfrm>
            <a:off x="10881360" y="658368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4A5170"/>
                </a:solidFill>
              </a:rPr>
              <a:t>3 / 9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0D16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137160"/>
            <a:ext cx="1554480" cy="256032"/>
          </a:xfrm>
          <a:prstGeom prst="roundRect">
            <a:avLst>
              <a:gd name="adj" fmla="val 17857"/>
            </a:avLst>
          </a:prstGeom>
          <a:solidFill>
            <a:srgbClr val="34D399">
              <a:alpha val="20000"/>
            </a:srgbClr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3716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34D399"/>
                </a:solidFill>
              </a:rPr>
              <a:t>DASHBOARD 03</a:t>
            </a:r>
            <a:endParaRPr lang="en-US" sz="750" dirty="0"/>
          </a:p>
        </p:txBody>
      </p:sp>
      <p:sp>
        <p:nvSpPr>
          <p:cNvPr id="5" name="Text 3"/>
          <p:cNvSpPr txBox="1"/>
          <p:nvPr/>
        </p:nvSpPr>
        <p:spPr>
          <a:xfrm>
            <a:off x="2173403" y="54864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Student Analytics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576072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90AC"/>
                </a:solidFill>
              </a:rPr>
              <a:t>Enrollment · diversity · faculty-to-student ratios by region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932688"/>
            <a:ext cx="1481328" cy="5394960"/>
          </a:xfrm>
          <a:prstGeom prst="roundRect">
            <a:avLst>
              <a:gd name="adj" fmla="val 4938"/>
            </a:avLst>
          </a:prstGeom>
          <a:solidFill>
            <a:srgbClr val="131728"/>
          </a:solidFill>
          <a:ln w="12700">
            <a:solidFill>
              <a:srgbClr val="232A4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1024128"/>
            <a:ext cx="1298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34D399"/>
                </a:solidFill>
              </a:rPr>
              <a:t>FILTERS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566928" y="1298448"/>
            <a:ext cx="1078992" cy="228600"/>
          </a:xfrm>
          <a:prstGeom prst="roundRect">
            <a:avLst>
              <a:gd name="adj" fmla="val 20000"/>
            </a:avLst>
          </a:prstGeom>
          <a:solidFill>
            <a:srgbClr val="1A2036"/>
          </a:solidFill>
          <a:ln w="12700">
            <a:solidFill>
              <a:srgbClr val="232A4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66928" y="1298448"/>
            <a:ext cx="10789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A90AC"/>
                </a:solidFill>
              </a:rPr>
              <a:t>Year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566928" y="1682496"/>
            <a:ext cx="1078992" cy="228600"/>
          </a:xfrm>
          <a:prstGeom prst="roundRect">
            <a:avLst>
              <a:gd name="adj" fmla="val 20000"/>
            </a:avLst>
          </a:prstGeom>
          <a:solidFill>
            <a:srgbClr val="1A2036"/>
          </a:solidFill>
          <a:ln w="12700">
            <a:solidFill>
              <a:srgbClr val="232A4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66928" y="1682496"/>
            <a:ext cx="10789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A90AC"/>
                </a:solidFill>
              </a:rPr>
              <a:t>Region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566928" y="2066544"/>
            <a:ext cx="1078992" cy="228600"/>
          </a:xfrm>
          <a:prstGeom prst="roundRect">
            <a:avLst>
              <a:gd name="adj" fmla="val 20000"/>
            </a:avLst>
          </a:prstGeom>
          <a:solidFill>
            <a:srgbClr val="1A2036"/>
          </a:solidFill>
          <a:ln w="12700">
            <a:solidFill>
              <a:srgbClr val="232A4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66928" y="2066544"/>
            <a:ext cx="10789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A90AC"/>
                </a:solidFill>
              </a:rPr>
              <a:t>Country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566928" y="2450592"/>
            <a:ext cx="1078992" cy="228600"/>
          </a:xfrm>
          <a:prstGeom prst="roundRect">
            <a:avLst>
              <a:gd name="adj" fmla="val 20000"/>
            </a:avLst>
          </a:prstGeom>
          <a:solidFill>
            <a:srgbClr val="1A2036"/>
          </a:solidFill>
          <a:ln w="12700">
            <a:solidFill>
              <a:srgbClr val="232A4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66928" y="2450592"/>
            <a:ext cx="10789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A90AC"/>
                </a:solidFill>
              </a:rPr>
              <a:t>Subject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2057400" y="932688"/>
            <a:ext cx="1572768" cy="1005840"/>
          </a:xfrm>
          <a:prstGeom prst="roundRect">
            <a:avLst>
              <a:gd name="adj" fmla="val 7273"/>
            </a:avLst>
          </a:prstGeom>
          <a:solidFill>
            <a:srgbClr val="131728"/>
          </a:solidFill>
          <a:ln w="12700">
            <a:solidFill>
              <a:srgbClr val="232A4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194560" y="1060704"/>
            <a:ext cx="109728" cy="109728"/>
          </a:xfrm>
          <a:prstGeom prst="ellipse">
            <a:avLst/>
          </a:prstGeom>
          <a:solidFill>
            <a:srgbClr val="7C6FF7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2402900" y="1014984"/>
            <a:ext cx="13898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8A90AC"/>
                </a:solidFill>
              </a:rPr>
              <a:t>TOTAL STUDENTS</a:t>
            </a:r>
            <a:endParaRPr lang="en-US" sz="700" dirty="0"/>
          </a:p>
        </p:txBody>
      </p:sp>
      <p:sp>
        <p:nvSpPr>
          <p:cNvPr id="20" name="Text 18"/>
          <p:cNvSpPr txBox="1"/>
          <p:nvPr/>
        </p:nvSpPr>
        <p:spPr>
          <a:xfrm>
            <a:off x="2148840" y="1225296"/>
            <a:ext cx="13898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312M</a:t>
            </a:r>
            <a:endParaRPr lang="en-US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2148840" y="1645920"/>
            <a:ext cx="13898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7C6FF7"/>
                </a:solidFill>
              </a:rPr>
              <a:t>Enrolled globally</a:t>
            </a:r>
            <a:endParaRPr lang="en-US" sz="700" dirty="0"/>
          </a:p>
        </p:txBody>
      </p:sp>
      <p:sp>
        <p:nvSpPr>
          <p:cNvPr id="22" name="Shape 20"/>
          <p:cNvSpPr/>
          <p:nvPr/>
        </p:nvSpPr>
        <p:spPr>
          <a:xfrm>
            <a:off x="3703320" y="932688"/>
            <a:ext cx="1572768" cy="1005840"/>
          </a:xfrm>
          <a:prstGeom prst="roundRect">
            <a:avLst>
              <a:gd name="adj" fmla="val 7273"/>
            </a:avLst>
          </a:prstGeom>
          <a:solidFill>
            <a:srgbClr val="131728"/>
          </a:solidFill>
          <a:ln w="12700">
            <a:solidFill>
              <a:srgbClr val="232A44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840480" y="1060704"/>
            <a:ext cx="109728" cy="109728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4041648" y="1005840"/>
            <a:ext cx="13898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8A90AC"/>
                </a:solidFill>
              </a:rPr>
              <a:t>INTL STUDENTS</a:t>
            </a:r>
            <a:endParaRPr lang="en-US" sz="700" dirty="0"/>
          </a:p>
        </p:txBody>
      </p:sp>
      <p:sp>
        <p:nvSpPr>
          <p:cNvPr id="25" name="Text 23"/>
          <p:cNvSpPr txBox="1"/>
          <p:nvPr/>
        </p:nvSpPr>
        <p:spPr>
          <a:xfrm>
            <a:off x="3794760" y="1225296"/>
            <a:ext cx="13898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89M</a:t>
            </a:r>
            <a:endParaRPr lang="en-US" sz="2000" dirty="0"/>
          </a:p>
        </p:txBody>
      </p:sp>
      <p:sp>
        <p:nvSpPr>
          <p:cNvPr id="26" name="Text 24"/>
          <p:cNvSpPr txBox="1"/>
          <p:nvPr/>
        </p:nvSpPr>
        <p:spPr>
          <a:xfrm>
            <a:off x="3794760" y="1645920"/>
            <a:ext cx="13898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22D3EE"/>
                </a:solidFill>
              </a:rPr>
              <a:t>THE + QS sources</a:t>
            </a:r>
            <a:endParaRPr lang="en-US" sz="700" dirty="0"/>
          </a:p>
        </p:txBody>
      </p:sp>
      <p:sp>
        <p:nvSpPr>
          <p:cNvPr id="27" name="Shape 25"/>
          <p:cNvSpPr/>
          <p:nvPr/>
        </p:nvSpPr>
        <p:spPr>
          <a:xfrm>
            <a:off x="5349240" y="932688"/>
            <a:ext cx="1572768" cy="1005840"/>
          </a:xfrm>
          <a:prstGeom prst="roundRect">
            <a:avLst>
              <a:gd name="adj" fmla="val 7273"/>
            </a:avLst>
          </a:prstGeom>
          <a:solidFill>
            <a:srgbClr val="131728"/>
          </a:solidFill>
          <a:ln w="12700">
            <a:solidFill>
              <a:srgbClr val="232A44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486400" y="1060704"/>
            <a:ext cx="109728" cy="109728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5687568" y="1029148"/>
            <a:ext cx="13898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8A90AC"/>
                </a:solidFill>
              </a:rPr>
              <a:t>INTL STUDENT %</a:t>
            </a:r>
            <a:endParaRPr lang="en-US" sz="700" dirty="0"/>
          </a:p>
        </p:txBody>
      </p:sp>
      <p:sp>
        <p:nvSpPr>
          <p:cNvPr id="30" name="Text 28"/>
          <p:cNvSpPr txBox="1"/>
          <p:nvPr/>
        </p:nvSpPr>
        <p:spPr>
          <a:xfrm>
            <a:off x="5440680" y="1225296"/>
            <a:ext cx="13898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28.6%</a:t>
            </a:r>
            <a:endParaRPr lang="en-US" sz="2000" dirty="0"/>
          </a:p>
        </p:txBody>
      </p:sp>
      <p:sp>
        <p:nvSpPr>
          <p:cNvPr id="31" name="Text 29"/>
          <p:cNvSpPr txBox="1"/>
          <p:nvPr/>
        </p:nvSpPr>
        <p:spPr>
          <a:xfrm>
            <a:off x="5440680" y="1645920"/>
            <a:ext cx="13898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34D399"/>
                </a:solidFill>
              </a:rPr>
              <a:t>Avg across sources</a:t>
            </a:r>
            <a:endParaRPr lang="en-US" sz="700" dirty="0"/>
          </a:p>
        </p:txBody>
      </p:sp>
      <p:sp>
        <p:nvSpPr>
          <p:cNvPr id="32" name="Shape 30"/>
          <p:cNvSpPr/>
          <p:nvPr/>
        </p:nvSpPr>
        <p:spPr>
          <a:xfrm>
            <a:off x="6995160" y="932688"/>
            <a:ext cx="1572768" cy="1005840"/>
          </a:xfrm>
          <a:prstGeom prst="roundRect">
            <a:avLst>
              <a:gd name="adj" fmla="val 7273"/>
            </a:avLst>
          </a:prstGeom>
          <a:solidFill>
            <a:srgbClr val="131728"/>
          </a:solidFill>
          <a:ln w="12700">
            <a:solidFill>
              <a:srgbClr val="232A44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132320" y="1060704"/>
            <a:ext cx="109728" cy="109728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7319772" y="1024128"/>
            <a:ext cx="13898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8A90AC"/>
                </a:solidFill>
              </a:rPr>
              <a:t>FACULTY : STUDENT</a:t>
            </a:r>
            <a:endParaRPr lang="en-US" sz="700" dirty="0"/>
          </a:p>
        </p:txBody>
      </p:sp>
      <p:sp>
        <p:nvSpPr>
          <p:cNvPr id="35" name="Text 33"/>
          <p:cNvSpPr txBox="1"/>
          <p:nvPr/>
        </p:nvSpPr>
        <p:spPr>
          <a:xfrm>
            <a:off x="7086600" y="1225296"/>
            <a:ext cx="13898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1 : 16</a:t>
            </a:r>
            <a:endParaRPr lang="en-US" sz="2000" dirty="0"/>
          </a:p>
        </p:txBody>
      </p:sp>
      <p:sp>
        <p:nvSpPr>
          <p:cNvPr id="36" name="Text 34"/>
          <p:cNvSpPr txBox="1"/>
          <p:nvPr/>
        </p:nvSpPr>
        <p:spPr>
          <a:xfrm>
            <a:off x="7086600" y="1645920"/>
            <a:ext cx="13898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FBBF24"/>
                </a:solidFill>
              </a:rPr>
              <a:t>Avg staffing</a:t>
            </a:r>
            <a:endParaRPr lang="en-US" sz="700" dirty="0"/>
          </a:p>
        </p:txBody>
      </p:sp>
      <p:sp>
        <p:nvSpPr>
          <p:cNvPr id="37" name="Shape 35"/>
          <p:cNvSpPr/>
          <p:nvPr/>
        </p:nvSpPr>
        <p:spPr>
          <a:xfrm>
            <a:off x="8641080" y="932688"/>
            <a:ext cx="1572768" cy="1005840"/>
          </a:xfrm>
          <a:prstGeom prst="roundRect">
            <a:avLst>
              <a:gd name="adj" fmla="val 7273"/>
            </a:avLst>
          </a:prstGeom>
          <a:solidFill>
            <a:srgbClr val="131728"/>
          </a:solidFill>
          <a:ln w="12700">
            <a:solidFill>
              <a:srgbClr val="232A44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778240" y="1060704"/>
            <a:ext cx="109728" cy="109728"/>
          </a:xfrm>
          <a:prstGeom prst="ellipse">
            <a:avLst/>
          </a:prstGeom>
          <a:solidFill>
            <a:srgbClr val="7C6FF7"/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8942832" y="1024128"/>
            <a:ext cx="13898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8A90AC"/>
                </a:solidFill>
              </a:rPr>
              <a:t>AVG ENROLLMENT</a:t>
            </a:r>
            <a:endParaRPr lang="en-US" sz="700" dirty="0"/>
          </a:p>
        </p:txBody>
      </p:sp>
      <p:sp>
        <p:nvSpPr>
          <p:cNvPr id="40" name="Text 38"/>
          <p:cNvSpPr txBox="1"/>
          <p:nvPr/>
        </p:nvSpPr>
        <p:spPr>
          <a:xfrm>
            <a:off x="8732520" y="1225296"/>
            <a:ext cx="13898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18,400</a:t>
            </a:r>
            <a:endParaRPr lang="en-US" sz="2000" dirty="0"/>
          </a:p>
        </p:txBody>
      </p:sp>
      <p:sp>
        <p:nvSpPr>
          <p:cNvPr id="41" name="Text 39"/>
          <p:cNvSpPr txBox="1"/>
          <p:nvPr/>
        </p:nvSpPr>
        <p:spPr>
          <a:xfrm>
            <a:off x="8732520" y="1645920"/>
            <a:ext cx="13898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7C6FF7"/>
                </a:solidFill>
              </a:rPr>
              <a:t>Per university</a:t>
            </a:r>
            <a:endParaRPr lang="en-US" sz="700" dirty="0"/>
          </a:p>
        </p:txBody>
      </p:sp>
      <p:sp>
        <p:nvSpPr>
          <p:cNvPr id="42" name="Shape 40"/>
          <p:cNvSpPr/>
          <p:nvPr/>
        </p:nvSpPr>
        <p:spPr>
          <a:xfrm>
            <a:off x="10287000" y="932688"/>
            <a:ext cx="1572768" cy="1005840"/>
          </a:xfrm>
          <a:prstGeom prst="roundRect">
            <a:avLst>
              <a:gd name="adj" fmla="val 7273"/>
            </a:avLst>
          </a:prstGeom>
          <a:solidFill>
            <a:srgbClr val="131728"/>
          </a:solidFill>
          <a:ln w="12700">
            <a:solidFill>
              <a:srgbClr val="232A44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0424160" y="1060704"/>
            <a:ext cx="109728" cy="109728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44" name="Text 42"/>
          <p:cNvSpPr txBox="1"/>
          <p:nvPr/>
        </p:nvSpPr>
        <p:spPr>
          <a:xfrm>
            <a:off x="10635996" y="1005840"/>
            <a:ext cx="13898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8A90AC"/>
                </a:solidFill>
              </a:rPr>
              <a:t>DIVERSITY INDEX</a:t>
            </a:r>
            <a:endParaRPr lang="en-US" sz="700" dirty="0"/>
          </a:p>
        </p:txBody>
      </p:sp>
      <p:sp>
        <p:nvSpPr>
          <p:cNvPr id="45" name="Text 43"/>
          <p:cNvSpPr txBox="1"/>
          <p:nvPr/>
        </p:nvSpPr>
        <p:spPr>
          <a:xfrm>
            <a:off x="10378440" y="1225296"/>
            <a:ext cx="13898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28.6</a:t>
            </a:r>
            <a:endParaRPr lang="en-US" sz="2000" dirty="0"/>
          </a:p>
        </p:txBody>
      </p:sp>
      <p:sp>
        <p:nvSpPr>
          <p:cNvPr id="46" name="Text 44"/>
          <p:cNvSpPr txBox="1"/>
          <p:nvPr/>
        </p:nvSpPr>
        <p:spPr>
          <a:xfrm>
            <a:off x="10378440" y="1645920"/>
            <a:ext cx="13898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22D3EE"/>
                </a:solidFill>
              </a:rPr>
              <a:t>Intl % as proxy</a:t>
            </a:r>
            <a:endParaRPr lang="en-US" sz="700" dirty="0"/>
          </a:p>
        </p:txBody>
      </p:sp>
      <p:sp>
        <p:nvSpPr>
          <p:cNvPr id="47" name="Shape 45"/>
          <p:cNvSpPr/>
          <p:nvPr/>
        </p:nvSpPr>
        <p:spPr>
          <a:xfrm>
            <a:off x="2057400" y="2103120"/>
            <a:ext cx="4526280" cy="1691640"/>
          </a:xfrm>
          <a:prstGeom prst="roundRect">
            <a:avLst>
              <a:gd name="adj" fmla="val 4324"/>
            </a:avLst>
          </a:prstGeom>
          <a:solidFill>
            <a:srgbClr val="131728"/>
          </a:solidFill>
          <a:ln w="12700">
            <a:solidFill>
              <a:srgbClr val="232A44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2194560" y="2212848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7C6FF7"/>
                </a:solidFill>
              </a:rPr>
              <a:t>BAR CHART</a:t>
            </a:r>
            <a:endParaRPr lang="en-US" sz="700" dirty="0"/>
          </a:p>
        </p:txBody>
      </p:sp>
      <p:sp>
        <p:nvSpPr>
          <p:cNvPr id="49" name="Text 47"/>
          <p:cNvSpPr txBox="1"/>
          <p:nvPr/>
        </p:nvSpPr>
        <p:spPr>
          <a:xfrm>
            <a:off x="2194560" y="2414016"/>
            <a:ext cx="4251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International Students by Country</a:t>
            </a:r>
            <a:endParaRPr lang="en-US" sz="1000" dirty="0"/>
          </a:p>
        </p:txBody>
      </p:sp>
      <p:sp>
        <p:nvSpPr>
          <p:cNvPr id="50" name="Text 48"/>
          <p:cNvSpPr txBox="1"/>
          <p:nvPr/>
        </p:nvSpPr>
        <p:spPr>
          <a:xfrm>
            <a:off x="2194560" y="2688336"/>
            <a:ext cx="4251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90AC"/>
                </a:solidFill>
              </a:rPr>
              <a:t>Top 14 countries · horizontal · colored by region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2240280" y="3154680"/>
            <a:ext cx="109728" cy="411480"/>
          </a:xfrm>
          <a:prstGeom prst="roundRect">
            <a:avLst>
              <a:gd name="adj" fmla="val 16667"/>
            </a:avLst>
          </a:prstGeom>
          <a:solidFill>
            <a:srgbClr val="7C6FF7">
              <a:alpha val="65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2404872" y="2926080"/>
            <a:ext cx="109728" cy="640080"/>
          </a:xfrm>
          <a:prstGeom prst="roundRect">
            <a:avLst>
              <a:gd name="adj" fmla="val 16667"/>
            </a:avLst>
          </a:prstGeom>
          <a:solidFill>
            <a:srgbClr val="22D3EE">
              <a:alpha val="65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2569464" y="3063240"/>
            <a:ext cx="109728" cy="502920"/>
          </a:xfrm>
          <a:prstGeom prst="roundRect">
            <a:avLst>
              <a:gd name="adj" fmla="val 16667"/>
            </a:avLst>
          </a:prstGeom>
          <a:solidFill>
            <a:srgbClr val="7C6FF7">
              <a:alpha val="65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2734056" y="3246120"/>
            <a:ext cx="109728" cy="320040"/>
          </a:xfrm>
          <a:prstGeom prst="roundRect">
            <a:avLst>
              <a:gd name="adj" fmla="val 16667"/>
            </a:avLst>
          </a:prstGeom>
          <a:solidFill>
            <a:srgbClr val="22D3EE">
              <a:alpha val="65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2898648" y="3017520"/>
            <a:ext cx="109728" cy="548640"/>
          </a:xfrm>
          <a:prstGeom prst="roundRect">
            <a:avLst>
              <a:gd name="adj" fmla="val 16667"/>
            </a:avLst>
          </a:prstGeom>
          <a:solidFill>
            <a:srgbClr val="7C6FF7">
              <a:alpha val="65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3063240" y="3108960"/>
            <a:ext cx="109728" cy="457200"/>
          </a:xfrm>
          <a:prstGeom prst="roundRect">
            <a:avLst>
              <a:gd name="adj" fmla="val 16667"/>
            </a:avLst>
          </a:prstGeom>
          <a:solidFill>
            <a:srgbClr val="22D3EE">
              <a:alpha val="65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3227832" y="3200400"/>
            <a:ext cx="109728" cy="365760"/>
          </a:xfrm>
          <a:prstGeom prst="roundRect">
            <a:avLst>
              <a:gd name="adj" fmla="val 16667"/>
            </a:avLst>
          </a:prstGeom>
          <a:solidFill>
            <a:srgbClr val="7C6FF7">
              <a:alpha val="65000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3392424" y="2971800"/>
            <a:ext cx="109728" cy="594360"/>
          </a:xfrm>
          <a:prstGeom prst="roundRect">
            <a:avLst>
              <a:gd name="adj" fmla="val 16667"/>
            </a:avLst>
          </a:prstGeom>
          <a:solidFill>
            <a:srgbClr val="22D3EE">
              <a:alpha val="65000"/>
            </a:srgbClr>
          </a:solidFill>
          <a:ln/>
        </p:spPr>
      </p:sp>
      <p:sp>
        <p:nvSpPr>
          <p:cNvPr id="59" name="Shape 57"/>
          <p:cNvSpPr/>
          <p:nvPr/>
        </p:nvSpPr>
        <p:spPr>
          <a:xfrm>
            <a:off x="6720840" y="2103120"/>
            <a:ext cx="5029200" cy="1691640"/>
          </a:xfrm>
          <a:prstGeom prst="roundRect">
            <a:avLst>
              <a:gd name="adj" fmla="val 4324"/>
            </a:avLst>
          </a:prstGeom>
          <a:solidFill>
            <a:srgbClr val="131728"/>
          </a:solidFill>
          <a:ln w="12700">
            <a:solidFill>
              <a:srgbClr val="232A44"/>
            </a:solidFill>
            <a:prstDash val="solid"/>
          </a:ln>
        </p:spPr>
      </p:sp>
      <p:sp>
        <p:nvSpPr>
          <p:cNvPr id="60" name="Text 58"/>
          <p:cNvSpPr txBox="1"/>
          <p:nvPr/>
        </p:nvSpPr>
        <p:spPr>
          <a:xfrm>
            <a:off x="6858000" y="2212848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7C6FF7"/>
                </a:solidFill>
              </a:rPr>
              <a:t>BAR CHART</a:t>
            </a:r>
            <a:endParaRPr lang="en-US" sz="700" dirty="0"/>
          </a:p>
        </p:txBody>
      </p:sp>
      <p:sp>
        <p:nvSpPr>
          <p:cNvPr id="61" name="Text 59"/>
          <p:cNvSpPr txBox="1"/>
          <p:nvPr/>
        </p:nvSpPr>
        <p:spPr>
          <a:xfrm>
            <a:off x="6858000" y="2414016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International Student %</a:t>
            </a:r>
            <a:endParaRPr lang="en-US" sz="1000" dirty="0"/>
          </a:p>
        </p:txBody>
      </p:sp>
      <p:sp>
        <p:nvSpPr>
          <p:cNvPr id="62" name="Text 60"/>
          <p:cNvSpPr txBox="1"/>
          <p:nvPr/>
        </p:nvSpPr>
        <p:spPr>
          <a:xfrm>
            <a:off x="6858000" y="2688336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90AC"/>
                </a:solidFill>
              </a:rPr>
              <a:t>Top 10 universities · sorted descending</a:t>
            </a:r>
            <a:endParaRPr lang="en-US" sz="850" dirty="0"/>
          </a:p>
        </p:txBody>
      </p:sp>
      <p:sp>
        <p:nvSpPr>
          <p:cNvPr id="63" name="Shape 61"/>
          <p:cNvSpPr/>
          <p:nvPr/>
        </p:nvSpPr>
        <p:spPr>
          <a:xfrm>
            <a:off x="6903720" y="3154680"/>
            <a:ext cx="109728" cy="411480"/>
          </a:xfrm>
          <a:prstGeom prst="roundRect">
            <a:avLst>
              <a:gd name="adj" fmla="val 16667"/>
            </a:avLst>
          </a:prstGeom>
          <a:solidFill>
            <a:srgbClr val="7C6FF7">
              <a:alpha val="65000"/>
            </a:srgbClr>
          </a:solidFill>
          <a:ln/>
        </p:spPr>
      </p:sp>
      <p:sp>
        <p:nvSpPr>
          <p:cNvPr id="64" name="Shape 62"/>
          <p:cNvSpPr/>
          <p:nvPr/>
        </p:nvSpPr>
        <p:spPr>
          <a:xfrm>
            <a:off x="7068312" y="2926080"/>
            <a:ext cx="109728" cy="640080"/>
          </a:xfrm>
          <a:prstGeom prst="roundRect">
            <a:avLst>
              <a:gd name="adj" fmla="val 16667"/>
            </a:avLst>
          </a:prstGeom>
          <a:solidFill>
            <a:srgbClr val="22D3EE">
              <a:alpha val="65000"/>
            </a:srgbClr>
          </a:solidFill>
          <a:ln/>
        </p:spPr>
      </p:sp>
      <p:sp>
        <p:nvSpPr>
          <p:cNvPr id="65" name="Shape 63"/>
          <p:cNvSpPr/>
          <p:nvPr/>
        </p:nvSpPr>
        <p:spPr>
          <a:xfrm>
            <a:off x="7232904" y="3063240"/>
            <a:ext cx="109728" cy="502920"/>
          </a:xfrm>
          <a:prstGeom prst="roundRect">
            <a:avLst>
              <a:gd name="adj" fmla="val 16667"/>
            </a:avLst>
          </a:prstGeom>
          <a:solidFill>
            <a:srgbClr val="7C6FF7">
              <a:alpha val="65000"/>
            </a:srgbClr>
          </a:solidFill>
          <a:ln/>
        </p:spPr>
      </p:sp>
      <p:sp>
        <p:nvSpPr>
          <p:cNvPr id="66" name="Shape 64"/>
          <p:cNvSpPr/>
          <p:nvPr/>
        </p:nvSpPr>
        <p:spPr>
          <a:xfrm>
            <a:off x="7397496" y="3246120"/>
            <a:ext cx="109728" cy="320040"/>
          </a:xfrm>
          <a:prstGeom prst="roundRect">
            <a:avLst>
              <a:gd name="adj" fmla="val 16667"/>
            </a:avLst>
          </a:prstGeom>
          <a:solidFill>
            <a:srgbClr val="22D3EE">
              <a:alpha val="65000"/>
            </a:srgbClr>
          </a:solidFill>
          <a:ln/>
        </p:spPr>
      </p:sp>
      <p:sp>
        <p:nvSpPr>
          <p:cNvPr id="67" name="Shape 65"/>
          <p:cNvSpPr/>
          <p:nvPr/>
        </p:nvSpPr>
        <p:spPr>
          <a:xfrm>
            <a:off x="7562088" y="3017520"/>
            <a:ext cx="109728" cy="548640"/>
          </a:xfrm>
          <a:prstGeom prst="roundRect">
            <a:avLst>
              <a:gd name="adj" fmla="val 16667"/>
            </a:avLst>
          </a:prstGeom>
          <a:solidFill>
            <a:srgbClr val="7C6FF7">
              <a:alpha val="65000"/>
            </a:srgbClr>
          </a:solidFill>
          <a:ln/>
        </p:spPr>
      </p:sp>
      <p:sp>
        <p:nvSpPr>
          <p:cNvPr id="68" name="Shape 66"/>
          <p:cNvSpPr/>
          <p:nvPr/>
        </p:nvSpPr>
        <p:spPr>
          <a:xfrm>
            <a:off x="7726680" y="3108960"/>
            <a:ext cx="109728" cy="457200"/>
          </a:xfrm>
          <a:prstGeom prst="roundRect">
            <a:avLst>
              <a:gd name="adj" fmla="val 16667"/>
            </a:avLst>
          </a:prstGeom>
          <a:solidFill>
            <a:srgbClr val="22D3EE">
              <a:alpha val="65000"/>
            </a:srgbClr>
          </a:solidFill>
          <a:ln/>
        </p:spPr>
      </p:sp>
      <p:sp>
        <p:nvSpPr>
          <p:cNvPr id="69" name="Shape 67"/>
          <p:cNvSpPr/>
          <p:nvPr/>
        </p:nvSpPr>
        <p:spPr>
          <a:xfrm>
            <a:off x="7891272" y="3200400"/>
            <a:ext cx="109728" cy="365760"/>
          </a:xfrm>
          <a:prstGeom prst="roundRect">
            <a:avLst>
              <a:gd name="adj" fmla="val 16667"/>
            </a:avLst>
          </a:prstGeom>
          <a:solidFill>
            <a:srgbClr val="7C6FF7">
              <a:alpha val="65000"/>
            </a:srgbClr>
          </a:solidFill>
          <a:ln/>
        </p:spPr>
      </p:sp>
      <p:sp>
        <p:nvSpPr>
          <p:cNvPr id="70" name="Shape 68"/>
          <p:cNvSpPr/>
          <p:nvPr/>
        </p:nvSpPr>
        <p:spPr>
          <a:xfrm>
            <a:off x="8055864" y="2971800"/>
            <a:ext cx="109728" cy="594360"/>
          </a:xfrm>
          <a:prstGeom prst="roundRect">
            <a:avLst>
              <a:gd name="adj" fmla="val 16667"/>
            </a:avLst>
          </a:prstGeom>
          <a:solidFill>
            <a:srgbClr val="22D3EE">
              <a:alpha val="65000"/>
            </a:srgbClr>
          </a:solidFill>
          <a:ln/>
        </p:spPr>
      </p:sp>
      <p:sp>
        <p:nvSpPr>
          <p:cNvPr id="71" name="Shape 69"/>
          <p:cNvSpPr/>
          <p:nvPr/>
        </p:nvSpPr>
        <p:spPr>
          <a:xfrm>
            <a:off x="2057400" y="3950208"/>
            <a:ext cx="3017520" cy="1874520"/>
          </a:xfrm>
          <a:prstGeom prst="roundRect">
            <a:avLst>
              <a:gd name="adj" fmla="val 3902"/>
            </a:avLst>
          </a:prstGeom>
          <a:solidFill>
            <a:srgbClr val="131728"/>
          </a:solidFill>
          <a:ln w="12700">
            <a:solidFill>
              <a:srgbClr val="232A44"/>
            </a:solidFill>
            <a:prstDash val="solid"/>
          </a:ln>
        </p:spPr>
      </p:sp>
      <p:sp>
        <p:nvSpPr>
          <p:cNvPr id="72" name="Text 70"/>
          <p:cNvSpPr txBox="1"/>
          <p:nvPr/>
        </p:nvSpPr>
        <p:spPr>
          <a:xfrm>
            <a:off x="2194560" y="4059936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7C6FF7"/>
                </a:solidFill>
              </a:rPr>
              <a:t>BAR CHART</a:t>
            </a:r>
            <a:endParaRPr lang="en-US" sz="700" dirty="0"/>
          </a:p>
        </p:txBody>
      </p:sp>
      <p:sp>
        <p:nvSpPr>
          <p:cNvPr id="73" name="Text 71"/>
          <p:cNvSpPr txBox="1"/>
          <p:nvPr/>
        </p:nvSpPr>
        <p:spPr>
          <a:xfrm>
            <a:off x="2194560" y="426110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Faculty-to-Student Ratio by Region</a:t>
            </a:r>
            <a:endParaRPr lang="en-US" sz="1000" dirty="0"/>
          </a:p>
        </p:txBody>
      </p:sp>
      <p:sp>
        <p:nvSpPr>
          <p:cNvPr id="74" name="Text 72"/>
          <p:cNvSpPr txBox="1"/>
          <p:nvPr/>
        </p:nvSpPr>
        <p:spPr>
          <a:xfrm>
            <a:off x="2194560" y="4535424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90AC"/>
                </a:solidFill>
              </a:rPr>
              <a:t>Lower = more staffed · 6 regions compared</a:t>
            </a:r>
            <a:endParaRPr lang="en-US" sz="850" dirty="0"/>
          </a:p>
        </p:txBody>
      </p:sp>
      <p:sp>
        <p:nvSpPr>
          <p:cNvPr id="75" name="Shape 73"/>
          <p:cNvSpPr/>
          <p:nvPr/>
        </p:nvSpPr>
        <p:spPr>
          <a:xfrm>
            <a:off x="2240280" y="5184648"/>
            <a:ext cx="109728" cy="411480"/>
          </a:xfrm>
          <a:prstGeom prst="roundRect">
            <a:avLst>
              <a:gd name="adj" fmla="val 16667"/>
            </a:avLst>
          </a:prstGeom>
          <a:solidFill>
            <a:srgbClr val="7C6FF7">
              <a:alpha val="65000"/>
            </a:srgbClr>
          </a:solidFill>
          <a:ln/>
        </p:spPr>
      </p:sp>
      <p:sp>
        <p:nvSpPr>
          <p:cNvPr id="76" name="Shape 74"/>
          <p:cNvSpPr/>
          <p:nvPr/>
        </p:nvSpPr>
        <p:spPr>
          <a:xfrm>
            <a:off x="2404872" y="4956048"/>
            <a:ext cx="109728" cy="640080"/>
          </a:xfrm>
          <a:prstGeom prst="roundRect">
            <a:avLst>
              <a:gd name="adj" fmla="val 16667"/>
            </a:avLst>
          </a:prstGeom>
          <a:solidFill>
            <a:srgbClr val="22D3EE">
              <a:alpha val="65000"/>
            </a:srgbClr>
          </a:solidFill>
          <a:ln/>
        </p:spPr>
      </p:sp>
      <p:sp>
        <p:nvSpPr>
          <p:cNvPr id="77" name="Shape 75"/>
          <p:cNvSpPr/>
          <p:nvPr/>
        </p:nvSpPr>
        <p:spPr>
          <a:xfrm>
            <a:off x="2569464" y="5093208"/>
            <a:ext cx="109728" cy="502920"/>
          </a:xfrm>
          <a:prstGeom prst="roundRect">
            <a:avLst>
              <a:gd name="adj" fmla="val 16667"/>
            </a:avLst>
          </a:prstGeom>
          <a:solidFill>
            <a:srgbClr val="7C6FF7">
              <a:alpha val="65000"/>
            </a:srgbClr>
          </a:solidFill>
          <a:ln/>
        </p:spPr>
      </p:sp>
      <p:sp>
        <p:nvSpPr>
          <p:cNvPr id="78" name="Shape 76"/>
          <p:cNvSpPr/>
          <p:nvPr/>
        </p:nvSpPr>
        <p:spPr>
          <a:xfrm>
            <a:off x="2734056" y="5276088"/>
            <a:ext cx="109728" cy="320040"/>
          </a:xfrm>
          <a:prstGeom prst="roundRect">
            <a:avLst>
              <a:gd name="adj" fmla="val 16667"/>
            </a:avLst>
          </a:prstGeom>
          <a:solidFill>
            <a:srgbClr val="22D3EE">
              <a:alpha val="65000"/>
            </a:srgbClr>
          </a:solidFill>
          <a:ln/>
        </p:spPr>
      </p:sp>
      <p:sp>
        <p:nvSpPr>
          <p:cNvPr id="79" name="Shape 77"/>
          <p:cNvSpPr/>
          <p:nvPr/>
        </p:nvSpPr>
        <p:spPr>
          <a:xfrm>
            <a:off x="2898648" y="5047488"/>
            <a:ext cx="109728" cy="548640"/>
          </a:xfrm>
          <a:prstGeom prst="roundRect">
            <a:avLst>
              <a:gd name="adj" fmla="val 16667"/>
            </a:avLst>
          </a:prstGeom>
          <a:solidFill>
            <a:srgbClr val="7C6FF7">
              <a:alpha val="65000"/>
            </a:srgbClr>
          </a:solidFill>
          <a:ln/>
        </p:spPr>
      </p:sp>
      <p:sp>
        <p:nvSpPr>
          <p:cNvPr id="80" name="Shape 78"/>
          <p:cNvSpPr/>
          <p:nvPr/>
        </p:nvSpPr>
        <p:spPr>
          <a:xfrm>
            <a:off x="3063240" y="5138928"/>
            <a:ext cx="109728" cy="457200"/>
          </a:xfrm>
          <a:prstGeom prst="roundRect">
            <a:avLst>
              <a:gd name="adj" fmla="val 16667"/>
            </a:avLst>
          </a:prstGeom>
          <a:solidFill>
            <a:srgbClr val="22D3EE">
              <a:alpha val="65000"/>
            </a:srgbClr>
          </a:solidFill>
          <a:ln/>
        </p:spPr>
      </p:sp>
      <p:sp>
        <p:nvSpPr>
          <p:cNvPr id="81" name="Shape 79"/>
          <p:cNvSpPr/>
          <p:nvPr/>
        </p:nvSpPr>
        <p:spPr>
          <a:xfrm>
            <a:off x="3227832" y="5230368"/>
            <a:ext cx="109728" cy="365760"/>
          </a:xfrm>
          <a:prstGeom prst="roundRect">
            <a:avLst>
              <a:gd name="adj" fmla="val 16667"/>
            </a:avLst>
          </a:prstGeom>
          <a:solidFill>
            <a:srgbClr val="7C6FF7">
              <a:alpha val="65000"/>
            </a:srgbClr>
          </a:solidFill>
          <a:ln/>
        </p:spPr>
      </p:sp>
      <p:sp>
        <p:nvSpPr>
          <p:cNvPr id="82" name="Shape 80"/>
          <p:cNvSpPr/>
          <p:nvPr/>
        </p:nvSpPr>
        <p:spPr>
          <a:xfrm>
            <a:off x="3392424" y="5001768"/>
            <a:ext cx="109728" cy="594360"/>
          </a:xfrm>
          <a:prstGeom prst="roundRect">
            <a:avLst>
              <a:gd name="adj" fmla="val 16667"/>
            </a:avLst>
          </a:prstGeom>
          <a:solidFill>
            <a:srgbClr val="22D3EE">
              <a:alpha val="65000"/>
            </a:srgbClr>
          </a:solidFill>
          <a:ln/>
        </p:spPr>
      </p:sp>
      <p:sp>
        <p:nvSpPr>
          <p:cNvPr id="83" name="Shape 81"/>
          <p:cNvSpPr/>
          <p:nvPr/>
        </p:nvSpPr>
        <p:spPr>
          <a:xfrm>
            <a:off x="5212080" y="3950208"/>
            <a:ext cx="3291840" cy="1874520"/>
          </a:xfrm>
          <a:prstGeom prst="roundRect">
            <a:avLst>
              <a:gd name="adj" fmla="val 3902"/>
            </a:avLst>
          </a:prstGeom>
          <a:solidFill>
            <a:srgbClr val="131728"/>
          </a:solidFill>
          <a:ln w="12700">
            <a:solidFill>
              <a:srgbClr val="232A44"/>
            </a:solidFill>
            <a:prstDash val="solid"/>
          </a:ln>
        </p:spPr>
      </p:sp>
      <p:sp>
        <p:nvSpPr>
          <p:cNvPr id="84" name="Text 82"/>
          <p:cNvSpPr txBox="1"/>
          <p:nvPr/>
        </p:nvSpPr>
        <p:spPr>
          <a:xfrm>
            <a:off x="5349240" y="4059936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7C6FF7"/>
                </a:solidFill>
              </a:rPr>
              <a:t>BAR CHART</a:t>
            </a:r>
            <a:endParaRPr lang="en-US" sz="700" dirty="0"/>
          </a:p>
        </p:txBody>
      </p:sp>
      <p:sp>
        <p:nvSpPr>
          <p:cNvPr id="85" name="Text 83"/>
          <p:cNvSpPr txBox="1"/>
          <p:nvPr/>
        </p:nvSpPr>
        <p:spPr>
          <a:xfrm>
            <a:off x="5349240" y="4261104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Enrollment Comparison</a:t>
            </a:r>
            <a:endParaRPr lang="en-US" sz="1000" dirty="0"/>
          </a:p>
        </p:txBody>
      </p:sp>
      <p:sp>
        <p:nvSpPr>
          <p:cNvPr id="86" name="Text 84"/>
          <p:cNvSpPr txBox="1"/>
          <p:nvPr/>
        </p:nvSpPr>
        <p:spPr>
          <a:xfrm>
            <a:off x="5349240" y="4535424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90AC"/>
                </a:solidFill>
              </a:rPr>
              <a:t>Total vs International students · by year</a:t>
            </a:r>
            <a:endParaRPr lang="en-US" sz="850" dirty="0"/>
          </a:p>
        </p:txBody>
      </p:sp>
      <p:sp>
        <p:nvSpPr>
          <p:cNvPr id="87" name="Shape 85"/>
          <p:cNvSpPr/>
          <p:nvPr/>
        </p:nvSpPr>
        <p:spPr>
          <a:xfrm>
            <a:off x="5394960" y="5184648"/>
            <a:ext cx="109728" cy="411480"/>
          </a:xfrm>
          <a:prstGeom prst="roundRect">
            <a:avLst>
              <a:gd name="adj" fmla="val 16667"/>
            </a:avLst>
          </a:prstGeom>
          <a:solidFill>
            <a:srgbClr val="7C6FF7">
              <a:alpha val="65000"/>
            </a:srgbClr>
          </a:solidFill>
          <a:ln/>
        </p:spPr>
      </p:sp>
      <p:sp>
        <p:nvSpPr>
          <p:cNvPr id="88" name="Shape 86"/>
          <p:cNvSpPr/>
          <p:nvPr/>
        </p:nvSpPr>
        <p:spPr>
          <a:xfrm>
            <a:off x="5559552" y="4956048"/>
            <a:ext cx="109728" cy="640080"/>
          </a:xfrm>
          <a:prstGeom prst="roundRect">
            <a:avLst>
              <a:gd name="adj" fmla="val 16667"/>
            </a:avLst>
          </a:prstGeom>
          <a:solidFill>
            <a:srgbClr val="22D3EE">
              <a:alpha val="65000"/>
            </a:srgbClr>
          </a:solidFill>
          <a:ln/>
        </p:spPr>
      </p:sp>
      <p:sp>
        <p:nvSpPr>
          <p:cNvPr id="89" name="Shape 87"/>
          <p:cNvSpPr/>
          <p:nvPr/>
        </p:nvSpPr>
        <p:spPr>
          <a:xfrm>
            <a:off x="5724144" y="5093208"/>
            <a:ext cx="109728" cy="502920"/>
          </a:xfrm>
          <a:prstGeom prst="roundRect">
            <a:avLst>
              <a:gd name="adj" fmla="val 16667"/>
            </a:avLst>
          </a:prstGeom>
          <a:solidFill>
            <a:srgbClr val="7C6FF7">
              <a:alpha val="65000"/>
            </a:srgbClr>
          </a:solidFill>
          <a:ln/>
        </p:spPr>
      </p:sp>
      <p:sp>
        <p:nvSpPr>
          <p:cNvPr id="90" name="Shape 88"/>
          <p:cNvSpPr/>
          <p:nvPr/>
        </p:nvSpPr>
        <p:spPr>
          <a:xfrm>
            <a:off x="5888736" y="5276088"/>
            <a:ext cx="109728" cy="320040"/>
          </a:xfrm>
          <a:prstGeom prst="roundRect">
            <a:avLst>
              <a:gd name="adj" fmla="val 16667"/>
            </a:avLst>
          </a:prstGeom>
          <a:solidFill>
            <a:srgbClr val="22D3EE">
              <a:alpha val="65000"/>
            </a:srgbClr>
          </a:solidFill>
          <a:ln/>
        </p:spPr>
      </p:sp>
      <p:sp>
        <p:nvSpPr>
          <p:cNvPr id="91" name="Shape 89"/>
          <p:cNvSpPr/>
          <p:nvPr/>
        </p:nvSpPr>
        <p:spPr>
          <a:xfrm>
            <a:off x="6053328" y="5047488"/>
            <a:ext cx="109728" cy="548640"/>
          </a:xfrm>
          <a:prstGeom prst="roundRect">
            <a:avLst>
              <a:gd name="adj" fmla="val 16667"/>
            </a:avLst>
          </a:prstGeom>
          <a:solidFill>
            <a:srgbClr val="7C6FF7">
              <a:alpha val="65000"/>
            </a:srgbClr>
          </a:solidFill>
          <a:ln/>
        </p:spPr>
      </p:sp>
      <p:sp>
        <p:nvSpPr>
          <p:cNvPr id="92" name="Shape 90"/>
          <p:cNvSpPr/>
          <p:nvPr/>
        </p:nvSpPr>
        <p:spPr>
          <a:xfrm>
            <a:off x="6217920" y="5138928"/>
            <a:ext cx="109728" cy="457200"/>
          </a:xfrm>
          <a:prstGeom prst="roundRect">
            <a:avLst>
              <a:gd name="adj" fmla="val 16667"/>
            </a:avLst>
          </a:prstGeom>
          <a:solidFill>
            <a:srgbClr val="22D3EE">
              <a:alpha val="65000"/>
            </a:srgbClr>
          </a:solidFill>
          <a:ln/>
        </p:spPr>
      </p:sp>
      <p:sp>
        <p:nvSpPr>
          <p:cNvPr id="93" name="Shape 91"/>
          <p:cNvSpPr/>
          <p:nvPr/>
        </p:nvSpPr>
        <p:spPr>
          <a:xfrm>
            <a:off x="6382512" y="5230368"/>
            <a:ext cx="109728" cy="365760"/>
          </a:xfrm>
          <a:prstGeom prst="roundRect">
            <a:avLst>
              <a:gd name="adj" fmla="val 16667"/>
            </a:avLst>
          </a:prstGeom>
          <a:solidFill>
            <a:srgbClr val="7C6FF7">
              <a:alpha val="65000"/>
            </a:srgbClr>
          </a:solidFill>
          <a:ln/>
        </p:spPr>
      </p:sp>
      <p:sp>
        <p:nvSpPr>
          <p:cNvPr id="94" name="Shape 92"/>
          <p:cNvSpPr/>
          <p:nvPr/>
        </p:nvSpPr>
        <p:spPr>
          <a:xfrm>
            <a:off x="6547104" y="5001768"/>
            <a:ext cx="109728" cy="594360"/>
          </a:xfrm>
          <a:prstGeom prst="roundRect">
            <a:avLst>
              <a:gd name="adj" fmla="val 16667"/>
            </a:avLst>
          </a:prstGeom>
          <a:solidFill>
            <a:srgbClr val="22D3EE">
              <a:alpha val="65000"/>
            </a:srgbClr>
          </a:solidFill>
          <a:ln/>
        </p:spPr>
      </p:sp>
      <p:sp>
        <p:nvSpPr>
          <p:cNvPr id="95" name="Shape 93"/>
          <p:cNvSpPr/>
          <p:nvPr/>
        </p:nvSpPr>
        <p:spPr>
          <a:xfrm>
            <a:off x="8641080" y="3950208"/>
            <a:ext cx="3108960" cy="1874520"/>
          </a:xfrm>
          <a:prstGeom prst="roundRect">
            <a:avLst>
              <a:gd name="adj" fmla="val 3902"/>
            </a:avLst>
          </a:prstGeom>
          <a:solidFill>
            <a:srgbClr val="131728"/>
          </a:solidFill>
          <a:ln w="12700">
            <a:solidFill>
              <a:srgbClr val="232A44"/>
            </a:solidFill>
            <a:prstDash val="solid"/>
          </a:ln>
        </p:spPr>
      </p:sp>
      <p:sp>
        <p:nvSpPr>
          <p:cNvPr id="96" name="Text 94"/>
          <p:cNvSpPr txBox="1"/>
          <p:nvPr/>
        </p:nvSpPr>
        <p:spPr>
          <a:xfrm>
            <a:off x="8778240" y="4059936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7C6FF7"/>
                </a:solidFill>
              </a:rPr>
              <a:t>LINE</a:t>
            </a:r>
            <a:endParaRPr lang="en-US" sz="700" dirty="0"/>
          </a:p>
        </p:txBody>
      </p:sp>
      <p:sp>
        <p:nvSpPr>
          <p:cNvPr id="97" name="Text 95"/>
          <p:cNvSpPr txBox="1"/>
          <p:nvPr/>
        </p:nvSpPr>
        <p:spPr>
          <a:xfrm>
            <a:off x="8778240" y="4261104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Student Diversity Trend</a:t>
            </a:r>
            <a:endParaRPr lang="en-US" sz="1000" dirty="0"/>
          </a:p>
        </p:txBody>
      </p:sp>
      <p:sp>
        <p:nvSpPr>
          <p:cNvPr id="98" name="Text 96"/>
          <p:cNvSpPr txBox="1"/>
          <p:nvPr/>
        </p:nvSpPr>
        <p:spPr>
          <a:xfrm>
            <a:off x="8778240" y="4535424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90AC"/>
                </a:solidFill>
              </a:rPr>
              <a:t>Avg international student % across years</a:t>
            </a:r>
            <a:endParaRPr lang="en-US" sz="850" dirty="0"/>
          </a:p>
        </p:txBody>
      </p:sp>
      <p:sp>
        <p:nvSpPr>
          <p:cNvPr id="99" name="Shape 97"/>
          <p:cNvSpPr/>
          <p:nvPr/>
        </p:nvSpPr>
        <p:spPr>
          <a:xfrm>
            <a:off x="8823960" y="5184648"/>
            <a:ext cx="109728" cy="411480"/>
          </a:xfrm>
          <a:prstGeom prst="roundRect">
            <a:avLst>
              <a:gd name="adj" fmla="val 16667"/>
            </a:avLst>
          </a:prstGeom>
          <a:solidFill>
            <a:srgbClr val="7C6FF7">
              <a:alpha val="65000"/>
            </a:srgbClr>
          </a:solidFill>
          <a:ln/>
        </p:spPr>
      </p:sp>
      <p:sp>
        <p:nvSpPr>
          <p:cNvPr id="100" name="Shape 98"/>
          <p:cNvSpPr/>
          <p:nvPr/>
        </p:nvSpPr>
        <p:spPr>
          <a:xfrm>
            <a:off x="8988552" y="4956048"/>
            <a:ext cx="109728" cy="640080"/>
          </a:xfrm>
          <a:prstGeom prst="roundRect">
            <a:avLst>
              <a:gd name="adj" fmla="val 16667"/>
            </a:avLst>
          </a:prstGeom>
          <a:solidFill>
            <a:srgbClr val="22D3EE">
              <a:alpha val="65000"/>
            </a:srgbClr>
          </a:solidFill>
          <a:ln/>
        </p:spPr>
      </p:sp>
      <p:sp>
        <p:nvSpPr>
          <p:cNvPr id="101" name="Shape 99"/>
          <p:cNvSpPr/>
          <p:nvPr/>
        </p:nvSpPr>
        <p:spPr>
          <a:xfrm>
            <a:off x="9153144" y="5093208"/>
            <a:ext cx="109728" cy="502920"/>
          </a:xfrm>
          <a:prstGeom prst="roundRect">
            <a:avLst>
              <a:gd name="adj" fmla="val 16667"/>
            </a:avLst>
          </a:prstGeom>
          <a:solidFill>
            <a:srgbClr val="7C6FF7">
              <a:alpha val="65000"/>
            </a:srgbClr>
          </a:solidFill>
          <a:ln/>
        </p:spPr>
      </p:sp>
      <p:sp>
        <p:nvSpPr>
          <p:cNvPr id="102" name="Shape 100"/>
          <p:cNvSpPr/>
          <p:nvPr/>
        </p:nvSpPr>
        <p:spPr>
          <a:xfrm>
            <a:off x="9317736" y="5276088"/>
            <a:ext cx="109728" cy="320040"/>
          </a:xfrm>
          <a:prstGeom prst="roundRect">
            <a:avLst>
              <a:gd name="adj" fmla="val 16667"/>
            </a:avLst>
          </a:prstGeom>
          <a:solidFill>
            <a:srgbClr val="22D3EE">
              <a:alpha val="65000"/>
            </a:srgbClr>
          </a:solidFill>
          <a:ln/>
        </p:spPr>
      </p:sp>
      <p:sp>
        <p:nvSpPr>
          <p:cNvPr id="103" name="Shape 101"/>
          <p:cNvSpPr/>
          <p:nvPr/>
        </p:nvSpPr>
        <p:spPr>
          <a:xfrm>
            <a:off x="9482328" y="5047488"/>
            <a:ext cx="109728" cy="548640"/>
          </a:xfrm>
          <a:prstGeom prst="roundRect">
            <a:avLst>
              <a:gd name="adj" fmla="val 16667"/>
            </a:avLst>
          </a:prstGeom>
          <a:solidFill>
            <a:srgbClr val="7C6FF7">
              <a:alpha val="65000"/>
            </a:srgbClr>
          </a:solidFill>
          <a:ln/>
        </p:spPr>
      </p:sp>
      <p:sp>
        <p:nvSpPr>
          <p:cNvPr id="104" name="Shape 102"/>
          <p:cNvSpPr/>
          <p:nvPr/>
        </p:nvSpPr>
        <p:spPr>
          <a:xfrm>
            <a:off x="9646920" y="5138928"/>
            <a:ext cx="109728" cy="457200"/>
          </a:xfrm>
          <a:prstGeom prst="roundRect">
            <a:avLst>
              <a:gd name="adj" fmla="val 16667"/>
            </a:avLst>
          </a:prstGeom>
          <a:solidFill>
            <a:srgbClr val="22D3EE">
              <a:alpha val="65000"/>
            </a:srgbClr>
          </a:solidFill>
          <a:ln/>
        </p:spPr>
      </p:sp>
      <p:sp>
        <p:nvSpPr>
          <p:cNvPr id="105" name="Shape 103"/>
          <p:cNvSpPr/>
          <p:nvPr/>
        </p:nvSpPr>
        <p:spPr>
          <a:xfrm>
            <a:off x="9811512" y="5230368"/>
            <a:ext cx="109728" cy="365760"/>
          </a:xfrm>
          <a:prstGeom prst="roundRect">
            <a:avLst>
              <a:gd name="adj" fmla="val 16667"/>
            </a:avLst>
          </a:prstGeom>
          <a:solidFill>
            <a:srgbClr val="7C6FF7">
              <a:alpha val="65000"/>
            </a:srgbClr>
          </a:solidFill>
          <a:ln/>
        </p:spPr>
      </p:sp>
      <p:sp>
        <p:nvSpPr>
          <p:cNvPr id="106" name="Shape 104"/>
          <p:cNvSpPr/>
          <p:nvPr/>
        </p:nvSpPr>
        <p:spPr>
          <a:xfrm>
            <a:off x="9976104" y="5001768"/>
            <a:ext cx="109728" cy="594360"/>
          </a:xfrm>
          <a:prstGeom prst="roundRect">
            <a:avLst>
              <a:gd name="adj" fmla="val 16667"/>
            </a:avLst>
          </a:prstGeom>
          <a:solidFill>
            <a:srgbClr val="22D3EE">
              <a:alpha val="65000"/>
            </a:srgbClr>
          </a:solidFill>
          <a:ln/>
        </p:spPr>
      </p:sp>
      <p:sp>
        <p:nvSpPr>
          <p:cNvPr id="107" name="Text 105"/>
          <p:cNvSpPr txBox="1"/>
          <p:nvPr/>
        </p:nvSpPr>
        <p:spPr>
          <a:xfrm>
            <a:off x="2057400" y="6016752"/>
            <a:ext cx="9692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A5170"/>
                </a:solidFill>
              </a:rPr>
              <a:t>Fields used:  international_student_pct  ·  faculty_student_ratio  ·  faculty_student_ratio_display  ·  country  ·  region  ·  year</a:t>
            </a:r>
            <a:endParaRPr lang="en-US" sz="750" dirty="0"/>
          </a:p>
        </p:txBody>
      </p:sp>
      <p:sp>
        <p:nvSpPr>
          <p:cNvPr id="108" name="Text 106"/>
          <p:cNvSpPr txBox="1"/>
          <p:nvPr/>
        </p:nvSpPr>
        <p:spPr>
          <a:xfrm>
            <a:off x="457200" y="660196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A5170"/>
                </a:solidFill>
              </a:rPr>
              <a:t>EduVision_DV  ·  Dashboard 3 — Student Analytics</a:t>
            </a:r>
            <a:endParaRPr lang="en-US" sz="800" dirty="0"/>
          </a:p>
        </p:txBody>
      </p:sp>
      <p:sp>
        <p:nvSpPr>
          <p:cNvPr id="109" name="Text 107"/>
          <p:cNvSpPr txBox="1"/>
          <p:nvPr/>
        </p:nvSpPr>
        <p:spPr>
          <a:xfrm>
            <a:off x="10881360" y="658368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4A5170"/>
                </a:solidFill>
              </a:rPr>
              <a:t>4 / 9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0D16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137160"/>
            <a:ext cx="1554480" cy="256032"/>
          </a:xfrm>
          <a:prstGeom prst="roundRect">
            <a:avLst>
              <a:gd name="adj" fmla="val 17857"/>
            </a:avLst>
          </a:prstGeom>
          <a:solidFill>
            <a:srgbClr val="FBBF24">
              <a:alpha val="20000"/>
            </a:srgbClr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3716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BBF24"/>
                </a:solidFill>
              </a:rPr>
              <a:t>DASHBOARD 04</a:t>
            </a:r>
            <a:endParaRPr lang="en-US" sz="750" dirty="0"/>
          </a:p>
        </p:txBody>
      </p:sp>
      <p:sp>
        <p:nvSpPr>
          <p:cNvPr id="5" name="Text 3"/>
          <p:cNvSpPr txBox="1"/>
          <p:nvPr/>
        </p:nvSpPr>
        <p:spPr>
          <a:xfrm>
            <a:off x="2286000" y="13716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Country Comparison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576072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90AC"/>
                </a:solidFill>
              </a:rPr>
              <a:t>Cross-country benchmarking · radar comparison · regional analysis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932688"/>
            <a:ext cx="1481328" cy="5394960"/>
          </a:xfrm>
          <a:prstGeom prst="roundRect">
            <a:avLst>
              <a:gd name="adj" fmla="val 4938"/>
            </a:avLst>
          </a:prstGeom>
          <a:solidFill>
            <a:srgbClr val="131728"/>
          </a:solidFill>
          <a:ln w="12700">
            <a:solidFill>
              <a:srgbClr val="232A4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1024128"/>
            <a:ext cx="1298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BBF24"/>
                </a:solidFill>
              </a:rPr>
              <a:t>FILTERS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566928" y="1298448"/>
            <a:ext cx="1078992" cy="228600"/>
          </a:xfrm>
          <a:prstGeom prst="roundRect">
            <a:avLst>
              <a:gd name="adj" fmla="val 20000"/>
            </a:avLst>
          </a:prstGeom>
          <a:solidFill>
            <a:srgbClr val="1A2036"/>
          </a:solidFill>
          <a:ln w="12700">
            <a:solidFill>
              <a:srgbClr val="232A4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66928" y="1298448"/>
            <a:ext cx="10789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A90AC"/>
                </a:solidFill>
              </a:rPr>
              <a:t>Year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566928" y="1682496"/>
            <a:ext cx="1078992" cy="228600"/>
          </a:xfrm>
          <a:prstGeom prst="roundRect">
            <a:avLst>
              <a:gd name="adj" fmla="val 20000"/>
            </a:avLst>
          </a:prstGeom>
          <a:solidFill>
            <a:srgbClr val="1A2036"/>
          </a:solidFill>
          <a:ln w="12700">
            <a:solidFill>
              <a:srgbClr val="232A4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66928" y="1682496"/>
            <a:ext cx="10789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A90AC"/>
                </a:solidFill>
              </a:rPr>
              <a:t>Region</a:t>
            </a:r>
            <a:endParaRPr lang="en-US" sz="800" dirty="0"/>
          </a:p>
        </p:txBody>
      </p:sp>
      <p:sp>
        <p:nvSpPr>
          <p:cNvPr id="13" name="Text 11"/>
          <p:cNvSpPr txBox="1"/>
          <p:nvPr/>
        </p:nvSpPr>
        <p:spPr>
          <a:xfrm>
            <a:off x="566928" y="2103120"/>
            <a:ext cx="12618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A90AC"/>
                </a:solidFill>
              </a:rPr>
              <a:t>Country Multi-Select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8A90AC"/>
                </a:solidFill>
              </a:rPr>
              <a:t>(2–5 for radar)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2057400" y="932688"/>
            <a:ext cx="1572768" cy="1005840"/>
          </a:xfrm>
          <a:prstGeom prst="roundRect">
            <a:avLst>
              <a:gd name="adj" fmla="val 7273"/>
            </a:avLst>
          </a:prstGeom>
          <a:solidFill>
            <a:srgbClr val="131728"/>
          </a:solidFill>
          <a:ln w="12700">
            <a:solidFill>
              <a:srgbClr val="232A4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194560" y="1060704"/>
            <a:ext cx="109728" cy="109728"/>
          </a:xfrm>
          <a:prstGeom prst="ellipse">
            <a:avLst/>
          </a:prstGeom>
          <a:solidFill>
            <a:srgbClr val="7C6FF7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2438938" y="1024128"/>
            <a:ext cx="13898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8A90AC"/>
                </a:solidFill>
              </a:rPr>
              <a:t>COUNTRIES</a:t>
            </a:r>
            <a:endParaRPr lang="en-US" sz="700" dirty="0"/>
          </a:p>
        </p:txBody>
      </p:sp>
      <p:sp>
        <p:nvSpPr>
          <p:cNvPr id="17" name="Text 15"/>
          <p:cNvSpPr txBox="1"/>
          <p:nvPr/>
        </p:nvSpPr>
        <p:spPr>
          <a:xfrm>
            <a:off x="2148840" y="1225296"/>
            <a:ext cx="13898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74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2148840" y="1645920"/>
            <a:ext cx="13898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7C6FF7"/>
                </a:solidFill>
              </a:rPr>
              <a:t>With ranked unis</a:t>
            </a:r>
            <a:endParaRPr lang="en-US" sz="700" dirty="0"/>
          </a:p>
        </p:txBody>
      </p:sp>
      <p:sp>
        <p:nvSpPr>
          <p:cNvPr id="19" name="Shape 17"/>
          <p:cNvSpPr/>
          <p:nvPr/>
        </p:nvSpPr>
        <p:spPr>
          <a:xfrm>
            <a:off x="3703320" y="932688"/>
            <a:ext cx="1572768" cy="1005840"/>
          </a:xfrm>
          <a:prstGeom prst="roundRect">
            <a:avLst>
              <a:gd name="adj" fmla="val 7273"/>
            </a:avLst>
          </a:prstGeom>
          <a:solidFill>
            <a:srgbClr val="131728"/>
          </a:solidFill>
          <a:ln w="12700">
            <a:solidFill>
              <a:srgbClr val="232A4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840480" y="1060704"/>
            <a:ext cx="109728" cy="109728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4073652" y="1014984"/>
            <a:ext cx="13898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8A90AC"/>
                </a:solidFill>
              </a:rPr>
              <a:t>UNIVERSITIES</a:t>
            </a:r>
            <a:endParaRPr lang="en-US" sz="700" dirty="0"/>
          </a:p>
        </p:txBody>
      </p:sp>
      <p:sp>
        <p:nvSpPr>
          <p:cNvPr id="22" name="Text 20"/>
          <p:cNvSpPr txBox="1"/>
          <p:nvPr/>
        </p:nvSpPr>
        <p:spPr>
          <a:xfrm>
            <a:off x="3794760" y="1225296"/>
            <a:ext cx="13898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1,373</a:t>
            </a:r>
            <a:endParaRPr lang="en-US" sz="2000" dirty="0"/>
          </a:p>
        </p:txBody>
      </p:sp>
      <p:sp>
        <p:nvSpPr>
          <p:cNvPr id="23" name="Text 21"/>
          <p:cNvSpPr txBox="1"/>
          <p:nvPr/>
        </p:nvSpPr>
        <p:spPr>
          <a:xfrm>
            <a:off x="3794760" y="1645920"/>
            <a:ext cx="13898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22D3EE"/>
                </a:solidFill>
              </a:rPr>
              <a:t>Total resolved</a:t>
            </a:r>
            <a:endParaRPr lang="en-US" sz="700" dirty="0"/>
          </a:p>
        </p:txBody>
      </p:sp>
      <p:sp>
        <p:nvSpPr>
          <p:cNvPr id="24" name="Shape 22"/>
          <p:cNvSpPr/>
          <p:nvPr/>
        </p:nvSpPr>
        <p:spPr>
          <a:xfrm>
            <a:off x="5349240" y="932688"/>
            <a:ext cx="1572768" cy="1005840"/>
          </a:xfrm>
          <a:prstGeom prst="roundRect">
            <a:avLst>
              <a:gd name="adj" fmla="val 7273"/>
            </a:avLst>
          </a:prstGeom>
          <a:solidFill>
            <a:srgbClr val="131728"/>
          </a:solidFill>
          <a:ln w="12700">
            <a:solidFill>
              <a:srgbClr val="232A4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486400" y="1060704"/>
            <a:ext cx="109728" cy="109728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5440680" y="1005840"/>
            <a:ext cx="13898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8A90AC"/>
                </a:solidFill>
              </a:rPr>
              <a:t>AVG GLOBAL RANK</a:t>
            </a:r>
            <a:endParaRPr lang="en-US" sz="700" dirty="0"/>
          </a:p>
        </p:txBody>
      </p:sp>
      <p:sp>
        <p:nvSpPr>
          <p:cNvPr id="27" name="Text 25"/>
          <p:cNvSpPr txBox="1"/>
          <p:nvPr/>
        </p:nvSpPr>
        <p:spPr>
          <a:xfrm>
            <a:off x="5440680" y="1225296"/>
            <a:ext cx="13898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247</a:t>
            </a:r>
            <a:endParaRPr lang="en-US" sz="2000" dirty="0"/>
          </a:p>
        </p:txBody>
      </p:sp>
      <p:sp>
        <p:nvSpPr>
          <p:cNvPr id="28" name="Text 26"/>
          <p:cNvSpPr txBox="1"/>
          <p:nvPr/>
        </p:nvSpPr>
        <p:spPr>
          <a:xfrm>
            <a:off x="5440680" y="1645920"/>
            <a:ext cx="13898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34D399"/>
                </a:solidFill>
              </a:rPr>
              <a:t>Mean world rank</a:t>
            </a:r>
            <a:endParaRPr lang="en-US" sz="700" dirty="0"/>
          </a:p>
        </p:txBody>
      </p:sp>
      <p:sp>
        <p:nvSpPr>
          <p:cNvPr id="29" name="Shape 27"/>
          <p:cNvSpPr/>
          <p:nvPr/>
        </p:nvSpPr>
        <p:spPr>
          <a:xfrm>
            <a:off x="6995160" y="932688"/>
            <a:ext cx="1572768" cy="1005840"/>
          </a:xfrm>
          <a:prstGeom prst="roundRect">
            <a:avLst>
              <a:gd name="adj" fmla="val 7273"/>
            </a:avLst>
          </a:prstGeom>
          <a:solidFill>
            <a:srgbClr val="131728"/>
          </a:solidFill>
          <a:ln w="12700">
            <a:solidFill>
              <a:srgbClr val="232A44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132320" y="1060704"/>
            <a:ext cx="109728" cy="109728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7309196" y="1014984"/>
            <a:ext cx="13898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8A90AC"/>
                </a:solidFill>
              </a:rPr>
              <a:t>AVG RESEARCH IMPACT</a:t>
            </a:r>
            <a:endParaRPr lang="en-US" sz="700" dirty="0"/>
          </a:p>
        </p:txBody>
      </p:sp>
      <p:sp>
        <p:nvSpPr>
          <p:cNvPr id="32" name="Text 30"/>
          <p:cNvSpPr txBox="1"/>
          <p:nvPr/>
        </p:nvSpPr>
        <p:spPr>
          <a:xfrm>
            <a:off x="7086600" y="1225296"/>
            <a:ext cx="13898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48.3</a:t>
            </a:r>
            <a:endParaRPr lang="en-US" sz="2000" dirty="0"/>
          </a:p>
        </p:txBody>
      </p:sp>
      <p:sp>
        <p:nvSpPr>
          <p:cNvPr id="33" name="Text 31"/>
          <p:cNvSpPr txBox="1"/>
          <p:nvPr/>
        </p:nvSpPr>
        <p:spPr>
          <a:xfrm>
            <a:off x="7086600" y="1645920"/>
            <a:ext cx="13898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FBBF24"/>
                </a:solidFill>
              </a:rPr>
              <a:t>Normalized 0–100</a:t>
            </a:r>
            <a:endParaRPr lang="en-US" sz="700" dirty="0"/>
          </a:p>
        </p:txBody>
      </p:sp>
      <p:sp>
        <p:nvSpPr>
          <p:cNvPr id="34" name="Shape 32"/>
          <p:cNvSpPr/>
          <p:nvPr/>
        </p:nvSpPr>
        <p:spPr>
          <a:xfrm>
            <a:off x="8641080" y="932688"/>
            <a:ext cx="1572768" cy="1005840"/>
          </a:xfrm>
          <a:prstGeom prst="roundRect">
            <a:avLst>
              <a:gd name="adj" fmla="val 7273"/>
            </a:avLst>
          </a:prstGeom>
          <a:solidFill>
            <a:srgbClr val="131728"/>
          </a:solidFill>
          <a:ln w="12700">
            <a:solidFill>
              <a:srgbClr val="232A44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778240" y="1060704"/>
            <a:ext cx="109728" cy="109728"/>
          </a:xfrm>
          <a:prstGeom prst="ellipse">
            <a:avLst/>
          </a:prstGeom>
          <a:solidFill>
            <a:srgbClr val="7C6FF7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8942832" y="1014984"/>
            <a:ext cx="13898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8A90AC"/>
                </a:solidFill>
              </a:rPr>
              <a:t>AVG REPUTATION</a:t>
            </a:r>
            <a:endParaRPr lang="en-US" sz="700" dirty="0"/>
          </a:p>
        </p:txBody>
      </p:sp>
      <p:sp>
        <p:nvSpPr>
          <p:cNvPr id="37" name="Text 35"/>
          <p:cNvSpPr txBox="1"/>
          <p:nvPr/>
        </p:nvSpPr>
        <p:spPr>
          <a:xfrm>
            <a:off x="8732520" y="1225296"/>
            <a:ext cx="13898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61.1</a:t>
            </a:r>
            <a:endParaRPr lang="en-US" sz="2000" dirty="0"/>
          </a:p>
        </p:txBody>
      </p:sp>
      <p:sp>
        <p:nvSpPr>
          <p:cNvPr id="38" name="Text 36"/>
          <p:cNvSpPr txBox="1"/>
          <p:nvPr/>
        </p:nvSpPr>
        <p:spPr>
          <a:xfrm>
            <a:off x="8732520" y="1645920"/>
            <a:ext cx="13898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7C6FF7"/>
                </a:solidFill>
              </a:rPr>
              <a:t>THE teaching proxy</a:t>
            </a:r>
            <a:endParaRPr lang="en-US" sz="700" dirty="0"/>
          </a:p>
        </p:txBody>
      </p:sp>
      <p:sp>
        <p:nvSpPr>
          <p:cNvPr id="39" name="Shape 37"/>
          <p:cNvSpPr/>
          <p:nvPr/>
        </p:nvSpPr>
        <p:spPr>
          <a:xfrm>
            <a:off x="10287000" y="932688"/>
            <a:ext cx="1572768" cy="1005840"/>
          </a:xfrm>
          <a:prstGeom prst="roundRect">
            <a:avLst>
              <a:gd name="adj" fmla="val 7273"/>
            </a:avLst>
          </a:prstGeom>
          <a:solidFill>
            <a:srgbClr val="131728"/>
          </a:solidFill>
          <a:ln w="12700">
            <a:solidFill>
              <a:srgbClr val="232A44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0424160" y="1060704"/>
            <a:ext cx="109728" cy="109728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10578084" y="1005840"/>
            <a:ext cx="13898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8A90AC"/>
                </a:solidFill>
              </a:rPr>
              <a:t>AVG INTL STUDENT %</a:t>
            </a:r>
            <a:endParaRPr lang="en-US" sz="700" dirty="0"/>
          </a:p>
        </p:txBody>
      </p:sp>
      <p:sp>
        <p:nvSpPr>
          <p:cNvPr id="42" name="Text 40"/>
          <p:cNvSpPr txBox="1"/>
          <p:nvPr/>
        </p:nvSpPr>
        <p:spPr>
          <a:xfrm>
            <a:off x="10378440" y="1225296"/>
            <a:ext cx="13898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28.6%</a:t>
            </a:r>
            <a:endParaRPr lang="en-US" sz="2000" dirty="0"/>
          </a:p>
        </p:txBody>
      </p:sp>
      <p:sp>
        <p:nvSpPr>
          <p:cNvPr id="43" name="Text 41"/>
          <p:cNvSpPr txBox="1"/>
          <p:nvPr/>
        </p:nvSpPr>
        <p:spPr>
          <a:xfrm>
            <a:off x="10378440" y="1645920"/>
            <a:ext cx="13898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22D3EE"/>
                </a:solidFill>
              </a:rPr>
              <a:t>Avg across sources</a:t>
            </a:r>
            <a:endParaRPr lang="en-US" sz="700" dirty="0"/>
          </a:p>
        </p:txBody>
      </p:sp>
      <p:sp>
        <p:nvSpPr>
          <p:cNvPr id="44" name="Shape 42"/>
          <p:cNvSpPr/>
          <p:nvPr/>
        </p:nvSpPr>
        <p:spPr>
          <a:xfrm>
            <a:off x="2057400" y="2103120"/>
            <a:ext cx="9885218" cy="1371600"/>
          </a:xfrm>
          <a:prstGeom prst="roundRect">
            <a:avLst>
              <a:gd name="adj" fmla="val 5333"/>
            </a:avLst>
          </a:prstGeom>
          <a:solidFill>
            <a:srgbClr val="131728"/>
          </a:solidFill>
          <a:ln w="12700">
            <a:solidFill>
              <a:srgbClr val="232A44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2194560" y="2212848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7C6FF7"/>
                </a:solidFill>
              </a:rPr>
              <a:t>MAP</a:t>
            </a:r>
            <a:endParaRPr lang="en-US" sz="700" dirty="0"/>
          </a:p>
        </p:txBody>
      </p:sp>
      <p:sp>
        <p:nvSpPr>
          <p:cNvPr id="46" name="Text 44"/>
          <p:cNvSpPr txBox="1"/>
          <p:nvPr/>
        </p:nvSpPr>
        <p:spPr>
          <a:xfrm>
            <a:off x="2551176" y="2240280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World Distribution Map</a:t>
            </a:r>
            <a:endParaRPr lang="en-US" sz="1000" dirty="0"/>
          </a:p>
        </p:txBody>
      </p:sp>
      <p:sp>
        <p:nvSpPr>
          <p:cNvPr id="47" name="Text 45"/>
          <p:cNvSpPr txBox="1"/>
          <p:nvPr/>
        </p:nvSpPr>
        <p:spPr>
          <a:xfrm>
            <a:off x="3593592" y="2743200"/>
            <a:ext cx="11247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90AC"/>
                </a:solidFill>
              </a:rPr>
              <a:t>Schematic plot · circle size = universities · color = selected metric (switch: Avg Rank / Score / Research Impact / Intl % / # Universities)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2240280" y="2834640"/>
            <a:ext cx="109728" cy="411480"/>
          </a:xfrm>
          <a:prstGeom prst="roundRect">
            <a:avLst>
              <a:gd name="adj" fmla="val 16667"/>
            </a:avLst>
          </a:prstGeom>
          <a:solidFill>
            <a:srgbClr val="7C6FF7">
              <a:alpha val="65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2404872" y="2606040"/>
            <a:ext cx="109728" cy="640080"/>
          </a:xfrm>
          <a:prstGeom prst="roundRect">
            <a:avLst>
              <a:gd name="adj" fmla="val 16667"/>
            </a:avLst>
          </a:prstGeom>
          <a:solidFill>
            <a:srgbClr val="22D3EE">
              <a:alpha val="65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2569464" y="2743200"/>
            <a:ext cx="109728" cy="502920"/>
          </a:xfrm>
          <a:prstGeom prst="roundRect">
            <a:avLst>
              <a:gd name="adj" fmla="val 16667"/>
            </a:avLst>
          </a:prstGeom>
          <a:solidFill>
            <a:srgbClr val="7C6FF7">
              <a:alpha val="65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2734056" y="2926080"/>
            <a:ext cx="109728" cy="320040"/>
          </a:xfrm>
          <a:prstGeom prst="roundRect">
            <a:avLst>
              <a:gd name="adj" fmla="val 16667"/>
            </a:avLst>
          </a:prstGeom>
          <a:solidFill>
            <a:srgbClr val="22D3EE">
              <a:alpha val="65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2898648" y="2697480"/>
            <a:ext cx="109728" cy="548640"/>
          </a:xfrm>
          <a:prstGeom prst="roundRect">
            <a:avLst>
              <a:gd name="adj" fmla="val 16667"/>
            </a:avLst>
          </a:prstGeom>
          <a:solidFill>
            <a:srgbClr val="7C6FF7">
              <a:alpha val="65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3063240" y="2788920"/>
            <a:ext cx="109728" cy="457200"/>
          </a:xfrm>
          <a:prstGeom prst="roundRect">
            <a:avLst>
              <a:gd name="adj" fmla="val 16667"/>
            </a:avLst>
          </a:prstGeom>
          <a:solidFill>
            <a:srgbClr val="22D3EE">
              <a:alpha val="65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3227832" y="2880360"/>
            <a:ext cx="109728" cy="365760"/>
          </a:xfrm>
          <a:prstGeom prst="roundRect">
            <a:avLst>
              <a:gd name="adj" fmla="val 16667"/>
            </a:avLst>
          </a:prstGeom>
          <a:solidFill>
            <a:srgbClr val="7C6FF7">
              <a:alpha val="65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3392424" y="2651760"/>
            <a:ext cx="109728" cy="594360"/>
          </a:xfrm>
          <a:prstGeom prst="roundRect">
            <a:avLst>
              <a:gd name="adj" fmla="val 16667"/>
            </a:avLst>
          </a:prstGeom>
          <a:solidFill>
            <a:srgbClr val="22D3EE">
              <a:alpha val="65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2057400" y="3630168"/>
            <a:ext cx="5577840" cy="2194560"/>
          </a:xfrm>
          <a:prstGeom prst="roundRect">
            <a:avLst>
              <a:gd name="adj" fmla="val 3333"/>
            </a:avLst>
          </a:prstGeom>
          <a:solidFill>
            <a:srgbClr val="131728"/>
          </a:solidFill>
          <a:ln w="12700">
            <a:solidFill>
              <a:srgbClr val="232A44"/>
            </a:solidFill>
            <a:prstDash val="solid"/>
          </a:ln>
        </p:spPr>
      </p:sp>
      <p:sp>
        <p:nvSpPr>
          <p:cNvPr id="57" name="Text 55"/>
          <p:cNvSpPr txBox="1"/>
          <p:nvPr/>
        </p:nvSpPr>
        <p:spPr>
          <a:xfrm>
            <a:off x="2194560" y="3739896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7C6FF7"/>
                </a:solidFill>
              </a:rPr>
              <a:t>TABLE</a:t>
            </a:r>
            <a:endParaRPr lang="en-US" sz="700" dirty="0"/>
          </a:p>
        </p:txBody>
      </p:sp>
      <p:sp>
        <p:nvSpPr>
          <p:cNvPr id="58" name="Text 56"/>
          <p:cNvSpPr txBox="1"/>
          <p:nvPr/>
        </p:nvSpPr>
        <p:spPr>
          <a:xfrm>
            <a:off x="2194560" y="3941064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Country Ranking Table</a:t>
            </a:r>
            <a:endParaRPr lang="en-US" sz="1000" dirty="0"/>
          </a:p>
        </p:txBody>
      </p:sp>
      <p:sp>
        <p:nvSpPr>
          <p:cNvPr id="59" name="Text 57"/>
          <p:cNvSpPr txBox="1"/>
          <p:nvPr/>
        </p:nvSpPr>
        <p:spPr>
          <a:xfrm>
            <a:off x="2194560" y="4215384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90AC"/>
                </a:solidFill>
              </a:rPr>
              <a:t>Country · Universities · Avg Rank · Avg Score · Research Impact · Academic Reputation · Intl %  ·  sortable, exportable</a:t>
            </a:r>
            <a:endParaRPr lang="en-US" sz="850" dirty="0"/>
          </a:p>
        </p:txBody>
      </p:sp>
      <p:sp>
        <p:nvSpPr>
          <p:cNvPr id="60" name="Shape 58"/>
          <p:cNvSpPr/>
          <p:nvPr/>
        </p:nvSpPr>
        <p:spPr>
          <a:xfrm>
            <a:off x="2240280" y="5184648"/>
            <a:ext cx="109728" cy="411480"/>
          </a:xfrm>
          <a:prstGeom prst="roundRect">
            <a:avLst>
              <a:gd name="adj" fmla="val 16667"/>
            </a:avLst>
          </a:prstGeom>
          <a:solidFill>
            <a:srgbClr val="7C6FF7">
              <a:alpha val="65000"/>
            </a:srgbClr>
          </a:solidFill>
          <a:ln/>
        </p:spPr>
      </p:sp>
      <p:sp>
        <p:nvSpPr>
          <p:cNvPr id="61" name="Shape 59"/>
          <p:cNvSpPr/>
          <p:nvPr/>
        </p:nvSpPr>
        <p:spPr>
          <a:xfrm>
            <a:off x="2404872" y="4956048"/>
            <a:ext cx="109728" cy="640080"/>
          </a:xfrm>
          <a:prstGeom prst="roundRect">
            <a:avLst>
              <a:gd name="adj" fmla="val 16667"/>
            </a:avLst>
          </a:prstGeom>
          <a:solidFill>
            <a:srgbClr val="22D3EE">
              <a:alpha val="65000"/>
            </a:srgbClr>
          </a:solidFill>
          <a:ln/>
        </p:spPr>
      </p:sp>
      <p:sp>
        <p:nvSpPr>
          <p:cNvPr id="62" name="Shape 60"/>
          <p:cNvSpPr/>
          <p:nvPr/>
        </p:nvSpPr>
        <p:spPr>
          <a:xfrm>
            <a:off x="2569464" y="5093208"/>
            <a:ext cx="109728" cy="502920"/>
          </a:xfrm>
          <a:prstGeom prst="roundRect">
            <a:avLst>
              <a:gd name="adj" fmla="val 16667"/>
            </a:avLst>
          </a:prstGeom>
          <a:solidFill>
            <a:srgbClr val="7C6FF7">
              <a:alpha val="65000"/>
            </a:srgbClr>
          </a:solidFill>
          <a:ln/>
        </p:spPr>
      </p:sp>
      <p:sp>
        <p:nvSpPr>
          <p:cNvPr id="63" name="Shape 61"/>
          <p:cNvSpPr/>
          <p:nvPr/>
        </p:nvSpPr>
        <p:spPr>
          <a:xfrm>
            <a:off x="2734056" y="5276088"/>
            <a:ext cx="109728" cy="320040"/>
          </a:xfrm>
          <a:prstGeom prst="roundRect">
            <a:avLst>
              <a:gd name="adj" fmla="val 16667"/>
            </a:avLst>
          </a:prstGeom>
          <a:solidFill>
            <a:srgbClr val="22D3EE">
              <a:alpha val="65000"/>
            </a:srgbClr>
          </a:solidFill>
          <a:ln/>
        </p:spPr>
      </p:sp>
      <p:sp>
        <p:nvSpPr>
          <p:cNvPr id="64" name="Shape 62"/>
          <p:cNvSpPr/>
          <p:nvPr/>
        </p:nvSpPr>
        <p:spPr>
          <a:xfrm>
            <a:off x="2898648" y="5047488"/>
            <a:ext cx="109728" cy="548640"/>
          </a:xfrm>
          <a:prstGeom prst="roundRect">
            <a:avLst>
              <a:gd name="adj" fmla="val 16667"/>
            </a:avLst>
          </a:prstGeom>
          <a:solidFill>
            <a:srgbClr val="7C6FF7">
              <a:alpha val="65000"/>
            </a:srgbClr>
          </a:solidFill>
          <a:ln/>
        </p:spPr>
      </p:sp>
      <p:sp>
        <p:nvSpPr>
          <p:cNvPr id="65" name="Shape 63"/>
          <p:cNvSpPr/>
          <p:nvPr/>
        </p:nvSpPr>
        <p:spPr>
          <a:xfrm>
            <a:off x="3063240" y="5138928"/>
            <a:ext cx="109728" cy="457200"/>
          </a:xfrm>
          <a:prstGeom prst="roundRect">
            <a:avLst>
              <a:gd name="adj" fmla="val 16667"/>
            </a:avLst>
          </a:prstGeom>
          <a:solidFill>
            <a:srgbClr val="22D3EE">
              <a:alpha val="65000"/>
            </a:srgbClr>
          </a:solidFill>
          <a:ln/>
        </p:spPr>
      </p:sp>
      <p:sp>
        <p:nvSpPr>
          <p:cNvPr id="66" name="Shape 64"/>
          <p:cNvSpPr/>
          <p:nvPr/>
        </p:nvSpPr>
        <p:spPr>
          <a:xfrm>
            <a:off x="3227832" y="5230368"/>
            <a:ext cx="109728" cy="365760"/>
          </a:xfrm>
          <a:prstGeom prst="roundRect">
            <a:avLst>
              <a:gd name="adj" fmla="val 16667"/>
            </a:avLst>
          </a:prstGeom>
          <a:solidFill>
            <a:srgbClr val="7C6FF7">
              <a:alpha val="65000"/>
            </a:srgbClr>
          </a:solidFill>
          <a:ln/>
        </p:spPr>
      </p:sp>
      <p:sp>
        <p:nvSpPr>
          <p:cNvPr id="67" name="Shape 65"/>
          <p:cNvSpPr/>
          <p:nvPr/>
        </p:nvSpPr>
        <p:spPr>
          <a:xfrm>
            <a:off x="3392424" y="5001768"/>
            <a:ext cx="109728" cy="594360"/>
          </a:xfrm>
          <a:prstGeom prst="roundRect">
            <a:avLst>
              <a:gd name="adj" fmla="val 16667"/>
            </a:avLst>
          </a:prstGeom>
          <a:solidFill>
            <a:srgbClr val="22D3EE">
              <a:alpha val="65000"/>
            </a:srgbClr>
          </a:solidFill>
          <a:ln/>
        </p:spPr>
      </p:sp>
      <p:sp>
        <p:nvSpPr>
          <p:cNvPr id="68" name="Shape 66"/>
          <p:cNvSpPr/>
          <p:nvPr/>
        </p:nvSpPr>
        <p:spPr>
          <a:xfrm>
            <a:off x="7772400" y="3630168"/>
            <a:ext cx="3977640" cy="2194560"/>
          </a:xfrm>
          <a:prstGeom prst="roundRect">
            <a:avLst>
              <a:gd name="adj" fmla="val 3333"/>
            </a:avLst>
          </a:prstGeom>
          <a:solidFill>
            <a:srgbClr val="131728"/>
          </a:solidFill>
          <a:ln w="12700">
            <a:solidFill>
              <a:srgbClr val="232A44"/>
            </a:solidFill>
            <a:prstDash val="solid"/>
          </a:ln>
        </p:spPr>
      </p:sp>
      <p:sp>
        <p:nvSpPr>
          <p:cNvPr id="69" name="Text 67"/>
          <p:cNvSpPr txBox="1"/>
          <p:nvPr/>
        </p:nvSpPr>
        <p:spPr>
          <a:xfrm>
            <a:off x="7909560" y="3739896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7C6FF7"/>
                </a:solidFill>
              </a:rPr>
              <a:t>RADAR</a:t>
            </a:r>
            <a:endParaRPr lang="en-US" sz="700" dirty="0"/>
          </a:p>
        </p:txBody>
      </p:sp>
      <p:sp>
        <p:nvSpPr>
          <p:cNvPr id="70" name="Text 68"/>
          <p:cNvSpPr txBox="1"/>
          <p:nvPr/>
        </p:nvSpPr>
        <p:spPr>
          <a:xfrm>
            <a:off x="7909560" y="3941064"/>
            <a:ext cx="3703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Country Comparison — 2 to 5 Countries</a:t>
            </a:r>
            <a:endParaRPr lang="en-US" sz="1000" dirty="0"/>
          </a:p>
        </p:txBody>
      </p:sp>
      <p:sp>
        <p:nvSpPr>
          <p:cNvPr id="71" name="Text 69"/>
          <p:cNvSpPr txBox="1"/>
          <p:nvPr/>
        </p:nvSpPr>
        <p:spPr>
          <a:xfrm>
            <a:off x="7909560" y="4215384"/>
            <a:ext cx="3703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90AC"/>
                </a:solidFill>
              </a:rPr>
              <a:t>Overall Score · Research Impact · Academic Reputation · Intl Student %</a:t>
            </a:r>
            <a:endParaRPr lang="en-US" sz="850" dirty="0"/>
          </a:p>
        </p:txBody>
      </p:sp>
      <p:sp>
        <p:nvSpPr>
          <p:cNvPr id="72" name="Shape 70"/>
          <p:cNvSpPr/>
          <p:nvPr/>
        </p:nvSpPr>
        <p:spPr>
          <a:xfrm>
            <a:off x="7955280" y="5184648"/>
            <a:ext cx="109728" cy="411480"/>
          </a:xfrm>
          <a:prstGeom prst="roundRect">
            <a:avLst>
              <a:gd name="adj" fmla="val 16667"/>
            </a:avLst>
          </a:prstGeom>
          <a:solidFill>
            <a:srgbClr val="7C6FF7">
              <a:alpha val="65000"/>
            </a:srgbClr>
          </a:solidFill>
          <a:ln/>
        </p:spPr>
      </p:sp>
      <p:sp>
        <p:nvSpPr>
          <p:cNvPr id="73" name="Shape 71"/>
          <p:cNvSpPr/>
          <p:nvPr/>
        </p:nvSpPr>
        <p:spPr>
          <a:xfrm>
            <a:off x="8119872" y="4956048"/>
            <a:ext cx="109728" cy="640080"/>
          </a:xfrm>
          <a:prstGeom prst="roundRect">
            <a:avLst>
              <a:gd name="adj" fmla="val 16667"/>
            </a:avLst>
          </a:prstGeom>
          <a:solidFill>
            <a:srgbClr val="22D3EE">
              <a:alpha val="65000"/>
            </a:srgbClr>
          </a:solidFill>
          <a:ln/>
        </p:spPr>
      </p:sp>
      <p:sp>
        <p:nvSpPr>
          <p:cNvPr id="74" name="Shape 72"/>
          <p:cNvSpPr/>
          <p:nvPr/>
        </p:nvSpPr>
        <p:spPr>
          <a:xfrm>
            <a:off x="8284464" y="5093208"/>
            <a:ext cx="109728" cy="502920"/>
          </a:xfrm>
          <a:prstGeom prst="roundRect">
            <a:avLst>
              <a:gd name="adj" fmla="val 16667"/>
            </a:avLst>
          </a:prstGeom>
          <a:solidFill>
            <a:srgbClr val="7C6FF7">
              <a:alpha val="65000"/>
            </a:srgbClr>
          </a:solidFill>
          <a:ln/>
        </p:spPr>
      </p:sp>
      <p:sp>
        <p:nvSpPr>
          <p:cNvPr id="75" name="Shape 73"/>
          <p:cNvSpPr/>
          <p:nvPr/>
        </p:nvSpPr>
        <p:spPr>
          <a:xfrm>
            <a:off x="8449056" y="5276088"/>
            <a:ext cx="109728" cy="320040"/>
          </a:xfrm>
          <a:prstGeom prst="roundRect">
            <a:avLst>
              <a:gd name="adj" fmla="val 16667"/>
            </a:avLst>
          </a:prstGeom>
          <a:solidFill>
            <a:srgbClr val="22D3EE">
              <a:alpha val="65000"/>
            </a:srgbClr>
          </a:solidFill>
          <a:ln/>
        </p:spPr>
      </p:sp>
      <p:sp>
        <p:nvSpPr>
          <p:cNvPr id="76" name="Shape 74"/>
          <p:cNvSpPr/>
          <p:nvPr/>
        </p:nvSpPr>
        <p:spPr>
          <a:xfrm>
            <a:off x="8613648" y="5047488"/>
            <a:ext cx="109728" cy="548640"/>
          </a:xfrm>
          <a:prstGeom prst="roundRect">
            <a:avLst>
              <a:gd name="adj" fmla="val 16667"/>
            </a:avLst>
          </a:prstGeom>
          <a:solidFill>
            <a:srgbClr val="7C6FF7">
              <a:alpha val="65000"/>
            </a:srgbClr>
          </a:solidFill>
          <a:ln/>
        </p:spPr>
      </p:sp>
      <p:sp>
        <p:nvSpPr>
          <p:cNvPr id="77" name="Shape 75"/>
          <p:cNvSpPr/>
          <p:nvPr/>
        </p:nvSpPr>
        <p:spPr>
          <a:xfrm>
            <a:off x="8778240" y="5138928"/>
            <a:ext cx="109728" cy="457200"/>
          </a:xfrm>
          <a:prstGeom prst="roundRect">
            <a:avLst>
              <a:gd name="adj" fmla="val 16667"/>
            </a:avLst>
          </a:prstGeom>
          <a:solidFill>
            <a:srgbClr val="22D3EE">
              <a:alpha val="65000"/>
            </a:srgbClr>
          </a:solidFill>
          <a:ln/>
        </p:spPr>
      </p:sp>
      <p:sp>
        <p:nvSpPr>
          <p:cNvPr id="78" name="Shape 76"/>
          <p:cNvSpPr/>
          <p:nvPr/>
        </p:nvSpPr>
        <p:spPr>
          <a:xfrm>
            <a:off x="8942832" y="5230368"/>
            <a:ext cx="109728" cy="365760"/>
          </a:xfrm>
          <a:prstGeom prst="roundRect">
            <a:avLst>
              <a:gd name="adj" fmla="val 16667"/>
            </a:avLst>
          </a:prstGeom>
          <a:solidFill>
            <a:srgbClr val="7C6FF7">
              <a:alpha val="65000"/>
            </a:srgbClr>
          </a:solidFill>
          <a:ln/>
        </p:spPr>
      </p:sp>
      <p:sp>
        <p:nvSpPr>
          <p:cNvPr id="79" name="Shape 77"/>
          <p:cNvSpPr/>
          <p:nvPr/>
        </p:nvSpPr>
        <p:spPr>
          <a:xfrm>
            <a:off x="9107424" y="5001768"/>
            <a:ext cx="109728" cy="594360"/>
          </a:xfrm>
          <a:prstGeom prst="roundRect">
            <a:avLst>
              <a:gd name="adj" fmla="val 16667"/>
            </a:avLst>
          </a:prstGeom>
          <a:solidFill>
            <a:srgbClr val="22D3EE">
              <a:alpha val="65000"/>
            </a:srgbClr>
          </a:solidFill>
          <a:ln/>
        </p:spPr>
      </p:sp>
      <p:sp>
        <p:nvSpPr>
          <p:cNvPr id="80" name="Text 78"/>
          <p:cNvSpPr txBox="1"/>
          <p:nvPr/>
        </p:nvSpPr>
        <p:spPr>
          <a:xfrm>
            <a:off x="2057400" y="6016752"/>
            <a:ext cx="9692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A5170"/>
                </a:solidFill>
              </a:rPr>
              <a:t>Fields used:  country  ·  region  ·  global_ranking_score  ·  research_impact_score  ·  academic_reputation_score  ·  international_student_pct</a:t>
            </a:r>
            <a:endParaRPr lang="en-US" sz="750" dirty="0"/>
          </a:p>
        </p:txBody>
      </p:sp>
      <p:sp>
        <p:nvSpPr>
          <p:cNvPr id="81" name="Text 79"/>
          <p:cNvSpPr txBox="1"/>
          <p:nvPr/>
        </p:nvSpPr>
        <p:spPr>
          <a:xfrm>
            <a:off x="457200" y="660196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A5170"/>
                </a:solidFill>
              </a:rPr>
              <a:t>EduVision_DV  ·  Dashboard 4 — Country Comparison</a:t>
            </a:r>
            <a:endParaRPr lang="en-US" sz="800" dirty="0"/>
          </a:p>
        </p:txBody>
      </p:sp>
      <p:sp>
        <p:nvSpPr>
          <p:cNvPr id="82" name="Text 80"/>
          <p:cNvSpPr txBox="1"/>
          <p:nvPr/>
        </p:nvSpPr>
        <p:spPr>
          <a:xfrm>
            <a:off x="10881360" y="658368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4A5170"/>
                </a:solidFill>
              </a:rPr>
              <a:t>5 / 9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0D16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137160"/>
            <a:ext cx="1554480" cy="256032"/>
          </a:xfrm>
          <a:prstGeom prst="roundRect">
            <a:avLst>
              <a:gd name="adj" fmla="val 17857"/>
            </a:avLst>
          </a:prstGeom>
          <a:solidFill>
            <a:srgbClr val="7C6FF7">
              <a:alpha val="20000"/>
            </a:srgbClr>
          </a:solidFill>
          <a:ln w="12700">
            <a:solidFill>
              <a:srgbClr val="7C6FF7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3716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7C6FF7"/>
                </a:solidFill>
              </a:rPr>
              <a:t>ARCHITECTURE</a:t>
            </a:r>
            <a:endParaRPr lang="en-US" sz="750" dirty="0"/>
          </a:p>
        </p:txBody>
      </p:sp>
      <p:sp>
        <p:nvSpPr>
          <p:cNvPr id="5" name="Text 3"/>
          <p:cNvSpPr txBox="1"/>
          <p:nvPr/>
        </p:nvSpPr>
        <p:spPr>
          <a:xfrm>
            <a:off x="2214282" y="11430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Navigation &amp; Filter Architecture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576072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90AC"/>
                </a:solidFill>
              </a:rPr>
              <a:t>Global filters persist across all 4 dashboards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932688"/>
            <a:ext cx="5349240" cy="5394960"/>
          </a:xfrm>
          <a:prstGeom prst="roundRect">
            <a:avLst>
              <a:gd name="adj" fmla="val 1368"/>
            </a:avLst>
          </a:prstGeom>
          <a:solidFill>
            <a:srgbClr val="131728"/>
          </a:solidFill>
          <a:ln w="12700">
            <a:solidFill>
              <a:srgbClr val="232A4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1078992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C6FF7"/>
                </a:solidFill>
              </a:rPr>
              <a:t>NAVIGATION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40080" y="1417320"/>
            <a:ext cx="4983480" cy="384048"/>
          </a:xfrm>
          <a:prstGeom prst="roundRect">
            <a:avLst>
              <a:gd name="adj" fmla="val 19048"/>
            </a:avLst>
          </a:prstGeom>
          <a:solidFill>
            <a:srgbClr val="1A2036"/>
          </a:solidFill>
          <a:ln w="12700">
            <a:solidFill>
              <a:srgbClr val="232A4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0080" y="1417320"/>
            <a:ext cx="36576" cy="384048"/>
          </a:xfrm>
          <a:prstGeom prst="rect">
            <a:avLst/>
          </a:prstGeom>
          <a:solidFill>
            <a:srgbClr val="7C6FF7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68096" y="1490472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7C6FF7"/>
                </a:solidFill>
              </a:rPr>
              <a:t>01</a:t>
            </a:r>
            <a:endParaRPr lang="en-US" sz="850" dirty="0"/>
          </a:p>
        </p:txBody>
      </p:sp>
      <p:sp>
        <p:nvSpPr>
          <p:cNvPr id="12" name="Text 10"/>
          <p:cNvSpPr txBox="1"/>
          <p:nvPr/>
        </p:nvSpPr>
        <p:spPr>
          <a:xfrm>
            <a:off x="1188720" y="1490472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Overview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40080" y="1892808"/>
            <a:ext cx="4983480" cy="384048"/>
          </a:xfrm>
          <a:prstGeom prst="roundRect">
            <a:avLst>
              <a:gd name="adj" fmla="val 19048"/>
            </a:avLst>
          </a:prstGeom>
          <a:solidFill>
            <a:srgbClr val="131728"/>
          </a:solidFill>
          <a:ln w="12700">
            <a:solidFill>
              <a:srgbClr val="232A4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68096" y="1965960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4A5170"/>
                </a:solidFill>
              </a:rPr>
              <a:t>02</a:t>
            </a:r>
            <a:endParaRPr lang="en-US" sz="850" dirty="0"/>
          </a:p>
        </p:txBody>
      </p:sp>
      <p:sp>
        <p:nvSpPr>
          <p:cNvPr id="15" name="Text 13"/>
          <p:cNvSpPr txBox="1"/>
          <p:nvPr/>
        </p:nvSpPr>
        <p:spPr>
          <a:xfrm>
            <a:off x="1188720" y="1965960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90AC"/>
                </a:solidFill>
              </a:rPr>
              <a:t>Research Analytics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40080" y="2368296"/>
            <a:ext cx="4983480" cy="384048"/>
          </a:xfrm>
          <a:prstGeom prst="roundRect">
            <a:avLst>
              <a:gd name="adj" fmla="val 19048"/>
            </a:avLst>
          </a:prstGeom>
          <a:solidFill>
            <a:srgbClr val="131728"/>
          </a:solidFill>
          <a:ln w="12700">
            <a:solidFill>
              <a:srgbClr val="232A44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68096" y="2441448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4A5170"/>
                </a:solidFill>
              </a:rPr>
              <a:t>03</a:t>
            </a:r>
            <a:endParaRPr lang="en-US" sz="850" dirty="0"/>
          </a:p>
        </p:txBody>
      </p:sp>
      <p:sp>
        <p:nvSpPr>
          <p:cNvPr id="18" name="Text 16"/>
          <p:cNvSpPr txBox="1"/>
          <p:nvPr/>
        </p:nvSpPr>
        <p:spPr>
          <a:xfrm>
            <a:off x="1188720" y="2441448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90AC"/>
                </a:solidFill>
              </a:rPr>
              <a:t>Student Analytics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40080" y="2843784"/>
            <a:ext cx="4983480" cy="384048"/>
          </a:xfrm>
          <a:prstGeom prst="roundRect">
            <a:avLst>
              <a:gd name="adj" fmla="val 19048"/>
            </a:avLst>
          </a:prstGeom>
          <a:solidFill>
            <a:srgbClr val="131728"/>
          </a:solidFill>
          <a:ln w="12700">
            <a:solidFill>
              <a:srgbClr val="232A44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68096" y="2916936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4A5170"/>
                </a:solidFill>
              </a:rPr>
              <a:t>04</a:t>
            </a:r>
            <a:endParaRPr lang="en-US" sz="850" dirty="0"/>
          </a:p>
        </p:txBody>
      </p:sp>
      <p:sp>
        <p:nvSpPr>
          <p:cNvPr id="21" name="Text 19"/>
          <p:cNvSpPr txBox="1"/>
          <p:nvPr/>
        </p:nvSpPr>
        <p:spPr>
          <a:xfrm>
            <a:off x="1188720" y="2916936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90AC"/>
                </a:solidFill>
              </a:rPr>
              <a:t>Country Comparison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40080" y="3319272"/>
            <a:ext cx="4983480" cy="384048"/>
          </a:xfrm>
          <a:prstGeom prst="roundRect">
            <a:avLst>
              <a:gd name="adj" fmla="val 19048"/>
            </a:avLst>
          </a:prstGeom>
          <a:solidFill>
            <a:srgbClr val="131728"/>
          </a:solidFill>
          <a:ln w="12700">
            <a:solidFill>
              <a:srgbClr val="232A44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68096" y="3392424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4A5170"/>
                </a:solidFill>
              </a:rPr>
              <a:t>05</a:t>
            </a:r>
            <a:endParaRPr lang="en-US" sz="850" dirty="0"/>
          </a:p>
        </p:txBody>
      </p:sp>
      <p:sp>
        <p:nvSpPr>
          <p:cNvPr id="24" name="Text 22"/>
          <p:cNvSpPr txBox="1"/>
          <p:nvPr/>
        </p:nvSpPr>
        <p:spPr>
          <a:xfrm>
            <a:off x="1188720" y="3392424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90AC"/>
                </a:solidFill>
              </a:rPr>
              <a:t>University Comparison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40080" y="3794760"/>
            <a:ext cx="4983480" cy="384048"/>
          </a:xfrm>
          <a:prstGeom prst="roundRect">
            <a:avLst>
              <a:gd name="adj" fmla="val 19048"/>
            </a:avLst>
          </a:prstGeom>
          <a:solidFill>
            <a:srgbClr val="131728"/>
          </a:solidFill>
          <a:ln w="12700">
            <a:solidFill>
              <a:srgbClr val="232A44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68096" y="3867912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4A5170"/>
                </a:solidFill>
              </a:rPr>
              <a:t>06</a:t>
            </a:r>
            <a:endParaRPr lang="en-US" sz="850" dirty="0"/>
          </a:p>
        </p:txBody>
      </p:sp>
      <p:sp>
        <p:nvSpPr>
          <p:cNvPr id="27" name="Text 25"/>
          <p:cNvSpPr txBox="1"/>
          <p:nvPr/>
        </p:nvSpPr>
        <p:spPr>
          <a:xfrm>
            <a:off x="1188720" y="3867912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90AC"/>
                </a:solidFill>
              </a:rPr>
              <a:t>Data Explorer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640080" y="4270248"/>
            <a:ext cx="4983480" cy="384048"/>
          </a:xfrm>
          <a:prstGeom prst="roundRect">
            <a:avLst>
              <a:gd name="adj" fmla="val 19048"/>
            </a:avLst>
          </a:prstGeom>
          <a:solidFill>
            <a:srgbClr val="131728"/>
          </a:solidFill>
          <a:ln w="12700">
            <a:solidFill>
              <a:srgbClr val="232A44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68096" y="4343400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4A5170"/>
                </a:solidFill>
              </a:rPr>
              <a:t>07</a:t>
            </a:r>
            <a:endParaRPr lang="en-US" sz="850" dirty="0"/>
          </a:p>
        </p:txBody>
      </p:sp>
      <p:sp>
        <p:nvSpPr>
          <p:cNvPr id="30" name="Text 28"/>
          <p:cNvSpPr txBox="1"/>
          <p:nvPr/>
        </p:nvSpPr>
        <p:spPr>
          <a:xfrm>
            <a:off x="1188720" y="4343400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90AC"/>
                </a:solidFill>
              </a:rPr>
              <a:t>Methodology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640080" y="4745736"/>
            <a:ext cx="4983480" cy="384048"/>
          </a:xfrm>
          <a:prstGeom prst="roundRect">
            <a:avLst>
              <a:gd name="adj" fmla="val 19048"/>
            </a:avLst>
          </a:prstGeom>
          <a:solidFill>
            <a:srgbClr val="131728"/>
          </a:solidFill>
          <a:ln w="12700">
            <a:solidFill>
              <a:srgbClr val="232A44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768096" y="4818888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4A5170"/>
                </a:solidFill>
              </a:rPr>
              <a:t>08</a:t>
            </a:r>
            <a:endParaRPr lang="en-US" sz="850" dirty="0"/>
          </a:p>
        </p:txBody>
      </p:sp>
      <p:sp>
        <p:nvSpPr>
          <p:cNvPr id="33" name="Text 31"/>
          <p:cNvSpPr txBox="1"/>
          <p:nvPr/>
        </p:nvSpPr>
        <p:spPr>
          <a:xfrm>
            <a:off x="1188720" y="4818888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90AC"/>
                </a:solidFill>
              </a:rPr>
              <a:t>About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5989320" y="932688"/>
            <a:ext cx="5760720" cy="5394960"/>
          </a:xfrm>
          <a:prstGeom prst="roundRect">
            <a:avLst>
              <a:gd name="adj" fmla="val 1356"/>
            </a:avLst>
          </a:prstGeom>
          <a:solidFill>
            <a:srgbClr val="131728"/>
          </a:solidFill>
          <a:ln w="12700">
            <a:solidFill>
              <a:srgbClr val="232A44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6172200" y="1078992"/>
            <a:ext cx="5394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C6FF7"/>
                </a:solidFill>
              </a:rPr>
              <a:t>GLOBAL FILTERS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172200" y="1417320"/>
            <a:ext cx="5394960" cy="594360"/>
          </a:xfrm>
          <a:prstGeom prst="roundRect">
            <a:avLst>
              <a:gd name="adj" fmla="val 12308"/>
            </a:avLst>
          </a:prstGeom>
          <a:solidFill>
            <a:srgbClr val="1A2036"/>
          </a:solidFill>
          <a:ln w="12700">
            <a:solidFill>
              <a:srgbClr val="232A44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309360" y="1536192"/>
            <a:ext cx="822960" cy="201168"/>
          </a:xfrm>
          <a:prstGeom prst="roundRect">
            <a:avLst>
              <a:gd name="adj" fmla="val 18182"/>
            </a:avLst>
          </a:prstGeom>
          <a:solidFill>
            <a:srgbClr val="7C6FF7">
              <a:alpha val="30000"/>
            </a:srgbClr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6309360" y="1536192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7C6FF7"/>
                </a:solidFill>
              </a:rPr>
              <a:t>Year</a:t>
            </a:r>
            <a:endParaRPr lang="en-US" sz="750" dirty="0"/>
          </a:p>
        </p:txBody>
      </p:sp>
      <p:sp>
        <p:nvSpPr>
          <p:cNvPr id="39" name="Text 37"/>
          <p:cNvSpPr txBox="1"/>
          <p:nvPr/>
        </p:nvSpPr>
        <p:spPr>
          <a:xfrm>
            <a:off x="7269480" y="1481328"/>
            <a:ext cx="4206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90AC"/>
                </a:solidFill>
              </a:rPr>
              <a:t>Single-select · drives every KPI and chart on the active dashboard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6172200" y="2112264"/>
            <a:ext cx="5394960" cy="594360"/>
          </a:xfrm>
          <a:prstGeom prst="roundRect">
            <a:avLst>
              <a:gd name="adj" fmla="val 12308"/>
            </a:avLst>
          </a:prstGeom>
          <a:solidFill>
            <a:srgbClr val="1A2036"/>
          </a:solidFill>
          <a:ln w="12700">
            <a:solidFill>
              <a:srgbClr val="232A44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309360" y="2231136"/>
            <a:ext cx="822960" cy="201168"/>
          </a:xfrm>
          <a:prstGeom prst="roundRect">
            <a:avLst>
              <a:gd name="adj" fmla="val 18182"/>
            </a:avLst>
          </a:prstGeom>
          <a:solidFill>
            <a:srgbClr val="7C6FF7">
              <a:alpha val="30000"/>
            </a:srgbClr>
          </a:solidFill>
          <a:ln/>
        </p:spPr>
      </p:sp>
      <p:sp>
        <p:nvSpPr>
          <p:cNvPr id="42" name="Text 40"/>
          <p:cNvSpPr txBox="1"/>
          <p:nvPr/>
        </p:nvSpPr>
        <p:spPr>
          <a:xfrm>
            <a:off x="6309360" y="2231136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7C6FF7"/>
                </a:solidFill>
              </a:rPr>
              <a:t>Region</a:t>
            </a:r>
            <a:endParaRPr lang="en-US" sz="750" dirty="0"/>
          </a:p>
        </p:txBody>
      </p:sp>
      <p:sp>
        <p:nvSpPr>
          <p:cNvPr id="43" name="Text 41"/>
          <p:cNvSpPr txBox="1"/>
          <p:nvPr/>
        </p:nvSpPr>
        <p:spPr>
          <a:xfrm>
            <a:off x="7269480" y="2176272"/>
            <a:ext cx="4206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90AC"/>
                </a:solidFill>
              </a:rPr>
              <a:t>Single-select (All / North America / Europe / Asia / Oceania / S. America / Africa)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6172200" y="2807208"/>
            <a:ext cx="5394960" cy="594360"/>
          </a:xfrm>
          <a:prstGeom prst="roundRect">
            <a:avLst>
              <a:gd name="adj" fmla="val 12308"/>
            </a:avLst>
          </a:prstGeom>
          <a:solidFill>
            <a:srgbClr val="1A2036"/>
          </a:solidFill>
          <a:ln w="12700">
            <a:solidFill>
              <a:srgbClr val="232A44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309360" y="2926080"/>
            <a:ext cx="822960" cy="201168"/>
          </a:xfrm>
          <a:prstGeom prst="roundRect">
            <a:avLst>
              <a:gd name="adj" fmla="val 18182"/>
            </a:avLst>
          </a:prstGeom>
          <a:solidFill>
            <a:srgbClr val="7C6FF7">
              <a:alpha val="30000"/>
            </a:srgbClr>
          </a:solidFill>
          <a:ln/>
        </p:spPr>
      </p:sp>
      <p:sp>
        <p:nvSpPr>
          <p:cNvPr id="46" name="Text 44"/>
          <p:cNvSpPr txBox="1"/>
          <p:nvPr/>
        </p:nvSpPr>
        <p:spPr>
          <a:xfrm>
            <a:off x="6309360" y="292608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7C6FF7"/>
                </a:solidFill>
              </a:rPr>
              <a:t>Country</a:t>
            </a:r>
            <a:endParaRPr lang="en-US" sz="750" dirty="0"/>
          </a:p>
        </p:txBody>
      </p:sp>
      <p:sp>
        <p:nvSpPr>
          <p:cNvPr id="47" name="Text 45"/>
          <p:cNvSpPr txBox="1"/>
          <p:nvPr/>
        </p:nvSpPr>
        <p:spPr>
          <a:xfrm>
            <a:off x="7269480" y="2871216"/>
            <a:ext cx="4206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90AC"/>
                </a:solidFill>
              </a:rPr>
              <a:t>Single-select · options narrow automatically when Region is set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6172200" y="3502152"/>
            <a:ext cx="5394960" cy="594360"/>
          </a:xfrm>
          <a:prstGeom prst="roundRect">
            <a:avLst>
              <a:gd name="adj" fmla="val 12308"/>
            </a:avLst>
          </a:prstGeom>
          <a:solidFill>
            <a:srgbClr val="1A2036"/>
          </a:solidFill>
          <a:ln w="12700">
            <a:solidFill>
              <a:srgbClr val="232A44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6309360" y="3621024"/>
            <a:ext cx="822960" cy="201168"/>
          </a:xfrm>
          <a:prstGeom prst="roundRect">
            <a:avLst>
              <a:gd name="adj" fmla="val 18182"/>
            </a:avLst>
          </a:prstGeom>
          <a:solidFill>
            <a:srgbClr val="7C6FF7">
              <a:alpha val="30000"/>
            </a:srgbClr>
          </a:solidFill>
          <a:ln/>
        </p:spPr>
      </p:sp>
      <p:sp>
        <p:nvSpPr>
          <p:cNvPr id="50" name="Text 48"/>
          <p:cNvSpPr txBox="1"/>
          <p:nvPr/>
        </p:nvSpPr>
        <p:spPr>
          <a:xfrm>
            <a:off x="6309360" y="3621024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7C6FF7"/>
                </a:solidFill>
              </a:rPr>
              <a:t>Subject Area</a:t>
            </a:r>
            <a:endParaRPr lang="en-US" sz="750" dirty="0"/>
          </a:p>
        </p:txBody>
      </p:sp>
      <p:sp>
        <p:nvSpPr>
          <p:cNvPr id="51" name="Text 49"/>
          <p:cNvSpPr txBox="1"/>
          <p:nvPr/>
        </p:nvSpPr>
        <p:spPr>
          <a:xfrm>
            <a:off x="7269480" y="3566160"/>
            <a:ext cx="4206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90AC"/>
                </a:solidFill>
              </a:rPr>
              <a:t>Single-select · uses each university's classified subject field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6172200" y="4197096"/>
            <a:ext cx="5394960" cy="594360"/>
          </a:xfrm>
          <a:prstGeom prst="roundRect">
            <a:avLst>
              <a:gd name="adj" fmla="val 12308"/>
            </a:avLst>
          </a:prstGeom>
          <a:solidFill>
            <a:srgbClr val="1A2036"/>
          </a:solidFill>
          <a:ln w="12700">
            <a:solidFill>
              <a:srgbClr val="232A44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309360" y="4315968"/>
            <a:ext cx="822960" cy="201168"/>
          </a:xfrm>
          <a:prstGeom prst="roundRect">
            <a:avLst>
              <a:gd name="adj" fmla="val 18182"/>
            </a:avLst>
          </a:prstGeom>
          <a:solidFill>
            <a:srgbClr val="7C6FF7">
              <a:alpha val="30000"/>
            </a:srgbClr>
          </a:solidFill>
          <a:ln/>
        </p:spPr>
      </p:sp>
      <p:sp>
        <p:nvSpPr>
          <p:cNvPr id="54" name="Text 52"/>
          <p:cNvSpPr txBox="1"/>
          <p:nvPr/>
        </p:nvSpPr>
        <p:spPr>
          <a:xfrm>
            <a:off x="6309360" y="4315968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7C6FF7"/>
                </a:solidFill>
              </a:rPr>
              <a:t>Search</a:t>
            </a:r>
            <a:endParaRPr lang="en-US" sz="750" dirty="0"/>
          </a:p>
        </p:txBody>
      </p:sp>
      <p:sp>
        <p:nvSpPr>
          <p:cNvPr id="55" name="Text 53"/>
          <p:cNvSpPr txBox="1"/>
          <p:nvPr/>
        </p:nvSpPr>
        <p:spPr>
          <a:xfrm>
            <a:off x="7269480" y="4261104"/>
            <a:ext cx="4206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90AC"/>
                </a:solidFill>
              </a:rPr>
              <a:t>Free text · filters university visuals + jumps to Profile on selection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6172200" y="4892040"/>
            <a:ext cx="5394960" cy="594360"/>
          </a:xfrm>
          <a:prstGeom prst="roundRect">
            <a:avLst>
              <a:gd name="adj" fmla="val 12308"/>
            </a:avLst>
          </a:prstGeom>
          <a:solidFill>
            <a:srgbClr val="1A2036"/>
          </a:solidFill>
          <a:ln w="12700">
            <a:solidFill>
              <a:srgbClr val="232A44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6309360" y="5010912"/>
            <a:ext cx="822960" cy="201168"/>
          </a:xfrm>
          <a:prstGeom prst="roundRect">
            <a:avLst>
              <a:gd name="adj" fmla="val 18182"/>
            </a:avLst>
          </a:prstGeom>
          <a:solidFill>
            <a:srgbClr val="7C6FF7">
              <a:alpha val="30000"/>
            </a:srgbClr>
          </a:solidFill>
          <a:ln/>
        </p:spPr>
      </p:sp>
      <p:sp>
        <p:nvSpPr>
          <p:cNvPr id="58" name="Text 56"/>
          <p:cNvSpPr txBox="1"/>
          <p:nvPr/>
        </p:nvSpPr>
        <p:spPr>
          <a:xfrm>
            <a:off x="6309360" y="5010912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7C6FF7"/>
                </a:solidFill>
              </a:rPr>
              <a:t>Reset Filters</a:t>
            </a:r>
            <a:endParaRPr lang="en-US" sz="750" dirty="0"/>
          </a:p>
        </p:txBody>
      </p:sp>
      <p:sp>
        <p:nvSpPr>
          <p:cNvPr id="59" name="Text 57"/>
          <p:cNvSpPr txBox="1"/>
          <p:nvPr/>
        </p:nvSpPr>
        <p:spPr>
          <a:xfrm>
            <a:off x="7269480" y="4956048"/>
            <a:ext cx="4206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90AC"/>
                </a:solidFill>
              </a:rPr>
              <a:t>One-click return to defaults · chip indicators stay visible in the bar</a:t>
            </a:r>
            <a:endParaRPr lang="en-US" sz="850" dirty="0"/>
          </a:p>
        </p:txBody>
      </p:sp>
      <p:sp>
        <p:nvSpPr>
          <p:cNvPr id="60" name="Text 58"/>
          <p:cNvSpPr txBox="1"/>
          <p:nvPr/>
        </p:nvSpPr>
        <p:spPr>
          <a:xfrm>
            <a:off x="457200" y="660196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A5170"/>
                </a:solidFill>
              </a:rPr>
              <a:t>EduVision_DV  ·  Navigation &amp; Filter Architecture</a:t>
            </a:r>
            <a:endParaRPr lang="en-US" sz="800" dirty="0"/>
          </a:p>
        </p:txBody>
      </p:sp>
      <p:sp>
        <p:nvSpPr>
          <p:cNvPr id="61" name="Text 59"/>
          <p:cNvSpPr txBox="1"/>
          <p:nvPr/>
        </p:nvSpPr>
        <p:spPr>
          <a:xfrm>
            <a:off x="10881360" y="658368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4A5170"/>
                </a:solidFill>
              </a:rPr>
              <a:t>6 / 9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0D16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137160"/>
            <a:ext cx="1554480" cy="256032"/>
          </a:xfrm>
          <a:prstGeom prst="roundRect">
            <a:avLst>
              <a:gd name="adj" fmla="val 17857"/>
            </a:avLst>
          </a:prstGeom>
          <a:solidFill>
            <a:srgbClr val="22D3EE">
              <a:alpha val="20000"/>
            </a:srgbClr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3716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22D3EE"/>
                </a:solidFill>
              </a:rPr>
              <a:t>INTERACTIONS</a:t>
            </a:r>
            <a:endParaRPr lang="en-US" sz="750" dirty="0"/>
          </a:p>
        </p:txBody>
      </p:sp>
      <p:sp>
        <p:nvSpPr>
          <p:cNvPr id="5" name="Text 3"/>
          <p:cNvSpPr txBox="1"/>
          <p:nvPr/>
        </p:nvSpPr>
        <p:spPr>
          <a:xfrm>
            <a:off x="2258568" y="100584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Dashboard Actions &amp; Interactive Comparisons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576072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90AC"/>
                </a:solidFill>
              </a:rPr>
              <a:t>Cross-filtering · drill-down · comparisons · tooltips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005840"/>
            <a:ext cx="2788920" cy="1828800"/>
          </a:xfrm>
          <a:prstGeom prst="roundRect">
            <a:avLst>
              <a:gd name="adj" fmla="val 4000"/>
            </a:avLst>
          </a:prstGeom>
          <a:solidFill>
            <a:srgbClr val="131728"/>
          </a:solidFill>
          <a:ln w="12700">
            <a:solidFill>
              <a:srgbClr val="232A4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94360" y="1115568"/>
            <a:ext cx="329184" cy="329184"/>
          </a:xfrm>
          <a:prstGeom prst="ellipse">
            <a:avLst/>
          </a:prstGeom>
          <a:solidFill>
            <a:srgbClr val="7C6FF7">
              <a:alpha val="25000"/>
            </a:srgbClr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94360" y="11155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7C6FF7"/>
                </a:solidFill>
              </a:rPr>
              <a:t>1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1024128" y="114300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7C6FF7"/>
                </a:solidFill>
              </a:rPr>
              <a:t>FILTER Action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594360" y="1508760"/>
            <a:ext cx="2514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0AC"/>
                </a:solidFill>
              </a:rPr>
              <a:t>Clicking a Region on the Overview donut filters every other chart on that dashboard to that Region automatically.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429000" y="1005840"/>
            <a:ext cx="2788920" cy="1828800"/>
          </a:xfrm>
          <a:prstGeom prst="roundRect">
            <a:avLst>
              <a:gd name="adj" fmla="val 4000"/>
            </a:avLst>
          </a:prstGeom>
          <a:solidFill>
            <a:srgbClr val="131728"/>
          </a:solidFill>
          <a:ln w="12700">
            <a:solidFill>
              <a:srgbClr val="232A4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566160" y="1115568"/>
            <a:ext cx="329184" cy="329184"/>
          </a:xfrm>
          <a:prstGeom prst="ellipse">
            <a:avLst/>
          </a:prstGeom>
          <a:solidFill>
            <a:srgbClr val="22D3EE">
              <a:alpha val="25000"/>
            </a:srgbClr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3566160" y="11155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2D3EE"/>
                </a:solidFill>
              </a:rPr>
              <a:t>2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3995928" y="114300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2D3EE"/>
                </a:solidFill>
              </a:rPr>
              <a:t>HIGHLIGHT Action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3566160" y="1508760"/>
            <a:ext cx="2514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0AC"/>
                </a:solidFill>
              </a:rPr>
              <a:t>Hovering a university in the trend line legend highlights that same university across the ranking bar and scatter chart.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400800" y="1005840"/>
            <a:ext cx="2788920" cy="1828800"/>
          </a:xfrm>
          <a:prstGeom prst="roundRect">
            <a:avLst>
              <a:gd name="adj" fmla="val 4000"/>
            </a:avLst>
          </a:prstGeom>
          <a:solidFill>
            <a:srgbClr val="131728"/>
          </a:solidFill>
          <a:ln w="12700">
            <a:solidFill>
              <a:srgbClr val="232A4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537960" y="1115568"/>
            <a:ext cx="329184" cy="329184"/>
          </a:xfrm>
          <a:prstGeom prst="ellipse">
            <a:avLst/>
          </a:prstGeom>
          <a:solidFill>
            <a:srgbClr val="34D399">
              <a:alpha val="25000"/>
            </a:srgbClr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537960" y="11155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4D399"/>
                </a:solidFill>
              </a:rPr>
              <a:t>3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6967728" y="114300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34D399"/>
                </a:solidFill>
              </a:rPr>
              <a:t>URL / Navigate Action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6537960" y="1508760"/>
            <a:ext cx="2514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0AC"/>
                </a:solidFill>
              </a:rPr>
              <a:t>Clicking a university name anywhere opens the University Profile sheet, filtered to that university_id.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9372600" y="1005840"/>
            <a:ext cx="2788920" cy="1828800"/>
          </a:xfrm>
          <a:prstGeom prst="roundRect">
            <a:avLst>
              <a:gd name="adj" fmla="val 4000"/>
            </a:avLst>
          </a:prstGeom>
          <a:solidFill>
            <a:srgbClr val="131728"/>
          </a:solidFill>
          <a:ln w="12700">
            <a:solidFill>
              <a:srgbClr val="232A44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509760" y="1115568"/>
            <a:ext cx="329184" cy="329184"/>
          </a:xfrm>
          <a:prstGeom prst="ellipse">
            <a:avLst/>
          </a:prstGeom>
          <a:solidFill>
            <a:srgbClr val="FBBF24">
              <a:alpha val="25000"/>
            </a:srgbClr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9509760" y="11155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BBF24"/>
                </a:solidFill>
              </a:rPr>
              <a:t>4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9939528" y="114300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BBF24"/>
                </a:solidFill>
              </a:rPr>
              <a:t>PARAMETER Switcher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9509760" y="1508760"/>
            <a:ext cx="2514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0AC"/>
                </a:solidFill>
              </a:rPr>
              <a:t>A 'Metric' parameter on Country Comparison swaps the map color encoding between Avg Rank / Score / Research Impact / Intl % / # Universities.</a:t>
            </a:r>
            <a:endParaRPr lang="en-US" sz="900" dirty="0"/>
          </a:p>
        </p:txBody>
      </p:sp>
      <p:sp>
        <p:nvSpPr>
          <p:cNvPr id="27" name="Text 25"/>
          <p:cNvSpPr txBox="1"/>
          <p:nvPr/>
        </p:nvSpPr>
        <p:spPr>
          <a:xfrm>
            <a:off x="457200" y="30175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Interactive Comparison Types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57200" y="3429000"/>
            <a:ext cx="2788920" cy="2788920"/>
          </a:xfrm>
          <a:prstGeom prst="roundRect">
            <a:avLst>
              <a:gd name="adj" fmla="val 2623"/>
            </a:avLst>
          </a:prstGeom>
          <a:solidFill>
            <a:srgbClr val="131728"/>
          </a:solidFill>
          <a:ln w="12700">
            <a:solidFill>
              <a:srgbClr val="232A44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57200" y="3429000"/>
            <a:ext cx="2788920" cy="36576"/>
          </a:xfrm>
          <a:prstGeom prst="rect">
            <a:avLst/>
          </a:prstGeom>
          <a:solidFill>
            <a:srgbClr val="7C6FF7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594360" y="3547872"/>
            <a:ext cx="2514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7C6FF7"/>
                </a:solidFill>
              </a:rPr>
              <a:t>University Comparison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594360" y="3904488"/>
            <a:ext cx="64008" cy="64008"/>
          </a:xfrm>
          <a:prstGeom prst="ellipse">
            <a:avLst/>
          </a:prstGeom>
          <a:solidFill>
            <a:srgbClr val="7C6FF7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749808" y="384048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90AC"/>
                </a:solidFill>
              </a:rPr>
              <a:t>Select 2–5 universities via search picker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594360" y="4343400"/>
            <a:ext cx="64008" cy="64008"/>
          </a:xfrm>
          <a:prstGeom prst="ellipse">
            <a:avLst/>
          </a:prstGeom>
          <a:solidFill>
            <a:srgbClr val="7C6FF7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749808" y="4279392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90AC"/>
                </a:solidFill>
              </a:rPr>
              <a:t>Shared comparison table (side-by-side)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594360" y="4782312"/>
            <a:ext cx="64008" cy="64008"/>
          </a:xfrm>
          <a:prstGeom prst="ellipse">
            <a:avLst/>
          </a:prstGeom>
          <a:solidFill>
            <a:srgbClr val="7C6FF7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749808" y="4718304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90AC"/>
                </a:solidFill>
              </a:rPr>
              <a:t>Radar chart — 5 normalized metrics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594360" y="5221224"/>
            <a:ext cx="64008" cy="64008"/>
          </a:xfrm>
          <a:prstGeom prst="ellipse">
            <a:avLst/>
          </a:prstGeom>
          <a:solidFill>
            <a:srgbClr val="7C6FF7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749808" y="5157216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90AC"/>
                </a:solidFill>
              </a:rPr>
              <a:t>Ranking trend line for all selected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594360" y="5660136"/>
            <a:ext cx="64008" cy="64008"/>
          </a:xfrm>
          <a:prstGeom prst="ellipse">
            <a:avLst/>
          </a:prstGeom>
          <a:solidFill>
            <a:srgbClr val="7C6FF7"/>
          </a:solidFill>
          <a:ln/>
        </p:spPr>
      </p:sp>
      <p:sp>
        <p:nvSpPr>
          <p:cNvPr id="40" name="Text 38"/>
          <p:cNvSpPr txBox="1"/>
          <p:nvPr/>
        </p:nvSpPr>
        <p:spPr>
          <a:xfrm>
            <a:off x="749808" y="5596128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90AC"/>
                </a:solidFill>
              </a:rPr>
              <a:t>Research comparison (publications vs citations)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3429000" y="3429000"/>
            <a:ext cx="2788920" cy="2788920"/>
          </a:xfrm>
          <a:prstGeom prst="roundRect">
            <a:avLst>
              <a:gd name="adj" fmla="val 2623"/>
            </a:avLst>
          </a:prstGeom>
          <a:solidFill>
            <a:srgbClr val="131728"/>
          </a:solidFill>
          <a:ln w="12700">
            <a:solidFill>
              <a:srgbClr val="232A44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429000" y="3429000"/>
            <a:ext cx="2788920" cy="36576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43" name="Text 41"/>
          <p:cNvSpPr txBox="1"/>
          <p:nvPr/>
        </p:nvSpPr>
        <p:spPr>
          <a:xfrm>
            <a:off x="3566160" y="3547872"/>
            <a:ext cx="2514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2D3EE"/>
                </a:solidFill>
              </a:rPr>
              <a:t>Country Comparison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3566160" y="3904488"/>
            <a:ext cx="64008" cy="64008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45" name="Text 43"/>
          <p:cNvSpPr txBox="1"/>
          <p:nvPr/>
        </p:nvSpPr>
        <p:spPr>
          <a:xfrm>
            <a:off x="3721608" y="384048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90AC"/>
                </a:solidFill>
              </a:rPr>
              <a:t>Select 2–5 countries via table click or map click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3566160" y="4343400"/>
            <a:ext cx="64008" cy="64008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47" name="Text 45"/>
          <p:cNvSpPr txBox="1"/>
          <p:nvPr/>
        </p:nvSpPr>
        <p:spPr>
          <a:xfrm>
            <a:off x="3721608" y="4279392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90AC"/>
                </a:solidFill>
              </a:rPr>
              <a:t>Radar chart: Score / Research / Reputation / Intl %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3566160" y="4782312"/>
            <a:ext cx="64008" cy="64008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49" name="Text 47"/>
          <p:cNvSpPr txBox="1"/>
          <p:nvPr/>
        </p:nvSpPr>
        <p:spPr>
          <a:xfrm>
            <a:off x="3721608" y="4718304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90AC"/>
                </a:solidFill>
              </a:rPr>
              <a:t>Regional analysis: universities count + avg score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3566160" y="5221224"/>
            <a:ext cx="64008" cy="64008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51" name="Text 49"/>
          <p:cNvSpPr txBox="1"/>
          <p:nvPr/>
        </p:nvSpPr>
        <p:spPr>
          <a:xfrm>
            <a:off x="3721608" y="5157216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90AC"/>
                </a:solidFill>
              </a:rPr>
              <a:t>Sortable country ranking table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6400800" y="3429000"/>
            <a:ext cx="2788920" cy="2788920"/>
          </a:xfrm>
          <a:prstGeom prst="roundRect">
            <a:avLst>
              <a:gd name="adj" fmla="val 2623"/>
            </a:avLst>
          </a:prstGeom>
          <a:solidFill>
            <a:srgbClr val="131728"/>
          </a:solidFill>
          <a:ln w="12700">
            <a:solidFill>
              <a:srgbClr val="232A44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400800" y="3429000"/>
            <a:ext cx="2788920" cy="36576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54" name="Text 52"/>
          <p:cNvSpPr txBox="1"/>
          <p:nvPr/>
        </p:nvSpPr>
        <p:spPr>
          <a:xfrm>
            <a:off x="6537960" y="3547872"/>
            <a:ext cx="2514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34D399"/>
                </a:solidFill>
              </a:rPr>
              <a:t>Drill-down Path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6537960" y="3904488"/>
            <a:ext cx="64008" cy="64008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56" name="Text 54"/>
          <p:cNvSpPr txBox="1"/>
          <p:nvPr/>
        </p:nvSpPr>
        <p:spPr>
          <a:xfrm>
            <a:off x="6693408" y="384048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90AC"/>
                </a:solidFill>
              </a:rPr>
              <a:t>Region (donut) → Country (map/bar) → University (profile)</a:t>
            </a:r>
            <a:endParaRPr lang="en-US" sz="850" dirty="0"/>
          </a:p>
        </p:txBody>
      </p:sp>
      <p:sp>
        <p:nvSpPr>
          <p:cNvPr id="57" name="Shape 55"/>
          <p:cNvSpPr/>
          <p:nvPr/>
        </p:nvSpPr>
        <p:spPr>
          <a:xfrm>
            <a:off x="6537960" y="4343400"/>
            <a:ext cx="64008" cy="64008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58" name="Text 56"/>
          <p:cNvSpPr txBox="1"/>
          <p:nvPr/>
        </p:nvSpPr>
        <p:spPr>
          <a:xfrm>
            <a:off x="6693408" y="4279392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90AC"/>
                </a:solidFill>
              </a:rPr>
              <a:t>Each level narrows the next level's filter</a:t>
            </a:r>
            <a:endParaRPr lang="en-US" sz="850" dirty="0"/>
          </a:p>
        </p:txBody>
      </p:sp>
      <p:sp>
        <p:nvSpPr>
          <p:cNvPr id="59" name="Shape 57"/>
          <p:cNvSpPr/>
          <p:nvPr/>
        </p:nvSpPr>
        <p:spPr>
          <a:xfrm>
            <a:off x="6537960" y="4782312"/>
            <a:ext cx="64008" cy="64008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60" name="Text 58"/>
          <p:cNvSpPr txBox="1"/>
          <p:nvPr/>
        </p:nvSpPr>
        <p:spPr>
          <a:xfrm>
            <a:off x="6693408" y="4718304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90AC"/>
                </a:solidFill>
              </a:rPr>
              <a:t>Reset Filters always available to undo</a:t>
            </a:r>
            <a:endParaRPr lang="en-US" sz="850" dirty="0"/>
          </a:p>
        </p:txBody>
      </p:sp>
      <p:sp>
        <p:nvSpPr>
          <p:cNvPr id="61" name="Shape 59"/>
          <p:cNvSpPr/>
          <p:nvPr/>
        </p:nvSpPr>
        <p:spPr>
          <a:xfrm>
            <a:off x="6537960" y="5221224"/>
            <a:ext cx="64008" cy="64008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62" name="Text 60"/>
          <p:cNvSpPr txBox="1"/>
          <p:nvPr/>
        </p:nvSpPr>
        <p:spPr>
          <a:xfrm>
            <a:off x="6693408" y="5157216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90AC"/>
                </a:solidFill>
              </a:rPr>
              <a:t>Back button on profile view returns to previous</a:t>
            </a:r>
            <a:endParaRPr lang="en-US" sz="850" dirty="0"/>
          </a:p>
        </p:txBody>
      </p:sp>
      <p:sp>
        <p:nvSpPr>
          <p:cNvPr id="63" name="Shape 61"/>
          <p:cNvSpPr/>
          <p:nvPr/>
        </p:nvSpPr>
        <p:spPr>
          <a:xfrm>
            <a:off x="9372600" y="3429000"/>
            <a:ext cx="2788920" cy="2788920"/>
          </a:xfrm>
          <a:prstGeom prst="roundRect">
            <a:avLst>
              <a:gd name="adj" fmla="val 2623"/>
            </a:avLst>
          </a:prstGeom>
          <a:solidFill>
            <a:srgbClr val="131728"/>
          </a:solidFill>
          <a:ln w="12700">
            <a:solidFill>
              <a:srgbClr val="232A44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9372600" y="3429000"/>
            <a:ext cx="2788920" cy="36576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65" name="Text 63"/>
          <p:cNvSpPr txBox="1"/>
          <p:nvPr/>
        </p:nvSpPr>
        <p:spPr>
          <a:xfrm>
            <a:off x="9509760" y="3547872"/>
            <a:ext cx="2514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BBF24"/>
                </a:solidFill>
              </a:rPr>
              <a:t>Tooltips &amp; Hover</a:t>
            </a:r>
            <a:endParaRPr lang="en-US" sz="950" dirty="0"/>
          </a:p>
        </p:txBody>
      </p:sp>
      <p:sp>
        <p:nvSpPr>
          <p:cNvPr id="66" name="Shape 64"/>
          <p:cNvSpPr/>
          <p:nvPr/>
        </p:nvSpPr>
        <p:spPr>
          <a:xfrm>
            <a:off x="9509760" y="3904488"/>
            <a:ext cx="64008" cy="64008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67" name="Text 65"/>
          <p:cNvSpPr txBox="1"/>
          <p:nvPr/>
        </p:nvSpPr>
        <p:spPr>
          <a:xfrm>
            <a:off x="9665208" y="384048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90AC"/>
                </a:solidFill>
              </a:rPr>
              <a:t>Every mark shows: university, country, metric(s), year</a:t>
            </a:r>
            <a:endParaRPr lang="en-US" sz="850" dirty="0"/>
          </a:p>
        </p:txBody>
      </p:sp>
      <p:sp>
        <p:nvSpPr>
          <p:cNvPr id="68" name="Shape 66"/>
          <p:cNvSpPr/>
          <p:nvPr/>
        </p:nvSpPr>
        <p:spPr>
          <a:xfrm>
            <a:off x="9509760" y="4343400"/>
            <a:ext cx="64008" cy="64008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69" name="Text 67"/>
          <p:cNvSpPr txBox="1"/>
          <p:nvPr/>
        </p:nvSpPr>
        <p:spPr>
          <a:xfrm>
            <a:off x="9665208" y="4279392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90AC"/>
                </a:solidFill>
              </a:rPr>
              <a:t>num_sources + sources_covered shown on all tooltips</a:t>
            </a:r>
            <a:endParaRPr lang="en-US" sz="850" dirty="0"/>
          </a:p>
        </p:txBody>
      </p:sp>
      <p:sp>
        <p:nvSpPr>
          <p:cNvPr id="70" name="Shape 68"/>
          <p:cNvSpPr/>
          <p:nvPr/>
        </p:nvSpPr>
        <p:spPr>
          <a:xfrm>
            <a:off x="9509760" y="4782312"/>
            <a:ext cx="64008" cy="64008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71" name="Text 69"/>
          <p:cNvSpPr txBox="1"/>
          <p:nvPr/>
        </p:nvSpPr>
        <p:spPr>
          <a:xfrm>
            <a:off x="9665208" y="4718304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90AC"/>
                </a:solidFill>
              </a:rPr>
              <a:t>Viewer can see how many ranking sources cover that row</a:t>
            </a:r>
            <a:endParaRPr lang="en-US" sz="850" dirty="0"/>
          </a:p>
        </p:txBody>
      </p:sp>
      <p:sp>
        <p:nvSpPr>
          <p:cNvPr id="72" name="Shape 70"/>
          <p:cNvSpPr/>
          <p:nvPr/>
        </p:nvSpPr>
        <p:spPr>
          <a:xfrm>
            <a:off x="9509760" y="5221224"/>
            <a:ext cx="64008" cy="64008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73" name="Text 71"/>
          <p:cNvSpPr txBox="1"/>
          <p:nvPr/>
        </p:nvSpPr>
        <p:spPr>
          <a:xfrm>
            <a:off x="9665208" y="5157216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90AC"/>
                </a:solidFill>
              </a:rPr>
              <a:t>Hover clears cleanly on mouse-out</a:t>
            </a:r>
            <a:endParaRPr lang="en-US" sz="850" dirty="0"/>
          </a:p>
        </p:txBody>
      </p:sp>
      <p:sp>
        <p:nvSpPr>
          <p:cNvPr id="74" name="Text 72"/>
          <p:cNvSpPr txBox="1"/>
          <p:nvPr/>
        </p:nvSpPr>
        <p:spPr>
          <a:xfrm>
            <a:off x="457200" y="660196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A5170"/>
                </a:solidFill>
              </a:rPr>
              <a:t>EduVision_DV  ·  Dashboard Actions &amp; Interactive Comparisons</a:t>
            </a:r>
            <a:endParaRPr lang="en-US" sz="800" dirty="0"/>
          </a:p>
        </p:txBody>
      </p:sp>
      <p:sp>
        <p:nvSpPr>
          <p:cNvPr id="75" name="Text 73"/>
          <p:cNvSpPr txBox="1"/>
          <p:nvPr/>
        </p:nvSpPr>
        <p:spPr>
          <a:xfrm>
            <a:off x="10881360" y="658368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4A5170"/>
                </a:solidFill>
              </a:rPr>
              <a:t>7 / 9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0D16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137160"/>
            <a:ext cx="1554480" cy="256032"/>
          </a:xfrm>
          <a:prstGeom prst="roundRect">
            <a:avLst>
              <a:gd name="adj" fmla="val 17857"/>
            </a:avLst>
          </a:prstGeom>
          <a:solidFill>
            <a:srgbClr val="34D399">
              <a:alpha val="20000"/>
            </a:srgbClr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3716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34D399"/>
                </a:solidFill>
              </a:rPr>
              <a:t>KPI REFERENCE</a:t>
            </a:r>
            <a:endParaRPr lang="en-US" sz="750" dirty="0"/>
          </a:p>
        </p:txBody>
      </p:sp>
      <p:sp>
        <p:nvSpPr>
          <p:cNvPr id="5" name="Text 3"/>
          <p:cNvSpPr txBox="1"/>
          <p:nvPr/>
        </p:nvSpPr>
        <p:spPr>
          <a:xfrm>
            <a:off x="2331720" y="32004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KPI Definitions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576072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90AC"/>
                </a:solidFill>
              </a:rPr>
              <a:t>All 6 KPIs computed by generate_education_kpis.py · sourced from real fields only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914400"/>
            <a:ext cx="3749040" cy="2487168"/>
          </a:xfrm>
          <a:prstGeom prst="roundRect">
            <a:avLst>
              <a:gd name="adj" fmla="val 2941"/>
            </a:avLst>
          </a:prstGeom>
          <a:solidFill>
            <a:srgbClr val="131728"/>
          </a:solidFill>
          <a:ln w="12700">
            <a:solidFill>
              <a:srgbClr val="232A4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85216" y="1042416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7C6FF7">
              <a:alpha val="25000"/>
            </a:srgbClr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85216" y="10424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7C6FF7"/>
                </a:solidFill>
              </a:rPr>
              <a:t>01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1078992" y="1078992"/>
            <a:ext cx="29992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Global Ranking Score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585216" y="1536192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7C6FF7"/>
                </a:solidFill>
              </a:rPr>
              <a:t>FORMULA</a:t>
            </a:r>
            <a:endParaRPr lang="en-US" sz="650" dirty="0"/>
          </a:p>
        </p:txBody>
      </p:sp>
      <p:sp>
        <p:nvSpPr>
          <p:cNvPr id="12" name="Text 10"/>
          <p:cNvSpPr txBox="1"/>
          <p:nvPr/>
        </p:nvSpPr>
        <p:spPr>
          <a:xfrm>
            <a:off x="585216" y="1709928"/>
            <a:ext cx="34930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7E9F5"/>
                </a:solidFill>
              </a:rPr>
              <a:t>mean( score_0_100 ) across all sources covering that (university, year)</a:t>
            </a:r>
            <a:endParaRPr lang="en-US" sz="800" dirty="0"/>
          </a:p>
        </p:txBody>
      </p:sp>
      <p:sp>
        <p:nvSpPr>
          <p:cNvPr id="13" name="Text 11"/>
          <p:cNvSpPr txBox="1"/>
          <p:nvPr/>
        </p:nvSpPr>
        <p:spPr>
          <a:xfrm>
            <a:off x="585216" y="2121408"/>
            <a:ext cx="34930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A90AC"/>
                </a:solidFill>
              </a:rPr>
              <a:t>Each source's raw score is min-max normalized to 0–100 within its own year before averaging.</a:t>
            </a:r>
            <a:endParaRPr lang="en-US" sz="750" dirty="0"/>
          </a:p>
        </p:txBody>
      </p:sp>
      <p:sp>
        <p:nvSpPr>
          <p:cNvPr id="14" name="Text 12"/>
          <p:cNvSpPr txBox="1"/>
          <p:nvPr/>
        </p:nvSpPr>
        <p:spPr>
          <a:xfrm>
            <a:off x="585216" y="2651760"/>
            <a:ext cx="34930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4A5170"/>
                </a:solidFill>
              </a:rPr>
              <a:t>Source: fact_ranking_core · score_0_100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3438144" y="1097280"/>
            <a:ext cx="640080" cy="228600"/>
          </a:xfrm>
          <a:prstGeom prst="roundRect">
            <a:avLst>
              <a:gd name="adj" fmla="val 24000"/>
            </a:avLst>
          </a:prstGeom>
          <a:solidFill>
            <a:srgbClr val="7C6FF7">
              <a:alpha val="22000"/>
            </a:srgbClr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3438144" y="109728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7C6FF7"/>
                </a:solidFill>
              </a:rPr>
              <a:t>48.0%</a:t>
            </a:r>
            <a:endParaRPr lang="en-US" sz="800" dirty="0"/>
          </a:p>
        </p:txBody>
      </p:sp>
      <p:sp>
        <p:nvSpPr>
          <p:cNvPr id="17" name="Text 15"/>
          <p:cNvSpPr txBox="1"/>
          <p:nvPr/>
        </p:nvSpPr>
        <p:spPr>
          <a:xfrm>
            <a:off x="3438144" y="1335024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4A5170"/>
                </a:solidFill>
              </a:rPr>
              <a:t>coverage</a:t>
            </a:r>
            <a:endParaRPr lang="en-US" sz="600" dirty="0"/>
          </a:p>
        </p:txBody>
      </p:sp>
      <p:sp>
        <p:nvSpPr>
          <p:cNvPr id="18" name="Shape 16"/>
          <p:cNvSpPr/>
          <p:nvPr/>
        </p:nvSpPr>
        <p:spPr>
          <a:xfrm>
            <a:off x="4370832" y="914400"/>
            <a:ext cx="3749040" cy="2487168"/>
          </a:xfrm>
          <a:prstGeom prst="roundRect">
            <a:avLst>
              <a:gd name="adj" fmla="val 2941"/>
            </a:avLst>
          </a:prstGeom>
          <a:solidFill>
            <a:srgbClr val="131728"/>
          </a:solidFill>
          <a:ln w="12700">
            <a:solidFill>
              <a:srgbClr val="232A4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498848" y="1042416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22D3EE">
              <a:alpha val="25000"/>
            </a:srgbClr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4498848" y="10424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2D3EE"/>
                </a:solidFill>
              </a:rPr>
              <a:t>02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4992624" y="1078992"/>
            <a:ext cx="29992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Research Impact Score</a:t>
            </a:r>
            <a:endParaRPr lang="en-US" sz="950" dirty="0"/>
          </a:p>
        </p:txBody>
      </p:sp>
      <p:sp>
        <p:nvSpPr>
          <p:cNvPr id="22" name="Text 20"/>
          <p:cNvSpPr txBox="1"/>
          <p:nvPr/>
        </p:nvSpPr>
        <p:spPr>
          <a:xfrm>
            <a:off x="4498848" y="1536192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22D3EE"/>
                </a:solidFill>
              </a:rPr>
              <a:t>FORMULA</a:t>
            </a:r>
            <a:endParaRPr lang="en-US" sz="650" dirty="0"/>
          </a:p>
        </p:txBody>
      </p:sp>
      <p:sp>
        <p:nvSpPr>
          <p:cNvPr id="23" name="Text 21"/>
          <p:cNvSpPr txBox="1"/>
          <p:nvPr/>
        </p:nvSpPr>
        <p:spPr>
          <a:xfrm>
            <a:off x="4498848" y="1709928"/>
            <a:ext cx="34930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7E9F5"/>
                </a:solidFill>
              </a:rPr>
              <a:t>mean( THE citations sub-score,  CWUR citations rank inverted + normalized )</a:t>
            </a:r>
            <a:endParaRPr lang="en-US" sz="800" dirty="0"/>
          </a:p>
        </p:txBody>
      </p:sp>
      <p:sp>
        <p:nvSpPr>
          <p:cNvPr id="24" name="Text 22"/>
          <p:cNvSpPr txBox="1"/>
          <p:nvPr/>
        </p:nvSpPr>
        <p:spPr>
          <a:xfrm>
            <a:off x="4498848" y="2121408"/>
            <a:ext cx="34930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A90AC"/>
                </a:solidFill>
              </a:rPr>
              <a:t>Captures citation efficiency. Both components are independently rescaled 0–100 before averaging.</a:t>
            </a:r>
            <a:endParaRPr lang="en-US" sz="750" dirty="0"/>
          </a:p>
        </p:txBody>
      </p:sp>
      <p:sp>
        <p:nvSpPr>
          <p:cNvPr id="25" name="Text 23"/>
          <p:cNvSpPr txBox="1"/>
          <p:nvPr/>
        </p:nvSpPr>
        <p:spPr>
          <a:xfrm>
            <a:off x="4498848" y="2651760"/>
            <a:ext cx="34930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4A5170"/>
                </a:solidFill>
              </a:rPr>
              <a:t>Source: fact_times.citations · fact_cwur.citations</a:t>
            </a:r>
            <a:endParaRPr lang="en-US" sz="700" dirty="0"/>
          </a:p>
        </p:txBody>
      </p:sp>
      <p:sp>
        <p:nvSpPr>
          <p:cNvPr id="26" name="Shape 24"/>
          <p:cNvSpPr/>
          <p:nvPr/>
        </p:nvSpPr>
        <p:spPr>
          <a:xfrm>
            <a:off x="7351776" y="1097280"/>
            <a:ext cx="640080" cy="228600"/>
          </a:xfrm>
          <a:prstGeom prst="roundRect">
            <a:avLst>
              <a:gd name="adj" fmla="val 24000"/>
            </a:avLst>
          </a:prstGeom>
          <a:solidFill>
            <a:srgbClr val="22D3EE">
              <a:alpha val="22000"/>
            </a:srgbClr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7351776" y="109728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2D3EE"/>
                </a:solidFill>
              </a:rPr>
              <a:t>51.5%</a:t>
            </a:r>
            <a:endParaRPr lang="en-US" sz="800" dirty="0"/>
          </a:p>
        </p:txBody>
      </p:sp>
      <p:sp>
        <p:nvSpPr>
          <p:cNvPr id="28" name="Text 26"/>
          <p:cNvSpPr txBox="1"/>
          <p:nvPr/>
        </p:nvSpPr>
        <p:spPr>
          <a:xfrm>
            <a:off x="7351776" y="1335024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4A5170"/>
                </a:solidFill>
              </a:rPr>
              <a:t>coverage</a:t>
            </a:r>
            <a:endParaRPr lang="en-US" sz="600" dirty="0"/>
          </a:p>
        </p:txBody>
      </p:sp>
      <p:sp>
        <p:nvSpPr>
          <p:cNvPr id="29" name="Shape 27"/>
          <p:cNvSpPr/>
          <p:nvPr/>
        </p:nvSpPr>
        <p:spPr>
          <a:xfrm>
            <a:off x="8284464" y="914400"/>
            <a:ext cx="3749040" cy="2487168"/>
          </a:xfrm>
          <a:prstGeom prst="roundRect">
            <a:avLst>
              <a:gd name="adj" fmla="val 2941"/>
            </a:avLst>
          </a:prstGeom>
          <a:solidFill>
            <a:srgbClr val="131728"/>
          </a:solidFill>
          <a:ln w="12700">
            <a:solidFill>
              <a:srgbClr val="232A44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412480" y="1042416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34D399">
              <a:alpha val="25000"/>
            </a:srgbClr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8412480" y="10424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4D399"/>
                </a:solidFill>
              </a:rPr>
              <a:t>03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8906256" y="1078992"/>
            <a:ext cx="29992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Faculty-to-Student Ratio</a:t>
            </a:r>
            <a:endParaRPr lang="en-US" sz="950" dirty="0"/>
          </a:p>
        </p:txBody>
      </p:sp>
      <p:sp>
        <p:nvSpPr>
          <p:cNvPr id="33" name="Text 31"/>
          <p:cNvSpPr txBox="1"/>
          <p:nvPr/>
        </p:nvSpPr>
        <p:spPr>
          <a:xfrm>
            <a:off x="8412480" y="1536192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34D399"/>
                </a:solidFill>
              </a:rPr>
              <a:t>FORMULA</a:t>
            </a:r>
            <a:endParaRPr lang="en-US" sz="650" dirty="0"/>
          </a:p>
        </p:txBody>
      </p:sp>
      <p:sp>
        <p:nvSpPr>
          <p:cNvPr id="34" name="Text 32"/>
          <p:cNvSpPr txBox="1"/>
          <p:nvPr/>
        </p:nvSpPr>
        <p:spPr>
          <a:xfrm>
            <a:off x="8412480" y="1709928"/>
            <a:ext cx="34930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7E9F5"/>
                </a:solidFill>
              </a:rPr>
              <a:t>Total Students ÷ Faculty Count   displayed as  '1 : X'</a:t>
            </a:r>
            <a:endParaRPr lang="en-US" sz="800" dirty="0"/>
          </a:p>
        </p:txBody>
      </p:sp>
      <p:sp>
        <p:nvSpPr>
          <p:cNvPr id="35" name="Text 33"/>
          <p:cNvSpPr txBox="1"/>
          <p:nvPr/>
        </p:nvSpPr>
        <p:spPr>
          <a:xfrm>
            <a:off x="8412480" y="2121408"/>
            <a:ext cx="34930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A90AC"/>
                </a:solidFill>
              </a:rPr>
              <a:t>Sourced directly from the publisher's student_staff_ratio column. Never recomputed from raw headcounts.</a:t>
            </a:r>
            <a:endParaRPr lang="en-US" sz="750" dirty="0"/>
          </a:p>
        </p:txBody>
      </p:sp>
      <p:sp>
        <p:nvSpPr>
          <p:cNvPr id="36" name="Text 34"/>
          <p:cNvSpPr txBox="1"/>
          <p:nvPr/>
        </p:nvSpPr>
        <p:spPr>
          <a:xfrm>
            <a:off x="8412480" y="2651760"/>
            <a:ext cx="34930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4A5170"/>
                </a:solidFill>
              </a:rPr>
              <a:t>Source: fact_times.student_staff_ratio · fact_qs2023.student_staff_ratio</a:t>
            </a:r>
            <a:endParaRPr lang="en-US" sz="700" dirty="0"/>
          </a:p>
        </p:txBody>
      </p:sp>
      <p:sp>
        <p:nvSpPr>
          <p:cNvPr id="37" name="Shape 35"/>
          <p:cNvSpPr/>
          <p:nvPr/>
        </p:nvSpPr>
        <p:spPr>
          <a:xfrm>
            <a:off x="11265408" y="1097280"/>
            <a:ext cx="640080" cy="228600"/>
          </a:xfrm>
          <a:prstGeom prst="roundRect">
            <a:avLst>
              <a:gd name="adj" fmla="val 24000"/>
            </a:avLst>
          </a:prstGeom>
          <a:solidFill>
            <a:srgbClr val="34D399">
              <a:alpha val="22000"/>
            </a:srgbClr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11265408" y="109728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34D399"/>
                </a:solidFill>
              </a:rPr>
              <a:t>34.4%</a:t>
            </a:r>
            <a:endParaRPr lang="en-US" sz="800" dirty="0"/>
          </a:p>
        </p:txBody>
      </p:sp>
      <p:sp>
        <p:nvSpPr>
          <p:cNvPr id="39" name="Text 37"/>
          <p:cNvSpPr txBox="1"/>
          <p:nvPr/>
        </p:nvSpPr>
        <p:spPr>
          <a:xfrm>
            <a:off x="11265408" y="1335024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4A5170"/>
                </a:solidFill>
              </a:rPr>
              <a:t>coverage</a:t>
            </a:r>
            <a:endParaRPr lang="en-US" sz="600" dirty="0"/>
          </a:p>
        </p:txBody>
      </p:sp>
      <p:sp>
        <p:nvSpPr>
          <p:cNvPr id="40" name="Shape 38"/>
          <p:cNvSpPr/>
          <p:nvPr/>
        </p:nvSpPr>
        <p:spPr>
          <a:xfrm>
            <a:off x="457200" y="3566160"/>
            <a:ext cx="3749040" cy="2487168"/>
          </a:xfrm>
          <a:prstGeom prst="roundRect">
            <a:avLst>
              <a:gd name="adj" fmla="val 2941"/>
            </a:avLst>
          </a:prstGeom>
          <a:solidFill>
            <a:srgbClr val="131728"/>
          </a:solidFill>
          <a:ln w="12700">
            <a:solidFill>
              <a:srgbClr val="232A44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585216" y="3694176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FBBF24">
              <a:alpha val="25000"/>
            </a:srgbClr>
          </a:solidFill>
          <a:ln/>
        </p:spPr>
      </p:sp>
      <p:sp>
        <p:nvSpPr>
          <p:cNvPr id="42" name="Text 40"/>
          <p:cNvSpPr txBox="1"/>
          <p:nvPr/>
        </p:nvSpPr>
        <p:spPr>
          <a:xfrm>
            <a:off x="585216" y="36941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BBF24"/>
                </a:solidFill>
              </a:rPr>
              <a:t>04</a:t>
            </a:r>
            <a:endParaRPr lang="en-US" sz="1200" dirty="0"/>
          </a:p>
        </p:txBody>
      </p:sp>
      <p:sp>
        <p:nvSpPr>
          <p:cNvPr id="43" name="Text 41"/>
          <p:cNvSpPr txBox="1"/>
          <p:nvPr/>
        </p:nvSpPr>
        <p:spPr>
          <a:xfrm>
            <a:off x="1078992" y="3730752"/>
            <a:ext cx="29992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International Student %</a:t>
            </a:r>
            <a:endParaRPr lang="en-US" sz="950" dirty="0"/>
          </a:p>
        </p:txBody>
      </p:sp>
      <p:sp>
        <p:nvSpPr>
          <p:cNvPr id="44" name="Text 42"/>
          <p:cNvSpPr txBox="1"/>
          <p:nvPr/>
        </p:nvSpPr>
        <p:spPr>
          <a:xfrm>
            <a:off x="585216" y="4187952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FBBF24"/>
                </a:solidFill>
              </a:rPr>
              <a:t>FORMULA</a:t>
            </a:r>
            <a:endParaRPr lang="en-US" sz="650" dirty="0"/>
          </a:p>
        </p:txBody>
      </p:sp>
      <p:sp>
        <p:nvSpPr>
          <p:cNvPr id="45" name="Text 43"/>
          <p:cNvSpPr txBox="1"/>
          <p:nvPr/>
        </p:nvSpPr>
        <p:spPr>
          <a:xfrm>
            <a:off x="585216" y="4361688"/>
            <a:ext cx="34930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7E9F5"/>
                </a:solidFill>
              </a:rPr>
              <a:t>International Students ÷ Total Students × 100</a:t>
            </a:r>
            <a:endParaRPr lang="en-US" sz="800" dirty="0"/>
          </a:p>
        </p:txBody>
      </p:sp>
      <p:sp>
        <p:nvSpPr>
          <p:cNvPr id="46" name="Text 44"/>
          <p:cNvSpPr txBox="1"/>
          <p:nvPr/>
        </p:nvSpPr>
        <p:spPr>
          <a:xfrm>
            <a:off x="585216" y="4773168"/>
            <a:ext cx="34930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A90AC"/>
                </a:solidFill>
              </a:rPr>
              <a:t>Taken from the publisher's own percentage column. No recomputation from raw headcounts.</a:t>
            </a:r>
            <a:endParaRPr lang="en-US" sz="750" dirty="0"/>
          </a:p>
        </p:txBody>
      </p:sp>
      <p:sp>
        <p:nvSpPr>
          <p:cNvPr id="47" name="Text 45"/>
          <p:cNvSpPr txBox="1"/>
          <p:nvPr/>
        </p:nvSpPr>
        <p:spPr>
          <a:xfrm>
            <a:off x="585216" y="5303520"/>
            <a:ext cx="34930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4A5170"/>
                </a:solidFill>
              </a:rPr>
              <a:t>Source: fact_times.international_students · fact_qs2023.international_students</a:t>
            </a:r>
            <a:endParaRPr lang="en-US" sz="700" dirty="0"/>
          </a:p>
        </p:txBody>
      </p:sp>
      <p:sp>
        <p:nvSpPr>
          <p:cNvPr id="48" name="Shape 46"/>
          <p:cNvSpPr/>
          <p:nvPr/>
        </p:nvSpPr>
        <p:spPr>
          <a:xfrm>
            <a:off x="3438144" y="3749040"/>
            <a:ext cx="640080" cy="228600"/>
          </a:xfrm>
          <a:prstGeom prst="roundRect">
            <a:avLst>
              <a:gd name="adj" fmla="val 24000"/>
            </a:avLst>
          </a:prstGeom>
          <a:solidFill>
            <a:srgbClr val="FBBF24">
              <a:alpha val="22000"/>
            </a:srgbClr>
          </a:solidFill>
          <a:ln/>
        </p:spPr>
      </p:sp>
      <p:sp>
        <p:nvSpPr>
          <p:cNvPr id="49" name="Text 47"/>
          <p:cNvSpPr txBox="1"/>
          <p:nvPr/>
        </p:nvSpPr>
        <p:spPr>
          <a:xfrm>
            <a:off x="3438144" y="374904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BBF24"/>
                </a:solidFill>
              </a:rPr>
              <a:t>34.3%</a:t>
            </a:r>
            <a:endParaRPr lang="en-US" sz="800" dirty="0"/>
          </a:p>
        </p:txBody>
      </p:sp>
      <p:sp>
        <p:nvSpPr>
          <p:cNvPr id="50" name="Text 48"/>
          <p:cNvSpPr txBox="1"/>
          <p:nvPr/>
        </p:nvSpPr>
        <p:spPr>
          <a:xfrm>
            <a:off x="3438144" y="3986784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4A5170"/>
                </a:solidFill>
              </a:rPr>
              <a:t>coverage</a:t>
            </a:r>
            <a:endParaRPr lang="en-US" sz="600" dirty="0"/>
          </a:p>
        </p:txBody>
      </p:sp>
      <p:sp>
        <p:nvSpPr>
          <p:cNvPr id="51" name="Shape 49"/>
          <p:cNvSpPr/>
          <p:nvPr/>
        </p:nvSpPr>
        <p:spPr>
          <a:xfrm>
            <a:off x="4370832" y="3566160"/>
            <a:ext cx="3749040" cy="2487168"/>
          </a:xfrm>
          <a:prstGeom prst="roundRect">
            <a:avLst>
              <a:gd name="adj" fmla="val 2941"/>
            </a:avLst>
          </a:prstGeom>
          <a:solidFill>
            <a:srgbClr val="131728"/>
          </a:solidFill>
          <a:ln w="12700">
            <a:solidFill>
              <a:srgbClr val="232A44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4498848" y="3694176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F87171">
              <a:alpha val="25000"/>
            </a:srgbClr>
          </a:solidFill>
          <a:ln/>
        </p:spPr>
      </p:sp>
      <p:sp>
        <p:nvSpPr>
          <p:cNvPr id="53" name="Text 51"/>
          <p:cNvSpPr txBox="1"/>
          <p:nvPr/>
        </p:nvSpPr>
        <p:spPr>
          <a:xfrm>
            <a:off x="4498848" y="36941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87171"/>
                </a:solidFill>
              </a:rPr>
              <a:t>05</a:t>
            </a:r>
            <a:endParaRPr lang="en-US" sz="1200" dirty="0"/>
          </a:p>
        </p:txBody>
      </p:sp>
      <p:sp>
        <p:nvSpPr>
          <p:cNvPr id="54" name="Text 52"/>
          <p:cNvSpPr txBox="1"/>
          <p:nvPr/>
        </p:nvSpPr>
        <p:spPr>
          <a:xfrm>
            <a:off x="4992624" y="3730752"/>
            <a:ext cx="29992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Academic Reputation Score</a:t>
            </a:r>
            <a:endParaRPr lang="en-US" sz="950" dirty="0"/>
          </a:p>
        </p:txBody>
      </p:sp>
      <p:sp>
        <p:nvSpPr>
          <p:cNvPr id="55" name="Text 53"/>
          <p:cNvSpPr txBox="1"/>
          <p:nvPr/>
        </p:nvSpPr>
        <p:spPr>
          <a:xfrm>
            <a:off x="4498848" y="4187952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F87171"/>
                </a:solidFill>
              </a:rPr>
              <a:t>FORMULA</a:t>
            </a:r>
            <a:endParaRPr lang="en-US" sz="650" dirty="0"/>
          </a:p>
        </p:txBody>
      </p:sp>
      <p:sp>
        <p:nvSpPr>
          <p:cNvPr id="56" name="Text 54"/>
          <p:cNvSpPr txBox="1"/>
          <p:nvPr/>
        </p:nvSpPr>
        <p:spPr>
          <a:xfrm>
            <a:off x="4498848" y="4361688"/>
            <a:ext cx="34930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7E9F5"/>
                </a:solidFill>
              </a:rPr>
              <a:t>THE 'Teaching' pillar sub-score  ( documented proxy )</a:t>
            </a:r>
            <a:endParaRPr lang="en-US" sz="800" dirty="0"/>
          </a:p>
        </p:txBody>
      </p:sp>
      <p:sp>
        <p:nvSpPr>
          <p:cNvPr id="57" name="Text 55"/>
          <p:cNvSpPr txBox="1"/>
          <p:nvPr/>
        </p:nvSpPr>
        <p:spPr>
          <a:xfrm>
            <a:off x="4498848" y="4773168"/>
            <a:ext cx="34930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A90AC"/>
                </a:solidFill>
              </a:rPr>
              <a:t>No source in this pipeline publishes a standalone reputation column. THE's teaching pillar incorporates a reputation survey. NULL for all non-THE rows — never estimated.</a:t>
            </a:r>
            <a:endParaRPr lang="en-US" sz="750" dirty="0"/>
          </a:p>
        </p:txBody>
      </p:sp>
      <p:sp>
        <p:nvSpPr>
          <p:cNvPr id="58" name="Text 56"/>
          <p:cNvSpPr txBox="1"/>
          <p:nvPr/>
        </p:nvSpPr>
        <p:spPr>
          <a:xfrm>
            <a:off x="4498848" y="5303520"/>
            <a:ext cx="34930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4A5170"/>
                </a:solidFill>
              </a:rPr>
              <a:t>Source: fact_times.teaching</a:t>
            </a:r>
            <a:endParaRPr lang="en-US" sz="700" dirty="0"/>
          </a:p>
        </p:txBody>
      </p:sp>
      <p:sp>
        <p:nvSpPr>
          <p:cNvPr id="59" name="Shape 57"/>
          <p:cNvSpPr/>
          <p:nvPr/>
        </p:nvSpPr>
        <p:spPr>
          <a:xfrm>
            <a:off x="7351776" y="3749040"/>
            <a:ext cx="640080" cy="228600"/>
          </a:xfrm>
          <a:prstGeom prst="roundRect">
            <a:avLst>
              <a:gd name="adj" fmla="val 24000"/>
            </a:avLst>
          </a:prstGeom>
          <a:solidFill>
            <a:srgbClr val="F87171">
              <a:alpha val="22000"/>
            </a:srgbClr>
          </a:solidFill>
          <a:ln/>
        </p:spPr>
      </p:sp>
      <p:sp>
        <p:nvSpPr>
          <p:cNvPr id="60" name="Text 58"/>
          <p:cNvSpPr txBox="1"/>
          <p:nvPr/>
        </p:nvSpPr>
        <p:spPr>
          <a:xfrm>
            <a:off x="7351776" y="374904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87171"/>
                </a:solidFill>
              </a:rPr>
              <a:t>33.9%</a:t>
            </a:r>
            <a:endParaRPr lang="en-US" sz="800" dirty="0"/>
          </a:p>
        </p:txBody>
      </p:sp>
      <p:sp>
        <p:nvSpPr>
          <p:cNvPr id="61" name="Text 59"/>
          <p:cNvSpPr txBox="1"/>
          <p:nvPr/>
        </p:nvSpPr>
        <p:spPr>
          <a:xfrm>
            <a:off x="7351776" y="3986784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4A5170"/>
                </a:solidFill>
              </a:rPr>
              <a:t>coverage</a:t>
            </a:r>
            <a:endParaRPr lang="en-US" sz="600" dirty="0"/>
          </a:p>
        </p:txBody>
      </p:sp>
      <p:sp>
        <p:nvSpPr>
          <p:cNvPr id="62" name="Shape 60"/>
          <p:cNvSpPr/>
          <p:nvPr/>
        </p:nvSpPr>
        <p:spPr>
          <a:xfrm>
            <a:off x="8284464" y="3566160"/>
            <a:ext cx="3749040" cy="2487168"/>
          </a:xfrm>
          <a:prstGeom prst="roundRect">
            <a:avLst>
              <a:gd name="adj" fmla="val 2941"/>
            </a:avLst>
          </a:prstGeom>
          <a:solidFill>
            <a:srgbClr val="131728"/>
          </a:solidFill>
          <a:ln w="12700">
            <a:solidFill>
              <a:srgbClr val="232A44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8412480" y="3694176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7C6FF7">
              <a:alpha val="25000"/>
            </a:srgbClr>
          </a:solidFill>
          <a:ln/>
        </p:spPr>
      </p:sp>
      <p:sp>
        <p:nvSpPr>
          <p:cNvPr id="64" name="Text 62"/>
          <p:cNvSpPr txBox="1"/>
          <p:nvPr/>
        </p:nvSpPr>
        <p:spPr>
          <a:xfrm>
            <a:off x="8412480" y="36941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7C6FF7"/>
                </a:solidFill>
              </a:rPr>
              <a:t>06</a:t>
            </a:r>
            <a:endParaRPr lang="en-US" sz="1200" dirty="0"/>
          </a:p>
        </p:txBody>
      </p:sp>
      <p:sp>
        <p:nvSpPr>
          <p:cNvPr id="65" name="Text 63"/>
          <p:cNvSpPr txBox="1"/>
          <p:nvPr/>
        </p:nvSpPr>
        <p:spPr>
          <a:xfrm>
            <a:off x="8906256" y="3730752"/>
            <a:ext cx="29992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Research Productivity Index</a:t>
            </a:r>
            <a:endParaRPr lang="en-US" sz="950" dirty="0"/>
          </a:p>
        </p:txBody>
      </p:sp>
      <p:sp>
        <p:nvSpPr>
          <p:cNvPr id="66" name="Text 64"/>
          <p:cNvSpPr txBox="1"/>
          <p:nvPr/>
        </p:nvSpPr>
        <p:spPr>
          <a:xfrm>
            <a:off x="8412480" y="4187952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7C6FF7"/>
                </a:solidFill>
              </a:rPr>
              <a:t>FORMULA</a:t>
            </a:r>
            <a:endParaRPr lang="en-US" sz="650" dirty="0"/>
          </a:p>
        </p:txBody>
      </p:sp>
      <p:sp>
        <p:nvSpPr>
          <p:cNvPr id="67" name="Text 65"/>
          <p:cNvSpPr txBox="1"/>
          <p:nvPr/>
        </p:nvSpPr>
        <p:spPr>
          <a:xfrm>
            <a:off x="8412480" y="4361688"/>
            <a:ext cx="34930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7E9F5"/>
                </a:solidFill>
              </a:rPr>
              <a:t>mean( ARWU 'pub' sub-score,  CWUR publications rank inverted + normalized )</a:t>
            </a:r>
            <a:endParaRPr lang="en-US" sz="800" dirty="0"/>
          </a:p>
        </p:txBody>
      </p:sp>
      <p:sp>
        <p:nvSpPr>
          <p:cNvPr id="68" name="Text 66"/>
          <p:cNvSpPr txBox="1"/>
          <p:nvPr/>
        </p:nvSpPr>
        <p:spPr>
          <a:xfrm>
            <a:off x="8412480" y="4773168"/>
            <a:ext cx="34930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A90AC"/>
                </a:solidFill>
              </a:rPr>
              <a:t>Measures publication VOLUME per faculty, not citation impact (which is KPI 2). Highest coverage of all 6 KPIs.</a:t>
            </a:r>
            <a:endParaRPr lang="en-US" sz="750" dirty="0"/>
          </a:p>
        </p:txBody>
      </p:sp>
      <p:sp>
        <p:nvSpPr>
          <p:cNvPr id="69" name="Text 67"/>
          <p:cNvSpPr txBox="1"/>
          <p:nvPr/>
        </p:nvSpPr>
        <p:spPr>
          <a:xfrm>
            <a:off x="8412480" y="5303520"/>
            <a:ext cx="34930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4A5170"/>
                </a:solidFill>
              </a:rPr>
              <a:t>Source: fact_shanghai.pub · fact_cwur.publications</a:t>
            </a:r>
            <a:endParaRPr lang="en-US" sz="700" dirty="0"/>
          </a:p>
        </p:txBody>
      </p:sp>
      <p:sp>
        <p:nvSpPr>
          <p:cNvPr id="70" name="Shape 68"/>
          <p:cNvSpPr/>
          <p:nvPr/>
        </p:nvSpPr>
        <p:spPr>
          <a:xfrm>
            <a:off x="11265408" y="3749040"/>
            <a:ext cx="640080" cy="228600"/>
          </a:xfrm>
          <a:prstGeom prst="roundRect">
            <a:avLst>
              <a:gd name="adj" fmla="val 24000"/>
            </a:avLst>
          </a:prstGeom>
          <a:solidFill>
            <a:srgbClr val="7C6FF7">
              <a:alpha val="22000"/>
            </a:srgbClr>
          </a:solidFill>
          <a:ln/>
        </p:spPr>
      </p:sp>
      <p:sp>
        <p:nvSpPr>
          <p:cNvPr id="71" name="Text 69"/>
          <p:cNvSpPr txBox="1"/>
          <p:nvPr/>
        </p:nvSpPr>
        <p:spPr>
          <a:xfrm>
            <a:off x="11265408" y="374904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7C6FF7"/>
                </a:solidFill>
              </a:rPr>
              <a:t>79.8%</a:t>
            </a:r>
            <a:endParaRPr lang="en-US" sz="800" dirty="0"/>
          </a:p>
        </p:txBody>
      </p:sp>
      <p:sp>
        <p:nvSpPr>
          <p:cNvPr id="72" name="Text 70"/>
          <p:cNvSpPr txBox="1"/>
          <p:nvPr/>
        </p:nvSpPr>
        <p:spPr>
          <a:xfrm>
            <a:off x="11265408" y="3986784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4A5170"/>
                </a:solidFill>
              </a:rPr>
              <a:t>coverage</a:t>
            </a:r>
            <a:endParaRPr lang="en-US" sz="600" dirty="0"/>
          </a:p>
        </p:txBody>
      </p:sp>
      <p:sp>
        <p:nvSpPr>
          <p:cNvPr id="73" name="Text 71"/>
          <p:cNvSpPr txBox="1"/>
          <p:nvPr/>
        </p:nvSpPr>
        <p:spPr>
          <a:xfrm>
            <a:off x="457200" y="6281928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A5170"/>
                </a:solidFill>
              </a:rPr>
              <a:t>NULL values where a source didn't publish a field are intentional — never estimated or fabricated. Missing values are 'Show as blank' in Tableau.</a:t>
            </a:r>
            <a:endParaRPr lang="en-US" sz="750" dirty="0"/>
          </a:p>
        </p:txBody>
      </p:sp>
      <p:sp>
        <p:nvSpPr>
          <p:cNvPr id="74" name="Text 72"/>
          <p:cNvSpPr txBox="1"/>
          <p:nvPr/>
        </p:nvSpPr>
        <p:spPr>
          <a:xfrm>
            <a:off x="457200" y="660196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A5170"/>
                </a:solidFill>
              </a:rPr>
              <a:t>EduVision_DV  ·  KPI Definitions — Module 3</a:t>
            </a:r>
            <a:endParaRPr lang="en-US" sz="800" dirty="0"/>
          </a:p>
        </p:txBody>
      </p:sp>
      <p:sp>
        <p:nvSpPr>
          <p:cNvPr id="75" name="Text 73"/>
          <p:cNvSpPr txBox="1"/>
          <p:nvPr/>
        </p:nvSpPr>
        <p:spPr>
          <a:xfrm>
            <a:off x="10881360" y="658368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4A5170"/>
                </a:solidFill>
              </a:rPr>
              <a:t>8 / 9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0D16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137160"/>
            <a:ext cx="1554480" cy="256032"/>
          </a:xfrm>
          <a:prstGeom prst="roundRect">
            <a:avLst>
              <a:gd name="adj" fmla="val 17857"/>
            </a:avLst>
          </a:prstGeom>
          <a:solidFill>
            <a:srgbClr val="FBBF24">
              <a:alpha val="20000"/>
            </a:srgbClr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3716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BBF24"/>
                </a:solidFill>
              </a:rPr>
              <a:t>FIELD MAPPING</a:t>
            </a:r>
            <a:endParaRPr lang="en-US" sz="750" dirty="0"/>
          </a:p>
        </p:txBody>
      </p:sp>
      <p:sp>
        <p:nvSpPr>
          <p:cNvPr id="5" name="Text 3"/>
          <p:cNvSpPr txBox="1"/>
          <p:nvPr/>
        </p:nvSpPr>
        <p:spPr>
          <a:xfrm>
            <a:off x="2148840" y="29673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Field Mapping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576072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90AC"/>
                </a:solidFill>
              </a:rPr>
              <a:t>Storyboard visual → university_final_dataset.xlsx column name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960120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7C6FF7"/>
                </a:solidFill>
              </a:rPr>
              <a:t>Dashboard Visual Field</a:t>
            </a:r>
            <a:endParaRPr lang="en-US" sz="800" dirty="0"/>
          </a:p>
        </p:txBody>
      </p:sp>
      <p:sp>
        <p:nvSpPr>
          <p:cNvPr id="8" name="Text 6"/>
          <p:cNvSpPr txBox="1"/>
          <p:nvPr/>
        </p:nvSpPr>
        <p:spPr>
          <a:xfrm>
            <a:off x="3246120" y="96012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7C6FF7"/>
                </a:solidFill>
              </a:rPr>
              <a:t>Column in university_final_dataset.xlsx</a:t>
            </a:r>
            <a:endParaRPr lang="en-US" sz="800" dirty="0"/>
          </a:p>
        </p:txBody>
      </p:sp>
      <p:sp>
        <p:nvSpPr>
          <p:cNvPr id="9" name="Text 7"/>
          <p:cNvSpPr txBox="1"/>
          <p:nvPr/>
        </p:nvSpPr>
        <p:spPr>
          <a:xfrm>
            <a:off x="6446520" y="960120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7C6FF7"/>
                </a:solidFill>
              </a:rPr>
              <a:t>Type</a:t>
            </a:r>
            <a:endParaRPr lang="en-US" sz="800" dirty="0"/>
          </a:p>
        </p:txBody>
      </p:sp>
      <p:sp>
        <p:nvSpPr>
          <p:cNvPr id="10" name="Text 8"/>
          <p:cNvSpPr txBox="1"/>
          <p:nvPr/>
        </p:nvSpPr>
        <p:spPr>
          <a:xfrm>
            <a:off x="8138160" y="960120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7C6FF7"/>
                </a:solidFill>
              </a:rPr>
              <a:t>Role</a:t>
            </a:r>
            <a:endParaRPr lang="en-US" sz="800" dirty="0"/>
          </a:p>
        </p:txBody>
      </p:sp>
      <p:sp>
        <p:nvSpPr>
          <p:cNvPr id="11" name="Text 9"/>
          <p:cNvSpPr txBox="1"/>
          <p:nvPr/>
        </p:nvSpPr>
        <p:spPr>
          <a:xfrm>
            <a:off x="9646920" y="960120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7C6FF7"/>
                </a:solidFill>
              </a:rPr>
              <a:t>Used on Dashboard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457200" y="1216152"/>
            <a:ext cx="11247120" cy="22860"/>
          </a:xfrm>
          <a:prstGeom prst="rect">
            <a:avLst/>
          </a:prstGeom>
          <a:solidFill>
            <a:srgbClr val="232A44"/>
          </a:solidFill>
          <a:ln/>
        </p:spPr>
      </p:sp>
      <p:sp>
        <p:nvSpPr>
          <p:cNvPr id="13" name="Shape 11"/>
          <p:cNvSpPr/>
          <p:nvPr/>
        </p:nvSpPr>
        <p:spPr>
          <a:xfrm>
            <a:off x="457200" y="1252728"/>
            <a:ext cx="11247120" cy="402336"/>
          </a:xfrm>
          <a:prstGeom prst="rect">
            <a:avLst/>
          </a:prstGeom>
          <a:solidFill>
            <a:srgbClr val="131728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457200" y="1289304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</a:rPr>
              <a:t>University</a:t>
            </a:r>
            <a:endParaRPr lang="en-US" sz="850" dirty="0"/>
          </a:p>
        </p:txBody>
      </p:sp>
      <p:sp>
        <p:nvSpPr>
          <p:cNvPr id="15" name="Text 13"/>
          <p:cNvSpPr txBox="1"/>
          <p:nvPr/>
        </p:nvSpPr>
        <p:spPr>
          <a:xfrm>
            <a:off x="3246120" y="1289304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2D3EE"/>
                </a:solidFill>
              </a:rPr>
              <a:t>university_name / university_id</a:t>
            </a:r>
            <a:endParaRPr lang="en-US" sz="800" dirty="0"/>
          </a:p>
        </p:txBody>
      </p:sp>
      <p:sp>
        <p:nvSpPr>
          <p:cNvPr id="16" name="Text 14"/>
          <p:cNvSpPr txBox="1"/>
          <p:nvPr/>
        </p:nvSpPr>
        <p:spPr>
          <a:xfrm>
            <a:off x="6446520" y="1289304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A90AC"/>
                </a:solidFill>
              </a:rPr>
              <a:t>Dimension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8138160" y="1325880"/>
            <a:ext cx="1280160" cy="201168"/>
          </a:xfrm>
          <a:prstGeom prst="roundRect">
            <a:avLst>
              <a:gd name="adj" fmla="val 22727"/>
            </a:avLst>
          </a:prstGeom>
          <a:solidFill>
            <a:srgbClr val="7C6FF7">
              <a:alpha val="18000"/>
            </a:srgbClr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138160" y="132588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7C6FF7"/>
                </a:solidFill>
              </a:rPr>
              <a:t>nominal</a:t>
            </a:r>
            <a:endParaRPr lang="en-US" sz="700" dirty="0"/>
          </a:p>
        </p:txBody>
      </p:sp>
      <p:sp>
        <p:nvSpPr>
          <p:cNvPr id="19" name="Text 17"/>
          <p:cNvSpPr txBox="1"/>
          <p:nvPr/>
        </p:nvSpPr>
        <p:spPr>
          <a:xfrm>
            <a:off x="9646920" y="1289304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A90AC"/>
                </a:solidFill>
              </a:rPr>
              <a:t>All</a:t>
            </a:r>
            <a:endParaRPr lang="en-US" sz="80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1709928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</a:rPr>
              <a:t>Country</a:t>
            </a:r>
            <a:endParaRPr lang="en-US" sz="850" dirty="0"/>
          </a:p>
        </p:txBody>
      </p:sp>
      <p:sp>
        <p:nvSpPr>
          <p:cNvPr id="21" name="Text 19"/>
          <p:cNvSpPr txBox="1"/>
          <p:nvPr/>
        </p:nvSpPr>
        <p:spPr>
          <a:xfrm>
            <a:off x="3246120" y="1709928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2D3EE"/>
                </a:solidFill>
              </a:rPr>
              <a:t>country</a:t>
            </a:r>
            <a:endParaRPr lang="en-US" sz="800" dirty="0"/>
          </a:p>
        </p:txBody>
      </p:sp>
      <p:sp>
        <p:nvSpPr>
          <p:cNvPr id="22" name="Text 20"/>
          <p:cNvSpPr txBox="1"/>
          <p:nvPr/>
        </p:nvSpPr>
        <p:spPr>
          <a:xfrm>
            <a:off x="6446520" y="1709928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A90AC"/>
                </a:solidFill>
              </a:rPr>
              <a:t>Dimension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8138160" y="1746504"/>
            <a:ext cx="1280160" cy="201168"/>
          </a:xfrm>
          <a:prstGeom prst="roundRect">
            <a:avLst>
              <a:gd name="adj" fmla="val 22727"/>
            </a:avLst>
          </a:prstGeom>
          <a:solidFill>
            <a:srgbClr val="7C6FF7">
              <a:alpha val="18000"/>
            </a:srgbClr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8138160" y="1746504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7C6FF7"/>
                </a:solidFill>
              </a:rPr>
              <a:t>nominal</a:t>
            </a:r>
            <a:endParaRPr lang="en-US" sz="700" dirty="0"/>
          </a:p>
        </p:txBody>
      </p:sp>
      <p:sp>
        <p:nvSpPr>
          <p:cNvPr id="25" name="Text 23"/>
          <p:cNvSpPr txBox="1"/>
          <p:nvPr/>
        </p:nvSpPr>
        <p:spPr>
          <a:xfrm>
            <a:off x="9646920" y="1709928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A90AC"/>
                </a:solidFill>
              </a:rPr>
              <a:t>All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457200" y="2093976"/>
            <a:ext cx="11247120" cy="402336"/>
          </a:xfrm>
          <a:prstGeom prst="rect">
            <a:avLst/>
          </a:prstGeom>
          <a:solidFill>
            <a:srgbClr val="131728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457200" y="2130552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</a:rPr>
              <a:t>Region</a:t>
            </a:r>
            <a:endParaRPr lang="en-US" sz="850" dirty="0"/>
          </a:p>
        </p:txBody>
      </p:sp>
      <p:sp>
        <p:nvSpPr>
          <p:cNvPr id="28" name="Text 26"/>
          <p:cNvSpPr txBox="1"/>
          <p:nvPr/>
        </p:nvSpPr>
        <p:spPr>
          <a:xfrm>
            <a:off x="3246120" y="2130552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2D3EE"/>
                </a:solidFill>
              </a:rPr>
              <a:t>region</a:t>
            </a:r>
            <a:endParaRPr lang="en-US" sz="800" dirty="0"/>
          </a:p>
        </p:txBody>
      </p:sp>
      <p:sp>
        <p:nvSpPr>
          <p:cNvPr id="29" name="Text 27"/>
          <p:cNvSpPr txBox="1"/>
          <p:nvPr/>
        </p:nvSpPr>
        <p:spPr>
          <a:xfrm>
            <a:off x="6446520" y="2130552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A90AC"/>
                </a:solidFill>
              </a:rPr>
              <a:t>Dimension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8138160" y="2167128"/>
            <a:ext cx="1280160" cy="201168"/>
          </a:xfrm>
          <a:prstGeom prst="roundRect">
            <a:avLst>
              <a:gd name="adj" fmla="val 22727"/>
            </a:avLst>
          </a:prstGeom>
          <a:solidFill>
            <a:srgbClr val="7C6FF7">
              <a:alpha val="18000"/>
            </a:srgbClr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8138160" y="2167128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7C6FF7"/>
                </a:solidFill>
              </a:rPr>
              <a:t>nominal</a:t>
            </a:r>
            <a:endParaRPr lang="en-US" sz="700" dirty="0"/>
          </a:p>
        </p:txBody>
      </p:sp>
      <p:sp>
        <p:nvSpPr>
          <p:cNvPr id="32" name="Text 30"/>
          <p:cNvSpPr txBox="1"/>
          <p:nvPr/>
        </p:nvSpPr>
        <p:spPr>
          <a:xfrm>
            <a:off x="9646920" y="2130552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A90AC"/>
                </a:solidFill>
              </a:rPr>
              <a:t>All</a:t>
            </a:r>
            <a:endParaRPr lang="en-US" sz="800" dirty="0"/>
          </a:p>
        </p:txBody>
      </p:sp>
      <p:sp>
        <p:nvSpPr>
          <p:cNvPr id="33" name="Text 31"/>
          <p:cNvSpPr txBox="1"/>
          <p:nvPr/>
        </p:nvSpPr>
        <p:spPr>
          <a:xfrm>
            <a:off x="457200" y="2551176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</a:rPr>
              <a:t>Year</a:t>
            </a:r>
            <a:endParaRPr lang="en-US" sz="850" dirty="0"/>
          </a:p>
        </p:txBody>
      </p:sp>
      <p:sp>
        <p:nvSpPr>
          <p:cNvPr id="34" name="Text 32"/>
          <p:cNvSpPr txBox="1"/>
          <p:nvPr/>
        </p:nvSpPr>
        <p:spPr>
          <a:xfrm>
            <a:off x="3246120" y="2551176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2D3EE"/>
                </a:solidFill>
              </a:rPr>
              <a:t>year</a:t>
            </a:r>
            <a:endParaRPr lang="en-US" sz="800" dirty="0"/>
          </a:p>
        </p:txBody>
      </p:sp>
      <p:sp>
        <p:nvSpPr>
          <p:cNvPr id="35" name="Text 33"/>
          <p:cNvSpPr txBox="1"/>
          <p:nvPr/>
        </p:nvSpPr>
        <p:spPr>
          <a:xfrm>
            <a:off x="6446520" y="2551176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A90AC"/>
                </a:solidFill>
              </a:rPr>
              <a:t>Dimension (discrete)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8138160" y="2587752"/>
            <a:ext cx="1280160" cy="201168"/>
          </a:xfrm>
          <a:prstGeom prst="roundRect">
            <a:avLst>
              <a:gd name="adj" fmla="val 22727"/>
            </a:avLst>
          </a:prstGeom>
          <a:solidFill>
            <a:srgbClr val="22D3EE">
              <a:alpha val="18000"/>
            </a:srgbClr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8138160" y="2587752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22D3EE"/>
                </a:solidFill>
              </a:rPr>
              <a:t>ordinal</a:t>
            </a:r>
            <a:endParaRPr lang="en-US" sz="700" dirty="0"/>
          </a:p>
        </p:txBody>
      </p:sp>
      <p:sp>
        <p:nvSpPr>
          <p:cNvPr id="38" name="Text 36"/>
          <p:cNvSpPr txBox="1"/>
          <p:nvPr/>
        </p:nvSpPr>
        <p:spPr>
          <a:xfrm>
            <a:off x="9646920" y="2551176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A90AC"/>
                </a:solidFill>
              </a:rPr>
              <a:t>All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457200" y="2935224"/>
            <a:ext cx="11247120" cy="402336"/>
          </a:xfrm>
          <a:prstGeom prst="rect">
            <a:avLst/>
          </a:prstGeom>
          <a:solidFill>
            <a:srgbClr val="131728"/>
          </a:solidFill>
          <a:ln/>
        </p:spPr>
      </p:sp>
      <p:sp>
        <p:nvSpPr>
          <p:cNvPr id="40" name="Text 38"/>
          <p:cNvSpPr txBox="1"/>
          <p:nvPr/>
        </p:nvSpPr>
        <p:spPr>
          <a:xfrm>
            <a:off x="457200" y="297180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</a:rPr>
              <a:t>Global Ranking Score</a:t>
            </a:r>
            <a:endParaRPr lang="en-US" sz="850" dirty="0"/>
          </a:p>
        </p:txBody>
      </p:sp>
      <p:sp>
        <p:nvSpPr>
          <p:cNvPr id="41" name="Text 39"/>
          <p:cNvSpPr txBox="1"/>
          <p:nvPr/>
        </p:nvSpPr>
        <p:spPr>
          <a:xfrm>
            <a:off x="3246120" y="2971800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2D3EE"/>
                </a:solidFill>
              </a:rPr>
              <a:t>global_ranking_score</a:t>
            </a:r>
            <a:endParaRPr lang="en-US" sz="800" dirty="0"/>
          </a:p>
        </p:txBody>
      </p:sp>
      <p:sp>
        <p:nvSpPr>
          <p:cNvPr id="42" name="Text 40"/>
          <p:cNvSpPr txBox="1"/>
          <p:nvPr/>
        </p:nvSpPr>
        <p:spPr>
          <a:xfrm>
            <a:off x="6446520" y="297180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A90AC"/>
                </a:solidFill>
              </a:rPr>
              <a:t>Measure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8138160" y="3008376"/>
            <a:ext cx="1280160" cy="201168"/>
          </a:xfrm>
          <a:prstGeom prst="roundRect">
            <a:avLst>
              <a:gd name="adj" fmla="val 22727"/>
            </a:avLst>
          </a:prstGeom>
          <a:solidFill>
            <a:srgbClr val="34D399">
              <a:alpha val="18000"/>
            </a:srgbClr>
          </a:solidFill>
          <a:ln/>
        </p:spPr>
      </p:sp>
      <p:sp>
        <p:nvSpPr>
          <p:cNvPr id="44" name="Text 42"/>
          <p:cNvSpPr txBox="1"/>
          <p:nvPr/>
        </p:nvSpPr>
        <p:spPr>
          <a:xfrm>
            <a:off x="8138160" y="3008376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34D399"/>
                </a:solidFill>
              </a:rPr>
              <a:t>AVG</a:t>
            </a:r>
            <a:endParaRPr lang="en-US" sz="700" dirty="0"/>
          </a:p>
        </p:txBody>
      </p:sp>
      <p:sp>
        <p:nvSpPr>
          <p:cNvPr id="45" name="Text 43"/>
          <p:cNvSpPr txBox="1"/>
          <p:nvPr/>
        </p:nvSpPr>
        <p:spPr>
          <a:xfrm>
            <a:off x="9646920" y="2971800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A90AC"/>
                </a:solidFill>
              </a:rPr>
              <a:t>Overview, Country</a:t>
            </a:r>
            <a:endParaRPr lang="en-US" sz="800" dirty="0"/>
          </a:p>
        </p:txBody>
      </p:sp>
      <p:sp>
        <p:nvSpPr>
          <p:cNvPr id="46" name="Text 44"/>
          <p:cNvSpPr txBox="1"/>
          <p:nvPr/>
        </p:nvSpPr>
        <p:spPr>
          <a:xfrm>
            <a:off x="457200" y="3392424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</a:rPr>
              <a:t>Research Impact Score</a:t>
            </a:r>
            <a:endParaRPr lang="en-US" sz="850" dirty="0"/>
          </a:p>
        </p:txBody>
      </p:sp>
      <p:sp>
        <p:nvSpPr>
          <p:cNvPr id="47" name="Text 45"/>
          <p:cNvSpPr txBox="1"/>
          <p:nvPr/>
        </p:nvSpPr>
        <p:spPr>
          <a:xfrm>
            <a:off x="3246120" y="3392424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2D3EE"/>
                </a:solidFill>
              </a:rPr>
              <a:t>research_impact_score</a:t>
            </a:r>
            <a:endParaRPr lang="en-US" sz="800" dirty="0"/>
          </a:p>
        </p:txBody>
      </p:sp>
      <p:sp>
        <p:nvSpPr>
          <p:cNvPr id="48" name="Text 46"/>
          <p:cNvSpPr txBox="1"/>
          <p:nvPr/>
        </p:nvSpPr>
        <p:spPr>
          <a:xfrm>
            <a:off x="6446520" y="3392424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A90AC"/>
                </a:solidFill>
              </a:rPr>
              <a:t>Measure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8138160" y="3429000"/>
            <a:ext cx="1280160" cy="201168"/>
          </a:xfrm>
          <a:prstGeom prst="roundRect">
            <a:avLst>
              <a:gd name="adj" fmla="val 22727"/>
            </a:avLst>
          </a:prstGeom>
          <a:solidFill>
            <a:srgbClr val="34D399">
              <a:alpha val="18000"/>
            </a:srgbClr>
          </a:solidFill>
          <a:ln/>
        </p:spPr>
      </p:sp>
      <p:sp>
        <p:nvSpPr>
          <p:cNvPr id="50" name="Text 48"/>
          <p:cNvSpPr txBox="1"/>
          <p:nvPr/>
        </p:nvSpPr>
        <p:spPr>
          <a:xfrm>
            <a:off x="8138160" y="342900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34D399"/>
                </a:solidFill>
              </a:rPr>
              <a:t>AVG</a:t>
            </a:r>
            <a:endParaRPr lang="en-US" sz="700" dirty="0"/>
          </a:p>
        </p:txBody>
      </p:sp>
      <p:sp>
        <p:nvSpPr>
          <p:cNvPr id="51" name="Text 49"/>
          <p:cNvSpPr txBox="1"/>
          <p:nvPr/>
        </p:nvSpPr>
        <p:spPr>
          <a:xfrm>
            <a:off x="9646920" y="3392424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A90AC"/>
                </a:solidFill>
              </a:rPr>
              <a:t>Overview, Research, Country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457200" y="3776472"/>
            <a:ext cx="11247120" cy="402336"/>
          </a:xfrm>
          <a:prstGeom prst="rect">
            <a:avLst/>
          </a:prstGeom>
          <a:solidFill>
            <a:srgbClr val="131728"/>
          </a:solidFill>
          <a:ln/>
        </p:spPr>
      </p:sp>
      <p:sp>
        <p:nvSpPr>
          <p:cNvPr id="53" name="Text 51"/>
          <p:cNvSpPr txBox="1"/>
          <p:nvPr/>
        </p:nvSpPr>
        <p:spPr>
          <a:xfrm>
            <a:off x="457200" y="3813048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</a:rPr>
              <a:t>Faculty-to-Student Ratio</a:t>
            </a:r>
            <a:endParaRPr lang="en-US" sz="850" dirty="0"/>
          </a:p>
        </p:txBody>
      </p:sp>
      <p:sp>
        <p:nvSpPr>
          <p:cNvPr id="54" name="Text 52"/>
          <p:cNvSpPr txBox="1"/>
          <p:nvPr/>
        </p:nvSpPr>
        <p:spPr>
          <a:xfrm>
            <a:off x="3246120" y="3813048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2D3EE"/>
                </a:solidFill>
              </a:rPr>
              <a:t>faculty_student_ratio</a:t>
            </a:r>
            <a:endParaRPr lang="en-US" sz="800" dirty="0"/>
          </a:p>
        </p:txBody>
      </p:sp>
      <p:sp>
        <p:nvSpPr>
          <p:cNvPr id="55" name="Text 53"/>
          <p:cNvSpPr txBox="1"/>
          <p:nvPr/>
        </p:nvSpPr>
        <p:spPr>
          <a:xfrm>
            <a:off x="6446520" y="3813048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A90AC"/>
                </a:solidFill>
              </a:rPr>
              <a:t>Measure</a:t>
            </a:r>
            <a:endParaRPr lang="en-US" sz="800" dirty="0"/>
          </a:p>
        </p:txBody>
      </p:sp>
      <p:sp>
        <p:nvSpPr>
          <p:cNvPr id="56" name="Shape 54"/>
          <p:cNvSpPr/>
          <p:nvPr/>
        </p:nvSpPr>
        <p:spPr>
          <a:xfrm>
            <a:off x="8138160" y="3849624"/>
            <a:ext cx="1280160" cy="201168"/>
          </a:xfrm>
          <a:prstGeom prst="roundRect">
            <a:avLst>
              <a:gd name="adj" fmla="val 22727"/>
            </a:avLst>
          </a:prstGeom>
          <a:solidFill>
            <a:srgbClr val="34D399">
              <a:alpha val="18000"/>
            </a:srgbClr>
          </a:solidFill>
          <a:ln/>
        </p:spPr>
      </p:sp>
      <p:sp>
        <p:nvSpPr>
          <p:cNvPr id="57" name="Text 55"/>
          <p:cNvSpPr txBox="1"/>
          <p:nvPr/>
        </p:nvSpPr>
        <p:spPr>
          <a:xfrm>
            <a:off x="8138160" y="3849624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34D399"/>
                </a:solidFill>
              </a:rPr>
              <a:t>AVG</a:t>
            </a:r>
            <a:endParaRPr lang="en-US" sz="700" dirty="0"/>
          </a:p>
        </p:txBody>
      </p:sp>
      <p:sp>
        <p:nvSpPr>
          <p:cNvPr id="58" name="Text 56"/>
          <p:cNvSpPr txBox="1"/>
          <p:nvPr/>
        </p:nvSpPr>
        <p:spPr>
          <a:xfrm>
            <a:off x="9646920" y="3813048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A90AC"/>
                </a:solidFill>
              </a:rPr>
              <a:t>Overview, Student</a:t>
            </a:r>
            <a:endParaRPr lang="en-US" sz="800" dirty="0"/>
          </a:p>
        </p:txBody>
      </p:sp>
      <p:sp>
        <p:nvSpPr>
          <p:cNvPr id="59" name="Text 57"/>
          <p:cNvSpPr txBox="1"/>
          <p:nvPr/>
        </p:nvSpPr>
        <p:spPr>
          <a:xfrm>
            <a:off x="457200" y="4233672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</a:rPr>
              <a:t>International Student %</a:t>
            </a:r>
            <a:endParaRPr lang="en-US" sz="850" dirty="0"/>
          </a:p>
        </p:txBody>
      </p:sp>
      <p:sp>
        <p:nvSpPr>
          <p:cNvPr id="60" name="Text 58"/>
          <p:cNvSpPr txBox="1"/>
          <p:nvPr/>
        </p:nvSpPr>
        <p:spPr>
          <a:xfrm>
            <a:off x="3246120" y="4233672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2D3EE"/>
                </a:solidFill>
              </a:rPr>
              <a:t>international_student_pct</a:t>
            </a:r>
            <a:endParaRPr lang="en-US" sz="800" dirty="0"/>
          </a:p>
        </p:txBody>
      </p:sp>
      <p:sp>
        <p:nvSpPr>
          <p:cNvPr id="61" name="Text 59"/>
          <p:cNvSpPr txBox="1"/>
          <p:nvPr/>
        </p:nvSpPr>
        <p:spPr>
          <a:xfrm>
            <a:off x="6446520" y="4233672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A90AC"/>
                </a:solidFill>
              </a:rPr>
              <a:t>Measure</a:t>
            </a:r>
            <a:endParaRPr lang="en-US" sz="800" dirty="0"/>
          </a:p>
        </p:txBody>
      </p:sp>
      <p:sp>
        <p:nvSpPr>
          <p:cNvPr id="62" name="Shape 60"/>
          <p:cNvSpPr/>
          <p:nvPr/>
        </p:nvSpPr>
        <p:spPr>
          <a:xfrm>
            <a:off x="8138160" y="4270248"/>
            <a:ext cx="1280160" cy="201168"/>
          </a:xfrm>
          <a:prstGeom prst="roundRect">
            <a:avLst>
              <a:gd name="adj" fmla="val 22727"/>
            </a:avLst>
          </a:prstGeom>
          <a:solidFill>
            <a:srgbClr val="34D399">
              <a:alpha val="18000"/>
            </a:srgbClr>
          </a:solidFill>
          <a:ln/>
        </p:spPr>
      </p:sp>
      <p:sp>
        <p:nvSpPr>
          <p:cNvPr id="63" name="Text 61"/>
          <p:cNvSpPr txBox="1"/>
          <p:nvPr/>
        </p:nvSpPr>
        <p:spPr>
          <a:xfrm>
            <a:off x="8138160" y="4270248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34D399"/>
                </a:solidFill>
              </a:rPr>
              <a:t>AVG</a:t>
            </a:r>
            <a:endParaRPr lang="en-US" sz="700" dirty="0"/>
          </a:p>
        </p:txBody>
      </p:sp>
      <p:sp>
        <p:nvSpPr>
          <p:cNvPr id="64" name="Text 62"/>
          <p:cNvSpPr txBox="1"/>
          <p:nvPr/>
        </p:nvSpPr>
        <p:spPr>
          <a:xfrm>
            <a:off x="9646920" y="4233672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A90AC"/>
                </a:solidFill>
              </a:rPr>
              <a:t>Overview, Student, Country</a:t>
            </a:r>
            <a:endParaRPr lang="en-US" sz="800" dirty="0"/>
          </a:p>
        </p:txBody>
      </p:sp>
      <p:sp>
        <p:nvSpPr>
          <p:cNvPr id="65" name="Shape 63"/>
          <p:cNvSpPr/>
          <p:nvPr/>
        </p:nvSpPr>
        <p:spPr>
          <a:xfrm>
            <a:off x="457200" y="4617720"/>
            <a:ext cx="11247120" cy="402336"/>
          </a:xfrm>
          <a:prstGeom prst="rect">
            <a:avLst/>
          </a:prstGeom>
          <a:solidFill>
            <a:srgbClr val="131728"/>
          </a:solidFill>
          <a:ln/>
        </p:spPr>
      </p:sp>
      <p:sp>
        <p:nvSpPr>
          <p:cNvPr id="66" name="Text 64"/>
          <p:cNvSpPr txBox="1"/>
          <p:nvPr/>
        </p:nvSpPr>
        <p:spPr>
          <a:xfrm>
            <a:off x="457200" y="4654296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</a:rPr>
              <a:t>Academic Reputation Score</a:t>
            </a:r>
            <a:endParaRPr lang="en-US" sz="850" dirty="0"/>
          </a:p>
        </p:txBody>
      </p:sp>
      <p:sp>
        <p:nvSpPr>
          <p:cNvPr id="67" name="Text 65"/>
          <p:cNvSpPr txBox="1"/>
          <p:nvPr/>
        </p:nvSpPr>
        <p:spPr>
          <a:xfrm>
            <a:off x="3246120" y="4654296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2D3EE"/>
                </a:solidFill>
              </a:rPr>
              <a:t>academic_reputation_score</a:t>
            </a:r>
            <a:endParaRPr lang="en-US" sz="800" dirty="0"/>
          </a:p>
        </p:txBody>
      </p:sp>
      <p:sp>
        <p:nvSpPr>
          <p:cNvPr id="68" name="Text 66"/>
          <p:cNvSpPr txBox="1"/>
          <p:nvPr/>
        </p:nvSpPr>
        <p:spPr>
          <a:xfrm>
            <a:off x="6446520" y="4654296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A90AC"/>
                </a:solidFill>
              </a:rPr>
              <a:t>Measure</a:t>
            </a:r>
            <a:endParaRPr lang="en-US" sz="800" dirty="0"/>
          </a:p>
        </p:txBody>
      </p:sp>
      <p:sp>
        <p:nvSpPr>
          <p:cNvPr id="69" name="Shape 67"/>
          <p:cNvSpPr/>
          <p:nvPr/>
        </p:nvSpPr>
        <p:spPr>
          <a:xfrm>
            <a:off x="8138160" y="4690872"/>
            <a:ext cx="1280160" cy="201168"/>
          </a:xfrm>
          <a:prstGeom prst="roundRect">
            <a:avLst>
              <a:gd name="adj" fmla="val 22727"/>
            </a:avLst>
          </a:prstGeom>
          <a:solidFill>
            <a:srgbClr val="34D399">
              <a:alpha val="18000"/>
            </a:srgbClr>
          </a:solidFill>
          <a:ln/>
        </p:spPr>
      </p:sp>
      <p:sp>
        <p:nvSpPr>
          <p:cNvPr id="70" name="Text 68"/>
          <p:cNvSpPr txBox="1"/>
          <p:nvPr/>
        </p:nvSpPr>
        <p:spPr>
          <a:xfrm>
            <a:off x="8138160" y="4690872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34D399"/>
                </a:solidFill>
              </a:rPr>
              <a:t>AVG</a:t>
            </a:r>
            <a:endParaRPr lang="en-US" sz="700" dirty="0"/>
          </a:p>
        </p:txBody>
      </p:sp>
      <p:sp>
        <p:nvSpPr>
          <p:cNvPr id="71" name="Text 69"/>
          <p:cNvSpPr txBox="1"/>
          <p:nvPr/>
        </p:nvSpPr>
        <p:spPr>
          <a:xfrm>
            <a:off x="9646920" y="4654296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A90AC"/>
                </a:solidFill>
              </a:rPr>
              <a:t>Overview, Country</a:t>
            </a:r>
            <a:endParaRPr lang="en-US" sz="800" dirty="0"/>
          </a:p>
        </p:txBody>
      </p:sp>
      <p:sp>
        <p:nvSpPr>
          <p:cNvPr id="72" name="Text 70"/>
          <p:cNvSpPr txBox="1"/>
          <p:nvPr/>
        </p:nvSpPr>
        <p:spPr>
          <a:xfrm>
            <a:off x="457200" y="507492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</a:rPr>
              <a:t>Research Productivity Index</a:t>
            </a:r>
            <a:endParaRPr lang="en-US" sz="850" dirty="0"/>
          </a:p>
        </p:txBody>
      </p:sp>
      <p:sp>
        <p:nvSpPr>
          <p:cNvPr id="73" name="Text 71"/>
          <p:cNvSpPr txBox="1"/>
          <p:nvPr/>
        </p:nvSpPr>
        <p:spPr>
          <a:xfrm>
            <a:off x="3246120" y="5074920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2D3EE"/>
                </a:solidFill>
              </a:rPr>
              <a:t>research_productivity_index</a:t>
            </a:r>
            <a:endParaRPr lang="en-US" sz="800" dirty="0"/>
          </a:p>
        </p:txBody>
      </p:sp>
      <p:sp>
        <p:nvSpPr>
          <p:cNvPr id="74" name="Text 72"/>
          <p:cNvSpPr txBox="1"/>
          <p:nvPr/>
        </p:nvSpPr>
        <p:spPr>
          <a:xfrm>
            <a:off x="6446520" y="507492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A90AC"/>
                </a:solidFill>
              </a:rPr>
              <a:t>Measure</a:t>
            </a:r>
            <a:endParaRPr lang="en-US" sz="800" dirty="0"/>
          </a:p>
        </p:txBody>
      </p:sp>
      <p:sp>
        <p:nvSpPr>
          <p:cNvPr id="75" name="Shape 73"/>
          <p:cNvSpPr/>
          <p:nvPr/>
        </p:nvSpPr>
        <p:spPr>
          <a:xfrm>
            <a:off x="8138160" y="5111496"/>
            <a:ext cx="1280160" cy="201168"/>
          </a:xfrm>
          <a:prstGeom prst="roundRect">
            <a:avLst>
              <a:gd name="adj" fmla="val 22727"/>
            </a:avLst>
          </a:prstGeom>
          <a:solidFill>
            <a:srgbClr val="34D399">
              <a:alpha val="18000"/>
            </a:srgbClr>
          </a:solidFill>
          <a:ln/>
        </p:spPr>
      </p:sp>
      <p:sp>
        <p:nvSpPr>
          <p:cNvPr id="76" name="Text 74"/>
          <p:cNvSpPr txBox="1"/>
          <p:nvPr/>
        </p:nvSpPr>
        <p:spPr>
          <a:xfrm>
            <a:off x="8138160" y="5111496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34D399"/>
                </a:solidFill>
              </a:rPr>
              <a:t>AVG</a:t>
            </a:r>
            <a:endParaRPr lang="en-US" sz="700" dirty="0"/>
          </a:p>
        </p:txBody>
      </p:sp>
      <p:sp>
        <p:nvSpPr>
          <p:cNvPr id="77" name="Text 75"/>
          <p:cNvSpPr txBox="1"/>
          <p:nvPr/>
        </p:nvSpPr>
        <p:spPr>
          <a:xfrm>
            <a:off x="9646920" y="5074920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A90AC"/>
                </a:solidFill>
              </a:rPr>
              <a:t>Research</a:t>
            </a:r>
            <a:endParaRPr lang="en-US" sz="800" dirty="0"/>
          </a:p>
        </p:txBody>
      </p:sp>
      <p:sp>
        <p:nvSpPr>
          <p:cNvPr id="78" name="Shape 76"/>
          <p:cNvSpPr/>
          <p:nvPr/>
        </p:nvSpPr>
        <p:spPr>
          <a:xfrm>
            <a:off x="457200" y="5458968"/>
            <a:ext cx="11247120" cy="402336"/>
          </a:xfrm>
          <a:prstGeom prst="rect">
            <a:avLst/>
          </a:prstGeom>
          <a:solidFill>
            <a:srgbClr val="131728"/>
          </a:solidFill>
          <a:ln/>
        </p:spPr>
      </p:sp>
      <p:sp>
        <p:nvSpPr>
          <p:cNvPr id="79" name="Text 77"/>
          <p:cNvSpPr txBox="1"/>
          <p:nvPr/>
        </p:nvSpPr>
        <p:spPr>
          <a:xfrm>
            <a:off x="457200" y="5495544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</a:rPr>
              <a:t>Source Coverage</a:t>
            </a:r>
            <a:endParaRPr lang="en-US" sz="850" dirty="0"/>
          </a:p>
        </p:txBody>
      </p:sp>
      <p:sp>
        <p:nvSpPr>
          <p:cNvPr id="80" name="Text 78"/>
          <p:cNvSpPr txBox="1"/>
          <p:nvPr/>
        </p:nvSpPr>
        <p:spPr>
          <a:xfrm>
            <a:off x="3246120" y="5495544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2D3EE"/>
                </a:solidFill>
              </a:rPr>
              <a:t>num_sources / sources_covered</a:t>
            </a:r>
            <a:endParaRPr lang="en-US" sz="800" dirty="0"/>
          </a:p>
        </p:txBody>
      </p:sp>
      <p:sp>
        <p:nvSpPr>
          <p:cNvPr id="81" name="Text 79"/>
          <p:cNvSpPr txBox="1"/>
          <p:nvPr/>
        </p:nvSpPr>
        <p:spPr>
          <a:xfrm>
            <a:off x="6446520" y="5495544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A90AC"/>
                </a:solidFill>
              </a:rPr>
              <a:t>Measure / Dim</a:t>
            </a:r>
            <a:endParaRPr lang="en-US" sz="800" dirty="0"/>
          </a:p>
        </p:txBody>
      </p:sp>
      <p:sp>
        <p:nvSpPr>
          <p:cNvPr id="82" name="Shape 80"/>
          <p:cNvSpPr/>
          <p:nvPr/>
        </p:nvSpPr>
        <p:spPr>
          <a:xfrm>
            <a:off x="8138160" y="5532120"/>
            <a:ext cx="1280160" cy="201168"/>
          </a:xfrm>
          <a:prstGeom prst="roundRect">
            <a:avLst>
              <a:gd name="adj" fmla="val 22727"/>
            </a:avLst>
          </a:prstGeom>
          <a:solidFill>
            <a:srgbClr val="FBBF24">
              <a:alpha val="18000"/>
            </a:srgbClr>
          </a:solidFill>
          <a:ln/>
        </p:spPr>
      </p:sp>
      <p:sp>
        <p:nvSpPr>
          <p:cNvPr id="83" name="Text 81"/>
          <p:cNvSpPr txBox="1"/>
          <p:nvPr/>
        </p:nvSpPr>
        <p:spPr>
          <a:xfrm>
            <a:off x="8138160" y="55321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BBF24"/>
                </a:solidFill>
              </a:rPr>
              <a:t>tooltip</a:t>
            </a:r>
            <a:endParaRPr lang="en-US" sz="700" dirty="0"/>
          </a:p>
        </p:txBody>
      </p:sp>
      <p:sp>
        <p:nvSpPr>
          <p:cNvPr id="84" name="Text 82"/>
          <p:cNvSpPr txBox="1"/>
          <p:nvPr/>
        </p:nvSpPr>
        <p:spPr>
          <a:xfrm>
            <a:off x="9646920" y="5495544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A90AC"/>
                </a:solidFill>
              </a:rPr>
              <a:t>All tooltips</a:t>
            </a:r>
            <a:endParaRPr lang="en-US" sz="800" dirty="0"/>
          </a:p>
        </p:txBody>
      </p:sp>
      <p:sp>
        <p:nvSpPr>
          <p:cNvPr id="85" name="Shape 83"/>
          <p:cNvSpPr/>
          <p:nvPr/>
        </p:nvSpPr>
        <p:spPr>
          <a:xfrm>
            <a:off x="457200" y="5897880"/>
            <a:ext cx="54864" cy="54864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86" name="Text 84"/>
          <p:cNvSpPr txBox="1"/>
          <p:nvPr/>
        </p:nvSpPr>
        <p:spPr>
          <a:xfrm>
            <a:off x="594360" y="5852160"/>
            <a:ext cx="11109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A90AC"/>
                </a:solidFill>
              </a:rPr>
              <a:t>In Tableau: right-click year → Convert to Discrete immediately after connecting (imports as a measure by default).</a:t>
            </a:r>
            <a:endParaRPr lang="en-US" sz="750" dirty="0"/>
          </a:p>
        </p:txBody>
      </p:sp>
      <p:sp>
        <p:nvSpPr>
          <p:cNvPr id="87" name="Shape 85"/>
          <p:cNvSpPr/>
          <p:nvPr/>
        </p:nvSpPr>
        <p:spPr>
          <a:xfrm>
            <a:off x="457200" y="6080760"/>
            <a:ext cx="54864" cy="54864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88" name="Text 86"/>
          <p:cNvSpPr txBox="1"/>
          <p:nvPr/>
        </p:nvSpPr>
        <p:spPr>
          <a:xfrm>
            <a:off x="594360" y="6035040"/>
            <a:ext cx="11109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A90AC"/>
                </a:solidFill>
              </a:rPr>
              <a:t>Set all measure aggregations to Average (AVG), not Sum — these are already computed per university-year.</a:t>
            </a:r>
            <a:endParaRPr lang="en-US" sz="750" dirty="0"/>
          </a:p>
        </p:txBody>
      </p:sp>
      <p:sp>
        <p:nvSpPr>
          <p:cNvPr id="89" name="Shape 87"/>
          <p:cNvSpPr/>
          <p:nvPr/>
        </p:nvSpPr>
        <p:spPr>
          <a:xfrm>
            <a:off x="457200" y="6263640"/>
            <a:ext cx="54864" cy="54864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90" name="Text 88"/>
          <p:cNvSpPr txBox="1"/>
          <p:nvPr/>
        </p:nvSpPr>
        <p:spPr>
          <a:xfrm>
            <a:off x="594360" y="6217920"/>
            <a:ext cx="11109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A90AC"/>
                </a:solidFill>
              </a:rPr>
              <a:t>Nulls are intentional — use  Special Values: Show as blank  rather than substituting 0 or an imputed value.</a:t>
            </a:r>
            <a:endParaRPr lang="en-US" sz="750" dirty="0"/>
          </a:p>
        </p:txBody>
      </p:sp>
      <p:sp>
        <p:nvSpPr>
          <p:cNvPr id="91" name="Shape 89"/>
          <p:cNvSpPr/>
          <p:nvPr/>
        </p:nvSpPr>
        <p:spPr>
          <a:xfrm>
            <a:off x="457200" y="6446520"/>
            <a:ext cx="54864" cy="54864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92" name="Text 90"/>
          <p:cNvSpPr txBox="1"/>
          <p:nvPr/>
        </p:nvSpPr>
        <p:spPr>
          <a:xfrm>
            <a:off x="594360" y="6400800"/>
            <a:ext cx="11109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A90AC"/>
                </a:solidFill>
              </a:rPr>
              <a:t>faculty_student_ratio_display ('1 : X') is for labels/tooltips only — use faculty_student_ratio for any sort or math.</a:t>
            </a:r>
            <a:endParaRPr lang="en-US" sz="750" dirty="0"/>
          </a:p>
        </p:txBody>
      </p:sp>
      <p:sp>
        <p:nvSpPr>
          <p:cNvPr id="93" name="Text 91"/>
          <p:cNvSpPr txBox="1"/>
          <p:nvPr/>
        </p:nvSpPr>
        <p:spPr>
          <a:xfrm>
            <a:off x="457200" y="660196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A5170"/>
                </a:solidFill>
              </a:rPr>
              <a:t>EduVision_DV  ·  Field Mapping — university_final_dataset.xlsx</a:t>
            </a:r>
            <a:endParaRPr lang="en-US" sz="800" dirty="0"/>
          </a:p>
        </p:txBody>
      </p:sp>
      <p:sp>
        <p:nvSpPr>
          <p:cNvPr id="94" name="Text 92"/>
          <p:cNvSpPr txBox="1"/>
          <p:nvPr/>
        </p:nvSpPr>
        <p:spPr>
          <a:xfrm>
            <a:off x="10881360" y="658368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4A5170"/>
                </a:solidFill>
              </a:rPr>
              <a:t>9 / 9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1856</Words>
  <Application>Microsoft Office PowerPoint</Application>
  <PresentationFormat>Widescreen</PresentationFormat>
  <Paragraphs>424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1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punikotiharsha@gmail.com</cp:lastModifiedBy>
  <cp:revision>2</cp:revision>
  <dcterms:created xsi:type="dcterms:W3CDTF">2026-09-17T10:14:01Z</dcterms:created>
  <dcterms:modified xsi:type="dcterms:W3CDTF">2026-09-18T05:44:54Z</dcterms:modified>
</cp:coreProperties>
</file>