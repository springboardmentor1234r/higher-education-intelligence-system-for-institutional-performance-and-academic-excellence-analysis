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duVision_DV" id="{6D41955D-B27E-D29E-39DE-9D52178A43E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4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dashed placeholder with the matching Tableau dashboard screenshot (2 x 2 layout). Keep the dashboard names underneath.
1. University Overview: Global university ranking, Academic reputation comparison, Global university distribution, Reputation versus research impact, KPI comparison.
2. Research Analytics: Research impact, Research productivity, Research impact versus productivity, Country-level research impact.
3. Student Analytics: International student percentage, Faculty-to-student ratio, Student diversity comparison, Country-level international student percentage.
4. Country Comparison: Average global ranking, Academic reputation comparison, Research productivity performance, International student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3258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EduVision_DV</a:t>
            </a:r>
            <a:endParaRPr lang="en-US" sz="6800" dirty="0"/>
          </a:p>
        </p:txBody>
      </p:sp>
      <p:sp>
        <p:nvSpPr>
          <p:cNvPr id="3" name="ornament"/>
          <p:cNvSpPr/>
          <p:nvPr/>
        </p:nvSpPr>
        <p:spPr>
          <a:xfrm>
            <a:off x="5961888" y="2606040"/>
            <a:ext cx="274320" cy="274320"/>
          </a:xfrm>
          <a:prstGeom prst="diamond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Education Performance Dashboard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Higher Education Intelligence System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5720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2000" b="1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 Chandana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 Python  |  Excel  |  Tableau  |  GitHub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822960" y="1554480"/>
            <a:ext cx="3337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1828800"/>
            <a:ext cx="594360" cy="59436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606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EduVision_DV is a higher-education analytics project designed to analyze university performance, research indicators, student-related metrics, and country-level education information.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425696" y="1554480"/>
            <a:ext cx="3337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00016" y="1828800"/>
            <a:ext cx="594360" cy="59436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00016" y="2606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00016" y="320040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Higher-education data is distributed across multiple sources with different formats and indicators. This makes it difficult to compare universities and countries consistently.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028432" y="1554480"/>
            <a:ext cx="3337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02752" y="1828800"/>
            <a:ext cx="594360" cy="59436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2606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320040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unified data model and interactive Tableau dashboards to simplify higher-education performance analysis.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822960" y="150876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636776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50876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inspect the selected education datasets.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822960" y="2350008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2478024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5000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standardize university and country information.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22960" y="3191256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3319272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19125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data from multiple sources.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822960" y="4032504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416052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03250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six core performance KPIs.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245352" y="150876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28232" y="1636776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68312" y="150876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unified data model.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45352" y="2350008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28232" y="2478024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68312" y="235000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four interactive Tableau dashboards.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6245352" y="3191256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28232" y="3319272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319125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university and country performance.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6245352" y="4032504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28232" y="416052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68312" y="403250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KPI calculations, rankings, and dashboard interactions.</a:t>
            </a:r>
            <a:endParaRPr lang="en-US" sz="1500" dirty="0"/>
          </a:p>
        </p:txBody>
      </p:sp>
      <p:sp>
        <p:nvSpPr>
          <p:cNvPr id="27" name="callout"/>
          <p:cNvSpPr/>
          <p:nvPr/>
        </p:nvSpPr>
        <p:spPr>
          <a:xfrm>
            <a:off x="822960" y="5029200"/>
            <a:ext cx="10543032" cy="82296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97280" y="502920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</a:t>
            </a:r>
            <a:r>
              <a:rPr lang="en-US" sz="16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education data into meaningful analytical insights.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822960" y="150876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51560" y="1783080"/>
            <a:ext cx="548640" cy="54864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764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QS World University Rankings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423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ranking information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indicators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45352" y="150876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783080"/>
            <a:ext cx="548640" cy="54864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251192" y="1764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 Higher Education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251192" y="2423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performance indicators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Research-related information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22960" y="352044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51560" y="3794760"/>
            <a:ext cx="548640" cy="54864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7764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University Rankings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information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faculty-related indicators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245352" y="352044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73952" y="3794760"/>
            <a:ext cx="548640" cy="54864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251192" y="37764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Bank Education Data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51192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education indicators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benchmarking information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3212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sources provide different perspectives for university and country comparison.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822960" y="15087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28600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the selected datasets and inspected their structure, columns, and available records.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425696" y="15087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0016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700016" y="228600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duplicate records.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university and country names.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missing values.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ranking and score fields.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8028432" y="15087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02752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Standardization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302752" y="228600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consistent data structures for integration and analysis.</a:t>
            </a:r>
            <a:endParaRPr lang="en-US" sz="1600" dirty="0"/>
          </a:p>
        </p:txBody>
      </p:sp>
      <p:sp>
        <p:nvSpPr>
          <p:cNvPr id="12" name="callout"/>
          <p:cNvSpPr/>
          <p:nvPr/>
        </p:nvSpPr>
        <p:spPr>
          <a:xfrm>
            <a:off x="822960" y="4846320"/>
            <a:ext cx="10543032" cy="100584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97280" y="484632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Principle: </a:t>
            </a:r>
            <a:r>
              <a:rPr lang="en-US" sz="16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source data was preserved, and missing KPI values were not replaced with fabricated values.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Integration &amp; Data Model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822960" y="1508760"/>
            <a:ext cx="2926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Tables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dim_university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dim_country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023360" y="150876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2976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Tables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2402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fact_university_performance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fact_research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fact_student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fact_country_education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8503920" y="1508760"/>
            <a:ext cx="28620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778240" y="16459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Table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24028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KPI_Table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776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Approach 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and country information is organized into a common analytical structure to support consistent analysis and Tableau visualization.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66360"/>
            <a:ext cx="2331720" cy="73152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Datasets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5166360"/>
            <a:ext cx="405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559759" y="5166360"/>
            <a:ext cx="2331720" cy="73152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Data Model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91479" y="5166360"/>
            <a:ext cx="405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296558" y="5166360"/>
            <a:ext cx="2331720" cy="73152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Dataset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28278" y="5166360"/>
            <a:ext cx="405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033358" y="5166360"/>
            <a:ext cx="2331720" cy="73152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Core KPIs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822960" y="1508760"/>
            <a:ext cx="3337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51560" y="1737360"/>
            <a:ext cx="502920" cy="50292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Ranking Score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231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university ranking performance.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425696" y="1508760"/>
            <a:ext cx="3337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54296" y="1737360"/>
            <a:ext cx="502920" cy="50292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294376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Impact Score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24231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research-related performance using available indicators.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28432" y="1508760"/>
            <a:ext cx="3337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57032" y="1737360"/>
            <a:ext cx="502920" cy="50292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897112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Faculty-to-Student Ratio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57032" y="24231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number of students per faculty member.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22960" y="3429000"/>
            <a:ext cx="3337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51560" y="3657600"/>
            <a:ext cx="502920" cy="50292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Student Percentage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343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proportion of international students.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425696" y="3429000"/>
            <a:ext cx="3337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54296" y="3657600"/>
            <a:ext cx="502920" cy="50292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94376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Reputation Score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54296" y="4343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academic reputation indicator.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8028432" y="3429000"/>
            <a:ext cx="3337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57032" y="3657600"/>
            <a:ext cx="502920" cy="50292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897112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Productivity Index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57032" y="4343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composite research-performance indicator.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KPIs provide a structured basis for comparing universities and supporting dashboard analysis.</a:t>
            </a:r>
            <a:endParaRPr lang="en-US" sz="1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 Development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822960" y="150876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5087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prepared datasets to Tableau.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822960" y="237744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251460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774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individual worksheets for analytical indicators.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22960" y="324612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338328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2461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rankings, measures, and aggregations.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822960" y="411480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425196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1148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comparative charts and KPI visualizations.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245352" y="150876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28232" y="164592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68312" y="15087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worksheets into four dashboards.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45352" y="237744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28232" y="251460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68312" y="23774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filters and interactive selections.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6245352" y="324612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28232" y="3383280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32461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dashboard layout, navigation, and responses.</a:t>
            </a:r>
            <a:endParaRPr lang="en-US" sz="1500" dirty="0"/>
          </a:p>
        </p:txBody>
      </p:sp>
      <p:sp>
        <p:nvSpPr>
          <p:cNvPr id="24" name="callout"/>
          <p:cNvSpPr/>
          <p:nvPr/>
        </p:nvSpPr>
        <p:spPr>
          <a:xfrm>
            <a:off x="6245352" y="4114800"/>
            <a:ext cx="5120640" cy="73152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19672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Outcome: </a:t>
            </a:r>
            <a:r>
              <a:rPr lang="en-US" sz="16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Tableau workbook for higher-education analytics.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EduVision_DV — Dashboard Outputs</a:t>
            </a:r>
            <a:endParaRPr lang="en-US" sz="3400" dirty="0"/>
          </a:p>
        </p:txBody>
      </p:sp>
      <p:sp>
        <p:nvSpPr>
          <p:cNvPr id="3" name="screenshot placeholder 1"/>
          <p:cNvSpPr/>
          <p:nvPr/>
        </p:nvSpPr>
        <p:spPr>
          <a:xfrm>
            <a:off x="822960" y="1463040"/>
            <a:ext cx="5120640" cy="1783080"/>
          </a:xfrm>
          <a:prstGeom prst="rect">
            <a:avLst/>
          </a:prstGeom>
          <a:solidFill>
            <a:srgbClr val="EFE9DA"/>
          </a:solidFill>
          <a:ln w="15875">
            <a:solidFill>
              <a:srgbClr val="B08D57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73742"/>
            <a:ext cx="2801113" cy="1635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1200" dirty="0">
              <a:solidFill>
                <a:srgbClr val="5B6B7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ctr"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5B6B7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university ranking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comparison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university distribution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Reputation versus research impact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KPI comparison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University Overview</a:t>
            </a:r>
            <a:endParaRPr lang="en-US" sz="1800" dirty="0"/>
          </a:p>
        </p:txBody>
      </p:sp>
      <p:sp>
        <p:nvSpPr>
          <p:cNvPr id="7" name="screenshot placeholder 2"/>
          <p:cNvSpPr/>
          <p:nvPr/>
        </p:nvSpPr>
        <p:spPr>
          <a:xfrm>
            <a:off x="6245352" y="1463040"/>
            <a:ext cx="5120640" cy="1783080"/>
          </a:xfrm>
          <a:prstGeom prst="rect">
            <a:avLst/>
          </a:prstGeom>
          <a:solidFill>
            <a:srgbClr val="EFE9DA"/>
          </a:solidFill>
          <a:ln w="15875">
            <a:solidFill>
              <a:srgbClr val="B08D57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28232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42306" y="1565182"/>
            <a:ext cx="2647694" cy="154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ctr"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5B6B7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ctr"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5B6B7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 impact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productivity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 impact versus productivity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Country-level research impact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64480" y="3329939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   2. Research Analytics</a:t>
            </a:r>
            <a:endParaRPr lang="en-US" sz="1800" dirty="0"/>
          </a:p>
        </p:txBody>
      </p:sp>
      <p:sp>
        <p:nvSpPr>
          <p:cNvPr id="11" name="screenshot placeholder 3"/>
          <p:cNvSpPr/>
          <p:nvPr/>
        </p:nvSpPr>
        <p:spPr>
          <a:xfrm>
            <a:off x="822960" y="3749040"/>
            <a:ext cx="5120640" cy="1783080"/>
          </a:xfrm>
          <a:prstGeom prst="rect">
            <a:avLst/>
          </a:prstGeom>
          <a:solidFill>
            <a:srgbClr val="EFE9DA"/>
          </a:solidFill>
          <a:ln w="15875">
            <a:solidFill>
              <a:srgbClr val="B08D57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058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91280"/>
            <a:ext cx="2595880" cy="150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1200" dirty="0">
              <a:solidFill>
                <a:srgbClr val="5B6B7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percentage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Faculty-to-student ratio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 diversity comparison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Country-level international student percentage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Student Analytics</a:t>
            </a:r>
            <a:endParaRPr lang="en-US" sz="1800" dirty="0"/>
          </a:p>
        </p:txBody>
      </p:sp>
      <p:sp>
        <p:nvSpPr>
          <p:cNvPr id="15" name="screenshot placeholder 4"/>
          <p:cNvSpPr/>
          <p:nvPr/>
        </p:nvSpPr>
        <p:spPr>
          <a:xfrm>
            <a:off x="6245352" y="3749040"/>
            <a:ext cx="5120640" cy="1783080"/>
          </a:xfrm>
          <a:prstGeom prst="rect">
            <a:avLst/>
          </a:prstGeom>
          <a:solidFill>
            <a:srgbClr val="EFE9DA"/>
          </a:solidFill>
          <a:ln w="15875">
            <a:solidFill>
              <a:srgbClr val="B08D57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428232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3886200"/>
            <a:ext cx="2114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ctr"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5B6B7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global ranking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reputation comparison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 productivity performance </a:t>
            </a:r>
          </a:p>
          <a:p>
            <a:pPr marL="171450" indent="-171450" algn="ctr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percentage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Country Comparison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95AC475-6B98-293B-DF15-A8385AE6B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073" y="1495044"/>
            <a:ext cx="2319527" cy="17053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0D42D96-AE87-57A3-CAF9-1E4F7D9AA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440" y="1495044"/>
            <a:ext cx="2293112" cy="170535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DA6C644-7781-20D7-EB5C-DEFB2AE9F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560" y="3796874"/>
            <a:ext cx="2433320" cy="173524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4FAF5E6-261C-F7C0-5EC9-CFD935FC3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2840" y="3796874"/>
            <a:ext cx="2521712" cy="17161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Interactions &amp;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Tableau dashboards allow users to explore and compare higher-education performance through: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822960" y="210312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03704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031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selection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425696" y="210312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2856" y="2203704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157216" y="21031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selection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028432" y="210312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65592" y="2203704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59952" y="21031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Ranking-based comparisons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22960" y="292608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3026664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9260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and filters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425696" y="292608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62856" y="3026664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9260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tooltips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8028432" y="292608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65592" y="3026664"/>
            <a:ext cx="457200" cy="457200"/>
          </a:xfrm>
          <a:prstGeom prst="ellipse">
            <a:avLst/>
          </a:prstGeom>
          <a:solidFill>
            <a:srgbClr val="1B2A41"/>
          </a:solidFill>
          <a:ln w="19050">
            <a:solidFill>
              <a:srgbClr val="B08D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2" y="29260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Dashboard-level analysis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251960"/>
            <a:ext cx="2331720" cy="64008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4251960"/>
            <a:ext cx="4050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3559759" y="4251960"/>
            <a:ext cx="2331720" cy="64008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891479" y="4251960"/>
            <a:ext cx="4050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296558" y="4251960"/>
            <a:ext cx="2331720" cy="64008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628278" y="4251960"/>
            <a:ext cx="4050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033358" y="4251960"/>
            <a:ext cx="2331720" cy="64008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2000" dirty="0"/>
          </a:p>
        </p:txBody>
      </p:sp>
      <p:sp>
        <p:nvSpPr>
          <p:cNvPr id="30" name="callout"/>
          <p:cNvSpPr/>
          <p:nvPr/>
        </p:nvSpPr>
        <p:spPr>
          <a:xfrm>
            <a:off x="822960" y="5166360"/>
            <a:ext cx="10543032" cy="86868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097280" y="516636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 Handling: </a:t>
            </a:r>
            <a:r>
              <a:rPr lang="en-US" sz="16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KPI values are retained as NULL where source information is unavailable. NULL values are not treated as zero.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 Assurance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822960" y="15087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28600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 quality and missing values.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duplicate and invalid records.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university and country information.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425696" y="15087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0016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&amp; Ranking Validation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700016" y="228600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six KPI fields.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ranking order and displayed values.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028432" y="150876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02752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Testing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02752" y="228600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university selection.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relevant country comparisons.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dashboard navigation.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chart readability and layout.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missing-value behavior.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822960" y="4846320"/>
            <a:ext cx="10543032" cy="1188720"/>
          </a:xfrm>
          <a:prstGeom prst="rect">
            <a:avLst/>
          </a:prstGeom>
          <a:solidFill>
            <a:srgbClr val="1B2A41"/>
          </a:solidFill>
          <a:ln w="12700">
            <a:solidFill>
              <a:srgbClr val="B08D5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97280" y="4846320"/>
            <a:ext cx="9994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Result: </a:t>
            </a:r>
            <a:r>
              <a:rPr lang="en-US" sz="16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dashboards were reviewed for data accuracy, usability, layout, and interaction. Research Analytics has a partial interaction limitation where some research KPI data is unavailable.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41848" y="61722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3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 &amp; 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EduVision_DV — Higher Education Performance Dashboard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Deliverables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595360" y="18745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and cleaned datasets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 model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KPIs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Tableau dashboards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validation worksheet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verification worksheet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checklist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testing report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774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EduVision_DV brings higher-education datasets together in a unified analytical system. It provides comparative views of university rankings, research performance, student indicators, and country-level education metrics.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377440"/>
            <a:ext cx="27706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newer datasets.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historical analysis.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benchmarking.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predictive analytics.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 updates.</a:t>
            </a:r>
            <a:endParaRPr lang="en-US" sz="1500" dirty="0"/>
          </a:p>
        </p:txBody>
      </p:sp>
      <p:sp>
        <p:nvSpPr>
          <p:cNvPr id="10" name="ornament"/>
          <p:cNvSpPr/>
          <p:nvPr/>
        </p:nvSpPr>
        <p:spPr>
          <a:xfrm>
            <a:off x="5961888" y="5138928"/>
            <a:ext cx="274320" cy="274320"/>
          </a:xfrm>
          <a:prstGeom prst="diamond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4864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r>
              <a:rPr lang="en-US" sz="2000" dirty="0">
                <a:solidFill>
                  <a:srgbClr val="F3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Palle Chandana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Vision Classic">
  <a:themeElements>
    <a:clrScheme name="EduVision Classic">
      <a:dk1>
        <a:srgbClr val="1F2937"/>
      </a:dk1>
      <a:lt1>
        <a:srgbClr val="FFFFFF"/>
      </a:lt1>
      <a:dk2>
        <a:srgbClr val="1B2A41"/>
      </a:dk2>
      <a:lt2>
        <a:srgbClr val="F6F3EC"/>
      </a:lt2>
      <a:accent1>
        <a:srgbClr val="B08D57"/>
      </a:accent1>
      <a:accent2>
        <a:srgbClr val="7A1F2B"/>
      </a:accent2>
      <a:accent3>
        <a:srgbClr val="1B2A41"/>
      </a:accent3>
      <a:accent4>
        <a:srgbClr val="5B6B7F"/>
      </a:accent4>
      <a:accent5>
        <a:srgbClr val="D9CFB8"/>
      </a:accent5>
      <a:accent6>
        <a:srgbClr val="3E5C76"/>
      </a:accent6>
      <a:hlink>
        <a:srgbClr val="3E5C76"/>
      </a:hlink>
      <a:folHlink>
        <a:srgbClr val="5B6B7F"/>
      </a:folHlink>
    </a:clrScheme>
    <a:fontScheme name="EduVision Class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1019</Words>
  <Application>Microsoft Office PowerPoint</Application>
  <PresentationFormat>Widescreen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EduVision Classic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EduVision_DV</dc:title>
  <dc:subject>PptxGenJS Presentation</dc:subject>
  <dc:creator>Palle Chandana</dc:creator>
  <cp:lastModifiedBy>Nitish Kumar</cp:lastModifiedBy>
  <cp:revision>3</cp:revision>
  <dcterms:created xsi:type="dcterms:W3CDTF">2026-10-08T12:41:03Z</dcterms:created>
  <dcterms:modified xsi:type="dcterms:W3CDTF">2026-10-09T07:54:09Z</dcterms:modified>
</cp:coreProperties>
</file>