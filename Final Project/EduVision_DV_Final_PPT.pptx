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1A8A5-4087-483B-95C2-7EF4C623F3E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F72E95-CBD4-4F3A-867F-BF71C91C75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354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72E95-CBD4-4F3A-867F-BF71C91C75B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885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mohammad.saad.mohammad.sohrab/viz/EduVision_DV_17910379007560/UniversityOverview#1" TargetMode="External"/><Relationship Id="rId2" Type="http://schemas.openxmlformats.org/officeDocument/2006/relationships/hyperlink" Target="https://github.com/springboardmentor1234r/Higher-Education-Intelligence-System-for-Institutional-Performance-and-Academic-Excellence-Analysis/tree/Mohammad_Saad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45720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0A6D6"/>
                </a:solidFill>
                <a:latin typeface="Aptos"/>
              </a:rPr>
              <a:t>EDUVISION_DV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6766560" cy="12344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Higher Education
Intelligence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78608"/>
            <a:ext cx="78638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0">
                <a:solidFill>
                  <a:srgbClr val="D2E1F0"/>
                </a:solidFill>
                <a:latin typeface="Aptos"/>
              </a:rPr>
              <a:t>Institutional Performance &amp; Academic Excellence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46120"/>
            <a:ext cx="2514600" cy="310896"/>
          </a:xfrm>
          <a:prstGeom prst="round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3264408"/>
            <a:ext cx="24231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FINAL INTERNSHIP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977639"/>
            <a:ext cx="18288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AABED2"/>
                </a:solidFill>
                <a:latin typeface="Aptos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279392"/>
            <a:ext cx="36576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Mohammad Saad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00600"/>
            <a:ext cx="32004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AABED2"/>
                </a:solidFill>
                <a:latin typeface="Aptos"/>
              </a:rPr>
              <a:t>Internship Project  • 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5528" y="868680"/>
            <a:ext cx="3063240" cy="4892040"/>
          </a:xfrm>
          <a:prstGeom prst="roundRect">
            <a:avLst/>
          </a:prstGeom>
          <a:solidFill>
            <a:srgbClr val="102D4C"/>
          </a:solidFill>
          <a:ln>
            <a:solidFill>
              <a:srgbClr val="28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96528" y="137160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0A6D6"/>
                </a:solidFill>
                <a:latin typeface="Aptos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 rot="5400000">
            <a:off x="9532620" y="1818649"/>
            <a:ext cx="822960" cy="5232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251460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EEB134"/>
                </a:solidFill>
                <a:latin typeface="Aptos"/>
              </a:rPr>
              <a:t>INSIGHT</a:t>
            </a:r>
          </a:p>
        </p:txBody>
      </p:sp>
      <p:sp>
        <p:nvSpPr>
          <p:cNvPr id="16" name="TextBox 15"/>
          <p:cNvSpPr txBox="1"/>
          <p:nvPr/>
        </p:nvSpPr>
        <p:spPr>
          <a:xfrm rot="5400000">
            <a:off x="9535668" y="2959957"/>
            <a:ext cx="822960" cy="5232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365760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7DDCA0"/>
                </a:solidFill>
                <a:latin typeface="Aptos"/>
              </a:rP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4572000"/>
            <a:ext cx="24231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0">
                <a:solidFill>
                  <a:srgbClr val="BED2E1"/>
                </a:solidFill>
                <a:latin typeface="Aptos"/>
              </a:rPr>
              <a:t>University  •  Research
Students  •  Country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33872"/>
            <a:ext cx="50292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AFC3D7"/>
                </a:solidFill>
                <a:latin typeface="Aptos"/>
              </a:rPr>
              <a:t>Final presentation for internship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5CA0"/>
                </a:solidFill>
                <a:latin typeface="Aptos"/>
              </a:rPr>
              <a:t>01 • EXECUTIVE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A1930"/>
                </a:solidFill>
                <a:latin typeface="Aptos"/>
              </a:rPr>
              <a:t>From fragmented education data to decision-ready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5C6978"/>
                </a:solidFill>
                <a:latin typeface="Aptos"/>
              </a:rPr>
              <a:t>One connected BI experience across institutional, research, student and country perspectives.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10972800" cy="32004"/>
          </a:xfrm>
          <a:prstGeom prst="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2514600" cy="54864"/>
          </a:xfrm>
          <a:prstGeom prst="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185416"/>
            <a:ext cx="218541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0A1930"/>
                </a:solidFill>
                <a:latin typeface="Aptos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96312"/>
            <a:ext cx="2185416" cy="9784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Education data arrives in different structures, scales and levels of detail.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20574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79" y="2057400"/>
            <a:ext cx="2514600" cy="54864"/>
          </a:xfrm>
          <a:prstGeom prst="rect">
            <a:avLst/>
          </a:prstGeom>
          <a:solidFill>
            <a:srgbClr val="10847D"/>
          </a:solidFill>
          <a:ln>
            <a:solidFill>
              <a:srgbClr val="108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2185416"/>
            <a:ext cx="218541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0A1930"/>
                </a:solidFill>
                <a:latin typeface="Aptos"/>
              </a:rPr>
              <a:t>THE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496312"/>
            <a:ext cx="2185416" cy="9784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Clean → standardize → model → engineer KPIs → visualize → validate.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0574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2057400"/>
            <a:ext cx="2514600" cy="54864"/>
          </a:xfrm>
          <a:prstGeom prst="rect">
            <a:avLst/>
          </a:prstGeom>
          <a:solidFill>
            <a:srgbClr val="6B41AE"/>
          </a:solidFill>
          <a:ln>
            <a:solidFill>
              <a:srgbClr val="6B4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2185416"/>
            <a:ext cx="218541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0A1930"/>
                </a:solidFill>
                <a:latin typeface="Aptos"/>
              </a:rPr>
              <a:t>THE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496312"/>
            <a:ext cx="2185416" cy="9784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Four interlinked analytical dashboards built for fast exploration.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19" y="20574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1119" y="2057400"/>
            <a:ext cx="2514600" cy="54864"/>
          </a:xfrm>
          <a:prstGeom prst="rect">
            <a:avLst/>
          </a:prstGeom>
          <a:solidFill>
            <a:srgbClr val="E0751C"/>
          </a:solidFill>
          <a:ln>
            <a:solidFill>
              <a:srgbClr val="E07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25711" y="2185416"/>
            <a:ext cx="218541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0A1930"/>
                </a:solidFill>
                <a:latin typeface="Aptos"/>
              </a:rPr>
              <a:t>THE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1" y="2496312"/>
            <a:ext cx="2185416" cy="9784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A portfolio-ready evidence layer for higher-education performance analysis.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977639"/>
            <a:ext cx="10972800" cy="1508760"/>
          </a:xfrm>
          <a:prstGeom prst="roundRect">
            <a:avLst/>
          </a:prstGeom>
          <a:solidFill>
            <a:srgbClr val="0A1930"/>
          </a:solidFill>
          <a:ln>
            <a:solidFill>
              <a:srgbClr val="0A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233672"/>
            <a:ext cx="23774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00A6D6"/>
                </a:solidFill>
                <a:latin typeface="Aptos"/>
              </a:rPr>
              <a:t>THE STORY IN ONE 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590288"/>
            <a:ext cx="996696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We turned multiple education datasets into a single analytical journey —
from “How is a university performing?” to “What is happening behind the numbers?”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47104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EduVision_DV  •  Higher Education Intelligence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0847D"/>
                </a:solidFill>
                <a:latin typeface="Aptos"/>
              </a:rPr>
              <a:t>02 • 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A1930"/>
                </a:solidFill>
                <a:latin typeface="Aptos"/>
              </a:rPr>
              <a:t>Why EduVision_DV was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5C6978"/>
                </a:solidFill>
                <a:latin typeface="Aptos"/>
              </a:rPr>
              <a:t>Project objective: make higher-education performance easier to explore, compare and explain.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10972800" cy="32004"/>
          </a:xfrm>
          <a:prstGeom prst="rect">
            <a:avLst/>
          </a:prstGeom>
          <a:solidFill>
            <a:srgbClr val="10847D"/>
          </a:solidFill>
          <a:ln>
            <a:solidFill>
              <a:srgbClr val="108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810512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45CA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85000"/>
            <a:ext cx="2186093" cy="35394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 dirty="0">
                <a:solidFill>
                  <a:srgbClr val="0A1930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4983480" cy="2286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F2A37"/>
                </a:solidFill>
                <a:latin typeface="Aptos"/>
              </a:defRPr>
            </a:pPr>
            <a:r>
              <a:t>• University, research, student and country indicators exist in separate datasets.</a:t>
            </a:r>
          </a:p>
          <a:p>
            <a:pPr>
              <a:spcAft>
                <a:spcPts val="500"/>
              </a:spcAft>
              <a:defRPr sz="1800">
                <a:solidFill>
                  <a:srgbClr val="1F2A37"/>
                </a:solidFill>
                <a:latin typeface="Aptos"/>
              </a:defRPr>
            </a:pPr>
            <a:r>
              <a:t>• Different granularities make direct joining risky and can distort analytical results.</a:t>
            </a:r>
          </a:p>
          <a:p>
            <a:pPr>
              <a:spcAft>
                <a:spcPts val="500"/>
              </a:spcAft>
              <a:defRPr sz="1800">
                <a:solidFill>
                  <a:srgbClr val="1F2A37"/>
                </a:solidFill>
                <a:latin typeface="Aptos"/>
              </a:defRPr>
            </a:pPr>
            <a:r>
              <a:t>• Decision-makers need a fast way to move from headline KPIs to supporting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10512"/>
            <a:ext cx="502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0847D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3714" y="1885000"/>
            <a:ext cx="1379220" cy="35394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 dirty="0">
                <a:solidFill>
                  <a:srgbClr val="0A1930"/>
                </a:solidFill>
                <a:latin typeface="Aptos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423160"/>
            <a:ext cx="4800600" cy="2286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F2A37"/>
                </a:solidFill>
                <a:latin typeface="Aptos"/>
              </a:defRPr>
            </a:pPr>
            <a:r>
              <a:t>• Create a structured analytical layer with consistent university/country identifiers.</a:t>
            </a:r>
          </a:p>
          <a:p>
            <a:pPr>
              <a:spcAft>
                <a:spcPts val="500"/>
              </a:spcAft>
              <a:defRPr sz="1800">
                <a:solidFill>
                  <a:srgbClr val="1F2A37"/>
                </a:solidFill>
                <a:latin typeface="Aptos"/>
              </a:defRPr>
            </a:pPr>
            <a:r>
              <a:t>• Build KPI-driven dashboards without inventing unsupported metrics.</a:t>
            </a:r>
          </a:p>
          <a:p>
            <a:pPr>
              <a:spcAft>
                <a:spcPts val="500"/>
              </a:spcAft>
              <a:defRPr sz="1800">
                <a:solidFill>
                  <a:srgbClr val="1F2A37"/>
                </a:solidFill>
                <a:latin typeface="Aptos"/>
              </a:defRPr>
            </a:pPr>
            <a:r>
              <a:t>• Provide a guided dashboard journey with navigation and interactive exploration.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166360"/>
            <a:ext cx="10287000" cy="685800"/>
          </a:xfrm>
          <a:prstGeom prst="roundRect">
            <a:avLst/>
          </a:prstGeom>
          <a:solidFill>
            <a:srgbClr val="E7F2FC"/>
          </a:solidFill>
          <a:ln>
            <a:solidFill>
              <a:srgbClr val="E7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5321808"/>
            <a:ext cx="9921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A1930"/>
                </a:solidFill>
                <a:latin typeface="Aptos"/>
              </a:rPr>
              <a:t>DESIGN PRINCIPLE  •  Preserve source meaning first; compare only where the data supports comparison.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47104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EduVision_DV  •  Higher Education Intelligence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6B41AE"/>
                </a:solidFill>
                <a:latin typeface="Aptos"/>
              </a:rPr>
              <a:t>03 • DELIVERY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A1930"/>
                </a:solidFill>
                <a:latin typeface="Aptos"/>
              </a:rPr>
              <a:t>Five stages from raw data to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5C6978"/>
                </a:solidFill>
                <a:latin typeface="Aptos"/>
              </a:rPr>
              <a:t>Your GitHub branch documents the work across Milestones 1–4, followed by the Final Project package.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10972800" cy="32004"/>
          </a:xfrm>
          <a:prstGeom prst="rect">
            <a:avLst/>
          </a:prstGeom>
          <a:solidFill>
            <a:srgbClr val="6B41AE"/>
          </a:solidFill>
          <a:ln>
            <a:solidFill>
              <a:srgbClr val="6B4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0116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88720" y="1901952"/>
            <a:ext cx="640080" cy="640080"/>
          </a:xfrm>
          <a:prstGeom prst="round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993392"/>
            <a:ext cx="6400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697480"/>
            <a:ext cx="1719072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A1930"/>
                </a:solidFill>
                <a:latin typeface="Aptos"/>
              </a:rPr>
              <a:t>DATA COLLECTION &amp; 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3401568"/>
            <a:ext cx="171907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5C6978"/>
                </a:solidFill>
                <a:latin typeface="Aptos"/>
              </a:rPr>
              <a:t>Clean source datasets
Document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2926080"/>
            <a:ext cx="3200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5C6978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2148840"/>
            <a:ext cx="20116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02152" y="1901952"/>
            <a:ext cx="640080" cy="640080"/>
          </a:xfrm>
          <a:prstGeom prst="roundRect">
            <a:avLst/>
          </a:prstGeom>
          <a:solidFill>
            <a:srgbClr val="10847D"/>
          </a:solidFill>
          <a:ln>
            <a:solidFill>
              <a:srgbClr val="108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2152" y="1993392"/>
            <a:ext cx="6400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2697480"/>
            <a:ext cx="1719072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A1930"/>
                </a:solidFill>
                <a:latin typeface="Aptos"/>
              </a:rPr>
              <a:t>KPI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" y="3401568"/>
            <a:ext cx="171907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5C6978"/>
                </a:solidFill>
                <a:latin typeface="Aptos"/>
              </a:rPr>
              <a:t>Analytical model
Defensible measures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926080"/>
            <a:ext cx="3200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5C6978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9783" y="2148840"/>
            <a:ext cx="20116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815583" y="1901952"/>
            <a:ext cx="640080" cy="640080"/>
          </a:xfrm>
          <a:prstGeom prst="roundRect">
            <a:avLst/>
          </a:prstGeom>
          <a:solidFill>
            <a:srgbClr val="6B41AE"/>
          </a:solidFill>
          <a:ln>
            <a:solidFill>
              <a:srgbClr val="6B4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15583" y="1993392"/>
            <a:ext cx="6400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2697480"/>
            <a:ext cx="1719072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A1930"/>
                </a:solidFill>
                <a:latin typeface="Aptos"/>
              </a:rPr>
              <a:t>TABLEAU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3401568"/>
            <a:ext cx="171907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5C6978"/>
                </a:solidFill>
                <a:latin typeface="Aptos"/>
              </a:rPr>
              <a:t>Four dashboards
Navigation &amp; interaction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2926080"/>
            <a:ext cx="3200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5C6978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43216" y="2148840"/>
            <a:ext cx="20116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29016" y="1901952"/>
            <a:ext cx="640080" cy="640080"/>
          </a:xfrm>
          <a:prstGeom prst="roundRect">
            <a:avLst/>
          </a:prstGeom>
          <a:solidFill>
            <a:srgbClr val="E0751C"/>
          </a:solidFill>
          <a:ln>
            <a:solidFill>
              <a:srgbClr val="E07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9016" y="1993392"/>
            <a:ext cx="6400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697480"/>
            <a:ext cx="1719072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A1930"/>
                </a:solidFill>
                <a:latin typeface="Aptos"/>
              </a:rPr>
              <a:t>TESTING &amp; DOCUMENTATION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401568"/>
            <a:ext cx="171907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5C6978"/>
                </a:solidFill>
                <a:latin typeface="Aptos"/>
              </a:rPr>
              <a:t>QA checklist
Testing report &amp; 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2926080"/>
            <a:ext cx="3200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5C6978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56648" y="2148840"/>
            <a:ext cx="20116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42448" y="1901952"/>
            <a:ext cx="640080" cy="640080"/>
          </a:xfrm>
          <a:prstGeom prst="roundRect">
            <a:avLst/>
          </a:prstGeom>
          <a:solidFill>
            <a:srgbClr val="2C914F"/>
          </a:solidFill>
          <a:ln>
            <a:solidFill>
              <a:srgbClr val="2C9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42448" y="1993392"/>
            <a:ext cx="6400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2952" y="2697480"/>
            <a:ext cx="1719072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A1930"/>
                </a:solidFill>
                <a:latin typeface="Aptos"/>
              </a:rPr>
              <a:t>FINAL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2952" y="3401568"/>
            <a:ext cx="171907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5C6978"/>
                </a:solidFill>
                <a:latin typeface="Aptos"/>
              </a:rPr>
              <a:t>Final PPT
Public dashboard link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892040"/>
            <a:ext cx="10881360" cy="868680"/>
          </a:xfrm>
          <a:prstGeom prst="roundRect">
            <a:avLst/>
          </a:prstGeom>
          <a:solidFill>
            <a:srgbClr val="0A1930"/>
          </a:solidFill>
          <a:ln>
            <a:solidFill>
              <a:srgbClr val="0A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507492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dirty="0">
                <a:solidFill>
                  <a:srgbClr val="00A6D6"/>
                </a:solidFill>
                <a:latin typeface="Aptos"/>
              </a:rPr>
              <a:t>GitHub organization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02920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Milestone_1  •  Milestone_2  •  Milestone_3  •  Milestone_4  •  Final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47104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EduVision_DV  •  Higher Education Intelligence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5CA0"/>
                </a:solidFill>
                <a:latin typeface="Aptos"/>
              </a:rPr>
              <a:t>04 • DATA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A1930"/>
                </a:solidFill>
                <a:latin typeface="Aptos"/>
              </a:rPr>
              <a:t>Four source families — four analytical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5C6978"/>
                </a:solidFill>
                <a:latin typeface="Aptos"/>
              </a:rPr>
              <a:t>Each source is used for the questions its fields can actually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10972800" cy="32004"/>
          </a:xfrm>
          <a:prstGeom prst="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91440" cy="1554480"/>
          </a:xfrm>
          <a:prstGeom prst="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240280"/>
            <a:ext cx="15087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5CA0"/>
                </a:solidFill>
                <a:latin typeface="Aptos"/>
              </a:rPr>
              <a:t>QS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40280"/>
            <a:ext cx="29718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A1930"/>
                </a:solidFill>
                <a:latin typeface="Aptos"/>
              </a:rPr>
              <a:t>University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97480"/>
            <a:ext cx="457200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5C6978"/>
                </a:solidFill>
                <a:latin typeface="Aptos"/>
              </a:rPr>
              <a:t>Rankings, academic reputation, overall score,
internationalization &amp; research-related scores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5740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2057400"/>
            <a:ext cx="91440" cy="1554480"/>
          </a:xfrm>
          <a:prstGeom prst="rect">
            <a:avLst/>
          </a:prstGeom>
          <a:solidFill>
            <a:srgbClr val="2C914F"/>
          </a:solidFill>
          <a:ln>
            <a:solidFill>
              <a:srgbClr val="2C9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2240280"/>
            <a:ext cx="15087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2C914F"/>
                </a:solidFill>
                <a:latin typeface="Aptos"/>
              </a:rPr>
              <a:t>THE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240280"/>
            <a:ext cx="29718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A1930"/>
                </a:solidFill>
                <a:latin typeface="Aptos"/>
              </a:rPr>
              <a:t>Research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697480"/>
            <a:ext cx="457200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5C6978"/>
                </a:solidFill>
                <a:latin typeface="Aptos"/>
              </a:rPr>
              <a:t>Research, citations, teaching,
student-staff &amp; international outlook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3192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91440" cy="1554480"/>
          </a:xfrm>
          <a:prstGeom prst="rect">
            <a:avLst/>
          </a:prstGeom>
          <a:solidFill>
            <a:srgbClr val="6B41AE"/>
          </a:solidFill>
          <a:ln>
            <a:solidFill>
              <a:srgbClr val="6B4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4114800"/>
            <a:ext cx="15087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6B41AE"/>
                </a:solidFill>
                <a:latin typeface="Aptos"/>
              </a:rPr>
              <a:t>WUR 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114800"/>
            <a:ext cx="29718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A1930"/>
                </a:solidFill>
                <a:latin typeface="Aptos"/>
              </a:rPr>
              <a:t>Students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572000"/>
            <a:ext cx="457200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5C6978"/>
                </a:solidFill>
                <a:latin typeface="Aptos"/>
              </a:rPr>
              <a:t>Total students, student-staff ratio,
international students &amp; gender indicators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93192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931920"/>
            <a:ext cx="91440" cy="1554480"/>
          </a:xfrm>
          <a:prstGeom prst="rect">
            <a:avLst/>
          </a:prstGeom>
          <a:solidFill>
            <a:srgbClr val="E0751C"/>
          </a:solidFill>
          <a:ln>
            <a:solidFill>
              <a:srgbClr val="E07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2" y="4114800"/>
            <a:ext cx="15087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E0751C"/>
                </a:solidFill>
                <a:latin typeface="Aptos"/>
              </a:rPr>
              <a:t>WORLD BANK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114800"/>
            <a:ext cx="29718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A1930"/>
                </a:solidFill>
                <a:latin typeface="Aptos"/>
              </a:rPr>
              <a:t>Country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4572000"/>
            <a:ext cx="457200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5C6978"/>
                </a:solidFill>
                <a:latin typeface="Aptos"/>
              </a:rPr>
              <a:t>Country/year education indicators,
expenditure, enrollment, literacy &amp; GDP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897880"/>
            <a:ext cx="10881360" cy="384048"/>
          </a:xfrm>
          <a:prstGeom prst="roundRect">
            <a:avLst/>
          </a:prstGeom>
          <a:solidFill>
            <a:srgbClr val="E7F2FC"/>
          </a:solidFill>
          <a:ln>
            <a:solidFill>
              <a:srgbClr val="E7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952744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0A1930"/>
                </a:solidFill>
                <a:latin typeface="Aptos"/>
              </a:rPr>
              <a:t>Analytical grain is preserved instead of forcing every source into one giant table.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47104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EduVision_DV  •  Higher Education Intelligence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0847D"/>
                </a:solidFill>
                <a:latin typeface="Aptos"/>
              </a:rPr>
              <a:t>05 • 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A1930"/>
                </a:solidFill>
                <a:latin typeface="Aptos"/>
              </a:rPr>
              <a:t>A modular analytical layer keeps the data explainable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5C6978"/>
                </a:solidFill>
                <a:latin typeface="Aptos"/>
              </a:rPr>
              <a:t>University, research, student and country facts remain distinct while sharing common identifiers.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10972800" cy="32004"/>
          </a:xfrm>
          <a:prstGeom prst="rect">
            <a:avLst/>
          </a:prstGeom>
          <a:solidFill>
            <a:srgbClr val="10847D"/>
          </a:solidFill>
          <a:ln>
            <a:solidFill>
              <a:srgbClr val="108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828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578608"/>
            <a:ext cx="16459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45CA0"/>
                </a:solidFill>
                <a:latin typeface="Aptos"/>
              </a:rPr>
              <a:t>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44368"/>
            <a:ext cx="1554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5C6978"/>
                </a:solidFill>
                <a:latin typeface="Aptos"/>
              </a:rPr>
              <a:t>Source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2761488"/>
            <a:ext cx="3657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5C6978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331720"/>
            <a:ext cx="1828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79" y="2578608"/>
            <a:ext cx="16459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0847D"/>
                </a:solidFill>
                <a:latin typeface="Aptos"/>
              </a:rPr>
              <a:t>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799" y="2944368"/>
            <a:ext cx="1554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5C6978"/>
                </a:solidFill>
                <a:latin typeface="Aptos"/>
              </a:rPr>
              <a:t>Standard names
&amp;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761488"/>
            <a:ext cx="3657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5C6978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2331720"/>
            <a:ext cx="1828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799" y="2578608"/>
            <a:ext cx="16459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6B41AE"/>
                </a:solidFill>
                <a:latin typeface="Aptos"/>
              </a:rPr>
              <a:t>MASTER IDs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944368"/>
            <a:ext cx="1554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5C6978"/>
                </a:solidFill>
                <a:latin typeface="Aptos"/>
              </a:rPr>
              <a:t>University / Country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2761488"/>
            <a:ext cx="3657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5C6978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331720"/>
            <a:ext cx="1828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19" y="2578608"/>
            <a:ext cx="16459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E0751C"/>
                </a:solidFill>
                <a:latin typeface="Aptos"/>
              </a:rPr>
              <a:t>FACTS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944368"/>
            <a:ext cx="1554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5C6978"/>
                </a:solidFill>
                <a:latin typeface="Aptos"/>
              </a:rPr>
              <a:t>Performance
Research / Student / Country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761488"/>
            <a:ext cx="3657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5C6978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2331720"/>
            <a:ext cx="1828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21240" y="2578608"/>
            <a:ext cx="16459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2C914F"/>
                </a:solidFill>
                <a:latin typeface="Aptos"/>
              </a:rPr>
              <a:t>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2944368"/>
            <a:ext cx="1554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0">
                <a:solidFill>
                  <a:srgbClr val="5C6978"/>
                </a:solidFill>
                <a:latin typeface="Aptos"/>
              </a:rPr>
              <a:t>Tableau dashboards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5196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4251960"/>
            <a:ext cx="3429000" cy="54864"/>
          </a:xfrm>
          <a:prstGeom prst="rect">
            <a:avLst/>
          </a:prstGeom>
          <a:solidFill>
            <a:srgbClr val="BC3737"/>
          </a:solidFill>
          <a:ln>
            <a:solidFill>
              <a:srgbClr val="BC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4379976"/>
            <a:ext cx="309981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0A1930"/>
                </a:solidFill>
                <a:latin typeface="Aptos"/>
              </a:rPr>
              <a:t>QUALITY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690872"/>
            <a:ext cx="3099816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Do not fabricate missing values or force unrelated columns to represent a KPI.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25196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89120" y="4251960"/>
            <a:ext cx="3429000" cy="54864"/>
          </a:xfrm>
          <a:prstGeom prst="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53712" y="4379976"/>
            <a:ext cx="309981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0A1930"/>
                </a:solidFill>
                <a:latin typeface="Aptos"/>
              </a:rPr>
              <a:t>ID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4690872"/>
            <a:ext cx="3099816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Use university_id, country_id and year as the shared analytical keys.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425196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46720" y="4251960"/>
            <a:ext cx="3429000" cy="54864"/>
          </a:xfrm>
          <a:prstGeom prst="rect">
            <a:avLst/>
          </a:prstGeom>
          <a:solidFill>
            <a:srgbClr val="E0751C"/>
          </a:solidFill>
          <a:ln>
            <a:solidFill>
              <a:srgbClr val="E07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11312" y="4379976"/>
            <a:ext cx="3099816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0A1930"/>
                </a:solidFill>
                <a:latin typeface="Aptos"/>
              </a:rPr>
              <a:t>BI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4690872"/>
            <a:ext cx="3099816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Avoid a giant many-to-many join that can duplicate measures.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47104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EduVision_DV  •  Higher Education Intelligence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6B41AE"/>
                </a:solidFill>
                <a:latin typeface="Aptos"/>
              </a:rPr>
              <a:t>06 • KPI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A1930"/>
                </a:solidFill>
                <a:latin typeface="Aptos"/>
              </a:rPr>
              <a:t>Six core KPI concepts anchor the dashboard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5C6978"/>
                </a:solidFill>
                <a:latin typeface="Aptos"/>
              </a:rPr>
              <a:t>Definitions are tied to source fields and documented methodology rather than arbitrary substitutions.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10972800" cy="32004"/>
          </a:xfrm>
          <a:prstGeom prst="rect">
            <a:avLst/>
          </a:prstGeom>
          <a:solidFill>
            <a:srgbClr val="6B41AE"/>
          </a:solidFill>
          <a:ln>
            <a:solidFill>
              <a:srgbClr val="6B4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203704"/>
            <a:ext cx="30632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5CA0"/>
                </a:solidFill>
                <a:latin typeface="Aptos"/>
              </a:rPr>
              <a:t>GLOBAL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6032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0A1930"/>
                </a:solidFill>
                <a:latin typeface="Aptos"/>
              </a:rPr>
              <a:t>QS 2025 rank / ranking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953512"/>
            <a:ext cx="306324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Aptos"/>
              </a:rPr>
              <a:t>Institutional position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0574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9704" y="2203704"/>
            <a:ext cx="30632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0847D"/>
                </a:solidFill>
                <a:latin typeface="Aptos"/>
              </a:rPr>
              <a:t>RESEARCH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56032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0A1930"/>
                </a:solidFill>
                <a:latin typeface="Aptos"/>
              </a:rPr>
              <a:t>Citations per Faculty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953512"/>
            <a:ext cx="306324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Aptos"/>
              </a:rPr>
              <a:t>Research visibility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20574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0456" y="2203704"/>
            <a:ext cx="30632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6B41AE"/>
                </a:solidFill>
                <a:latin typeface="Aptos"/>
              </a:rPr>
              <a:t>FACULTY / STUDENT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56032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0A1930"/>
                </a:solidFill>
                <a:latin typeface="Aptos"/>
              </a:rPr>
              <a:t>Student–staff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953512"/>
            <a:ext cx="306324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Aptos"/>
              </a:rPr>
              <a:t>Learning capacity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6576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3803904"/>
            <a:ext cx="30632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E0751C"/>
                </a:solidFill>
                <a:latin typeface="Aptos"/>
              </a:rPr>
              <a:t>INTERNATIONAL 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16052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0A1930"/>
                </a:solidFill>
                <a:latin typeface="Aptos"/>
              </a:rPr>
              <a:t>Actual percentage where available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553712"/>
            <a:ext cx="306324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Aptos"/>
              </a:rPr>
              <a:t>Global participation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36576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9704" y="3803904"/>
            <a:ext cx="30632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2C914F"/>
                </a:solidFill>
                <a:latin typeface="Aptos"/>
              </a:rPr>
              <a:t>ACADEMIC REPUTATION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416052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0A1930"/>
                </a:solidFill>
                <a:latin typeface="Aptos"/>
              </a:rPr>
              <a:t>QS Academic Reputation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9704" y="4553712"/>
            <a:ext cx="306324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Aptos"/>
              </a:rPr>
              <a:t>Academic perception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5864" y="36576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0456" y="3803904"/>
            <a:ext cx="30632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BC3737"/>
                </a:solidFill>
                <a:latin typeface="Aptos"/>
              </a:rPr>
              <a:t>RESEARCH PRODUCTIVITY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4160520"/>
            <a:ext cx="3063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0A1930"/>
                </a:solidFill>
                <a:latin typeface="Aptos"/>
              </a:rPr>
              <a:t>Derived only when formula is documented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4553712"/>
            <a:ext cx="306324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Aptos"/>
              </a:rPr>
              <a:t>Research efficiency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486400"/>
            <a:ext cx="10972800" cy="502920"/>
          </a:xfrm>
          <a:prstGeom prst="roundRect">
            <a:avLst/>
          </a:prstGeom>
          <a:solidFill>
            <a:srgbClr val="0A1930"/>
          </a:solidFill>
          <a:ln>
            <a:solidFill>
              <a:srgbClr val="0A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596128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KEY MESSAGE  •  A KPI is useful only when its definition is reproducible and its source meaning is preserved.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EduVision_DV  •  Higher Education Intelligence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5CA0"/>
                </a:solidFill>
                <a:latin typeface="Aptos"/>
              </a:rPr>
              <a:t>07 • DASHBOARD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A1930"/>
                </a:solidFill>
                <a:latin typeface="Aptos"/>
              </a:rPr>
              <a:t>Four dashboards. One analytical journey.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5C6978"/>
                </a:solidFill>
                <a:latin typeface="Aptos"/>
              </a:rPr>
              <a:t>Each dashboard answers a different question while the navigation keeps the experience connected.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10972800" cy="32004"/>
          </a:xfrm>
          <a:prstGeom prst="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25146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2103120"/>
            <a:ext cx="2514600" cy="109728"/>
          </a:xfrm>
          <a:prstGeom prst="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5029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45CA0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21488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A1930"/>
                </a:solidFill>
                <a:latin typeface="Aptos"/>
              </a:rPr>
              <a:t>UNIVERSITY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214884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Aptos"/>
              </a:rPr>
              <a:t>How is the institution performing?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07408"/>
            <a:ext cx="21488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Aptos"/>
              </a:rPr>
              <a:t>Rank • reputation • research • internationalization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79" y="2103120"/>
            <a:ext cx="25146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3279" y="2103120"/>
            <a:ext cx="2514600" cy="109728"/>
          </a:xfrm>
          <a:prstGeom prst="rect">
            <a:avLst/>
          </a:prstGeom>
          <a:solidFill>
            <a:srgbClr val="2C914F"/>
          </a:solidFill>
          <a:ln>
            <a:solidFill>
              <a:srgbClr val="2C9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2395728"/>
            <a:ext cx="5029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2C914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926080"/>
            <a:ext cx="21488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A1930"/>
                </a:solidFill>
                <a:latin typeface="Aptos"/>
              </a:rPr>
              <a:t>RESEARCH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657600"/>
            <a:ext cx="214884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Aptos"/>
              </a:rPr>
              <a:t>What is happening behind research performance?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407408"/>
            <a:ext cx="21488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Aptos"/>
              </a:rPr>
              <a:t>Research • citations • teaching • outlook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103120"/>
            <a:ext cx="25146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2103120"/>
            <a:ext cx="2514600" cy="109728"/>
          </a:xfrm>
          <a:prstGeom prst="rect">
            <a:avLst/>
          </a:prstGeom>
          <a:solidFill>
            <a:srgbClr val="6B41AE"/>
          </a:solidFill>
          <a:ln>
            <a:solidFill>
              <a:srgbClr val="6B4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2395728"/>
            <a:ext cx="5029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6B41AE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926080"/>
            <a:ext cx="21488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A1930"/>
                </a:solidFill>
                <a:latin typeface="Aptos"/>
              </a:rPr>
              <a:t>STUDENTS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657600"/>
            <a:ext cx="214884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Aptos"/>
              </a:rPr>
              <a:t>What does the student profile look like?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407408"/>
            <a:ext cx="21488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Aptos"/>
              </a:rPr>
              <a:t>Enrollment • ratio • international • gender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2103120"/>
            <a:ext cx="25146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61119" y="2103120"/>
            <a:ext cx="2514600" cy="109728"/>
          </a:xfrm>
          <a:prstGeom prst="rect">
            <a:avLst/>
          </a:prstGeom>
          <a:solidFill>
            <a:srgbClr val="E0751C"/>
          </a:solidFill>
          <a:ln>
            <a:solidFill>
              <a:srgbClr val="E07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3999" y="2395728"/>
            <a:ext cx="5029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E0751C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99" y="2926080"/>
            <a:ext cx="21488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0A1930"/>
                </a:solidFill>
                <a:latin typeface="Aptos"/>
              </a:rPr>
              <a:t>COUNTRY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3999" y="3657600"/>
            <a:ext cx="214884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Aptos"/>
              </a:rPr>
              <a:t>What is the wider education context?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99" y="4407408"/>
            <a:ext cx="21488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Aptos"/>
              </a:rPr>
              <a:t>Spending • enrollment • literacy • teachers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349240"/>
            <a:ext cx="10972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5CA0"/>
                </a:solidFill>
                <a:latin typeface="Aptos"/>
              </a:rPr>
              <a:t>NAVIGATION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303520"/>
            <a:ext cx="57607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0A1930"/>
                </a:solidFill>
                <a:latin typeface="Aptos"/>
              </a:rPr>
              <a:t>University → Research → Students → Country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EduVision_DV  •  Higher Education Intelligence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5CA0"/>
                </a:solidFill>
                <a:latin typeface="Aptos"/>
              </a:rPr>
              <a:t>09 •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A1930"/>
                </a:solidFill>
                <a:latin typeface="Aptos"/>
              </a:rPr>
              <a:t>University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5C6978"/>
                </a:solidFill>
                <a:latin typeface="Aptos"/>
              </a:rPr>
              <a:t>Executive snapshot of institutional performance, ranking position and international profile.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1620"/>
            <a:ext cx="10972800" cy="32004"/>
          </a:xfrm>
          <a:prstGeom prst="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847088"/>
            <a:ext cx="7818120" cy="4233672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49301" y="1668780"/>
            <a:ext cx="2971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flipH="1">
            <a:off x="8549639" y="1668780"/>
            <a:ext cx="73152" cy="681228"/>
          </a:xfrm>
          <a:prstGeom prst="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14232" y="173736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dirty="0">
                <a:solidFill>
                  <a:srgbClr val="5C6978"/>
                </a:solidFill>
                <a:latin typeface="Aptos"/>
              </a:rPr>
              <a:t>OVERALL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4232" y="2011680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dirty="0">
                <a:solidFill>
                  <a:srgbClr val="0A1930"/>
                </a:solidFill>
                <a:latin typeface="Aptos"/>
              </a:rPr>
              <a:t>27.24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435183"/>
            <a:ext cx="2971800" cy="740664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59207" y="2450084"/>
            <a:ext cx="63585" cy="725763"/>
          </a:xfrm>
          <a:prstGeom prst="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3601" y="249174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dirty="0">
                <a:solidFill>
                  <a:srgbClr val="5C6978"/>
                </a:solidFill>
                <a:latin typeface="Aptos"/>
              </a:rPr>
              <a:t>ACADEMIC REPUTATION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0516" y="2751159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0A1930"/>
                </a:solidFill>
                <a:latin typeface="Aptos"/>
              </a:rPr>
              <a:t>22.79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9932" y="3273552"/>
            <a:ext cx="2971800" cy="725763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 flipH="1">
            <a:off x="8572500" y="3273552"/>
            <a:ext cx="63585" cy="725763"/>
          </a:xfrm>
          <a:prstGeom prst="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14232" y="3305556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dirty="0">
                <a:solidFill>
                  <a:srgbClr val="5C6978"/>
                </a:solidFill>
                <a:latin typeface="Aptos"/>
              </a:rPr>
              <a:t>RESEARCH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2812" y="3575304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dirty="0">
                <a:solidFill>
                  <a:srgbClr val="0A1930"/>
                </a:solidFill>
                <a:latin typeface="Aptos"/>
              </a:rPr>
              <a:t>33.19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59207" y="4135120"/>
            <a:ext cx="2971800" cy="720344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56498" y="4129701"/>
            <a:ext cx="63585" cy="720344"/>
          </a:xfrm>
          <a:prstGeom prst="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63601" y="4192524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dirty="0">
                <a:solidFill>
                  <a:srgbClr val="5C6978"/>
                </a:solidFill>
                <a:latin typeface="Aptos"/>
              </a:rPr>
              <a:t>STUDENT / STAFF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5662" y="4439412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dirty="0">
                <a:solidFill>
                  <a:srgbClr val="0A1930"/>
                </a:solidFill>
                <a:latin typeface="Aptos"/>
              </a:rPr>
              <a:t>17.63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9932" y="5007186"/>
            <a:ext cx="2971800" cy="680382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568603" y="4991269"/>
            <a:ext cx="67482" cy="696299"/>
          </a:xfrm>
          <a:prstGeom prst="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7901" y="503174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dirty="0">
                <a:solidFill>
                  <a:srgbClr val="5C6978"/>
                </a:solidFill>
                <a:latin typeface="Aptos"/>
              </a:rPr>
              <a:t>INTERNATIONAL STUDENTS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7901" y="5294376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dirty="0">
                <a:solidFill>
                  <a:srgbClr val="0A1930"/>
                </a:solidFill>
                <a:latin typeface="Aptos"/>
              </a:rPr>
              <a:t>13.90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81981" y="5839290"/>
            <a:ext cx="2971800" cy="685462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568603" y="5850467"/>
            <a:ext cx="62234" cy="711200"/>
          </a:xfrm>
          <a:prstGeom prst="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63516" y="5874512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dirty="0">
                <a:solidFill>
                  <a:srgbClr val="5C6978"/>
                </a:solidFill>
                <a:latin typeface="Aptos"/>
              </a:rPr>
              <a:t>GLOBAL RANKING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7901" y="6134778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0A1930"/>
                </a:solidFill>
                <a:latin typeface="Aptos"/>
              </a:rPr>
              <a:t>629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99697" y="6227064"/>
            <a:ext cx="1859704" cy="457200"/>
          </a:xfrm>
          <a:prstGeom prst="roundRect">
            <a:avLst/>
          </a:prstGeom>
          <a:solidFill>
            <a:srgbClr val="E7F2FC"/>
          </a:solidFill>
          <a:ln>
            <a:solidFill>
              <a:srgbClr val="E7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74855" y="6345936"/>
            <a:ext cx="26974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dirty="0">
                <a:solidFill>
                  <a:srgbClr val="145CA0"/>
                </a:solidFill>
                <a:latin typeface="Aptos"/>
              </a:rPr>
              <a:t>WHAT TO NOTICE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73786" y="6227064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C6978"/>
                </a:solidFill>
                <a:latin typeface="Aptos"/>
              </a:rPr>
              <a:t>• Filters and ranking views support rapid institution-level exploration.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EduVision_DV  •  Higher Education Intelligence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09</a:t>
            </a:r>
          </a:p>
        </p:txBody>
      </p:sp>
      <p:pic>
        <p:nvPicPr>
          <p:cNvPr id="7" name="Picture 6" descr="University Overview 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737360"/>
            <a:ext cx="7983220" cy="43802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C914F"/>
                </a:solidFill>
                <a:latin typeface="Aptos"/>
              </a:rPr>
              <a:t>10 •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A1930"/>
                </a:solidFill>
                <a:latin typeface="Aptos"/>
              </a:rPr>
              <a:t>Research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5C6978"/>
                </a:solidFill>
                <a:latin typeface="Aptos"/>
              </a:rPr>
              <a:t>Research evidence layer: research strength, citations, teaching, outlook and student–staff context.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10972800" cy="32004"/>
          </a:xfrm>
          <a:prstGeom prst="rect">
            <a:avLst/>
          </a:prstGeom>
          <a:solidFill>
            <a:srgbClr val="2C914F"/>
          </a:solidFill>
          <a:ln>
            <a:solidFill>
              <a:srgbClr val="2C9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847088"/>
            <a:ext cx="7818120" cy="4233672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esearch Analytics 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57934"/>
            <a:ext cx="7909560" cy="44377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49640" y="1847088"/>
            <a:ext cx="29718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49640" y="1847088"/>
            <a:ext cx="73152" cy="841248"/>
          </a:xfrm>
          <a:prstGeom prst="rect">
            <a:avLst/>
          </a:prstGeom>
          <a:solidFill>
            <a:srgbClr val="2C914F"/>
          </a:solidFill>
          <a:ln>
            <a:solidFill>
              <a:srgbClr val="2C9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14232" y="196596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5C6978"/>
                </a:solidFill>
                <a:latin typeface="Aptos"/>
              </a:rPr>
              <a:t>RESEARCH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4232" y="2258568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0A1930"/>
                </a:solidFill>
                <a:latin typeface="Aptos"/>
              </a:rPr>
              <a:t>29.79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788920"/>
            <a:ext cx="29718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49640" y="2788920"/>
            <a:ext cx="73152" cy="841248"/>
          </a:xfrm>
          <a:prstGeom prst="rect">
            <a:avLst/>
          </a:prstGeom>
          <a:solidFill>
            <a:srgbClr val="2C914F"/>
          </a:solidFill>
          <a:ln>
            <a:solidFill>
              <a:srgbClr val="2C9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14232" y="2907791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5C6978"/>
                </a:solidFill>
                <a:latin typeface="Aptos"/>
              </a:rPr>
              <a:t>CITATIONS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3200400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0A1930"/>
                </a:solidFill>
                <a:latin typeface="Aptos"/>
              </a:rPr>
              <a:t>61.04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3730752"/>
            <a:ext cx="29718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49640" y="3730752"/>
            <a:ext cx="73152" cy="841248"/>
          </a:xfrm>
          <a:prstGeom prst="rect">
            <a:avLst/>
          </a:prstGeom>
          <a:solidFill>
            <a:srgbClr val="2C914F"/>
          </a:solidFill>
          <a:ln>
            <a:solidFill>
              <a:srgbClr val="2C9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14232" y="3849624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5C6978"/>
                </a:solidFill>
                <a:latin typeface="Aptos"/>
              </a:rPr>
              <a:t>STUDENT / STAFF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4142232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0A1930"/>
                </a:solidFill>
                <a:latin typeface="Aptos"/>
              </a:rPr>
              <a:t>17.63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4672584"/>
            <a:ext cx="29718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49640" y="4672584"/>
            <a:ext cx="73152" cy="841248"/>
          </a:xfrm>
          <a:prstGeom prst="rect">
            <a:avLst/>
          </a:prstGeom>
          <a:solidFill>
            <a:srgbClr val="2C914F"/>
          </a:solidFill>
          <a:ln>
            <a:solidFill>
              <a:srgbClr val="2C9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14232" y="4791456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5C6978"/>
                </a:solidFill>
                <a:latin typeface="Aptos"/>
              </a:rPr>
              <a:t>INTERNATIONAL STUDENTS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4232" y="5084064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0A1930"/>
                </a:solidFill>
                <a:latin typeface="Aptos"/>
              </a:rPr>
              <a:t>13.90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5623560"/>
            <a:ext cx="2971800" cy="457200"/>
          </a:xfrm>
          <a:prstGeom prst="roundRect">
            <a:avLst/>
          </a:prstGeom>
          <a:solidFill>
            <a:srgbClr val="E7F2FC"/>
          </a:solidFill>
          <a:ln>
            <a:solidFill>
              <a:srgbClr val="E7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0" y="5724144"/>
            <a:ext cx="26974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2C914F"/>
                </a:solidFill>
                <a:latin typeface="Aptos"/>
              </a:rPr>
              <a:t>WHAT TO NOTICE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6108192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Aptos"/>
              </a:rPr>
              <a:t>• Research score and citation views make research performance visible at university level.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EduVision_DV  •  Higher Education Intelligence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6B41AE"/>
                </a:solidFill>
                <a:latin typeface="Aptos"/>
              </a:rPr>
              <a:t>11 •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A1930"/>
                </a:solidFill>
                <a:latin typeface="Aptos"/>
              </a:rPr>
              <a:t>Students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5C6978"/>
                </a:solidFill>
                <a:latin typeface="Aptos"/>
              </a:rPr>
              <a:t>Student profile view covering enrollment scale, international participation, ratios and gender indicators.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10972800" cy="32004"/>
          </a:xfrm>
          <a:prstGeom prst="rect">
            <a:avLst/>
          </a:prstGeom>
          <a:solidFill>
            <a:srgbClr val="6B41AE"/>
          </a:solidFill>
          <a:ln>
            <a:solidFill>
              <a:srgbClr val="6B4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847088"/>
            <a:ext cx="7818120" cy="4233672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tudents Analytics 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63625"/>
            <a:ext cx="7982712" cy="443201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49640" y="1847088"/>
            <a:ext cx="29718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49640" y="1847088"/>
            <a:ext cx="73152" cy="841248"/>
          </a:xfrm>
          <a:prstGeom prst="rect">
            <a:avLst/>
          </a:prstGeom>
          <a:solidFill>
            <a:srgbClr val="6B41AE"/>
          </a:solidFill>
          <a:ln>
            <a:solidFill>
              <a:srgbClr val="6B4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14232" y="196596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5C6978"/>
                </a:solidFill>
                <a:latin typeface="Aptos"/>
              </a:rPr>
              <a:t>TOTAL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4232" y="2258568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0A1930"/>
                </a:solidFill>
                <a:latin typeface="Aptos"/>
              </a:rPr>
              <a:t>20.25M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788920"/>
            <a:ext cx="29718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49640" y="2788920"/>
            <a:ext cx="73152" cy="841248"/>
          </a:xfrm>
          <a:prstGeom prst="rect">
            <a:avLst/>
          </a:prstGeom>
          <a:solidFill>
            <a:srgbClr val="6B41AE"/>
          </a:solidFill>
          <a:ln>
            <a:solidFill>
              <a:srgbClr val="6B4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14232" y="2907791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5C6978"/>
                </a:solidFill>
                <a:latin typeface="Aptos"/>
              </a:rPr>
              <a:t>STUDENT / STAFF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3200400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0A1930"/>
                </a:solidFill>
                <a:latin typeface="Aptos"/>
              </a:rPr>
              <a:t>18.24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3730752"/>
            <a:ext cx="29718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49640" y="3730752"/>
            <a:ext cx="73152" cy="841248"/>
          </a:xfrm>
          <a:prstGeom prst="rect">
            <a:avLst/>
          </a:prstGeom>
          <a:solidFill>
            <a:srgbClr val="6B41AE"/>
          </a:solidFill>
          <a:ln>
            <a:solidFill>
              <a:srgbClr val="6B4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14232" y="3849624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5C6978"/>
                </a:solidFill>
                <a:latin typeface="Aptos"/>
              </a:rPr>
              <a:t>INTERNATIONAL STUDENTS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4142232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0A1930"/>
                </a:solidFill>
                <a:latin typeface="Aptos"/>
              </a:rPr>
              <a:t>13.73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4672584"/>
            <a:ext cx="29718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49640" y="4672584"/>
            <a:ext cx="73152" cy="841248"/>
          </a:xfrm>
          <a:prstGeom prst="rect">
            <a:avLst/>
          </a:prstGeom>
          <a:solidFill>
            <a:srgbClr val="6B41AE"/>
          </a:solidFill>
          <a:ln>
            <a:solidFill>
              <a:srgbClr val="6B4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14232" y="4791456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5C6978"/>
                </a:solidFill>
                <a:latin typeface="Aptos"/>
              </a:rPr>
              <a:t>FEMALE STUDENTS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4232" y="5084064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0A1930"/>
                </a:solidFill>
                <a:latin typeface="Aptos"/>
              </a:rPr>
              <a:t>52.18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5623560"/>
            <a:ext cx="2971800" cy="457200"/>
          </a:xfrm>
          <a:prstGeom prst="roundRect">
            <a:avLst/>
          </a:prstGeom>
          <a:solidFill>
            <a:srgbClr val="E7F2FC"/>
          </a:solidFill>
          <a:ln>
            <a:solidFill>
              <a:srgbClr val="E7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0" y="5724144"/>
            <a:ext cx="26974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6B41AE"/>
                </a:solidFill>
                <a:latin typeface="Aptos"/>
              </a:rPr>
              <a:t>WHAT TO NOTICE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6108192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Aptos"/>
              </a:rPr>
              <a:t>• The dashboard combines scale, participation and diversity measures in one 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EduVision_DV  •  Higher Education Intelligence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E0751C"/>
                </a:solidFill>
                <a:latin typeface="Aptos"/>
              </a:rPr>
              <a:t>12 •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A1930"/>
                </a:solidFill>
                <a:latin typeface="Aptos"/>
              </a:rPr>
              <a:t>Country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5C6978"/>
                </a:solidFill>
                <a:latin typeface="Aptos"/>
              </a:rPr>
              <a:t>Country-level education context connecting institutional analysis to the wider ecosystem.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10972800" cy="32004"/>
          </a:xfrm>
          <a:prstGeom prst="rect">
            <a:avLst/>
          </a:prstGeom>
          <a:solidFill>
            <a:srgbClr val="E0751C"/>
          </a:solidFill>
          <a:ln>
            <a:solidFill>
              <a:srgbClr val="E07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847088"/>
            <a:ext cx="7818120" cy="4233672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ountry Comparison 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33" y="1862854"/>
            <a:ext cx="7948507" cy="44327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49640" y="1847088"/>
            <a:ext cx="2971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49640" y="1847088"/>
            <a:ext cx="45720" cy="658368"/>
          </a:xfrm>
          <a:prstGeom prst="rect">
            <a:avLst/>
          </a:prstGeom>
          <a:solidFill>
            <a:srgbClr val="E0751C"/>
          </a:solidFill>
          <a:ln>
            <a:solidFill>
              <a:srgbClr val="E07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14232" y="1911096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dirty="0">
                <a:solidFill>
                  <a:srgbClr val="5C6978"/>
                </a:solidFill>
                <a:latin typeface="Aptos"/>
              </a:rPr>
              <a:t>EDUCATION EXPENDITURE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4232" y="2183130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dirty="0">
                <a:solidFill>
                  <a:srgbClr val="0A1930"/>
                </a:solidFill>
                <a:latin typeface="Aptos"/>
              </a:rPr>
              <a:t>3.18%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644902"/>
            <a:ext cx="2971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49640" y="2626614"/>
            <a:ext cx="45719" cy="658368"/>
          </a:xfrm>
          <a:prstGeom prst="rect">
            <a:avLst/>
          </a:prstGeom>
          <a:solidFill>
            <a:srgbClr val="E0751C"/>
          </a:solidFill>
          <a:ln>
            <a:solidFill>
              <a:srgbClr val="E07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3940" y="2649474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dirty="0">
                <a:solidFill>
                  <a:srgbClr val="5C6978"/>
                </a:solidFill>
                <a:latin typeface="Aptos"/>
              </a:rPr>
              <a:t>TERTIARY ENROLLMENT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2903220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dirty="0">
                <a:solidFill>
                  <a:srgbClr val="0A1930"/>
                </a:solidFill>
                <a:latin typeface="Aptos"/>
              </a:rPr>
              <a:t>27.68%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86216" y="3424428"/>
            <a:ext cx="2935224" cy="61722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49640" y="3429000"/>
            <a:ext cx="45720" cy="612648"/>
          </a:xfrm>
          <a:prstGeom prst="rect">
            <a:avLst/>
          </a:prstGeom>
          <a:solidFill>
            <a:srgbClr val="E0751C"/>
          </a:solidFill>
          <a:ln>
            <a:solidFill>
              <a:srgbClr val="E07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63940" y="3415284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dirty="0">
                <a:solidFill>
                  <a:srgbClr val="5C6978"/>
                </a:solidFill>
                <a:latin typeface="Aptos"/>
              </a:rPr>
              <a:t>ADULT LITERACY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0516" y="3675888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dirty="0">
                <a:solidFill>
                  <a:srgbClr val="0A1930"/>
                </a:solidFill>
                <a:latin typeface="Aptos"/>
              </a:rPr>
              <a:t>94.18%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4149090"/>
            <a:ext cx="2971800" cy="60579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49640" y="4149090"/>
            <a:ext cx="45720" cy="612648"/>
          </a:xfrm>
          <a:prstGeom prst="rect">
            <a:avLst/>
          </a:prstGeom>
          <a:solidFill>
            <a:srgbClr val="E0751C"/>
          </a:solidFill>
          <a:ln>
            <a:solidFill>
              <a:srgbClr val="E07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63940" y="4149090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dirty="0">
                <a:solidFill>
                  <a:srgbClr val="5C6978"/>
                </a:solidFill>
                <a:latin typeface="Aptos"/>
              </a:rPr>
              <a:t>PRIMARY COMPLETION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0516" y="4395978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dirty="0">
                <a:solidFill>
                  <a:srgbClr val="0A1930"/>
                </a:solidFill>
                <a:latin typeface="Aptos"/>
              </a:rPr>
              <a:t>105.7%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58" y="4875107"/>
            <a:ext cx="2971801" cy="604435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 flipH="1">
            <a:off x="8563356" y="4880271"/>
            <a:ext cx="45719" cy="555837"/>
          </a:xfrm>
          <a:prstGeom prst="rect">
            <a:avLst/>
          </a:prstGeom>
          <a:solidFill>
            <a:srgbClr val="E0751C"/>
          </a:solidFill>
          <a:ln>
            <a:solidFill>
              <a:srgbClr val="E07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63940" y="4862322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dirty="0">
                <a:solidFill>
                  <a:srgbClr val="5C6978"/>
                </a:solidFill>
                <a:latin typeface="Aptos"/>
              </a:rPr>
              <a:t>TERTIARY TEACHERS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4232" y="5119623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dirty="0">
                <a:solidFill>
                  <a:srgbClr val="0A1930"/>
                </a:solidFill>
                <a:latin typeface="Aptos"/>
              </a:rPr>
              <a:t>31,498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9640" y="5604933"/>
            <a:ext cx="3017520" cy="590127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549641" y="5588339"/>
            <a:ext cx="45719" cy="590127"/>
          </a:xfrm>
          <a:prstGeom prst="rect">
            <a:avLst/>
          </a:prstGeom>
          <a:solidFill>
            <a:srgbClr val="E0751C"/>
          </a:solidFill>
          <a:ln>
            <a:solidFill>
              <a:srgbClr val="E07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63940" y="5598075"/>
            <a:ext cx="2743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 dirty="0">
                <a:solidFill>
                  <a:srgbClr val="5C6978"/>
                </a:solidFill>
                <a:latin typeface="Aptos"/>
              </a:rPr>
              <a:t>GDP PER CAPITA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14232" y="5842677"/>
            <a:ext cx="274320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dirty="0">
                <a:solidFill>
                  <a:srgbClr val="0A1930"/>
                </a:solidFill>
                <a:latin typeface="Aptos"/>
              </a:rPr>
              <a:t>29,669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7977" y="6381325"/>
            <a:ext cx="2971800" cy="377615"/>
          </a:xfrm>
          <a:prstGeom prst="roundRect">
            <a:avLst/>
          </a:prstGeom>
          <a:solidFill>
            <a:srgbClr val="E7F2FC"/>
          </a:solidFill>
          <a:ln>
            <a:solidFill>
              <a:srgbClr val="E7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49793" y="6524244"/>
            <a:ext cx="26974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dirty="0">
                <a:solidFill>
                  <a:srgbClr val="E0751C"/>
                </a:solidFill>
                <a:latin typeface="Aptos"/>
              </a:rPr>
              <a:t>WHAT TO NOTICE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21593" y="6430433"/>
            <a:ext cx="28346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5C6978"/>
                </a:solidFill>
                <a:latin typeface="Aptos"/>
              </a:rPr>
              <a:t>• Country indicators provide context for access, investment and education-system capacity.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EduVision_DV  •  Higher Education Intelligence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45CA0"/>
                </a:solidFill>
                <a:latin typeface="Aptos"/>
              </a:rPr>
              <a:t>13 • ANALYTICAL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A1930"/>
                </a:solidFill>
                <a:latin typeface="Aptos"/>
              </a:rPr>
              <a:t>A presenter can move from headline KPI to supporting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5C6978"/>
                </a:solidFill>
                <a:latin typeface="Aptos"/>
              </a:rPr>
              <a:t>The dashboard suite is designed to tell a continuous story rather than four isolated screens.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10972800" cy="32004"/>
          </a:xfrm>
          <a:prstGeom prst="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2331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2423160"/>
            <a:ext cx="20116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145CA0"/>
                </a:solidFill>
                <a:latin typeface="Aptos"/>
              </a:rP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788920"/>
            <a:ext cx="20116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0A1930"/>
                </a:solidFill>
                <a:latin typeface="Aptos"/>
              </a:rPr>
              <a:t>University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401568"/>
            <a:ext cx="20116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Headline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2926080"/>
            <a:ext cx="3200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5C697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194560"/>
            <a:ext cx="2331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2423160"/>
            <a:ext cx="20116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2C914F"/>
                </a:solidFill>
                <a:latin typeface="Aptos"/>
              </a:rPr>
              <a:t>DRILL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788920"/>
            <a:ext cx="20116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0A1930"/>
                </a:solidFill>
                <a:latin typeface="Aptos"/>
              </a:rPr>
              <a:t>Research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3401568"/>
            <a:ext cx="20116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Research + citations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2926080"/>
            <a:ext cx="3200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5C6978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194560"/>
            <a:ext cx="2331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1" y="2423160"/>
            <a:ext cx="20116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6B41AE"/>
                </a:solidFill>
                <a:latin typeface="Aptos"/>
              </a:rPr>
              <a:t>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788920"/>
            <a:ext cx="20116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0A1930"/>
                </a:solidFill>
                <a:latin typeface="Aptos"/>
              </a:rPr>
              <a:t>Students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3401568"/>
            <a:ext cx="20116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Scale + participation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7" y="2926080"/>
            <a:ext cx="3200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5C6978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2194560"/>
            <a:ext cx="2331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17151" y="2423160"/>
            <a:ext cx="20116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E0751C"/>
                </a:solidFill>
                <a:latin typeface="Aptos"/>
              </a:rPr>
              <a:t>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1" y="2788920"/>
            <a:ext cx="20116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0A1930"/>
                </a:solidFill>
                <a:latin typeface="Aptos"/>
              </a:rPr>
              <a:t>Country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1" y="3401568"/>
            <a:ext cx="20116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System-level context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709160"/>
            <a:ext cx="10744200" cy="868680"/>
          </a:xfrm>
          <a:prstGeom prst="roundRect">
            <a:avLst/>
          </a:prstGeom>
          <a:solidFill>
            <a:srgbClr val="0A1930"/>
          </a:solidFill>
          <a:ln>
            <a:solidFill>
              <a:srgbClr val="0A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892040"/>
            <a:ext cx="1737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00A6D6"/>
                </a:solidFill>
                <a:latin typeface="Aptos"/>
              </a:rPr>
              <a:t>PRESENTATION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855464"/>
            <a:ext cx="81381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Question → KPI → supporting visual → comparison →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47104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EduVision_DV  •  Higher Education Intelligence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10847D"/>
                </a:solidFill>
                <a:latin typeface="Aptos"/>
              </a:rPr>
              <a:t>14 • DASHBOARD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A1930"/>
                </a:solidFill>
                <a:latin typeface="Aptos"/>
              </a:rPr>
              <a:t>What the completed views make easier to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5C6978"/>
                </a:solidFill>
                <a:latin typeface="Aptos"/>
              </a:rPr>
              <a:t>These are dashboard-level observations from the displayed measures — not causal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10972800" cy="32004"/>
          </a:xfrm>
          <a:prstGeom prst="rect">
            <a:avLst/>
          </a:prstGeom>
          <a:solidFill>
            <a:srgbClr val="10847D"/>
          </a:solidFill>
          <a:ln>
            <a:solidFill>
              <a:srgbClr val="108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82296" cy="749808"/>
          </a:xfrm>
          <a:prstGeom prst="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57984"/>
            <a:ext cx="21945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5CA0"/>
                </a:solidFill>
                <a:latin typeface="Aptos"/>
              </a:rPr>
              <a:t>RANKING &amp; REPUTATION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121408"/>
            <a:ext cx="78181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0A1930"/>
                </a:solidFill>
                <a:latin typeface="Aptos"/>
              </a:rPr>
              <a:t>The University Overview surfaces top-ranked institutions alongside academic reputation and internationalization measures.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971800"/>
            <a:ext cx="82296" cy="749808"/>
          </a:xfrm>
          <a:prstGeom prst="rect">
            <a:avLst/>
          </a:prstGeom>
          <a:solidFill>
            <a:srgbClr val="2C914F"/>
          </a:solidFill>
          <a:ln>
            <a:solidFill>
              <a:srgbClr val="2C9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118104"/>
            <a:ext cx="21945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2C914F"/>
                </a:solidFill>
                <a:latin typeface="Aptos"/>
              </a:rPr>
              <a:t>RESEARCH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081528"/>
            <a:ext cx="78181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0A1930"/>
                </a:solidFill>
                <a:latin typeface="Aptos"/>
              </a:rPr>
              <a:t>Research Analytics exposes separate research and citation scores, helping distinguish research strength from citation visibility.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82296" cy="749808"/>
          </a:xfrm>
          <a:prstGeom prst="rect">
            <a:avLst/>
          </a:prstGeom>
          <a:solidFill>
            <a:srgbClr val="6B41AE"/>
          </a:solidFill>
          <a:ln>
            <a:solidFill>
              <a:srgbClr val="6B4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078224"/>
            <a:ext cx="21945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6B41AE"/>
                </a:solidFill>
                <a:latin typeface="Aptos"/>
              </a:rPr>
              <a:t>STUDENT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041648"/>
            <a:ext cx="78181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0A1930"/>
                </a:solidFill>
                <a:latin typeface="Aptos"/>
              </a:rPr>
              <a:t>Students Analytics makes enrollment scale, international participation and student–staff ratios visible together.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9204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892040"/>
            <a:ext cx="82296" cy="749808"/>
          </a:xfrm>
          <a:prstGeom prst="rect">
            <a:avLst/>
          </a:prstGeom>
          <a:solidFill>
            <a:srgbClr val="E0751C"/>
          </a:solidFill>
          <a:ln>
            <a:solidFill>
              <a:srgbClr val="E07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038344"/>
            <a:ext cx="21945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E0751C"/>
                </a:solidFill>
                <a:latin typeface="Aptos"/>
              </a:rPr>
              <a:t>COUNTRY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001768"/>
            <a:ext cx="78181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0A1930"/>
                </a:solidFill>
                <a:latin typeface="Aptos"/>
              </a:rPr>
              <a:t>Country Comparison adds education spending, enrollment, literacy and economic context to the institutional story.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989320"/>
            <a:ext cx="10698480" cy="320040"/>
          </a:xfrm>
          <a:prstGeom prst="roundRect">
            <a:avLst/>
          </a:prstGeom>
          <a:solidFill>
            <a:srgbClr val="E8F8ED"/>
          </a:solidFill>
          <a:ln>
            <a:solidFill>
              <a:srgbClr val="E8F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6035040"/>
            <a:ext cx="1033272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0847D"/>
                </a:solidFill>
                <a:latin typeface="Aptos"/>
              </a:rPr>
              <a:t>The value is not one number — it is the ability to move between complementary measures.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EduVision_DV  •  Higher Education Intelligence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E0751C"/>
                </a:solidFill>
                <a:latin typeface="Aptos"/>
              </a:rPr>
              <a:t>15 • TESTING &amp;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A1930"/>
                </a:solidFill>
                <a:latin typeface="Aptos"/>
              </a:rPr>
              <a:t>Milestone 4: turning the dashboard into a reviewable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5C6978"/>
                </a:solidFill>
                <a:latin typeface="Aptos"/>
              </a:rPr>
              <a:t>QA covers KPI mapping, ranking logic, dashboard interaction, educational metrics and project documentation.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10972800" cy="32004"/>
          </a:xfrm>
          <a:prstGeom prst="rect">
            <a:avLst/>
          </a:prstGeom>
          <a:solidFill>
            <a:srgbClr val="E0751C"/>
          </a:solidFill>
          <a:ln>
            <a:solidFill>
              <a:srgbClr val="E07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07592" y="1901952"/>
            <a:ext cx="530352" cy="530352"/>
          </a:xfrm>
          <a:prstGeom prst="roundRect">
            <a:avLst/>
          </a:prstGeom>
          <a:solidFill>
            <a:srgbClr val="145CA0"/>
          </a:solidFill>
          <a:ln>
            <a:solidFill>
              <a:srgbClr val="14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07592" y="1938528"/>
            <a:ext cx="530352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70048"/>
            <a:ext cx="16916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A1930"/>
                </a:solidFill>
                <a:latin typeface="Aptos"/>
              </a:rPr>
              <a:t>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1691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5C6978"/>
                </a:solidFill>
                <a:latin typeface="Aptos"/>
              </a:rPr>
              <a:t>4 dashboards present
Packaged Tableau workbook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14884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47872" y="1901952"/>
            <a:ext cx="530352" cy="530352"/>
          </a:xfrm>
          <a:prstGeom prst="roundRect">
            <a:avLst/>
          </a:prstGeom>
          <a:solidFill>
            <a:srgbClr val="10847D"/>
          </a:solidFill>
          <a:ln>
            <a:solidFill>
              <a:srgbClr val="108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7872" y="1938528"/>
            <a:ext cx="530352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670048"/>
            <a:ext cx="16916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A1930"/>
                </a:solidFill>
                <a:latin typeface="Aptos"/>
              </a:rPr>
              <a:t>KPI QA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127248"/>
            <a:ext cx="1691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5C6978"/>
                </a:solidFill>
                <a:latin typeface="Aptos"/>
              </a:rPr>
              <a:t>Field-to-KPI mapping
Definitions documented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214884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88152" y="1901952"/>
            <a:ext cx="530352" cy="530352"/>
          </a:xfrm>
          <a:prstGeom prst="roundRect">
            <a:avLst/>
          </a:prstGeom>
          <a:solidFill>
            <a:srgbClr val="6B41AE"/>
          </a:solidFill>
          <a:ln>
            <a:solidFill>
              <a:srgbClr val="6B4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88152" y="1938528"/>
            <a:ext cx="530352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670048"/>
            <a:ext cx="16916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A1930"/>
                </a:solidFill>
                <a:latin typeface="Aptos"/>
              </a:rPr>
              <a:t>RANKING 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127248"/>
            <a:ext cx="1691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5C6978"/>
                </a:solidFill>
                <a:latin typeface="Aptos"/>
              </a:rPr>
              <a:t>Rank fields checked
Top-ranking views tested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14884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28431" y="1901952"/>
            <a:ext cx="530352" cy="530352"/>
          </a:xfrm>
          <a:prstGeom prst="roundRect">
            <a:avLst/>
          </a:prstGeom>
          <a:solidFill>
            <a:srgbClr val="E0751C"/>
          </a:solidFill>
          <a:ln>
            <a:solidFill>
              <a:srgbClr val="E07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28431" y="1938528"/>
            <a:ext cx="530352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670048"/>
            <a:ext cx="16916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A1930"/>
                </a:solidFill>
                <a:latin typeface="Aptos"/>
              </a:rPr>
              <a:t>INTERACTION QA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127248"/>
            <a:ext cx="1691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5C6978"/>
                </a:solidFill>
                <a:latin typeface="Aptos"/>
              </a:rPr>
              <a:t>Navigation verified
Filter behavior tested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214884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268712" y="1901952"/>
            <a:ext cx="530352" cy="530352"/>
          </a:xfrm>
          <a:prstGeom prst="roundRect">
            <a:avLst/>
          </a:prstGeom>
          <a:solidFill>
            <a:srgbClr val="2C914F"/>
          </a:solidFill>
          <a:ln>
            <a:solidFill>
              <a:srgbClr val="2C9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68712" y="1938528"/>
            <a:ext cx="530352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670048"/>
            <a:ext cx="16916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A1930"/>
                </a:solidFill>
                <a:latin typeface="Aptos"/>
              </a:rPr>
              <a:t>DOCUMENTATION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127248"/>
            <a:ext cx="16916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5C6978"/>
                </a:solidFill>
                <a:latin typeface="Aptos"/>
              </a:rPr>
              <a:t>Sources • methodology
Dashboard guide • QA report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480560"/>
            <a:ext cx="10835640" cy="1143000"/>
          </a:xfrm>
          <a:prstGeom prst="roundRect">
            <a:avLst/>
          </a:prstGeom>
          <a:solidFill>
            <a:srgbClr val="FDF1E2"/>
          </a:solidFill>
          <a:ln>
            <a:solidFill>
              <a:srgbClr val="FDF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2" y="4901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dirty="0">
                <a:solidFill>
                  <a:srgbClr val="E0751C"/>
                </a:solidFill>
                <a:latin typeface="Aptos"/>
              </a:rPr>
              <a:t>QA NOTE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48104" y="4843851"/>
            <a:ext cx="9144000" cy="30777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 dirty="0">
                <a:solidFill>
                  <a:srgbClr val="0A1930"/>
                </a:solidFill>
                <a:latin typeface="Aptos"/>
              </a:rPr>
              <a:t>Dashboard-wide visual selections can </a:t>
            </a:r>
            <a:r>
              <a:rPr lang="en-US" sz="1400" b="1" dirty="0">
                <a:solidFill>
                  <a:srgbClr val="0A1930"/>
                </a:solidFill>
                <a:latin typeface="Aptos"/>
              </a:rPr>
              <a:t>make</a:t>
            </a:r>
            <a:r>
              <a:rPr sz="1400" b="1" dirty="0">
                <a:solidFill>
                  <a:srgbClr val="0A1930"/>
                </a:solidFill>
                <a:latin typeface="Aptos"/>
              </a:rPr>
              <a:t> KPI cards in some interactions</a:t>
            </a:r>
            <a:r>
              <a:rPr lang="en-US" sz="1400" b="1" dirty="0">
                <a:solidFill>
                  <a:srgbClr val="0A1930"/>
                </a:solidFill>
                <a:latin typeface="Aptos"/>
              </a:rPr>
              <a:t>.</a:t>
            </a:r>
            <a:endParaRPr sz="1400" b="1" dirty="0">
              <a:solidFill>
                <a:srgbClr val="0A1930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4360" y="6547104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EduVision_DV  •  Higher Education Intelligence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2C914F"/>
                </a:solidFill>
                <a:latin typeface="Aptos"/>
              </a:rPr>
              <a:t>16 • FINAL PROJECT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0A1930"/>
                </a:solidFill>
                <a:latin typeface="Aptos"/>
              </a:rPr>
              <a:t>GitHub documentation + public dashboard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5C6978"/>
                </a:solidFill>
                <a:latin typeface="Aptos"/>
              </a:rPr>
              <a:t>The Final Project folder is intentionally small: the final presentation and the complete public dashboard link.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10972800" cy="32004"/>
          </a:xfrm>
          <a:prstGeom prst="rect">
            <a:avLst/>
          </a:prstGeom>
          <a:solidFill>
            <a:srgbClr val="2C914F"/>
          </a:solidFill>
          <a:ln>
            <a:solidFill>
              <a:srgbClr val="2C9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12080" cy="3291840"/>
          </a:xfrm>
          <a:prstGeom prst="roundRect">
            <a:avLst/>
          </a:prstGeom>
          <a:solidFill>
            <a:srgbClr val="0A1930"/>
          </a:solidFill>
          <a:ln>
            <a:solidFill>
              <a:srgbClr val="0A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00A6D6"/>
                </a:solidFill>
                <a:latin typeface="Aptos"/>
              </a:rPr>
              <a:t>GITHUB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5262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hlinkClick r:id="rId2"/>
              </a:rPr>
              <a:t>springboardmentor1234r/
Higher-Education-Intelligence-System-for-Institutional-Performance-and-Academic-Excellence-Analysis
/tree/Mohammad_Saad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57400"/>
            <a:ext cx="5349240" cy="3291840"/>
          </a:xfrm>
          <a:prstGeom prst="roundRect">
            <a:avLst/>
          </a:prstGeom>
          <a:solidFill>
            <a:srgbClr val="E7F2FC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23774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5CA0"/>
                </a:solidFill>
                <a:latin typeface="Aptos"/>
              </a:rPr>
              <a:t>TABLEAU 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34640"/>
            <a:ext cx="43891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 dirty="0">
                <a:solidFill>
                  <a:srgbClr val="0A1930"/>
                </a:solidFill>
                <a:latin typeface="Aptos"/>
              </a:rPr>
              <a:t>LIVE DASHBOARD LINK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5100" y="3428999"/>
            <a:ext cx="4663440" cy="1311277"/>
          </a:xfrm>
          <a:prstGeom prst="roundRect">
            <a:avLst/>
          </a:prstGeom>
          <a:solidFill>
            <a:srgbClr val="FFFFFF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6547104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5C6978"/>
                </a:solidFill>
                <a:latin typeface="Aptos"/>
              </a:rPr>
              <a:t>EduVision_DV  •  Higher Education Intelligence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8D9B17-5DA9-0F15-1113-D5AF20FC9616}"/>
              </a:ext>
            </a:extLst>
          </p:cNvPr>
          <p:cNvSpPr txBox="1"/>
          <p:nvPr/>
        </p:nvSpPr>
        <p:spPr>
          <a:xfrm>
            <a:off x="6652260" y="3551557"/>
            <a:ext cx="4389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hlinkClick r:id="rId3"/>
              </a:rPr>
              <a:t>https://public.tableau.com/app/profile/mohammad.saad.mohammad.sohrab/viz/EduVision_DV_17910379007560/UniversityOverview#1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9436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00A6D6"/>
                </a:solidFill>
                <a:latin typeface="Aptos"/>
              </a:rPr>
              <a:t>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96012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From Data → Insight →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57400"/>
            <a:ext cx="960120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0">
                <a:solidFill>
                  <a:srgbClr val="CDDCEB"/>
                </a:solidFill>
                <a:latin typeface="Aptos"/>
              </a:rPr>
              <a:t>EduVision_DV connects institutional performance, research evidence,
student profiles and country context in one analytical 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29000"/>
            <a:ext cx="3200400" cy="1188720"/>
          </a:xfrm>
          <a:prstGeom prst="roundRect">
            <a:avLst/>
          </a:prstGeom>
          <a:solidFill>
            <a:srgbClr val="122B48"/>
          </a:solidFill>
          <a:ln>
            <a:solidFill>
              <a:srgbClr val="28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675887"/>
            <a:ext cx="2880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45CA0"/>
                </a:solidFill>
                <a:latin typeface="Aptos"/>
              </a:rPr>
              <a:t>TRACEABLE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050791"/>
            <a:ext cx="288036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Source-faithful measures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429000"/>
            <a:ext cx="3200400" cy="1188720"/>
          </a:xfrm>
          <a:prstGeom prst="roundRect">
            <a:avLst/>
          </a:prstGeom>
          <a:solidFill>
            <a:srgbClr val="122B48"/>
          </a:solidFill>
          <a:ln>
            <a:solidFill>
              <a:srgbClr val="28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3675887"/>
            <a:ext cx="2880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2C914F"/>
                </a:solidFill>
                <a:latin typeface="Aptos"/>
              </a:rPr>
              <a:t>INTERCONNECTED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4050791"/>
            <a:ext cx="288036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Four dashboard perspectives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3429000"/>
            <a:ext cx="3200400" cy="1188720"/>
          </a:xfrm>
          <a:prstGeom prst="roundRect">
            <a:avLst/>
          </a:prstGeom>
          <a:solidFill>
            <a:srgbClr val="122B48"/>
          </a:solidFill>
          <a:ln>
            <a:solidFill>
              <a:srgbClr val="28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9872" y="3675887"/>
            <a:ext cx="28803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E0751C"/>
                </a:solidFill>
                <a:latin typeface="Aptos"/>
              </a:rPr>
              <a:t>PRESENTATION-READY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4050791"/>
            <a:ext cx="288036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Documented, testable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74920"/>
            <a:ext cx="27432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32120"/>
            <a:ext cx="41148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0">
                <a:solidFill>
                  <a:srgbClr val="B4CDE1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596128"/>
            <a:ext cx="50292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A0B9CD"/>
                </a:solidFill>
                <a:latin typeface="Aptos"/>
              </a:rPr>
              <a:t>Mohammad Saad  •  EduVision_DV  •  Final Internship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1530</Words>
  <Application>Microsoft Office PowerPoint</Application>
  <PresentationFormat>Widescreen</PresentationFormat>
  <Paragraphs>310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2026-10-03T15:19:53Z</dcterms:modified>
  <cp:category/>
</cp:coreProperties>
</file>