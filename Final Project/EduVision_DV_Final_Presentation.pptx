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3657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t>EduVision_DV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Higher Education Intelligence System for Institutional Performance and Academic Excellence Analysis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</a:defRPr>
            </a:pPr>
            <a:r>
              <a:t>INTERINSTITUTIONAL PERFORMANCE &amp; ACADEMIC EXCELLENCE ANALYTICS DASHBOARD</a:t>
            </a:r>
          </a:p>
          <a:p>
            <a:pPr>
              <a:spcBef>
                <a:spcPts val="2000"/>
              </a:spcBef>
              <a:defRPr sz="1300" b="1">
                <a:solidFill>
                  <a:srgbClr val="6366F1"/>
                </a:solidFill>
              </a:defRPr>
            </a:pPr>
            <a:r>
              <a:t>Presented by: Sonia Vinod | Data Visualization &amp; Analytics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Stack: Data Analytics &amp; Visual BI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Python &amp;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0116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Data Ingestion &amp; Loaders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Schema Standardization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Country ISO-3 Normalization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Missing Value Imputation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Math KPI Calculation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Tableau Desktop /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331720"/>
            <a:ext cx="20116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Interactive Multi-Dashboard Suite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Parameter Carry-Forward Actions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Choropleth Spatial Mapping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BAN Performance Cards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Published Web Dashboard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20116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Structured Milestone Folders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Branch Management (sonia_vinod)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Audit Trail Documentation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Version Control Traceability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Reproducible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Relational Warehousing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331720"/>
            <a:ext cx="20116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Star Schema Dimension Tables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Fact Performance Tables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JSON Serialization for Web UI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 Orphan Record Integrity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Optimized Query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Features of EduVision_DV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Global Institutional Benchmarking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Integrates 3,000+ universities across 115 countries from QS 2025, THE 2024, and WUR 2023.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Normalizes global rankings into a standardized 0–100 percentile score for objective cross-institution comparison.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Provides macro-regional aggregations and World Bank income-group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Multi-Dimensional KPI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Formulates 6 core education KPIs: Global Ranking Score, Research Impact, Faculty-Student Ratio, International Student %, Academic Reputation, and Research Productivity.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Applies bounded validation [0.0, 100.0] ensuring complete metric mathematical integrity.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Calculates composite research productivity combining volume and citation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Interlinked Multi-Dashboard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Delivers 4 dedicated dashboards: University Overview, Research Analytics, Student Analytics, and Country Comparison.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Features seamless parameter carry-forward filtering passing university and country selections.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Repaired raw `.twbx` XML schema resolving broken filter action 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Challenges Facing Institutional &amp; Academic Analytics in Higher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783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8BDF8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Data Inconsistency &amp; Schema Discrepancies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Disparate ranking methodologies, unaligned column definitions, and conflicting metrics across QS, THE, WUR, and World Bank EdStats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0" y="1783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8BDF8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2. Entity Resolution &amp; Relational Join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Inconsistent university name spellings and missing ISO country codes preventing relational star schema primary/foreign key table joins.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11479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8BDF8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3. Scale Disparities &amp; Missing Data Skew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63439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Unequal metric coverage and missing raw values across datasets requiring robust subgroup median imputation to prevent artificial global skew.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39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411479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8BDF8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4. Broken Cross-Dashboard Action Interlinking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63439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Initial Tableau workbook builds experienced XML filter action failures, losing parameter bindings during inter-dashboard navigation.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 Pipeline &amp; System 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38BDF8"/>
                </a:solidFill>
              </a:rPr>
              <a:t>•  Modular ETL Pipeline Architecture:</a:t>
            </a:r>
            <a:r>
              <a:rPr sz="1300">
                <a:solidFill>
                  <a:srgbClr val="94A3B8"/>
                </a:solidFill>
              </a:rPr>
              <a:t> Engineered 5 modular Python scripts (`01_data_loading.py` through `05_validation.py`) governing multi-source ingestion, cleaning, entity resolution, math KPI calculation, and automated quality checks.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38BDF8"/>
                </a:solidFill>
              </a:rPr>
              <a:t>•  Relational Star Schema Data Model:</a:t>
            </a:r>
            <a:r>
              <a:rPr sz="1300">
                <a:solidFill>
                  <a:srgbClr val="94A3B8"/>
                </a:solidFill>
              </a:rPr>
              <a:t> Restructured flat files into optimized dimension (`dim_university`, `dim_country`) and fact tables (`fact_university_performance`, `fact_student`, `fact_research`, `fact_country_education`) ensuring 100% referential integrity.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38BDF8"/>
                </a:solidFill>
              </a:rPr>
              <a:t>•  Automated QA &amp; Validation Engine:</a:t>
            </a:r>
            <a:r>
              <a:rPr sz="1300">
                <a:solidFill>
                  <a:srgbClr val="94A3B8"/>
                </a:solidFill>
              </a:rPr>
              <a:t> Executed automated test suites verifying primary key uniqueness, zero orphan foreign keys, bounded score constraints [0, 100], and zero-null target KPI summaries.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38BDF8"/>
                </a:solidFill>
              </a:rPr>
              <a:t>•  Dual Tableau &amp; Web BI Deployment:</a:t>
            </a:r>
            <a:r>
              <a:rPr sz="1300">
                <a:solidFill>
                  <a:srgbClr val="94A3B8"/>
                </a:solidFill>
              </a:rPr>
              <a:t> Packaged an XML-repaired `.twbx` workbook alongside an interactive HTML5/Chart.js web dashboard suite (`index.html` + `dashboard_data.json`).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Challenges and Solutions in EduVision_DV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783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8BDF8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Entity Matching &amp; ISO Standardization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Challenge: Country names &amp; university titles differed across datasets.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Solution: Applied ISO-3 country lookup tables and fuzzy string matching in `03_standardization.py`, resolving 100% of entity joins.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0" y="1783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8BDF8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2. Subgroup Median Imputation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Challenge: Missing values skew global institutional benchmarks.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Solution: Imputed missing indicators using regional and ranking tier medians, preserving metric distribution integrity.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11479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8BDF8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3. Relational Star Schema Restructuring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63439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Challenge: Unorganized flat CSVs created redundant storage &amp; slow filtering.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Solution: Normalised data into clean dimension and fact tables, boosting query efficiency and Tableau responsiveness.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39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411479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8BDF8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4. Tableau XML Filter Action Repair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63439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Challenge: Inter-dashboard filter actions broke upon workbook reload.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Solution: Unpacked `.twbx` XML schema, hand-edited `&lt;actions&gt;` nodes and parameter bindings, restoring 100% action fidelity.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Measurable Outcomes and Institutional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100% Data Quality &amp;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Successfully processed 3,000+ universities across 115 countries.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Verified 100% primary key uniqueness and zero orphan foreign key records across all fact tables.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Achieved 0.0% null rate across core calculated KPI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6 Validated Core Education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Engineered Global Ranking Score, Research Impact, Faculty-Student Ratio Index, Intl Student %, Academic Reputation, and Research Productivity.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Enforced strict mathematical bounding [0.0, 100.0] across composite metrics.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Provided transparent formulas in `kpi_definitions_and_formulas.md`.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4 Live Interlinked Dashboards 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Constructed University Overview, Research Analytics, Student Analytics, and Country Comparison dashboards.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Fixed Tableau XML action bugs ensuring seamless cross-dashboard parameter carry-forward.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Successfully published live interactive workbook on Tableau Public.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EduVision_DV Dashboard Suite &amp; Visual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UNIVERSITY OVERVIEW</a:t>
            </a:r>
          </a:p>
        </p:txBody>
      </p:sp>
      <p:pic>
        <p:nvPicPr>
          <p:cNvPr id="7" name="Picture 6" descr="dashboard_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1952"/>
            <a:ext cx="5029200" cy="2148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645920"/>
            <a:ext cx="52120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642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RESEARCH ANALYTICS</a:t>
            </a:r>
          </a:p>
        </p:txBody>
      </p:sp>
      <p:pic>
        <p:nvPicPr>
          <p:cNvPr id="10" name="Picture 9" descr="dashboard_2_re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01952"/>
            <a:ext cx="5029200" cy="2148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023360"/>
            <a:ext cx="52120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4164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STUDENT ANALYTICS</a:t>
            </a:r>
          </a:p>
        </p:txBody>
      </p:sp>
      <p:pic>
        <p:nvPicPr>
          <p:cNvPr id="13" name="Picture 12" descr="dashboard_3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79392"/>
            <a:ext cx="5029200" cy="2148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17920" y="4023360"/>
            <a:ext cx="52120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4164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COUNTRY COMPARISON</a:t>
            </a:r>
          </a:p>
        </p:txBody>
      </p:sp>
      <p:pic>
        <p:nvPicPr>
          <p:cNvPr id="16" name="Picture 15" descr="dashboard_4_coun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279392"/>
            <a:ext cx="502920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Dashboard Interlinking &amp; Navigation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Executive Overview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Academic planners initiate analysis on Dashboard 1 (University Overview).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Selecting a specific institution or country triggers a interactive filter event.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Captures `[university_id]` and `[country_id]` parameter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2. Parameter Carry-Forward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Tableau Filter Actions automatically pass selected parameters across workbook tabs.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XML-patched action mappings prevent sheet binding drops or reset state errors.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Ensures global filter synchronization across all destination worksheets.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3. Contextual Drill-Down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User transitions seamlessly to Research Analytics or Student Analytics dashboards.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Destination views instantly display pre-filtered, granular institutional metrics.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Provides friction-free exploration from macro trends to micro institution details.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Future Enhancements for EduVision_DV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Upstream Region Field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Incorporate explicit geographic region and sub-region taxonomies directly within `02_data_cleaning.py`.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Eliminates late-stage region mapping logic and enhances cross-regional comparison efficiency.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Enables macro-continental benchmarking across European, Asian, and Pan-American institutions.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Multi-Year Longitudinal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Expand dataset temporal span to encompass 10-year longitudinal ranking trajectories (2015–2025).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Build predictive machine learning models forecasting institutional rank shifts.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Analyze post-pandemic academic recovery trends across global university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645920"/>
            <a:ext cx="332841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828800"/>
            <a:ext cx="2871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Income-Tier Economic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331720"/>
            <a:ext cx="2871216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Integrate World Bank income-group classification tiers (High Income, Upper Middle, Lower Middle).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Correlate tertiary education expenditure as % of GDP against institutional citation impact.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Evaluate return-on-investment (ROI) in public higher education funding.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Contributor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761969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920240"/>
            <a:ext cx="7071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Sonia Vinod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Data Visualization &amp; Analytics Intern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 Project Scope: End-to-end data pipeline engineering, relational star schema design, KPI formulation, Tableau dashboard development, XML bug fixing, and QA testing.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 Repository Branch: `sonia_vinod`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 Milestones Completed: Milestone 1 (Ingestion), Milestone 2 (KPIs), Milestone 3 (Dashboards), Milestone 4 (Testing &amp; QA), Final Project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EDUVISION_DV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Interactive Dashboard &amp; Project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88998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Public Tableau Dashboard Link</a:t>
            </a:r>
          </a:p>
          <a:p>
            <a:pPr>
              <a:spcBef>
                <a:spcPts val="800"/>
              </a:spcBef>
              <a:defRPr sz="1200" b="1">
                <a:solidFill>
                  <a:srgbClr val="6366F1"/>
                </a:solidFill>
              </a:defRPr>
            </a:pPr>
            <a:r>
              <a:t>https://public.tableau.com/views/EduVision_DV/CountryComparison?:language=en-US&amp;:sid=&amp;:redirect=auth&amp;:display_count=n&amp;:origin=viz_share_link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•  Live Web Analytics Suite:</a:t>
            </a:r>
            <a:r>
              <a:rPr sz="1300">
                <a:solidFill>
                  <a:srgbClr val="94A3B8"/>
                </a:solidFill>
              </a:rPr>
              <a:t> Fully interactive 4-dashboard suite deployed on Tableau Public featuring real-time country &amp; university parameter actions.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•  GitHub Repository Submission:</a:t>
            </a:r>
            <a:r>
              <a:rPr sz="1300">
                <a:solidFill>
                  <a:srgbClr val="94A3B8"/>
                </a:solidFill>
              </a:rPr>
              <a:t> Branch `sonia_vinod` containing 5 structured milestone folders, ETL scripts, star schema data models, XML technical reports, and QA checklists.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•  Local Web Application:</a:t>
            </a:r>
            <a:r>
              <a:rPr sz="1300">
                <a:solidFill>
                  <a:srgbClr val="94A3B8"/>
                </a:solidFill>
              </a:rPr>
              <a:t> Responsive HTML5/JS dashboard standalone viewer located at `Milestone 3/dashboard/index.html`.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Q &amp; A</a:t>
            </a:r>
          </a:p>
          <a:p>
            <a:pPr algn="ctr">
              <a:spcBef>
                <a:spcPts val="1500"/>
              </a:spcBef>
              <a:defRPr sz="2000">
                <a:solidFill>
                  <a:srgbClr val="94A3B8"/>
                </a:solidFill>
              </a:defRPr>
            </a:pPr>
            <a:r>
              <a:t>Questions &amp; Technical Discussion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Thank You</a:t>
            </a:r>
          </a:p>
          <a:p>
            <a:pPr algn="ctr">
              <a:spcBef>
                <a:spcPts val="1500"/>
              </a:spcBef>
              <a:defRPr sz="2000">
                <a:solidFill>
                  <a:srgbClr val="F8FAFC"/>
                </a:solidFill>
              </a:defRPr>
            </a:pPr>
            <a:r>
              <a:t>EduVision_DV — Higher Education Intelligence System</a:t>
            </a:r>
          </a:p>
          <a:p>
            <a:pPr algn="ctr">
              <a:spcBef>
                <a:spcPts val="1000"/>
              </a:spcBef>
              <a:defRPr sz="1400">
                <a:solidFill>
                  <a:srgbClr val="6366F1"/>
                </a:solidFill>
              </a:defRPr>
            </a:pPr>
            <a:r>
              <a:t>Presented by Sonia Vinod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