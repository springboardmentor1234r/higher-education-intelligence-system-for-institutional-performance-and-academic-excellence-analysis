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38BDF8"/>
                </a:solidFill>
              </a:defRPr>
            </a:pPr>
            <a:r>
              <a:t>EduVision_DV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Higher Education Intelligence System</a:t>
            </a:r>
          </a:p>
          <a:p>
            <a:pPr>
              <a:defRPr sz="1800">
                <a:solidFill>
                  <a:srgbClr val="2DD4BF"/>
                </a:solidFill>
              </a:defRPr>
            </a:pPr>
            <a:r>
              <a:t>Institutional Performance, Research Impact &amp; Academic Excellence Analytics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Unified Interactive Tableau Dashboard Suite | Complete Project Documentation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029200"/>
            <a:ext cx="1033272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Author: Chaitanya | Higher Education Performance &amp; Data Visualization Track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Datasets: QS World Rankings 2025 • THE World Rankings 2024 • WUR 2023 • World Bank EdStats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Statement &amp;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The Challenge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Global university ranking data is fragmented across distinct rating agencies (QS, THE, WUR), each utilizing disparate methodologies, metric scales, and naming conventions. Academic decision-makers lack an integrated cross-comparison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DD4BF"/>
                </a:solidFill>
              </a:defRPr>
            </a:pPr>
            <a:r>
              <a:t>The Solution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An enterprise-grade, four-dashboard analytical suite (University Overview, Research Analytics, Student Analytics, Country Comparison) providing harmonized data models, custom KPIs, and cross-dashboard interactive filtering.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Core Deliverables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Unified Tableau Workbook (EduVision_DV.twbx &amp; Book2.twb)</a:t>
            </a:r>
            <a:br/>
            <a:r>
              <a:t>• 6 Standardized Higher Education KPIs</a:t>
            </a:r>
            <a:br/>
            <a:r>
              <a:t>• Star Schema Relational Data Pipeline</a:t>
            </a:r>
            <a:br/>
            <a:r>
              <a:t>• 4 Connected Interactive 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Dataset Strategy &amp; Star Schema Data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QS World Rankings 2025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1,503 institutions across 105 countries. Primary driver for Overall Rank, Academic Reputation, Citations per Faculty, and International Faculty.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6984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DD4BF"/>
                </a:solidFill>
              </a:defRPr>
            </a:pPr>
            <a:r>
              <a:t>THE World Rankings 2024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Complementary research, teaching, international outlook, and citations metrics across global top research centers.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BBF24"/>
                </a:solidFill>
              </a:defRPr>
            </a:pPr>
            <a:r>
              <a:t>WUR 2023 Dataset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Detailed student demographics, total enrolled student volume, student-to-staff ratios, and gender balance ratios.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6984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World Bank EdStats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Macro-level national educational expenditure, tertiary completion, and demographic country benchmarking.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Higher Education Key Performance Indicators (KPIs)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KPI 1: Global Ranking Score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QS Overall Score (0–100 scale) benchmarking institutional academic and employer excellence.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DD4BF"/>
                </a:solidFill>
              </a:defRPr>
            </a:pPr>
            <a:r>
              <a:t>KPI 2: Research Impact Score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Normalized citation frequency per faculty member reflecting global scholarly influence.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63040"/>
            <a:ext cx="347472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BBF24"/>
                </a:solidFill>
              </a:defRPr>
            </a:pPr>
            <a:r>
              <a:t>KPI 3: Faculty-to-Student Ratio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Actual student enrollment divided by academic teaching staff (e.g. 1 : 17.3).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47472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KPI 4: International Student %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Percentage share of international students enrolled across the university body.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840480"/>
            <a:ext cx="347472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DD4BF"/>
                </a:solidFill>
              </a:defRPr>
            </a:pPr>
            <a:r>
              <a:t>KPI 5: Academic Reputation Score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Global peer survey evaluation reflecting academic standing across 100,000+ respondents.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840480"/>
            <a:ext cx="347472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BBF24"/>
                </a:solidFill>
              </a:defRPr>
            </a:pPr>
            <a:r>
              <a:t>KPI 6: Research Productivity Index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Composite normalized index synthesizing publication volume, citation impact, and collaboration.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Dashboard 1: University Overview</a:t>
            </a:r>
          </a:p>
        </p:txBody>
      </p:sp>
      <p:pic>
        <p:nvPicPr>
          <p:cNvPr id="5" name="Picture 4" descr="dashboard_1_universit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36382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463040"/>
            <a:ext cx="39319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Landing &amp; Institutional Benchmark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Top Universities by Overall Score: Horizontal ranking chart with descending score bars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Universities by Country: Geographic distribution of world-ranked institutions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Academic Reputation vs. Score: Correlation scatter plot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4 Executive KPI Cards: Global Rank (1), University Count, Average Score, Academic Reputation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Interactivity: Selecting any university isolates metrics; country filter updates institutional ranking instantly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Dashboard 2: Research Analytics</a:t>
            </a:r>
          </a:p>
        </p:txBody>
      </p:sp>
      <p:pic>
        <p:nvPicPr>
          <p:cNvPr id="5" name="Picture 4" descr="dashboard_2_research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38642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463040"/>
            <a:ext cx="39319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Executive Tri-Panel Bar Layout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Tri-Panel Layout: 1) QS Research Impact, 2) QS Citations per Faculty, 3) Research Productivity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New Bar Chart: Dedicated QS Citations per Faculty replaces legacy single-point scatter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Single-University Enlargement: Clicking any university displays that university ONLY across the other two bar charts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Entire View Zoom: Selected single bar expands/enlarges to fill full chart container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Constant KPI Colors: Solid #ffffff white styling prevents mark dimming/fading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Dashboard 3: Student Analytics</a:t>
            </a:r>
          </a:p>
        </p:txBody>
      </p:sp>
      <p:pic>
        <p:nvPicPr>
          <p:cNvPr id="5" name="Picture 4" descr="dashboard_3_studen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1705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463040"/>
            <a:ext cx="39319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Demographics &amp; Faculty Ratios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International Students Score: Global distribution of international scholar attraction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Total Enrollment by Country (Top 10): Country-level student volume distribution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Faculty-to-Student Ratio: Teaching capacity across global elite universities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Fixed Responsiveness: Student Distribution responds bi-directionally to all filter actions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Context Filters: [Action (Country)] context='true' guarantees zero blank charts on country clicks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Dashboard 4: Country Comparison</a:t>
            </a:r>
          </a:p>
        </p:txBody>
      </p:sp>
      <p:pic>
        <p:nvPicPr>
          <p:cNvPr id="5" name="Picture 4" descr="dashboard_4_countr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37415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463040"/>
            <a:ext cx="39319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National Education Benchmarking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4 Benchmarking Charts: Universities by Country, Country Ranking Comparison, Research Performance, International Students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Single-Country Isolation: Clicking ANY country updates all other 3 charts to show that country ONLY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Dynamic KPI Re-aggregation: 4 national KPIs (Countries Ranked = 1, Institutions Count, National Avg Score, Research Impact)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Context Pipeline: Context filters prevent empty/blank states during selection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Cross-National Comparison: Benchmark national performance against global peers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Navigation Alignment &amp; Tableau DTD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Mathematical Navigation Alignment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Identical 4-button header across all 4 dashboards:</a:t>
            </a:r>
            <a:br/>
            <a:br/>
            <a:r>
              <a:t>• OVERVIEW: x = 586, w = 24,743</a:t>
            </a:r>
            <a:br/>
            <a:r>
              <a:t>• RESEARCH: x = 25,329, w = 24,744</a:t>
            </a:r>
            <a:br/>
            <a:r>
              <a:t>• STUDENTS: x = 50,073, w = 24,671</a:t>
            </a:r>
            <a:br/>
            <a:r>
              <a:t>• COUNTRIES: x = 74,744, w = 24,670</a:t>
            </a:r>
            <a:br/>
            <a:br/>
            <a:r>
              <a:t>Total Width = 98,828 (Seamless span with exact button heights and active-state styling)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Strict Tableau DTD Schema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Strict Tag Order: &lt;view&gt; children ordered in exact DTD sequence (datasources -&gt; mapsources -&gt; deps -&gt; filter -&gt; sort -&gt; perspectives -&gt; shelf-sorts -&gt; slices -&gt; agg)</a:t>
            </a:r>
            <a:br/>
            <a:br/>
            <a:r>
              <a:t>• Viewpoints Container: Direct window &lt;viewpoint&gt; tags nested inside &lt;viewpoints&gt;, eliminating error D2E8DA72</a:t>
            </a:r>
            <a:br/>
            <a:br/>
            <a:r>
              <a:t>• Simple-ID Placement: Conforms to ((cards,viewpoint?,simple-id)|(viewpoints,active,device-preview,simple-id))</a:t>
            </a:r>
            <a:br/>
            <a:br/>
            <a:r>
              <a:t>• Validation: 100% Passed with 0 schema 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Summary &amp; Project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Complete Milestone Verification &amp; Deliverables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✓ Milestone 1: Data Collection &amp; Preparation (QS 2025, THE 2024, WUR 2023 raw and cleaned datasets, data_collection.py, cleaning notebook)</a:t>
            </a:r>
            <a:br/>
            <a:r>
              <a:t>✓ Milestone 2: KPI Engineering &amp; Prototyping (6 KPIs, generate_education_kpis.py, university_final_dataset.xlsx, storyboard PDF)</a:t>
            </a:r>
            <a:br/>
            <a:r>
              <a:t>✓ Milestone 3: Dashboard Development (EduVision_DV.twbx &amp; Book2.twb with 4 interlinked dashboards and executive tri-panel research layout)</a:t>
            </a:r>
            <a:br/>
            <a:r>
              <a:t>✓ Milestone 4: Quality Assurance &amp; Delivery (QA Checklist, Testing Report, XML DTD Schema Validation, Constant KPI Colors)</a:t>
            </a:r>
            <a:br/>
            <a:r>
              <a:t>✓ Final Project: Complete Executive Presentation PPT &amp; Interactive Tableau Dashboard Link</a:t>
            </a:r>
            <a:br/>
            <a:br/>
            <a:r>
              <a:t>Interactive Dashboard: Milestone 3/Module 6/EduVision_DV.twbx &amp; Book2.twb</a:t>
            </a:r>
            <a:br/>
            <a:r>
              <a:t>GitHub Branch: chaitanya/milestone-1-2-3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