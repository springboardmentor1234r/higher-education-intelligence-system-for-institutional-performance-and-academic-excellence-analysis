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ublic.tableau.com/app/profile/kurapalli.sharmila/viz/EduVision_DV_17913698181990/UniversityOverview" TargetMode="External"/><Relationship Id="rId3" Type="http://schemas.openxmlformats.org/officeDocument/2006/relationships/hyperlink" Target="https://public.tableau.com/app/profile/kurapalli.sharmila/viz/EduVision_DV_17913698181990/ResearchAnalytics" TargetMode="External"/><Relationship Id="rId4" Type="http://schemas.openxmlformats.org/officeDocument/2006/relationships/hyperlink" Target="https://public.tableau.com/app/profile/kurapalli.sharmila/viz/EduVision_DV_17913698181990/StudentAnalytics" TargetMode="External"/><Relationship Id="rId5" Type="http://schemas.openxmlformats.org/officeDocument/2006/relationships/hyperlink" Target="https://public.tableau.com/app/profile/kurapalli.sharmila/viz/EduVision_DV_17913698181990/CountryComparis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INFOSYS SPRINGBOARD VIRTUAL INTERNSHIP 7.0 · BATCH 3 ·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EduVision_DV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796BFF"/>
                </a:solidFill>
                <a:latin typeface="Arial"/>
              </a:defRPr>
            </a:pPr>
            <a:r>
              <a:t>Higher Education Intelligence System for Institutional Performance &amp; Academic Excellence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2D1EB"/>
                </a:solidFill>
                <a:latin typeface="Arial"/>
              </a:defRPr>
            </a:pPr>
            <a:r>
              <a:t>An executive business intelligence suite integrating QS World University Rankings 2025 and Times Higher Education (THE) datasets across four interactive Tableau Desktop dashboards.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1664208" cy="1463040"/>
          </a:xfrm>
          <a:prstGeom prst="roundRect">
            <a:avLst/>
          </a:prstGeom>
          <a:solidFill>
            <a:srgbClr val="101740"/>
          </a:solidFill>
          <a:ln w="1905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78807"/>
            <a:ext cx="1664208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55D0FA"/>
                </a:solidFill>
                <a:latin typeface="Arial"/>
              </a:defRPr>
            </a:pPr>
            <a:r>
              <a:t>1,503</a:t>
            </a:r>
          </a:p>
          <a:p>
            <a:pPr algn="ctr">
              <a:defRPr sz="1000">
                <a:solidFill>
                  <a:srgbClr val="D2D1EB"/>
                </a:solidFill>
                <a:latin typeface="Arial"/>
              </a:defRPr>
            </a:pPr>
            <a:r>
              <a:t>Institutions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3977639"/>
            <a:ext cx="1664208" cy="1463040"/>
          </a:xfrm>
          <a:prstGeom prst="roundRect">
            <a:avLst/>
          </a:prstGeom>
          <a:solidFill>
            <a:srgbClr val="101740"/>
          </a:solidFill>
          <a:ln w="1905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4178807"/>
            <a:ext cx="1664208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796BFF"/>
                </a:solidFill>
                <a:latin typeface="Arial"/>
              </a:defRPr>
            </a:pPr>
            <a:r>
              <a:t>106</a:t>
            </a:r>
          </a:p>
          <a:p>
            <a:pPr algn="ctr">
              <a:defRPr sz="1000">
                <a:solidFill>
                  <a:srgbClr val="D2D1EB"/>
                </a:solidFill>
                <a:latin typeface="Arial"/>
              </a:defRPr>
            </a:pPr>
            <a:r>
              <a:t>Countries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3977639"/>
            <a:ext cx="1664208" cy="1463040"/>
          </a:xfrm>
          <a:prstGeom prst="roundRect">
            <a:avLst/>
          </a:prstGeom>
          <a:solidFill>
            <a:srgbClr val="101740"/>
          </a:solidFill>
          <a:ln w="1905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4178807"/>
            <a:ext cx="1664208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2BCA81"/>
                </a:solidFill>
                <a:latin typeface="Arial"/>
              </a:defRPr>
            </a:pPr>
            <a:r>
              <a:t>195</a:t>
            </a:r>
          </a:p>
          <a:p>
            <a:pPr algn="ctr">
              <a:defRPr sz="1000">
                <a:solidFill>
                  <a:srgbClr val="D2D1EB"/>
                </a:solidFill>
                <a:latin typeface="Arial"/>
              </a:defRPr>
            </a:pPr>
            <a:r>
              <a:t>Matched Cohort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3977639"/>
            <a:ext cx="1664208" cy="1463040"/>
          </a:xfrm>
          <a:prstGeom prst="roundRect">
            <a:avLst/>
          </a:prstGeom>
          <a:solidFill>
            <a:srgbClr val="101740"/>
          </a:solidFill>
          <a:ln w="19050">
            <a:solidFill>
              <a:srgbClr val="C8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4178807"/>
            <a:ext cx="1664208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9F1C"/>
                </a:solidFill>
                <a:latin typeface="Arial"/>
              </a:defRPr>
            </a:pPr>
            <a:r>
              <a:t>6</a:t>
            </a:r>
          </a:p>
          <a:p>
            <a:pPr algn="ctr">
              <a:defRPr sz="1000">
                <a:solidFill>
                  <a:srgbClr val="D2D1EB"/>
                </a:solidFill>
                <a:latin typeface="Arial"/>
              </a:defRPr>
            </a:pPr>
            <a:r>
              <a:t>Core KPIs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977639"/>
            <a:ext cx="1664208" cy="1463040"/>
          </a:xfrm>
          <a:prstGeom prst="roundRect">
            <a:avLst/>
          </a:prstGeom>
          <a:solidFill>
            <a:srgbClr val="101740"/>
          </a:solidFill>
          <a:ln w="1905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4178807"/>
            <a:ext cx="1664208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55D0FA"/>
                </a:solidFill>
                <a:latin typeface="Arial"/>
              </a:defRPr>
            </a:pPr>
            <a:r>
              <a:t>4</a:t>
            </a:r>
          </a:p>
          <a:p>
            <a:pPr algn="ctr">
              <a:defRPr sz="1000">
                <a:solidFill>
                  <a:srgbClr val="D2D1EB"/>
                </a:solidFill>
                <a:latin typeface="Arial"/>
              </a:defRPr>
            </a:pPr>
            <a:r>
              <a:t>Dashboards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3977639"/>
            <a:ext cx="1664208" cy="1463040"/>
          </a:xfrm>
          <a:prstGeom prst="roundRect">
            <a:avLst/>
          </a:prstGeom>
          <a:solidFill>
            <a:srgbClr val="101740"/>
          </a:solidFill>
          <a:ln w="1905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4178807"/>
            <a:ext cx="1664208" cy="10607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796BFF"/>
                </a:solidFill>
                <a:latin typeface="Arial"/>
              </a:defRPr>
            </a:pPr>
            <a:r>
              <a:t>24</a:t>
            </a:r>
          </a:p>
          <a:p>
            <a:pPr algn="ctr">
              <a:defRPr sz="1000">
                <a:solidFill>
                  <a:srgbClr val="D2D1EB"/>
                </a:solidFill>
                <a:latin typeface="Arial"/>
              </a:defRPr>
            </a:pPr>
            <a:r>
              <a:t>Worksheets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Project Contributor: Kurapalli Sharmila  ·  Domain: Higher Education Analytics &amp; Visual BI  ·  Tableau Desktop 2026.2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CONTEXT &amp;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Problem Statement: Fragmented Higher Education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Higher education ranking data is distributed across incompatible league tables, preventing unified strategic decision-making.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C8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3529584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INDUSTRY CHALLENGE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Diagnostic Overview</a:t>
            </a:r>
          </a:p>
          <a:p>
            <a:pPr>
              <a:spcAft>
                <a:spcPts val="350"/>
              </a:spcAft>
              <a:defRPr sz="1019" b="1">
                <a:solidFill>
                  <a:srgbClr val="FFFFFF"/>
                </a:solidFill>
                <a:latin typeface="Arial"/>
              </a:defRPr>
            </a:pPr>
            <a:r>
              <a:t>The Higher Education Visibility Gap</a:t>
            </a:r>
          </a:p>
          <a:p>
            <a:pPr>
              <a:spcAft>
                <a:spcPts val="600"/>
              </a:spcAft>
              <a:defRPr sz="1019">
                <a:solidFill>
                  <a:srgbClr val="D2D1EB"/>
                </a:solidFill>
                <a:latin typeface="Arial"/>
              </a:defRPr>
            </a:pPr>
            <a:r>
              <a:t>• 1,503 institutions across 106 nations require cohesive decision intelligence, yet fragmented ranking systems obscure institutional truth.</a:t>
            </a:r>
          </a:p>
          <a:p>
            <a:pPr>
              <a:spcAft>
                <a:spcPts val="600"/>
              </a:spcAft>
              <a:defRPr sz="1019">
                <a:solidFill>
                  <a:srgbClr val="D2D1EB"/>
                </a:solidFill>
                <a:latin typeface="Arial"/>
              </a:defRPr>
            </a:pPr>
            <a:r>
              <a:t>• Academic leadership, national ministries, and prospective students cannot cross-evaluate teaching capacity, research impact, and reputation from single league tables.</a:t>
            </a:r>
          </a:p>
          <a:p>
            <a:pPr>
              <a:spcAft>
                <a:spcPts val="600"/>
              </a:spcAft>
              <a:defRPr sz="1019">
                <a:solidFill>
                  <a:srgbClr val="D2D1EB"/>
                </a:solidFill>
                <a:latin typeface="Arial"/>
              </a:defRPr>
            </a:pPr>
            <a:r>
              <a:t>• EduVision_DV addresses this structural void by creating an integrated, mathematically normalized business intelligence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522415" cy="1078992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773936"/>
            <a:ext cx="594360" cy="594360"/>
          </a:xfrm>
          <a:prstGeom prst="roundRect">
            <a:avLst/>
          </a:prstGeom>
          <a:solidFill>
            <a:srgbClr val="161F52"/>
          </a:solidFill>
          <a:ln w="19050">
            <a:solidFill>
              <a:srgbClr val="55D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55D0F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691640"/>
            <a:ext cx="5379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Data Scattered Across Competing Systems</a:t>
            </a:r>
          </a:p>
          <a:p>
            <a:pPr>
              <a:defRPr sz="950">
                <a:solidFill>
                  <a:srgbClr val="D2D1EB"/>
                </a:solidFill>
                <a:latin typeface="Arial"/>
              </a:defRPr>
            </a:pPr>
            <a:r>
              <a:t>QS and Times Higher Education (THE) maintain fundamentally disparate schemas, evaluation scopes, and coverage universes.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788920"/>
            <a:ext cx="6522415" cy="1078992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3008376"/>
            <a:ext cx="594360" cy="594360"/>
          </a:xfrm>
          <a:prstGeom prst="roundRect">
            <a:avLst/>
          </a:prstGeom>
          <a:solidFill>
            <a:srgbClr val="161F52"/>
          </a:solidFill>
          <a:ln w="19050">
            <a:solidFill>
              <a:srgbClr val="79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796B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926080"/>
            <a:ext cx="5379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Incompatible Ranking Indicators</a:t>
            </a:r>
          </a:p>
          <a:p>
            <a:pPr>
              <a:defRPr sz="950">
                <a:solidFill>
                  <a:srgbClr val="D2D1EB"/>
                </a:solidFill>
                <a:latin typeface="Arial"/>
              </a:defRPr>
            </a:pPr>
            <a:r>
              <a:t>Contrasting indicator weightings, differing scale ranges, and non-numeric rank strings ('15=', '1401+') prevent mathematical joins.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4023360"/>
            <a:ext cx="6522415" cy="1078992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4242816"/>
            <a:ext cx="594360" cy="594360"/>
          </a:xfrm>
          <a:prstGeom prst="roundRect">
            <a:avLst/>
          </a:prstGeom>
          <a:solidFill>
            <a:srgbClr val="161F52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9F1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160520"/>
            <a:ext cx="5379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Siloed Research &amp; Student Analytics</a:t>
            </a:r>
          </a:p>
          <a:p>
            <a:pPr>
              <a:defRPr sz="950">
                <a:solidFill>
                  <a:srgbClr val="D2D1EB"/>
                </a:solidFill>
                <a:latin typeface="Arial"/>
              </a:defRPr>
            </a:pPr>
            <a:r>
              <a:t>Institutional pillars—student-staff ratios, international diversity, and citation velocity—are evaluated in isolation without unified correlation.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5257800"/>
            <a:ext cx="6522415" cy="1078992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5477256"/>
            <a:ext cx="594360" cy="594360"/>
          </a:xfrm>
          <a:prstGeom prst="roundRect">
            <a:avLst/>
          </a:prstGeom>
          <a:solidFill>
            <a:srgbClr val="161F52"/>
          </a:solidFill>
          <a:ln w="19050">
            <a:solidFill>
              <a:srgbClr val="2BCA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BCA81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5394960"/>
            <a:ext cx="5379415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Raw League Tables Lack Executive BI</a:t>
            </a:r>
          </a:p>
          <a:p>
            <a:pPr>
              <a:defRPr sz="950">
                <a:solidFill>
                  <a:srgbClr val="D2D1EB"/>
                </a:solidFill>
                <a:latin typeface="Arial"/>
              </a:defRPr>
            </a:pPr>
            <a:r>
              <a:t>Static PDF/web tables offer zero dynamic cross-filtering, regional benchmarking, or drill-down visual exploration for decision-makers.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MISSION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Project Objectives: End-to-End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Transform raw global ranking datasets into a verified, interactive executive decision-support analytics suite.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931920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3529584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PROJECT MANDATE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Strategic Objective</a:t>
            </a:r>
          </a:p>
          <a:p>
            <a:pPr>
              <a:spcAft>
                <a:spcPts val="350"/>
              </a:spcAft>
              <a:defRPr sz="1019" b="1">
                <a:solidFill>
                  <a:srgbClr val="FFFFFF"/>
                </a:solidFill>
                <a:latin typeface="Arial"/>
              </a:defRPr>
            </a:pPr>
            <a:r>
              <a:t>Core Project Vision</a:t>
            </a:r>
          </a:p>
          <a:p>
            <a:pPr>
              <a:spcAft>
                <a:spcPts val="700"/>
              </a:spcAft>
              <a:defRPr sz="1019">
                <a:solidFill>
                  <a:srgbClr val="D2D1EB"/>
                </a:solidFill>
                <a:latin typeface="Arial"/>
              </a:defRPr>
            </a:pPr>
            <a:r>
              <a:t>• Establish an authoritative higher education intelligence architecture bridging disparate international ranking systems.</a:t>
            </a:r>
          </a:p>
          <a:p>
            <a:pPr>
              <a:spcAft>
                <a:spcPts val="700"/>
              </a:spcAft>
              <a:defRPr sz="1019">
                <a:solidFill>
                  <a:srgbClr val="D2D1EB"/>
                </a:solidFill>
                <a:latin typeface="Arial"/>
              </a:defRPr>
            </a:pPr>
            <a:r>
              <a:t>• Replace static league tables with interactive, four-dimensional business intelligence spanning institutional overviews, research depth, student experiences, and national footprints.</a:t>
            </a:r>
          </a:p>
          <a:p>
            <a:pPr>
              <a:spcAft>
                <a:spcPts val="700"/>
              </a:spcAft>
              <a:defRPr sz="1019">
                <a:solidFill>
                  <a:srgbClr val="D2D1EB"/>
                </a:solidFill>
                <a:latin typeface="Arial"/>
              </a:defRPr>
            </a:pPr>
            <a:r>
              <a:t>• Ensure 100% data reproducibility through automated Python pipelines and rigorous testing frameworks.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554480"/>
            <a:ext cx="6522415" cy="1444752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38928" y="1719072"/>
            <a:ext cx="6120079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OBJECTIVE 01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Integrate QS &amp; THE Ranking Authorities</a:t>
            </a:r>
          </a:p>
          <a:p>
            <a:pPr>
              <a:spcAft>
                <a:spcPts val="300"/>
              </a:spcAft>
              <a:defRPr sz="1000">
                <a:solidFill>
                  <a:srgbClr val="D2D1EB"/>
                </a:solidFill>
                <a:latin typeface="Arial"/>
              </a:defRPr>
            </a:pPr>
            <a:r>
              <a:t>Ingest 1,503 institutions across 106 countries from QS 2025 and enrich top-tier universities with Times Higher Education metrics while enforcing strict schema hygiene and Latin-1 encoding correction.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3227832"/>
            <a:ext cx="6522415" cy="1444752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3392424"/>
            <a:ext cx="6120079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OBJECTIVE 02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Engineer 6 Standardized Academic KPIs</a:t>
            </a:r>
          </a:p>
          <a:p>
            <a:pPr>
              <a:spcAft>
                <a:spcPts val="300"/>
              </a:spcAft>
              <a:defRPr sz="1000">
                <a:solidFill>
                  <a:srgbClr val="D2D1EB"/>
                </a:solidFill>
                <a:latin typeface="Arial"/>
              </a:defRPr>
            </a:pPr>
            <a:r>
              <a:t>Formulate and statistically validate 6 standardized higher education KPIs covering global ranks, academic reputation, citations per faculty, staffing ratios, student diversity, and research proxy.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901184"/>
            <a:ext cx="6522415" cy="1444752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5065776"/>
            <a:ext cx="6120079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OBJECTIVE 03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Architect 4 Interactive Tableau Dashboards</a:t>
            </a:r>
          </a:p>
          <a:p>
            <a:pPr>
              <a:spcAft>
                <a:spcPts val="300"/>
              </a:spcAft>
              <a:defRPr sz="1000">
                <a:solidFill>
                  <a:srgbClr val="D2D1EB"/>
                </a:solidFill>
                <a:latin typeface="Arial"/>
              </a:defRPr>
            </a:pPr>
            <a:r>
              <a:t>Build four interconnected Tableau Desktop dashboards (fixed 1600 × 950 canvas) across 24 modular worksheets featuring interactive cross-filtering, choropleth maps, and rank movement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Data Sources &amp; Project Scope: Two Global Authorities, One Master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Harmonizing the world's most prestigious university ranking systems into a single verified master datastore.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29260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855464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PRIMARY UNIVERSE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Base Table: QS World University Rankings 2025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Scope: 1,503 institutions across 106 global countries.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Dimensions: 28 raw dimensions including ranks, overall scores, reputation scores, citations per faculty, region, size, and focus.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Preserved Universe: 100% of QS institutions retained as the master base table without dropping unranked rows.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Scored Subset: Overall scores published for top 600 institutions (range: 20.8 - 100.0, mean: 41.84).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554480"/>
            <a:ext cx="5257800" cy="29260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3543" y="1719072"/>
            <a:ext cx="4855464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ENRICHMENT UNIVERSE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Enrichment: Times Higher Education (THE) Data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Scope: 200 elite institutions across 29 jurisdictions.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Dimensions: 13 attributes including students-per-staff ratio, international student %, FTE student enrollment, and research environment.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Integration: Left join against QS based on standardized institution identity with 30 reviewed alias mappings.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Matching Exceptions: 5 THE institutions were intentionally left unmatched because they were either absent from the QS universe or represented ambiguous multi-campus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45152"/>
            <a:ext cx="10728655" cy="169164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809744"/>
            <a:ext cx="10326319" cy="1362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GOVERNED MISSINGNESS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Integrated Dataset Scope &amp; Governed Missingness Policy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Master Schema: Exactly 1,503 institutions, 106 countries, and 52 final dimensions.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Match Outcome: 195 institutions successfully matched (97.5% of THE top 200). Exactly 1,308 unmatched institutions retain explicit nulls.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Analytical Honesty: THE-related nulls reflect source-coverage boundaries, NOT data errors. Zero synthetic imputation was applied.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TOOLS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Technology Stack: Verified Production Tools &amp;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Every technology in the pipeline was selected for reproducibility, analytical rigor, and visual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DATA PROCESSING &amp; ETL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Python, Pandas &amp; NumPy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Python 3.10+ runtime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Pandas for tabular transforms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NumPy for array &amp; rank operations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OpenPyXL for Excel exports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Automated pipeline execution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Latin-1 encoding hygiene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Rank midpoint continuous parsing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30-alias entity resolution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EXPLORATION &amp; NOTEBOOKS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Jupyter &amp; Google Colab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Jupyter Notebook environment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Google Colab cloud execution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Matplotlib &amp; Seaborn EDA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Milestone 1 cleaning notebook (14 cells)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Milestone 2 KPI notebook (18 cells)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Byte-identical dual-pipeline run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Verified MD5 checksum equality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Full analytical reproducibility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VISUAL ANALYTICS BI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Tableau Desktop &amp; Public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Tableau Desktop 2026.2 (Apple Silicon)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Tableau Public cloud deployments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Fixed 1600 × 950 canvas design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Exactly 24 modular worksheets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12 custom calculated fields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Custom dark theme (#12161A)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Cross-dashboard filter actions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Native Hyper packaged extract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C8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STORAGE, QA &amp; CONTROL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Excel, CSV &amp; Git/GitHub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Microsoft Excel (.xlsx) styled tables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Flat CSV master dataset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Git version control with branches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GitHub submission repository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36 automated Python assertions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62-point comprehensive QA audit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Clean 5-folder milestone layout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Zero temporary build artifacts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Methodology &amp; Workflow: Step-by-Step Analytical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A structured, eight-stage data engineering and visual analytics process ensuring complete reproducibility.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STEP 01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1. Data Collection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Ingest raw QS (1,503 rows) and THE (200 rows) with Latin-1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1907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STEP 02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2. Data Cleaning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Parse rank strings ('15=', '1401+'), normalize 29 national jurisdictions.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STEP 03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3. Standardization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Standardize university identities; map 30 known alias variations.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71907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STEP 04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4. Integration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Execute left join on standardized keys; preserve 100% of QS universe.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7939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STEP 05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5. KPI Engineering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Derive 6 core indicators; formulate 3 tooltip display helper fields.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6432" y="411480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27939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STEP 06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6. Data Validation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Execute 36 automated assertions; verify dual-pipeline MD5 hash.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411480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7939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STEP 07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7. Tableau BI Build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Develop 4 dashboards across 24 worksheets with interactive filter actions.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4114800"/>
            <a:ext cx="2542032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4279392"/>
            <a:ext cx="2139696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STEP 08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8. Testing &amp; Docs</a:t>
            </a:r>
          </a:p>
          <a:p>
            <a:pPr>
              <a:spcAft>
                <a:spcPts val="3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Complete 62-point QA checklist, resolve 10 UI defects, deliver documentation.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Six KPI Framework: Engineered Higher Education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Standardized indicators evaluating institutional excellence across teaching, research impact, and reputation.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47288" cy="2084831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3044952" cy="1755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KPI 01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Global Ranking Score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Source: QS Overall Score (Direct mapping)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Coverage: Top 600 ranked institutions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Statistical Mean: 41.84 (Range: 20.8 – 100.0)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Purpose: Composite institutional 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554480"/>
            <a:ext cx="3447288" cy="2084831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19072"/>
            <a:ext cx="3044952" cy="1755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KPI 02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Academic Reputation Score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Source: QS Academic Reputation (Direct mapping)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Coverage: All 1,503 institutions (100%)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Statistical Mean: 20.29 (Range: 1.3 – 100.0)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Purpose: Global peer survey standing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554480"/>
            <a:ext cx="3447288" cy="2084831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719072"/>
            <a:ext cx="3044952" cy="1755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KPI 03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Faculty-to-Student Ratio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Source: THE No. of Students per Staff (Direct mapping)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Coverage: 195 matched institutions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Statistical Mean: 17.44 (Range: 3.8 – 58.0)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Purpose: Teaching capacity &amp; workload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22191"/>
            <a:ext cx="3447288" cy="2084831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86783"/>
            <a:ext cx="3044952" cy="1755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KPI 04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International Student Percentage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Source: THE International Students (%)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Coverage: 195 matched institutions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Statistical Mean: 25.48% (Range: 1.0% – 72.0%)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Purpose: Campus diversity &amp; global attraction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822191"/>
            <a:ext cx="3447288" cy="2084831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986783"/>
            <a:ext cx="3044952" cy="1755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KPI 05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Research Impact Score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Source: QS Citations per Faculty (Direct mapping)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Coverage: All 1,503 institutions (100%)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Statistical Mean: 23.50 (Range: 1.0 – 100.0)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Purpose: Size-adjusted citation velocity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3822191"/>
            <a:ext cx="3447288" cy="2084831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C8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3986783"/>
            <a:ext cx="3044952" cy="1755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KPI 06</a:t>
            </a:r>
          </a:p>
          <a:p>
            <a:pPr>
              <a:spcAft>
                <a:spcPts val="500"/>
              </a:spcAft>
              <a:defRPr sz="1250" b="1">
                <a:solidFill>
                  <a:srgbClr val="FFFFFF"/>
                </a:solidFill>
                <a:latin typeface="Arial"/>
              </a:defRPr>
            </a:pPr>
            <a:r>
              <a:t>Research Productivity (Proxy)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Source: THE Research Environment score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Coverage: 195 matched institutions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Statistical Mean: 61.23 (Range: 34.9 – 100.0)</a:t>
            </a:r>
          </a:p>
          <a:p>
            <a:pPr>
              <a:spcAft>
                <a:spcPts val="25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Note: Derived from THE Research Environment and is NOT an official THE metric.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791C3"/>
                </a:solidFill>
                <a:latin typeface="Arial"/>
              </a:defRPr>
            </a:pPr>
            <a:r>
              <a:t>Methodological Disclosure: Research Productivity (Proxy) is derived strictly from THE Research Environment and is NOT an official THE metric.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DATA HYGIENE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Data Validation &amp; Integration: Verified Coverage &amp;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Rigorous audit confirms high source completeness, zero synthetic imputation, and governed null preservation.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291840" cy="4800600"/>
          </a:xfrm>
          <a:prstGeom prst="roundRect">
            <a:avLst/>
          </a:prstGeom>
          <a:solidFill>
            <a:srgbClr val="101740"/>
          </a:solidFill>
          <a:ln w="1905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9260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2BCA81"/>
                </a:solidFill>
                <a:latin typeface="Arial"/>
              </a:defRPr>
            </a:pPr>
            <a:r>
              <a:t>DATA COMPLETENESS AUDIT</a:t>
            </a:r>
          </a:p>
          <a:p>
            <a:pPr>
              <a:defRPr sz="2000" b="1">
                <a:solidFill>
                  <a:srgbClr val="55D0FA"/>
                </a:solidFill>
                <a:latin typeface="Arial"/>
              </a:defRPr>
            </a:pPr>
            <a:r>
              <a:t>99.02%</a:t>
            </a:r>
          </a:p>
          <a:p>
            <a:pPr>
              <a:spcAft>
                <a:spcPts val="800"/>
              </a:spcAft>
              <a:defRPr sz="850">
                <a:solidFill>
                  <a:srgbClr val="D2D1EB"/>
                </a:solidFill>
                <a:latin typeface="Arial"/>
              </a:defRPr>
            </a:pPr>
            <a:r>
              <a:t>QS Base Fields Completeness</a:t>
            </a:r>
            <a:br/>
            <a:r>
              <a:t>(Excluding Overall Score; 0.98% missing)</a:t>
            </a:r>
          </a:p>
          <a:p>
            <a:pPr>
              <a:defRPr sz="2000" b="1">
                <a:solidFill>
                  <a:srgbClr val="796BFF"/>
                </a:solidFill>
                <a:latin typeface="Arial"/>
              </a:defRPr>
            </a:pPr>
            <a:r>
              <a:t>96.98%</a:t>
            </a:r>
          </a:p>
          <a:p>
            <a:pPr>
              <a:spcAft>
                <a:spcPts val="800"/>
              </a:spcAft>
              <a:defRPr sz="850">
                <a:solidFill>
                  <a:srgbClr val="D2D1EB"/>
                </a:solidFill>
                <a:latin typeface="Arial"/>
              </a:defRPr>
            </a:pPr>
            <a:r>
              <a:t>QS Base Fields Completeness</a:t>
            </a:r>
            <a:br/>
            <a:r>
              <a:t>(Including Overall Score; exceeds 95% threshold)</a:t>
            </a:r>
          </a:p>
          <a:p>
            <a:pPr>
              <a:defRPr sz="2000" b="1">
                <a:solidFill>
                  <a:srgbClr val="2BCA81"/>
                </a:solidFill>
                <a:latin typeface="Arial"/>
              </a:defRPr>
            </a:pPr>
            <a:r>
              <a:t>100.0%</a:t>
            </a:r>
          </a:p>
          <a:p>
            <a:pPr>
              <a:spcAft>
                <a:spcPts val="800"/>
              </a:spcAft>
              <a:defRPr sz="850">
                <a:solidFill>
                  <a:srgbClr val="D2D1EB"/>
                </a:solidFill>
                <a:latin typeface="Arial"/>
              </a:defRPr>
            </a:pPr>
            <a:r>
              <a:t>THE Cleaned Completeness</a:t>
            </a:r>
            <a:br/>
            <a:r>
              <a:t>(All 200 elite institutions intact)</a:t>
            </a:r>
          </a:p>
          <a:p>
            <a:pPr>
              <a:defRPr sz="2000" b="1">
                <a:solidFill>
                  <a:srgbClr val="FF9F1C"/>
                </a:solidFill>
                <a:latin typeface="Arial"/>
              </a:defRPr>
            </a:pPr>
            <a:r>
              <a:t>0.0%</a:t>
            </a:r>
          </a:p>
          <a:p>
            <a:pPr>
              <a:spcAft>
                <a:spcPts val="800"/>
              </a:spcAft>
              <a:defRPr sz="850">
                <a:solidFill>
                  <a:srgbClr val="D2D1EB"/>
                </a:solidFill>
                <a:latin typeface="Arial"/>
              </a:defRPr>
            </a:pPr>
            <a:r>
              <a:t>Synthetic Imputation</a:t>
            </a:r>
            <a:br/>
            <a:r>
              <a:t>(Zero unranked rows artificially fabricated)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7253935" cy="22860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719072"/>
            <a:ext cx="6851599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COHORT SCALE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Verified Cohort Dimensions &amp; Universe Breakdown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1,503 Total Institutions: 100% of the QS World University Rankings 2025 base table preserved.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106 Countries Covered: Complete geographic distribution across all global territories.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195 QS–THE Matched Institutions: 97.5% match rate against the THE top 200 universe.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1,308 Unmatched QS Institutions: Explicitly retained with legitimate nulls for THE attributes.</a:t>
            </a:r>
          </a:p>
          <a:p>
            <a:pPr>
              <a:spcAft>
                <a:spcPts val="35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52 Final Master Columns: Encompassing ranks, raw indicators, engineered KPIs, and display strings.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069080"/>
            <a:ext cx="7253935" cy="22860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4233672"/>
            <a:ext cx="6851599" cy="1956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ANALYTICAL HONESTY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Source-Coverage Limitations vs Data Errors</a:t>
            </a:r>
          </a:p>
          <a:p>
            <a:pPr>
              <a:spcAft>
                <a:spcPts val="40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Governed Missingness: The 1,308 institutions without THE data reflect the inherent coverage boundary of THE's published top-200 league table, NOT data ingestion errors.</a:t>
            </a:r>
          </a:p>
          <a:p>
            <a:pPr>
              <a:spcAft>
                <a:spcPts val="40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Analytical Honesty: Preserving true blanks eliminates synthetic bias in university benchmarks and ensures that all institutional comparisons remain statistically genuine.</a:t>
            </a:r>
          </a:p>
          <a:p>
            <a:pPr>
              <a:spcAft>
                <a:spcPts val="400"/>
              </a:spcAft>
              <a:defRPr sz="960">
                <a:solidFill>
                  <a:srgbClr val="D2D1EB"/>
                </a:solidFill>
                <a:latin typeface="Arial"/>
              </a:defRPr>
            </a:pPr>
            <a:r>
              <a:t>• Dual-Pipeline Verification: Standalone Python CLI scripts and Google Colab notebook produce byte-identical dataset exports (MD5 hash verified).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VISUAL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Dashboard Suite Overview: Four Interconnected Executive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An integrated business intelligence system providing progressive drill-downs from global macro analysis to university deep-dives.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MACRO DIRECTORY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Dashboard 1: University Overview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Level: Macro institutional directory &amp; temporal rank movement.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Core Visuals: Top Ranked Uni KPI, Total Unis (1,503), Avg Global Score (41.84), Top 10 Bar Chart, Regional Donut, World Map, Rank Movement 2024–2025.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Analytical Value: Immediate institutional benchmarking and year-over-year rank trajectory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3543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RESEARCH EXCELLENCE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Dashboard 2: Research Analytics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Level: Specialized research excellence &amp; productivity analysis.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Core Visuals: Highest Research Impact KPI (100.0), Avg Citations (23.50), Avg Research Productivity Proxy (61.23), Scatter Plot, Box Plots, Top 10 Paired Bars.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Analytical Value: Unpacks citation velocity vs publishing environment across research intensity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ENVIRONMENT &amp; DIVERSITY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Dashboard 3: Student Analytics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Level: Learning environment, student body scale &amp; global diversity.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Core Visuals: Avg Students per Staff KPI (17.4), Avg International % (25.5%), Total Headcount (5.46M), Regional Staffing Ratios, Scatter Plot, Top 10 Enrollment.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Analytical Value: Evaluates teaching resourcing and campus internationalization across 195 matched universities.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C8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3543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NATIONAL BENCHMARKING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Dashboard 4: Country Comparison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Level: Territorial benchmarking connecting national tables to world maps.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Core Visuals: Top Country by Avg Score KPI (Hong Kong SAR 79.9), 106 Nations, USA Dominance (197 unis), Benchmarking Heat Table, World Choropleth Map.</a:t>
            </a:r>
          </a:p>
          <a:p>
            <a:pPr>
              <a:spcAft>
                <a:spcPts val="35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• Analytical Value: Features interactive cross-filtering connecting benchmarking heat table directly to world 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TABLEAU DASHBOARD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Dashboard 1: University Overview &amp; Rank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Comprehensive institutional directory and temporal performance shift analysis.</a:t>
            </a:r>
          </a:p>
        </p:txBody>
      </p:sp>
      <p:pic>
        <p:nvPicPr>
          <p:cNvPr id="6" name="Picture 5" descr="dash1_universi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309360" cy="3746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554480"/>
            <a:ext cx="4236415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1719072"/>
            <a:ext cx="3834079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DASHBOARD FEATURES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Executive Capabilities</a:t>
            </a:r>
          </a:p>
          <a:p>
            <a:pPr>
              <a:spcAft>
                <a:spcPts val="350"/>
              </a:spcAft>
              <a:defRPr sz="940" b="1">
                <a:solidFill>
                  <a:srgbClr val="FFFFFF"/>
                </a:solidFill>
                <a:latin typeface="Arial"/>
              </a:defRPr>
            </a:pPr>
            <a:r>
              <a:t>Key Visualizations &amp; Features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Dynamic KPI Cards: Top Ranked University (MIT #1), Total Universities (1,503), Dynamic Average Score (41.84).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Top 10 by Global Score: Horizontal bar chart with axis framed 85–100 to clearly separate elite scores.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Regional Distribution Donut: Dual-axis donut highlighting European (473) and Asian (511) dominance.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Global Geographic Map: World map plotting global institutional footprint across 106 countries.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Rank Movement 2024–2025: Calculated as Rank Change = RANK_2024 - RANK_2025. Positive = improvement, Negative = decline. Caltech +5, Imperial +4, Cambridge -3, Stanford -1, 6 unchanged.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TABLEAU DASHBOARD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Dashboard 2: Research Analytics — Impact &amp;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Evaluating institutional citation velocity against research environment depth.</a:t>
            </a:r>
          </a:p>
        </p:txBody>
      </p:sp>
      <p:pic>
        <p:nvPicPr>
          <p:cNvPr id="6" name="Picture 5" descr="dash2_research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309360" cy="3746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554480"/>
            <a:ext cx="4236415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1719072"/>
            <a:ext cx="3834079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DASHBOARD FEATURES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Research Intelligence</a:t>
            </a:r>
          </a:p>
          <a:p>
            <a:pPr>
              <a:spcAft>
                <a:spcPts val="350"/>
              </a:spcAft>
              <a:defRPr sz="919" b="1">
                <a:solidFill>
                  <a:srgbClr val="FFFFFF"/>
                </a:solidFill>
                <a:latin typeface="Arial"/>
              </a:defRPr>
            </a:pPr>
            <a:r>
              <a:t>Key Visualizations &amp; Features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Research KPI Cards: Highest Research Impact (100.0), Avg Citations per Faculty (23.50), Avg Research Productivity Proxy (61.23).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Impact vs Productivity Scatter: Weak correlation demonstrates that publication volume environment does not guarantee citation impact.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Research Intensity Box Plots: Significant citation variance observed across Very High (1,021) down to Low (16).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Top 10 Research Institutions: Paired bars showing citation impact alongside productivity proxy score.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Proxy Disclosure: Research Productivity (Proxy) is derived from THE Research Environment and is NOT an official THE metric.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Publication-Volume Note: Publication-volume analysis was not implemented because the available QS/THE source data does not provide a directly comparable publication-count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TABLEAU DASHBOARD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Dashboard 3: Student Analytics — Ratios &amp; Diversity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Analyzing teaching workloads, campus internationalization, and total student enrollment.</a:t>
            </a:r>
          </a:p>
        </p:txBody>
      </p:sp>
      <p:pic>
        <p:nvPicPr>
          <p:cNvPr id="6" name="Picture 5" descr="dash3_studen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309360" cy="3746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554480"/>
            <a:ext cx="4236415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1719072"/>
            <a:ext cx="3834079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DASHBOARD FEATURES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Environment &amp; Capacity</a:t>
            </a:r>
          </a:p>
          <a:p>
            <a:pPr>
              <a:spcAft>
                <a:spcPts val="350"/>
              </a:spcAft>
              <a:defRPr sz="940" b="1">
                <a:solidFill>
                  <a:srgbClr val="FFFFFF"/>
                </a:solidFill>
                <a:latin typeface="Arial"/>
              </a:defRPr>
            </a:pPr>
            <a:r>
              <a:t>Key Visualizations &amp; Features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Student KPI Cards: Avg Students per Staff (17.4), Avg International Student % (25.5%), Total FTE Student Headcount (5.46M across 195).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Regional Staffing Ratios: Average students per staff by region reveals massive divergence (Oceania 30.6 vs Africa 13.0).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Internationalization Scatter: Evaluates international student percentage against student-to-staff workload.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Top 10 by Enrollment: University of Toronto leads at 80,107 FTE students, followed by University of Bologna (76,955).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Interactive Cohort Benchmarking: Multi-dimensional filters (Region, Location, Size, Focus) allow dynamic cohort comparison.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TABLEAU DASHBOARD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Dashboard 4: Country Comparison &amp; Cross-Filtering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Macro-level territorial benchmarking connecting national heat tables to global choropleth maps.</a:t>
            </a:r>
          </a:p>
        </p:txBody>
      </p:sp>
      <p:pic>
        <p:nvPicPr>
          <p:cNvPr id="6" name="Picture 5" descr="dash4_count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309360" cy="3746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554480"/>
            <a:ext cx="4236415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C8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1719072"/>
            <a:ext cx="3834079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DASHBOARD FEATURES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National Benchmarking</a:t>
            </a:r>
          </a:p>
          <a:p>
            <a:pPr>
              <a:spcAft>
                <a:spcPts val="350"/>
              </a:spcAft>
              <a:defRPr sz="940" b="1">
                <a:solidFill>
                  <a:srgbClr val="FFFFFF"/>
                </a:solidFill>
                <a:latin typeface="Arial"/>
              </a:defRPr>
            </a:pPr>
            <a:r>
              <a:t>Key Visualizations &amp; Features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Country KPI Cards: Top Country by Avg Score (Hong Kong SAR, 79.9), Most Represented (United States, 197 unis), Total Ranked Countries (106).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Benchmarking Heat Table: Comprehensive evaluation of all 106 countries across institutions, scores, reputation, and citations.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Geographic Choropleth Map: Global gradient of national institutional representation.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Interactive Filter Action: Selecting a country in the benchmarking table filters the geographic map; clearing the selection restores all countries.</a:t>
            </a:r>
          </a:p>
          <a:p>
            <a:pPr>
              <a:spcAft>
                <a:spcPts val="500"/>
              </a:spcAft>
              <a:defRPr sz="940">
                <a:solidFill>
                  <a:srgbClr val="D2D1EB"/>
                </a:solidFill>
                <a:latin typeface="Arial"/>
              </a:defRPr>
            </a:pPr>
            <a:r>
              <a:t>• Top-N Reference Stability: Global reference cards remain stable without dropping out during cross-filtering.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ANALYTICAL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Key Findings &amp; Insights: Educational Intelligence from Verified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Concrete empirical observations derived from the harmonized QS and THE higher education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INSIGHT 01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Peak Excellence vs System Depth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Hong Kong SAR achieves the highest average global score (79.9) across just 6 elite institutions. In contrast, the United States leads in sheer volume (197 institutions) with wider internal variance, demonstrating the difference between elite concentration and broad system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3543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INSIGHT 02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Productivity Decoupled from Citation Impact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High research environment scores do not automatically produce high citation impact. World-leading citations appear across varied productivity tiers, confirming that research quality and publishing environment represent distinct dimensions.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C8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INSIGHT 03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Structural Regional Staffing Divergence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Teaching loads diverge radically by continent: Oceania averages 30.6 students per staff member, while Africa averages 13.0, reflecting fundamental differences in funding structures and massification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3543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INSIGHT 04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Coverage Discipline Prevents Misleading BI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Only 2 of the 6 KPIs cover the entire 1,503-institution universe. Surface-level averaging without explicit population tags would have produced misleading claims about unmeasured universities. Explicit scoping preserves analytical truth.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TECHNICAL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Challenges &amp; Solutions: Engineering Robust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Navigating complex data harmonization challenges with sound methodological resolutions.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RESOLUTION 01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Different Schemas Across QS &amp; THE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950">
                <a:solidFill>
                  <a:srgbClr val="FF9F1C"/>
                </a:solidFill>
              </a:rPr>
              <a:t>Challenge: </a:t>
            </a:r>
            <a:r>
              <a:rPr sz="950">
                <a:solidFill>
                  <a:srgbClr val="D2D1EB"/>
                </a:solidFill>
              </a:rPr>
              <a:t>Disparate column schemas and differing indicator scales prevented immediate joins.</a:t>
            </a:r>
          </a:p>
          <a:p>
            <a:pPr>
              <a:spcAft>
                <a:spcPts val="550"/>
              </a:spcAft>
              <a:defRPr>
                <a:latin typeface="Arial"/>
              </a:defRPr>
            </a:pPr>
            <a:r>
              <a:rPr b="1" sz="950">
                <a:solidFill>
                  <a:srgbClr val="2BCA81"/>
                </a:solidFill>
              </a:rPr>
              <a:t>Solution: </a:t>
            </a:r>
            <a:r>
              <a:rPr sz="950">
                <a:solidFill>
                  <a:srgbClr val="FFFFFF"/>
                </a:solidFill>
              </a:rPr>
              <a:t>Standardized schemas with common dimension keys and mapped ranking indicators into unified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3543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RESOLUTION 02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University-Name Mismatches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950">
                <a:solidFill>
                  <a:srgbClr val="FF9F1C"/>
                </a:solidFill>
              </a:rPr>
              <a:t>Challenge: </a:t>
            </a:r>
            <a:r>
              <a:rPr sz="950">
                <a:solidFill>
                  <a:srgbClr val="D2D1EB"/>
                </a:solidFill>
              </a:rPr>
              <a:t>Naming variations ('UC Berkeley' vs 'University of California, Berkeley') broke automated joins.</a:t>
            </a:r>
          </a:p>
          <a:p>
            <a:pPr>
              <a:spcAft>
                <a:spcPts val="550"/>
              </a:spcAft>
              <a:defRPr>
                <a:latin typeface="Arial"/>
              </a:defRPr>
            </a:pPr>
            <a:r>
              <a:rPr b="1" sz="950">
                <a:solidFill>
                  <a:srgbClr val="2BCA81"/>
                </a:solidFill>
              </a:rPr>
              <a:t>Solution: </a:t>
            </a:r>
            <a:r>
              <a:rPr sz="950">
                <a:solidFill>
                  <a:srgbClr val="FFFFFF"/>
                </a:solidFill>
              </a:rPr>
              <a:t>String normalization plus 30 reviewed manual alias mappings achieved a 97.5% match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FF9F1C"/>
                </a:solidFill>
                <a:latin typeface="Arial"/>
              </a:defRPr>
            </a:pPr>
            <a:r>
              <a:t>RESOLUTION 03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Partial THE Coverage (200 of 1,503)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950">
                <a:solidFill>
                  <a:srgbClr val="FF9F1C"/>
                </a:solidFill>
              </a:rPr>
              <a:t>Challenge: </a:t>
            </a:r>
            <a:r>
              <a:rPr sz="950">
                <a:solidFill>
                  <a:srgbClr val="D2D1EB"/>
                </a:solidFill>
              </a:rPr>
              <a:t>Standard tools often zero-fill or synthetically impute missing values, corrupting data integrity.</a:t>
            </a:r>
          </a:p>
          <a:p>
            <a:pPr>
              <a:spcAft>
                <a:spcPts val="550"/>
              </a:spcAft>
              <a:defRPr>
                <a:latin typeface="Arial"/>
              </a:defRPr>
            </a:pPr>
            <a:r>
              <a:rPr b="1" sz="950">
                <a:solidFill>
                  <a:srgbClr val="2BCA81"/>
                </a:solidFill>
              </a:rPr>
              <a:t>Solution: </a:t>
            </a:r>
            <a:r>
              <a:rPr sz="950">
                <a:solidFill>
                  <a:srgbClr val="FFFFFF"/>
                </a:solidFill>
              </a:rPr>
              <a:t>Governed missingness policy strictly preserving true nulls with zero synthetic imputation.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63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3543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RESOLUTION 04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Missing Publication-Count Field</a:t>
            </a:r>
          </a:p>
          <a:p>
            <a:pPr>
              <a:spcAft>
                <a:spcPts val="250"/>
              </a:spcAft>
              <a:defRPr>
                <a:latin typeface="Arial"/>
              </a:defRPr>
            </a:pPr>
            <a:r>
              <a:rPr b="1" sz="950">
                <a:solidFill>
                  <a:srgbClr val="FF9F1C"/>
                </a:solidFill>
              </a:rPr>
              <a:t>Challenge: </a:t>
            </a:r>
            <a:r>
              <a:rPr sz="950">
                <a:solidFill>
                  <a:srgbClr val="D2D1EB"/>
                </a:solidFill>
              </a:rPr>
              <a:t>Available source datasets lacked a direct comparable publication-count field.</a:t>
            </a:r>
          </a:p>
          <a:p>
            <a:pPr>
              <a:spcAft>
                <a:spcPts val="550"/>
              </a:spcAft>
              <a:defRPr>
                <a:latin typeface="Arial"/>
              </a:defRPr>
            </a:pPr>
            <a:r>
              <a:rPr b="1" sz="950">
                <a:solidFill>
                  <a:srgbClr val="2BCA81"/>
                </a:solidFill>
              </a:rPr>
              <a:t>Solution: </a:t>
            </a:r>
            <a:r>
              <a:rPr sz="950">
                <a:solidFill>
                  <a:srgbClr val="FFFFFF"/>
                </a:solidFill>
              </a:rPr>
              <a:t>Avoided fabricated publication metrics; evaluated research via Citations per Faculty &amp; Research Environment proxy.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VERIFICATION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Testing &amp; Validation: Conformance, Reproducibility &amp;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Multi-tier quality assurance covering the data layer, calculations, interactive filters, and visual 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47288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3044952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DATA LAYER QA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36 Automated Data Assertions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Boundary verification for all 6 KPIs.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Exact non-null counts validated.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Minimum and maximum bounds checked.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Mathematical ranges (0-100, ratios) enforced.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100% of assertion tests passed.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Zero data drift across exports.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554480"/>
            <a:ext cx="3447288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19072"/>
            <a:ext cx="3044952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PIPELINE QA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Dual-Pipeline Reproducibility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Python CLI scripts run independently.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Google Colab notebook run independently.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Byte-identical CSV export verified.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Byte-identical Excel export verified.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MD5 checksum match confirmed.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100% computational reproducibility.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554480"/>
            <a:ext cx="3447288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719072"/>
            <a:ext cx="3044952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SYSTEM QA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62-Point QA &amp; 24 Worksheets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62-point comprehensive QA checklist passed.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Exactly 24 worksheets across 4 dashboards.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10 specific UI interaction defects fixed.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Country filter action fully verified.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Fixed 1600 × 950 canvas layout confirmed.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Complete delivery documentation verified.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DEVELOPMENT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Project Milestones: Four Phases of Structured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A disciplined eight-week engineering journey delivering verified milestone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MILESTONE 01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1: Collection &amp; Prep</a:t>
            </a:r>
          </a:p>
          <a:p>
            <a:pPr>
              <a:spcAft>
                <a:spcPts val="350"/>
              </a:spcAft>
              <a:defRPr sz="919" b="1">
                <a:solidFill>
                  <a:srgbClr val="FFFFFF"/>
                </a:solidFill>
                <a:latin typeface="Arial"/>
              </a:defRPr>
            </a:pPr>
            <a:r>
              <a:t>Weeks 1–2 · Modules 1 &amp; 2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Ingested 1,703 raw records across QS and THE universes.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QS cleaned dataset completeness: 96.87% — PASS (across all exported columns; base indicators achieve 96.98% / 99.02%).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THE cleaned dataset completeness: 100.0%.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Delivered data_collection.py, education_cleaning.ipynb, university_raw_data.csv, and university_cleaned.csv.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MILESTONE 02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2: KPI Engineering</a:t>
            </a:r>
          </a:p>
          <a:p>
            <a:pPr>
              <a:spcAft>
                <a:spcPts val="350"/>
              </a:spcAft>
              <a:defRPr sz="919" b="1">
                <a:solidFill>
                  <a:srgbClr val="FFFFFF"/>
                </a:solidFill>
                <a:latin typeface="Arial"/>
              </a:defRPr>
            </a:pPr>
            <a:r>
              <a:t>Weeks 3–4 · Modules 3 &amp; 4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Engineered 6 standardized higher education KPIs.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Formulated 3 tooltip display calculations.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36 automated assertions passed with zero drift.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Delivered generate_education_kpis.py, master CSV, master Excel, storyboard PDF, and prototype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MILESTONE 03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3: Dashboard Development</a:t>
            </a:r>
          </a:p>
          <a:p>
            <a:pPr>
              <a:spcAft>
                <a:spcPts val="350"/>
              </a:spcAft>
              <a:defRPr sz="919" b="1">
                <a:solidFill>
                  <a:srgbClr val="FFFFFF"/>
                </a:solidFill>
                <a:latin typeface="Arial"/>
              </a:defRPr>
            </a:pPr>
            <a:r>
              <a:t>Weeks 5–6 · Modules 5 &amp; 6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Built all 4 executive dashboards across exactly 24 worksheets.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Integrated Rank Movement 2024–2025 on University Overview.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Implemented interactive country-to-map filter actions.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Delivered eduvision_dashboard_v1.twbx and 4 retina-ready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554480"/>
            <a:ext cx="2542032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719072"/>
            <a:ext cx="2139696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MILESTONE 04</a:t>
            </a:r>
          </a:p>
          <a:p>
            <a:pPr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Milestone 4: Testing &amp; Delivery</a:t>
            </a:r>
          </a:p>
          <a:p>
            <a:pPr>
              <a:spcAft>
                <a:spcPts val="350"/>
              </a:spcAft>
              <a:defRPr sz="919" b="1">
                <a:solidFill>
                  <a:srgbClr val="FFFFFF"/>
                </a:solidFill>
                <a:latin typeface="Arial"/>
              </a:defRPr>
            </a:pPr>
            <a:r>
              <a:t>Weeks 7–8 · Modules 7 &amp; 8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Executed comprehensive 62-point QA checklist.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Remediated 10 interaction defects logged during testing.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Verified authoritative workbook MD5 checksum.</a:t>
            </a:r>
          </a:p>
          <a:p>
            <a:pPr>
              <a:spcAft>
                <a:spcPts val="400"/>
              </a:spcAft>
              <a:defRPr sz="919">
                <a:solidFill>
                  <a:srgbClr val="D2D1EB"/>
                </a:solidFill>
                <a:latin typeface="Arial"/>
              </a:defRPr>
            </a:pPr>
            <a:r>
              <a:t>• Delivered QA_Checklist.md, Testing Report, methodology, and user guide.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Final System Architecture: End-to-End Pipeline &amp; BI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The unified flow from heterogeneous raw sources to an executive, decision-grade visual intelligence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47288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3044952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LAYER 01 · INGESTION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Data Ingestion &amp; Hygiene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Source Ingestion: QS 2025 (1,503 rows, 28 fields) + THE 2024 (200 rows, 13 fields).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Character Encoding: Strict Latin-1 decoding resolving special character glyphs.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Rank Midpoint Parsing: Converted non-numeric rank bands ('15=', '1401+') to continuous floats.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Geographic Alignment: Standardized 29 country and regional naming variations.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Milestone 1 Deliverables: university_raw_data.csv, university_cleaned.csv, data_collection.py, education_cleaning.ipynb.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554480"/>
            <a:ext cx="3447288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19072"/>
            <a:ext cx="3044952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LAYER 02 · PROCESSING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Integration &amp; KPI Engine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Left-Join Integration: Unified master schema retaining 100% of QS universe (1,503 rows × 52 cols).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Entity Resolution: 30 verified manual alias mappings yielding 97.5% match rate on THE top 200.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Governed Missingness: Explicit nulls for 1,308 unmatched institutions (zero synthetic imputation).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6 Higher Education KPIs: Global Score, Reputation, Staffing Ratio, International %, Citations, Proxy.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Master Datastore: Byte-identical exports to university_final_dataset.csv and .xlsx.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554480"/>
            <a:ext cx="3447288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719072"/>
            <a:ext cx="3044952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LAYER 03 · ANALYTICS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Tableau Visual BI Suite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Tableau Engine: EduVision_DV.twbx Hyper packaged extract (MD5 verified).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Modular Architecture: Exactly 24 worksheets across 4 executive dashboards (1600 × 950 canvas).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Interactive Actions: Dashboard 4 country filter action connecting heat table and choropleth map.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Executive Design: Midnight navy palette (#12161A), high contrast, built for strategic insight.</a:t>
            </a:r>
          </a:p>
          <a:p>
            <a:pPr>
              <a:spcAft>
                <a:spcPts val="55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Cloud Deployment: All 4 dashboards published live to Tableau Public with cloud interactivity.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Future Enhancements: Strategic Roadmap for Platform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Planned evolution to expand analytical depth, automation, and predictive modeling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ENHANCEMENT 01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Multi-Ranking System Integration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Incorporate additional global league tables such as the Academic Ranking of World Universities (ARWU / Shanghai Ranking) and CWUR to build a multi-system consensus index.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55448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3543" y="171907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ENHANCEMENT 02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Automated Data Refresh API Pipeline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Develop scheduled REST API connectors and scraping pipelines to automatically ingest newly released annual ranking editions without manual ETL intervention.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ENHANCEMENT 03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Multi-Year Longitudinal Time-Series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Ingest historical ranking editions from 2020 through 2025 to visualize multi-year institutional trajectories, momentum vectors, and rank volatility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4114800"/>
            <a:ext cx="5257800" cy="224028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3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3543" y="4279392"/>
            <a:ext cx="4855464" cy="1911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2BCA81"/>
                </a:solidFill>
                <a:latin typeface="Arial"/>
              </a:defRPr>
            </a:pPr>
            <a:r>
              <a:t>ENHANCEMENT 04</a:t>
            </a:r>
          </a:p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Predictive Machine Learning Analytics</a:t>
            </a:r>
          </a:p>
          <a:p>
            <a:pPr>
              <a:spcAft>
                <a:spcPts val="400"/>
              </a:spcAft>
              <a:defRPr sz="950">
                <a:solidFill>
                  <a:srgbClr val="D2D1EB"/>
                </a:solidFill>
                <a:latin typeface="Arial"/>
              </a:defRPr>
            </a:pPr>
            <a:r>
              <a:t>Implement predictive regression and gradient boosting models to forecast next-cycle institutional ranks based on citation velocity, faculty hiring, and student ratios.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55D0FA"/>
                </a:solidFill>
                <a:latin typeface="Arial"/>
              </a:defRPr>
            </a:pPr>
            <a:r>
              <a:t>PROJECT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"/>
              </a:defRPr>
            </a:pPr>
            <a:r>
              <a:t>EduVision_DV: Final Submission &amp; Live Tableau Public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8791C3"/>
                </a:solidFill>
                <a:latin typeface="Arial"/>
              </a:defRPr>
            </a:pPr>
            <a:r>
              <a:t>Interactive dashboards deployed on Tableau Public · Open floor for evaluation and technical inquiry.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035040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28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19072"/>
            <a:ext cx="5632704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55D0FA"/>
                </a:solidFill>
                <a:latin typeface="Arial"/>
              </a:defRPr>
            </a:pPr>
            <a:r>
              <a:t>LIVE DEPLOYMENTS</a:t>
            </a:r>
          </a:p>
          <a:p>
            <a:pPr>
              <a:spcAft>
                <a:spcPts val="5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Tableau Public Interactive Dashboards</a:t>
            </a:r>
          </a:p>
          <a:p>
            <a:pPr>
              <a:spcAft>
                <a:spcPts val="200"/>
              </a:spcAft>
              <a:defRPr sz="969" b="1">
                <a:solidFill>
                  <a:srgbClr val="FFFFFF"/>
                </a:solidFill>
                <a:latin typeface="Arial"/>
              </a:defRPr>
            </a:pPr>
            <a:r>
              <a:t>Dashboard 1: University Overview</a:t>
            </a:r>
          </a:p>
          <a:p>
            <a:pPr>
              <a:spcAft>
                <a:spcPts val="850"/>
              </a:spcAft>
              <a:defRPr>
                <a:latin typeface="Arial"/>
              </a:defRPr>
            </a:pPr>
            <a:r>
              <a:rPr sz="869" u="sng">
                <a:solidFill>
                  <a:srgbClr val="55D0FA"/>
                </a:solidFill>
                <a:hlinkClick r:id="rId2"/>
              </a:rPr>
              <a:t>https://public.tableau.com/app/profile/kurapalli.sharmila/viz/EduVision_DV_17913698181990/UniversityOverview</a:t>
            </a:r>
          </a:p>
          <a:p>
            <a:pPr>
              <a:spcAft>
                <a:spcPts val="200"/>
              </a:spcAft>
              <a:defRPr sz="969" b="1">
                <a:solidFill>
                  <a:srgbClr val="FFFFFF"/>
                </a:solidFill>
                <a:latin typeface="Arial"/>
              </a:defRPr>
            </a:pPr>
            <a:r>
              <a:t>Dashboard 2: Research Analytics</a:t>
            </a:r>
          </a:p>
          <a:p>
            <a:pPr>
              <a:spcAft>
                <a:spcPts val="850"/>
              </a:spcAft>
              <a:defRPr>
                <a:latin typeface="Arial"/>
              </a:defRPr>
            </a:pPr>
            <a:r>
              <a:rPr sz="869" u="sng">
                <a:solidFill>
                  <a:srgbClr val="55D0FA"/>
                </a:solidFill>
                <a:hlinkClick r:id="rId3"/>
              </a:rPr>
              <a:t>https://public.tableau.com/app/profile/kurapalli.sharmila/viz/EduVision_DV_17913698181990/ResearchAnalytics</a:t>
            </a:r>
          </a:p>
          <a:p>
            <a:pPr>
              <a:spcAft>
                <a:spcPts val="200"/>
              </a:spcAft>
              <a:defRPr sz="969" b="1">
                <a:solidFill>
                  <a:srgbClr val="FFFFFF"/>
                </a:solidFill>
                <a:latin typeface="Arial"/>
              </a:defRPr>
            </a:pPr>
            <a:r>
              <a:t>Dashboard 3: Student Analytics</a:t>
            </a:r>
          </a:p>
          <a:p>
            <a:pPr>
              <a:spcAft>
                <a:spcPts val="850"/>
              </a:spcAft>
              <a:defRPr>
                <a:latin typeface="Arial"/>
              </a:defRPr>
            </a:pPr>
            <a:r>
              <a:rPr sz="869" u="sng">
                <a:solidFill>
                  <a:srgbClr val="55D0FA"/>
                </a:solidFill>
                <a:hlinkClick r:id="rId4"/>
              </a:rPr>
              <a:t>https://public.tableau.com/app/profile/kurapalli.sharmila/viz/EduVision_DV_17913698181990/StudentAnalytics</a:t>
            </a:r>
          </a:p>
          <a:p>
            <a:pPr>
              <a:spcAft>
                <a:spcPts val="200"/>
              </a:spcAft>
              <a:defRPr sz="969" b="1">
                <a:solidFill>
                  <a:srgbClr val="FFFFFF"/>
                </a:solidFill>
                <a:latin typeface="Arial"/>
              </a:defRPr>
            </a:pPr>
            <a:r>
              <a:t>Dashboard 4: Country Comparison</a:t>
            </a:r>
          </a:p>
          <a:p>
            <a:pPr>
              <a:spcAft>
                <a:spcPts val="850"/>
              </a:spcAft>
              <a:defRPr>
                <a:latin typeface="Arial"/>
              </a:defRPr>
            </a:pPr>
            <a:r>
              <a:rPr sz="869" u="sng">
                <a:solidFill>
                  <a:srgbClr val="55D0FA"/>
                </a:solidFill>
                <a:hlinkClick r:id="rId5"/>
              </a:rPr>
              <a:t>https://public.tableau.com/app/profile/kurapalli.sharmila/viz/EduVision_DV_17913698181990/CountryComparison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554480"/>
            <a:ext cx="4419295" cy="4800600"/>
          </a:xfrm>
          <a:prstGeom prst="roundRect">
            <a:avLst/>
          </a:prstGeom>
          <a:solidFill>
            <a:srgbClr val="101740"/>
          </a:solidFill>
          <a:ln w="15240"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1719072"/>
            <a:ext cx="4016959" cy="4471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796BFF"/>
                </a:solidFill>
                <a:latin typeface="Arial"/>
              </a:defRPr>
            </a:pPr>
            <a:r>
              <a:t>THANK YOU &amp; Q&amp;A</a:t>
            </a:r>
          </a:p>
          <a:p>
            <a:pPr>
              <a:spcAft>
                <a:spcPts val="500"/>
              </a:spcAft>
              <a:defRPr sz="1350" b="1">
                <a:solidFill>
                  <a:srgbClr val="FFFFFF"/>
                </a:solidFill>
                <a:latin typeface="Arial"/>
              </a:defRPr>
            </a:pPr>
            <a:r>
              <a:t>Project Submission &amp; Evaluation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Program: Infosys Springboard Virtual Internship 7.0 (Batch 3)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Project: EduVision_DV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Full Title: Higher Education Intelligence System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Contributor: Kurapalli Sharmila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Domain: Data Visualization &amp; Analytics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Technology: Tableau Desktop 2026.2 &amp; Python 3.10+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Authoritative Workbook: EduVision_DV.twbx (MD5: 133a10549295e4b3a1a2ab6640ae615d)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Final Delivery: 5-Folder Milestone Structure (All 4 Milestones + Final Project)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• Verification: 36 Data Assertions &amp; 62 QA Checks Passed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Thank You!</a:t>
            </a:r>
          </a:p>
          <a:p>
            <a:pPr>
              <a:spcAft>
                <a:spcPts val="400"/>
              </a:spcAft>
              <a:defRPr sz="980">
                <a:solidFill>
                  <a:srgbClr val="D2D1EB"/>
                </a:solidFill>
                <a:latin typeface="Arial"/>
              </a:defRPr>
            </a:pPr>
            <a:r>
              <a:t>Questions &amp; Answers: Open floor for mentor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