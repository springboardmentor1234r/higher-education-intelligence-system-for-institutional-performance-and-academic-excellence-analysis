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87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JAY S" userId="5c69bd88d60a2055" providerId="LiveId" clId="{7737AEB2-26CB-4DB7-9B96-D0A8D94AE714}"/>
    <pc:docChg chg="undo custSel modSld">
      <pc:chgData name="SUJAY S" userId="5c69bd88d60a2055" providerId="LiveId" clId="{7737AEB2-26CB-4DB7-9B96-D0A8D94AE714}" dt="2026-09-30T13:25:13.463" v="114" actId="20577"/>
      <pc:docMkLst>
        <pc:docMk/>
      </pc:docMkLst>
      <pc:sldChg chg="modSp mod">
        <pc:chgData name="SUJAY S" userId="5c69bd88d60a2055" providerId="LiveId" clId="{7737AEB2-26CB-4DB7-9B96-D0A8D94AE714}" dt="2026-09-30T13:25:13.463" v="114" actId="20577"/>
        <pc:sldMkLst>
          <pc:docMk/>
          <pc:sldMk cId="0" sldId="267"/>
        </pc:sldMkLst>
        <pc:spChg chg="mod">
          <ac:chgData name="SUJAY S" userId="5c69bd88d60a2055" providerId="LiveId" clId="{7737AEB2-26CB-4DB7-9B96-D0A8D94AE714}" dt="2026-09-30T13:25:13.463" v="114" actId="20577"/>
          <ac:spMkLst>
            <pc:docMk/>
            <pc:sldMk cId="0" sldId="267"/>
            <ac:spMk id="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lean_bg_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645920"/>
            <a:ext cx="62179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4800" b="1">
                <a:solidFill>
                  <a:srgbClr val="FFFFFF"/>
                </a:solidFill>
                <a:latin typeface="Segoe UI"/>
              </a:defRPr>
            </a:pPr>
            <a:r>
              <a:t>EduVision_DV</a:t>
            </a:r>
          </a:p>
          <a:p>
            <a:pPr>
              <a:spcAft>
                <a:spcPts val="200"/>
              </a:spcAft>
              <a:defRPr sz="1800" b="1">
                <a:solidFill>
                  <a:srgbClr val="38BDF8"/>
                </a:solidFill>
                <a:latin typeface="Segoe UI"/>
              </a:defRPr>
            </a:pPr>
            <a:r>
              <a:t>HIGHER EDUCATION INTELLIGENCE SYSTEM</a:t>
            </a:r>
          </a:p>
          <a:p>
            <a:pPr>
              <a:spcAft>
                <a:spcPts val="2800"/>
              </a:spcAft>
              <a:defRPr sz="1700" b="1">
                <a:solidFill>
                  <a:srgbClr val="FFFFFF"/>
                </a:solidFill>
                <a:latin typeface="Segoe UI"/>
              </a:defRPr>
            </a:pPr>
            <a:r>
              <a:t>FOR INSTITUTIONAL PERFORMANCE &amp; ACADEMIC EXCELLENCE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Domain: Data Visualization &amp; Higher Education Analytics</a:t>
            </a:r>
            <a:br/>
            <a:r>
              <a:t>Internship Track: Infosys Springboard Internship 7.0</a:t>
            </a:r>
            <a:br/>
            <a:r>
              <a:t>Author: Sujay S  | 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Technology Stack: The Analytics &amp; BI Framework Explained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2487168" cy="1371600"/>
          </a:xfrm>
          <a:prstGeom prst="roundRect">
            <a:avLst/>
          </a:prstGeom>
          <a:solidFill>
            <a:srgbClr val="131C35"/>
          </a:solidFill>
          <a:ln w="1524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300"/>
              </a:spcAft>
              <a:defRPr sz="1700" b="1">
                <a:solidFill>
                  <a:srgbClr val="38BDF8"/>
                </a:solidFill>
                <a:latin typeface="Segoe UI"/>
              </a:defRPr>
            </a:pPr>
            <a:r>
              <a:t>Python 3.11 ETL</a:t>
            </a:r>
          </a:p>
          <a:p>
            <a:pPr algn="ctr">
              <a:defRPr sz="1100">
                <a:solidFill>
                  <a:srgbClr val="94A3B8"/>
                </a:solidFill>
                <a:latin typeface="Segoe UI"/>
              </a:defRPr>
            </a:pPr>
            <a:r>
              <a:t>Data Ingestion &amp; Normalization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2487168" cy="2926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Python / Pandas: Data Cleaning</a:t>
            </a:r>
          </a:p>
          <a:p>
            <a:pPr>
              <a:defRPr sz="1200">
                <a:solidFill>
                  <a:srgbClr val="CBD5E1"/>
                </a:solidFill>
                <a:latin typeface="Segoe UI"/>
              </a:defRPr>
            </a:pPr>
            <a:r>
              <a:t>Pandas &amp; NumPy data pipeline, regex entity normalization, deterministic acronym stripping, and data imputation.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737360"/>
            <a:ext cx="2487168" cy="1371600"/>
          </a:xfrm>
          <a:prstGeom prst="roundRect">
            <a:avLst/>
          </a:prstGeom>
          <a:solidFill>
            <a:srgbClr val="131C35"/>
          </a:solidFill>
          <a:ln w="1524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300"/>
              </a:spcAft>
              <a:defRPr sz="1700" b="1">
                <a:solidFill>
                  <a:srgbClr val="38BDF8"/>
                </a:solidFill>
                <a:latin typeface="Segoe UI"/>
              </a:defRPr>
            </a:pPr>
            <a:r>
              <a:t>Star Schema</a:t>
            </a:r>
          </a:p>
          <a:p>
            <a:pPr algn="ctr">
              <a:defRPr sz="1100">
                <a:solidFill>
                  <a:srgbClr val="94A3B8"/>
                </a:solidFill>
                <a:latin typeface="Segoe UI"/>
              </a:defRPr>
            </a:pPr>
            <a:r>
              <a:t>Dimensional Data Modeling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3291840"/>
            <a:ext cx="2487168" cy="2926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Star Schema: Relational Model</a:t>
            </a:r>
          </a:p>
          <a:p>
            <a:pPr>
              <a:defRPr sz="1200">
                <a:solidFill>
                  <a:srgbClr val="CBD5E1"/>
                </a:solidFill>
                <a:latin typeface="Segoe UI"/>
              </a:defRPr>
            </a:pPr>
            <a:r>
              <a:t>Centralized conformed dimension spine (dim_university, dim_country) linked to 4 analytical fact tables with 0 orphan records.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2487168" cy="1371600"/>
          </a:xfrm>
          <a:prstGeom prst="roundRect">
            <a:avLst/>
          </a:prstGeom>
          <a:solidFill>
            <a:srgbClr val="131C35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300"/>
              </a:spcAft>
              <a:defRPr sz="1700" b="1">
                <a:solidFill>
                  <a:srgbClr val="38BDF8"/>
                </a:solidFill>
                <a:latin typeface="Segoe UI"/>
              </a:defRPr>
            </a:pPr>
            <a:r>
              <a:t>Tableau 2026</a:t>
            </a:r>
          </a:p>
          <a:p>
            <a:pPr algn="ctr">
              <a:defRPr sz="1100">
                <a:solidFill>
                  <a:srgbClr val="94A3B8"/>
                </a:solidFill>
                <a:latin typeface="Segoe UI"/>
              </a:defRPr>
            </a:pPr>
            <a:r>
              <a:t>Interactive BI Dashboard Suite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3291840"/>
            <a:ext cx="2487168" cy="2926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Tableau 2026: Interactive BI</a:t>
            </a:r>
          </a:p>
          <a:p>
            <a:pPr>
              <a:defRPr sz="1200">
                <a:solidFill>
                  <a:srgbClr val="CBD5E1"/>
                </a:solidFill>
                <a:latin typeface="Segoe UI"/>
              </a:defRPr>
            </a:pPr>
            <a:r>
              <a:t>4 interconnected dashboards, bidirectional action filters, dynamic parameter controls, and custom dark UI containers.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737360"/>
            <a:ext cx="2487168" cy="1371600"/>
          </a:xfrm>
          <a:prstGeom prst="roundRect">
            <a:avLst/>
          </a:prstGeom>
          <a:solidFill>
            <a:srgbClr val="131C35"/>
          </a:solidFill>
          <a:ln w="1524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300"/>
              </a:spcAft>
              <a:defRPr sz="1700" b="1">
                <a:solidFill>
                  <a:srgbClr val="38BDF8"/>
                </a:solidFill>
                <a:latin typeface="Segoe UI"/>
              </a:defRPr>
            </a:pPr>
            <a:r>
              <a:t>Automated QA</a:t>
            </a:r>
          </a:p>
          <a:p>
            <a:pPr algn="ctr">
              <a:defRPr sz="1100">
                <a:solidFill>
                  <a:srgbClr val="94A3B8"/>
                </a:solidFill>
                <a:latin typeface="Segoe UI"/>
              </a:defRPr>
            </a:pPr>
            <a:r>
              <a:t>Data Integrity Verification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3291840"/>
            <a:ext cx="2487168" cy="2926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QA Engine: 12/12 Verified</a:t>
            </a:r>
          </a:p>
          <a:p>
            <a:pPr>
              <a:defRPr sz="1200">
                <a:solidFill>
                  <a:srgbClr val="CBD5E1"/>
                </a:solidFill>
                <a:latin typeface="Segoe UI"/>
              </a:defRPr>
            </a:pPr>
            <a:r>
              <a:t>12 automated integrity assertions (validate_and_test.py), 100% pass score, and multi-sheet audit Excel models.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Core Features of EduVision_DV Platform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01568" cy="2103120"/>
          </a:xfrm>
          <a:prstGeom prst="roundRect">
            <a:avLst/>
          </a:prstGeom>
          <a:solidFill>
            <a:srgbClr val="131C35"/>
          </a:solidFill>
          <a:ln w="1270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dashboard_1_university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1682496"/>
            <a:ext cx="3328416" cy="20299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3931920"/>
            <a:ext cx="3401568" cy="23774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Institutional Benchmarking</a:t>
            </a:r>
          </a:p>
          <a:p>
            <a:pPr>
              <a:defRPr sz="1200">
                <a:solidFill>
                  <a:srgbClr val="CBD5E1"/>
                </a:solidFill>
                <a:latin typeface="Segoe UI"/>
              </a:defRPr>
            </a:pPr>
            <a:r>
              <a:t>Interactive landing scorecard providing global ranking matrices, academic reputation vs. score scatter, and choropleth geographic distribution.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401568" cy="2103120"/>
          </a:xfrm>
          <a:prstGeom prst="roundRect">
            <a:avLst/>
          </a:prstGeom>
          <a:solidFill>
            <a:srgbClr val="131C35"/>
          </a:solidFill>
          <a:ln w="1270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dashboard_2_research_analyt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5696" y="1682496"/>
            <a:ext cx="3328416" cy="20299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389120" y="3931920"/>
            <a:ext cx="3401568" cy="23774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Research Productivity &amp; Citations</a:t>
            </a:r>
          </a:p>
          <a:p>
            <a:pPr>
              <a:defRPr sz="1200">
                <a:solidFill>
                  <a:srgbClr val="CBD5E1"/>
                </a:solidFill>
                <a:latin typeface="Segoe UI"/>
              </a:defRPr>
            </a:pPr>
            <a:r>
              <a:t>Deep-dive evaluation of citation impact per faculty member, international research network collaboration, and quadrant performance grids.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401568" cy="2103120"/>
          </a:xfrm>
          <a:prstGeom prst="roundRect">
            <a:avLst/>
          </a:prstGeom>
          <a:solidFill>
            <a:srgbClr val="131C35"/>
          </a:solidFill>
          <a:ln w="1270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dashboard_3_student_analytic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3296" y="1682496"/>
            <a:ext cx="3328416" cy="20299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046720" y="3931920"/>
            <a:ext cx="3401568" cy="23774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Campus Diversity &amp; Policy Insights</a:t>
            </a:r>
          </a:p>
          <a:p>
            <a:pPr>
              <a:defRPr sz="1200">
                <a:solidFill>
                  <a:srgbClr val="CBD5E1"/>
                </a:solidFill>
                <a:latin typeface="Segoe UI"/>
              </a:defRPr>
            </a:pPr>
            <a:r>
              <a:t>Empirical faculty-to-student ratios, international student percentages, and World Bank public tertiary education expenditure benchmarks.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lean_bg_p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280160"/>
            <a:ext cx="41148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600"/>
              </a:spcAft>
              <a:defRPr sz="3800" b="1">
                <a:solidFill>
                  <a:srgbClr val="FFFFFF"/>
                </a:solidFill>
                <a:latin typeface="Segoe UI"/>
              </a:defRPr>
            </a:pPr>
            <a:r>
              <a:t>Challenges</a:t>
            </a:r>
            <a:br/>
            <a:r>
              <a:t>Facing Higher</a:t>
            </a:r>
            <a:br/>
            <a:r>
              <a:t>Education</a:t>
            </a:r>
            <a:br/>
            <a:r>
              <a:t>Analytics</a:t>
            </a:r>
          </a:p>
          <a:p>
            <a:pPr>
              <a:defRPr sz="1400">
                <a:solidFill>
                  <a:srgbClr val="38BDF8"/>
                </a:solidFill>
                <a:latin typeface="Segoe UI"/>
              </a:defRPr>
            </a:pPr>
            <a:r>
              <a:t>Critical structural and methodological barriers in multi-source institutional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39512" y="1042415"/>
            <a:ext cx="566928" cy="246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86216" y="1042415"/>
            <a:ext cx="566928" cy="246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39512" y="4023360"/>
            <a:ext cx="566928" cy="246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86216" y="4023360"/>
            <a:ext cx="566928" cy="246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39512" y="1417320"/>
            <a:ext cx="3108960" cy="2194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Fragmented Data Sources</a:t>
            </a:r>
          </a:p>
          <a:p>
            <a:r>
              <a:rPr sz="1200" b="0">
                <a:solidFill>
                  <a:srgbClr val="CBD5E1"/>
                </a:solidFill>
                <a:latin typeface="Segoe UI"/>
              </a:rPr>
              <a:t>Rankings (</a:t>
            </a:r>
            <a:r>
              <a:rPr sz="1200" b="1">
                <a:solidFill>
                  <a:srgbClr val="FFFFFF"/>
                </a:solidFill>
                <a:latin typeface="Segoe UI"/>
              </a:rPr>
              <a:t>QS, THE, WUR</a:t>
            </a:r>
            <a:r>
              <a:rPr sz="1200" b="0">
                <a:solidFill>
                  <a:srgbClr val="CBD5E1"/>
                </a:solidFill>
                <a:latin typeface="Segoe UI"/>
              </a:rPr>
              <a:t>) and </a:t>
            </a:r>
            <a:r>
              <a:rPr sz="1200" b="1">
                <a:solidFill>
                  <a:srgbClr val="FFFFFF"/>
                </a:solidFill>
                <a:latin typeface="Segoe UI"/>
              </a:rPr>
              <a:t>World Bank economic data</a:t>
            </a:r>
            <a:r>
              <a:rPr sz="1200" b="0">
                <a:solidFill>
                  <a:srgbClr val="CBD5E1"/>
                </a:solidFill>
                <a:latin typeface="Segoe UI"/>
              </a:rPr>
              <a:t> reside in isolated silos with incompatible metrics, varying temporal windows, and divergent formats.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86216" y="1417320"/>
            <a:ext cx="3108960" cy="2194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Acronym &amp; Name Inconsistencies</a:t>
            </a:r>
          </a:p>
          <a:p>
            <a:r>
              <a:rPr sz="1200" b="0">
                <a:solidFill>
                  <a:srgbClr val="CBD5E1"/>
                </a:solidFill>
                <a:latin typeface="Segoe UI"/>
              </a:rPr>
              <a:t>Institutional names frequently include </a:t>
            </a:r>
            <a:r>
              <a:rPr sz="1200" b="1">
                <a:solidFill>
                  <a:srgbClr val="FFFFFF"/>
                </a:solidFill>
                <a:latin typeface="Segoe UI"/>
              </a:rPr>
              <a:t>parenthetical acronyms</a:t>
            </a:r>
            <a:r>
              <a:rPr sz="1200" b="0">
                <a:solidFill>
                  <a:srgbClr val="CBD5E1"/>
                </a:solidFill>
                <a:latin typeface="Segoe UI"/>
              </a:rPr>
              <a:t> (e.g., '(MIT)') or localized spellings, causing key mismatches and false merges in standard joins.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39512" y="4389120"/>
            <a:ext cx="3108960" cy="2194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Metric Misrepresentation</a:t>
            </a:r>
          </a:p>
          <a:p>
            <a:r>
              <a:rPr sz="1200" b="0">
                <a:solidFill>
                  <a:srgbClr val="CBD5E1"/>
                </a:solidFill>
                <a:latin typeface="Segoe UI"/>
              </a:rPr>
              <a:t>Survey-based ranking scores (0–100 indices) are routinely conflated with </a:t>
            </a:r>
            <a:r>
              <a:rPr sz="1200" b="1">
                <a:solidFill>
                  <a:srgbClr val="FFFFFF"/>
                </a:solidFill>
                <a:latin typeface="Segoe UI"/>
              </a:rPr>
              <a:t>actual empirical metrics</a:t>
            </a:r>
            <a:r>
              <a:rPr sz="1200" b="0">
                <a:solidFill>
                  <a:srgbClr val="CBD5E1"/>
                </a:solidFill>
                <a:latin typeface="Segoe UI"/>
              </a:rPr>
              <a:t>, such as real student-to-staff ratios and headcounts.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86216" y="4389120"/>
            <a:ext cx="3108960" cy="2194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Disconnected Policy Context</a:t>
            </a:r>
          </a:p>
          <a:p>
            <a:r>
              <a:rPr sz="1200" b="0">
                <a:solidFill>
                  <a:srgbClr val="CBD5E1"/>
                </a:solidFill>
                <a:latin typeface="Segoe UI"/>
              </a:rPr>
              <a:t>Institutional rankings operate in isolation from </a:t>
            </a:r>
            <a:r>
              <a:rPr sz="1200" b="1">
                <a:solidFill>
                  <a:srgbClr val="FFFFFF"/>
                </a:solidFill>
                <a:latin typeface="Segoe UI"/>
              </a:rPr>
              <a:t>macro education economics</a:t>
            </a:r>
            <a:r>
              <a:rPr sz="1200" b="0">
                <a:solidFill>
                  <a:srgbClr val="CBD5E1"/>
                </a:solidFill>
                <a:latin typeface="Segoe UI"/>
              </a:rPr>
              <a:t>, obscuring how national government expenditure (% GDP) drives academic excellence.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lean_bg_p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32588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System Architecture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574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  <a:latin typeface="Segoe UI"/>
              </a:defRPr>
            </a:pPr>
            <a:r>
              <a:t>The system architecture of EduVision_DV is designed to ensure audit-compliant data lineage, robust performance, and seamless cross-dashboard interactivity. Key architectural pillars include: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88920"/>
            <a:ext cx="10728655" cy="374903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1400" b="1">
                <a:solidFill>
                  <a:srgbClr val="38BDF8"/>
                </a:solidFill>
                <a:latin typeface="Segoe UI"/>
              </a:rPr>
              <a:t>•  </a:t>
            </a:r>
            <a:r>
              <a:rPr sz="1450" b="1">
                <a:solidFill>
                  <a:srgbClr val="38BDF8"/>
                </a:solidFill>
                <a:latin typeface="Segoe UI"/>
              </a:rPr>
              <a:t>Multi-Source Data Ingestion: </a:t>
            </a:r>
            <a:r>
              <a:rPr sz="1300">
                <a:solidFill>
                  <a:srgbClr val="FFFFFF"/>
                </a:solidFill>
                <a:latin typeface="Segoe UI"/>
              </a:rPr>
              <a:t>Automated staging and schema validation across QS 2025 (1,503 institutions), THE 2024 (2,673 institutions), WUR 2023 (2,341 institutions), and World Bank EdStats.</a:t>
            </a: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38BDF8"/>
                </a:solidFill>
                <a:latin typeface="Segoe UI"/>
              </a:rPr>
              <a:t>•  </a:t>
            </a:r>
            <a:r>
              <a:rPr sz="1450" b="1">
                <a:solidFill>
                  <a:srgbClr val="38BDF8"/>
                </a:solidFill>
                <a:latin typeface="Segoe UI"/>
              </a:rPr>
              <a:t>Conformed Star Schema: </a:t>
            </a:r>
            <a:r>
              <a:rPr sz="1300">
                <a:solidFill>
                  <a:srgbClr val="FFFFFF"/>
                </a:solidFill>
                <a:latin typeface="Segoe UI"/>
              </a:rPr>
              <a:t>Centralized dimension spine (dim_university, dim_country) linked to 4 specialized fact tables (fact_university_performance, fact_research, fact_student, fact_country_education).</a:t>
            </a: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38BDF8"/>
                </a:solidFill>
                <a:latin typeface="Segoe UI"/>
              </a:rPr>
              <a:t>•  </a:t>
            </a:r>
            <a:r>
              <a:rPr sz="1450" b="1">
                <a:solidFill>
                  <a:srgbClr val="38BDF8"/>
                </a:solidFill>
                <a:latin typeface="Segoe UI"/>
              </a:rPr>
              <a:t>Deterministic Cleaning Pipeline: </a:t>
            </a:r>
            <a:r>
              <a:rPr sz="1300">
                <a:solidFill>
                  <a:srgbClr val="FFFFFF"/>
                </a:solidFill>
                <a:latin typeface="Segoe UI"/>
              </a:rPr>
              <a:t>Multi-stage regex cleaning, parenthetical acronym stripping, and missing rank imputation (&gt;500 band), guaranteeing 100% referential integrity with zero orphans.</a:t>
            </a: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38BDF8"/>
                </a:solidFill>
                <a:latin typeface="Segoe UI"/>
              </a:rPr>
              <a:t>•  </a:t>
            </a:r>
            <a:r>
              <a:rPr sz="1450" b="1">
                <a:solidFill>
                  <a:srgbClr val="38BDF8"/>
                </a:solidFill>
                <a:latin typeface="Segoe UI"/>
              </a:rPr>
              <a:t>Bidirectional Interactivity: </a:t>
            </a:r>
            <a:r>
              <a:rPr sz="1300">
                <a:solidFill>
                  <a:srgbClr val="FFFFFF"/>
                </a:solidFill>
                <a:latin typeface="Segoe UI"/>
              </a:rPr>
              <a:t>High-performance Tableau extracts, synchronized filter actions passing university_id and country_id, and dynamic parameter controls across all 4 dashboards.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lean_bg_p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280160"/>
            <a:ext cx="41148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600"/>
              </a:spcAft>
              <a:defRPr sz="3800" b="1">
                <a:solidFill>
                  <a:srgbClr val="FFFFFF"/>
                </a:solidFill>
                <a:latin typeface="Segoe UI"/>
              </a:defRPr>
            </a:pPr>
            <a:r>
              <a:t>Challenges and</a:t>
            </a:r>
            <a:br/>
            <a:r>
              <a:t>Solutions in</a:t>
            </a:r>
            <a:br/>
            <a:r>
              <a:t>EduVision_DV</a:t>
            </a:r>
          </a:p>
          <a:p>
            <a:pPr>
              <a:defRPr sz="1400">
                <a:solidFill>
                  <a:srgbClr val="2BCA81"/>
                </a:solidFill>
                <a:latin typeface="Segoe UI"/>
              </a:defRPr>
            </a:pPr>
            <a:r>
              <a:t>Technical innovations resolving data quality, volume, and visualization hurdles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39512" y="1042415"/>
            <a:ext cx="566928" cy="246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86216" y="1042415"/>
            <a:ext cx="566928" cy="246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39512" y="4023360"/>
            <a:ext cx="566928" cy="246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86216" y="4023360"/>
            <a:ext cx="566928" cy="246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39512" y="1417320"/>
            <a:ext cx="3108960" cy="2194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Entity Normalization</a:t>
            </a:r>
          </a:p>
          <a:p>
            <a:r>
              <a:rPr sz="1200" b="0">
                <a:solidFill>
                  <a:srgbClr val="CBD5E1"/>
                </a:solidFill>
                <a:latin typeface="Segoe UI"/>
              </a:rPr>
              <a:t>Engineered a deterministic </a:t>
            </a:r>
            <a:r>
              <a:rPr sz="1200" b="1">
                <a:solidFill>
                  <a:srgbClr val="FFFFFF"/>
                </a:solidFill>
                <a:latin typeface="Segoe UI"/>
              </a:rPr>
              <a:t>regex pipeline</a:t>
            </a:r>
            <a:r>
              <a:rPr sz="1200" b="0">
                <a:solidFill>
                  <a:srgbClr val="CBD5E1"/>
                </a:solidFill>
                <a:latin typeface="Segoe UI"/>
              </a:rPr>
              <a:t> that systematically strips parenthetical acronyms and punctuation, achieving </a:t>
            </a:r>
            <a:r>
              <a:rPr sz="1200" b="1">
                <a:solidFill>
                  <a:srgbClr val="FFFFFF"/>
                </a:solidFill>
                <a:latin typeface="Segoe UI"/>
              </a:rPr>
              <a:t>849 verified research joins</a:t>
            </a:r>
            <a:r>
              <a:rPr sz="1200" b="0">
                <a:solidFill>
                  <a:srgbClr val="CBD5E1"/>
                </a:solidFill>
                <a:latin typeface="Segoe UI"/>
              </a:rPr>
              <a:t> with zero false matches.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86216" y="1417320"/>
            <a:ext cx="3108960" cy="2194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Schema Integrity &amp; Zero Orphans</a:t>
            </a:r>
          </a:p>
          <a:p>
            <a:r>
              <a:rPr sz="1200" b="0">
                <a:solidFill>
                  <a:srgbClr val="CBD5E1"/>
                </a:solidFill>
                <a:latin typeface="Segoe UI"/>
              </a:rPr>
              <a:t>Enforced primary-to-foreign surrogate key relationships across all fact tables. Automated test suites verify </a:t>
            </a:r>
            <a:r>
              <a:rPr sz="1200" b="1">
                <a:solidFill>
                  <a:srgbClr val="FFFFFF"/>
                </a:solidFill>
                <a:latin typeface="Segoe UI"/>
              </a:rPr>
              <a:t>100% referential integrity with zero orphan records</a:t>
            </a:r>
            <a:r>
              <a:rPr sz="1200" b="0">
                <a:solidFill>
                  <a:srgbClr val="CBD5E1"/>
                </a:solidFill>
                <a:latin typeface="Segoe UI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39512" y="4389120"/>
            <a:ext cx="3108960" cy="2194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Performance &amp; Volume Optimization</a:t>
            </a:r>
          </a:p>
          <a:p>
            <a:r>
              <a:rPr sz="1200" b="0">
                <a:solidFill>
                  <a:srgbClr val="CBD5E1"/>
                </a:solidFill>
                <a:latin typeface="Segoe UI"/>
              </a:rPr>
              <a:t>Aggregated World Bank EdStats from 886,930 rows to 2,243 rows across 6 core indicators, reducing file size by </a:t>
            </a:r>
            <a:r>
              <a:rPr sz="1200" b="1">
                <a:solidFill>
                  <a:srgbClr val="FFFFFF"/>
                </a:solidFill>
                <a:latin typeface="Segoe UI"/>
              </a:rPr>
              <a:t>99.7%</a:t>
            </a:r>
            <a:r>
              <a:rPr sz="1200" b="0">
                <a:solidFill>
                  <a:srgbClr val="CBD5E1"/>
                </a:solidFill>
                <a:latin typeface="Segoe UI"/>
              </a:rPr>
              <a:t> and ensuring </a:t>
            </a:r>
            <a:r>
              <a:rPr sz="1200" b="1">
                <a:solidFill>
                  <a:srgbClr val="FFFFFF"/>
                </a:solidFill>
                <a:latin typeface="Segoe UI"/>
              </a:rPr>
              <a:t>instant Tableau query rendering</a:t>
            </a:r>
            <a:r>
              <a:rPr sz="1200" b="0">
                <a:solidFill>
                  <a:srgbClr val="CBD5E1"/>
                </a:solidFill>
                <a:latin typeface="Segoe UI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86216" y="4389120"/>
            <a:ext cx="3108960" cy="2194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Cross-Dashboard Filtration</a:t>
            </a:r>
          </a:p>
          <a:p>
            <a:r>
              <a:rPr sz="1200" b="0">
                <a:solidFill>
                  <a:srgbClr val="CBD5E1"/>
                </a:solidFill>
                <a:latin typeface="Segoe UI"/>
              </a:rPr>
              <a:t>Configured </a:t>
            </a:r>
            <a:r>
              <a:rPr sz="1200" b="1">
                <a:solidFill>
                  <a:srgbClr val="FFFFFF"/>
                </a:solidFill>
                <a:latin typeface="Segoe UI"/>
              </a:rPr>
              <a:t>bidirectional action filters</a:t>
            </a:r>
            <a:r>
              <a:rPr sz="1200" b="0">
                <a:solidFill>
                  <a:srgbClr val="CBD5E1"/>
                </a:solidFill>
                <a:latin typeface="Segoe UI"/>
              </a:rPr>
              <a:t> and shared dimensions, allowing users to click any university or country to dynamically filter and cross-examine across all 4 dashboards.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lean_bg_p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Measurable Outcomes and Positive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892040"/>
            <a:ext cx="3401568" cy="1645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100% QA Test Pass Rate</a:t>
            </a:r>
          </a:p>
          <a:p>
            <a:pPr>
              <a:spcAft>
                <a:spcPts val="400"/>
              </a:spcAft>
              <a:defRPr sz="1200" b="1">
                <a:solidFill>
                  <a:srgbClr val="38BDF8"/>
                </a:solidFill>
                <a:latin typeface="Segoe UI"/>
              </a:defRPr>
            </a:pPr>
            <a:r>
              <a:t>Result: 100% PASS (12/12 ASSERTIONS)</a:t>
            </a:r>
          </a:p>
          <a:p>
            <a:pPr>
              <a:defRPr sz="1100">
                <a:solidFill>
                  <a:srgbClr val="CBD5E1"/>
                </a:solidFill>
                <a:latin typeface="Segoe UI"/>
              </a:defRPr>
            </a:pPr>
            <a:r>
              <a:t>Automated test suite (validate_and_test.py) verified 12 of 12 assertions across primary key uniqueness, foreign key integrity, and KPI mathematical boundaries.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4892040"/>
            <a:ext cx="3401568" cy="1645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99.7% Volume Optimization</a:t>
            </a:r>
          </a:p>
          <a:p>
            <a:pPr>
              <a:spcAft>
                <a:spcPts val="400"/>
              </a:spcAft>
              <a:defRPr sz="1200" b="1">
                <a:solidFill>
                  <a:srgbClr val="38BDF8"/>
                </a:solidFill>
                <a:latin typeface="Segoe UI"/>
              </a:defRPr>
            </a:pPr>
            <a:r>
              <a:t>Result: 99.7% ROW REDUCTION (886K -&gt; 2.2K)</a:t>
            </a:r>
          </a:p>
          <a:p>
            <a:pPr>
              <a:defRPr sz="1100">
                <a:solidFill>
                  <a:srgbClr val="CBD5E1"/>
                </a:solidFill>
                <a:latin typeface="Segoe UI"/>
              </a:defRPr>
            </a:pPr>
            <a:r>
              <a:t>Transformed massive 886k+ row World Bank dataset into an optimized 2.2k row analytical table, achieving sub-second Tableau query latency with 100% data fidelity.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892040"/>
            <a:ext cx="3401568" cy="1645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Unified Multi-Role Decision Support</a:t>
            </a:r>
          </a:p>
          <a:p>
            <a:pPr>
              <a:spcAft>
                <a:spcPts val="400"/>
              </a:spcAft>
              <a:defRPr sz="1200" b="1">
                <a:solidFill>
                  <a:srgbClr val="38BDF8"/>
                </a:solidFill>
                <a:latin typeface="Segoe UI"/>
              </a:defRPr>
            </a:pPr>
            <a:r>
              <a:t>Result: 4 INTERCONNECTED DASHBOARDS</a:t>
            </a:r>
          </a:p>
          <a:p>
            <a:pPr>
              <a:defRPr sz="1100">
                <a:solidFill>
                  <a:srgbClr val="CBD5E1"/>
                </a:solidFill>
                <a:latin typeface="Segoe UI"/>
              </a:defRPr>
            </a:pPr>
            <a:r>
              <a:t>Delivered 4 fully interconnected Tableau dashboards serving university deans, academic researchers, prospective international students, and education policymakers.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3749039" cy="5486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  <a:defRPr sz="3200" b="1">
                <a:solidFill>
                  <a:srgbClr val="FFFFFF"/>
                </a:solidFill>
                <a:latin typeface="Segoe UI"/>
              </a:defRPr>
            </a:pPr>
            <a:r>
              <a:t>Production</a:t>
            </a:r>
            <a:br/>
            <a:r>
              <a:t>Dashboard Suite</a:t>
            </a:r>
            <a:br/>
            <a:r>
              <a:t>Showcase</a:t>
            </a:r>
          </a:p>
          <a:p>
            <a:pPr>
              <a:spcAft>
                <a:spcPts val="20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These production dashboards showcase a seamless, interconnected intelligence experience, enhancing institutional decision-making through intuitive design and bidirectional filter actions.</a:t>
            </a:r>
          </a:p>
          <a:p>
            <a:pPr>
              <a:defRPr sz="1300">
                <a:solidFill>
                  <a:srgbClr val="38BDF8"/>
                </a:solidFill>
                <a:latin typeface="Segoe UI"/>
              </a:defRPr>
            </a:pPr>
            <a:r>
              <a:t>• Dashboard 1: University Overview</a:t>
            </a:r>
            <a:br/>
            <a:r>
              <a:t>• Dashboard 2: Research Analytics</a:t>
            </a:r>
            <a:br/>
            <a:r>
              <a:t>• Dashboard 3: Student Analytics</a:t>
            </a:r>
            <a:br/>
            <a:r>
              <a:t>• Dashboard 4: Country Comparison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0" y="731520"/>
            <a:ext cx="3291840" cy="2606040"/>
          </a:xfrm>
          <a:prstGeom prst="roundRect">
            <a:avLst/>
          </a:prstGeom>
          <a:solidFill>
            <a:srgbClr val="131C35"/>
          </a:solidFill>
          <a:ln w="1270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dashboard_1_university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168" y="749808"/>
            <a:ext cx="3255264" cy="256946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275320" y="731520"/>
            <a:ext cx="3291840" cy="2606040"/>
          </a:xfrm>
          <a:prstGeom prst="roundRect">
            <a:avLst/>
          </a:prstGeom>
          <a:solidFill>
            <a:srgbClr val="131C35"/>
          </a:solidFill>
          <a:ln w="1270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dashboard_2_research_analyt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608" y="749808"/>
            <a:ext cx="3255264" cy="256946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754880" y="3566160"/>
            <a:ext cx="3291840" cy="2606040"/>
          </a:xfrm>
          <a:prstGeom prst="roundRect">
            <a:avLst/>
          </a:prstGeom>
          <a:solidFill>
            <a:srgbClr val="131C35"/>
          </a:solidFill>
          <a:ln w="1270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dashboard_3_student_analytic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3584448"/>
            <a:ext cx="3255264" cy="256946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75320" y="3566160"/>
            <a:ext cx="3291840" cy="2606040"/>
          </a:xfrm>
          <a:prstGeom prst="roundRect">
            <a:avLst/>
          </a:prstGeom>
          <a:solidFill>
            <a:srgbClr val="131C35"/>
          </a:solidFill>
          <a:ln w="1270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dashboard_4_country_comparis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3608" y="3584448"/>
            <a:ext cx="3255264" cy="25694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lean_bg_p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03520" y="731520"/>
            <a:ext cx="62179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800" b="1">
                <a:solidFill>
                  <a:srgbClr val="FFFFFF"/>
                </a:solidFill>
                <a:latin typeface="Segoe UI"/>
              </a:defRPr>
            </a:pPr>
            <a:r>
              <a:t>Interactive Analytical Workflow</a:t>
            </a:r>
            <a:br/>
            <a:r>
              <a:t>&amp; Decision Journey</a:t>
            </a:r>
          </a:p>
          <a:p>
            <a:pPr>
              <a:spcAft>
                <a:spcPts val="400"/>
              </a:spcAft>
              <a:defRPr sz="1600" b="1">
                <a:solidFill>
                  <a:srgbClr val="38BDF8"/>
                </a:solidFill>
                <a:latin typeface="Segoe UI"/>
              </a:defRPr>
            </a:pPr>
            <a:r>
              <a:t>1. Global Discovery &amp; Institutional Benchmarking</a:t>
            </a:r>
          </a:p>
          <a:p>
            <a:pPr>
              <a:spcAft>
                <a:spcPts val="18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Leadership begins on Dashboard 1 to evaluate institutional standing, ranking tiers (Top 10, Top 50, Top 100), and global score distributions across continents.</a:t>
            </a:r>
          </a:p>
          <a:p>
            <a:pPr>
              <a:spcAft>
                <a:spcPts val="400"/>
              </a:spcAft>
              <a:defRPr sz="1600" b="1">
                <a:solidFill>
                  <a:srgbClr val="38BDF8"/>
                </a:solidFill>
                <a:latin typeface="Segoe UI"/>
              </a:defRPr>
            </a:pPr>
            <a:r>
              <a:t>2. Research Impact &amp; Citation Deep-Dive</a:t>
            </a:r>
          </a:p>
          <a:p>
            <a:pPr>
              <a:spcAft>
                <a:spcPts val="18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Deans drill into Dashboard 2 to assess citation velocity per faculty member, international research networks, and quadrant positions against peer benchmarks.</a:t>
            </a:r>
          </a:p>
          <a:p>
            <a:pPr>
              <a:spcAft>
                <a:spcPts val="400"/>
              </a:spcAft>
              <a:defRPr sz="1600" b="1">
                <a:solidFill>
                  <a:srgbClr val="38BDF8"/>
                </a:solidFill>
                <a:latin typeface="Segoe UI"/>
              </a:defRPr>
            </a:pPr>
            <a:r>
              <a:t>3. Campus Demographics &amp; Macro Policy Context</a:t>
            </a:r>
          </a:p>
          <a:p>
            <a:pPr>
              <a:spcAft>
                <a:spcPts val="18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Applicants examine actual faculty-to-student ratios and diversity on Dashboard 3, while policymakers benchmark national tertiary expenditure on Dashboard 4.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lean_bg_p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Future Enhancements for EduVision_DV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892040"/>
            <a:ext cx="3401568" cy="1645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AI &amp; Predictive Ranking Models</a:t>
            </a:r>
          </a:p>
          <a:p>
            <a:pPr>
              <a:spcAft>
                <a:spcPts val="2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 Implement machine learning regression to forecast 3-year ranking trajectories.</a:t>
            </a:r>
          </a:p>
          <a:p>
            <a:pPr>
              <a:spcAft>
                <a:spcPts val="2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 Cluster analysis to identify emerging peer institutions with similar growth.</a:t>
            </a:r>
          </a:p>
          <a:p>
            <a:pPr>
              <a:spcAft>
                <a:spcPts val="2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 Predictive simulations for institutional funding impacts.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4892040"/>
            <a:ext cx="3401568" cy="1645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Automated Data Ingestion Pipelines</a:t>
            </a:r>
          </a:p>
          <a:p>
            <a:pPr>
              <a:spcAft>
                <a:spcPts val="2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 Build scheduled API connectors to dynamically ingest annual QS, THE, and EdStats.</a:t>
            </a:r>
          </a:p>
          <a:p>
            <a:pPr>
              <a:spcAft>
                <a:spcPts val="2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 Automated schema validation and anomaly detection for newly ingested releases.</a:t>
            </a:r>
          </a:p>
          <a:p>
            <a:pPr>
              <a:spcAft>
                <a:spcPts val="2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 Cloud data lakehouse integration for continuous institutional telemetry.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892040"/>
            <a:ext cx="3401568" cy="1645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Personalized Applicant Advisory</a:t>
            </a:r>
          </a:p>
          <a:p>
            <a:pPr>
              <a:spcAft>
                <a:spcPts val="2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 Develop student matching engine based on academic interest and mobility goals.</a:t>
            </a:r>
          </a:p>
          <a:p>
            <a:pPr>
              <a:spcAft>
                <a:spcPts val="2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 Interactive cost-of-education and funding accessibility calculator.</a:t>
            </a:r>
          </a:p>
          <a:p>
            <a:pPr>
              <a:spcAft>
                <a:spcPts val="2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 Personalized university comparison matrix for prospective applicants.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TEAM MEMBERS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377440" y="2011680"/>
            <a:ext cx="7406640" cy="4114800"/>
          </a:xfrm>
          <a:prstGeom prst="roundRect">
            <a:avLst/>
          </a:prstGeom>
          <a:solidFill>
            <a:srgbClr val="131C35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365760" rIns="548640" rtlCol="0" anchor="ctr"/>
          <a:lstStyle/>
          <a:p>
            <a:pPr algn="ctr">
              <a:spcAft>
                <a:spcPts val="400"/>
              </a:spcAft>
              <a:defRPr sz="3000" b="1">
                <a:solidFill>
                  <a:srgbClr val="FFFFFF"/>
                </a:solidFill>
                <a:latin typeface="Segoe UI"/>
              </a:defRPr>
            </a:pPr>
            <a:r>
              <a:t>Sujay S</a:t>
            </a:r>
          </a:p>
          <a:p>
            <a:pPr algn="ctr">
              <a:spcAft>
                <a:spcPts val="1200"/>
              </a:spcAft>
              <a:defRPr sz="1600" b="1">
                <a:solidFill>
                  <a:srgbClr val="38BDF8"/>
                </a:solidFill>
                <a:latin typeface="Segoe UI"/>
              </a:defRPr>
            </a:pPr>
            <a:r>
              <a:t>Lead Developer &amp; Data Visualization Analyst</a:t>
            </a:r>
          </a:p>
          <a:p>
            <a:pPr algn="ctr">
              <a:spcAft>
                <a:spcPts val="1600"/>
              </a:spcAft>
              <a:defRPr sz="1300">
                <a:solidFill>
                  <a:srgbClr val="94A3B8"/>
                </a:solidFill>
                <a:latin typeface="Segoe UI"/>
              </a:defRPr>
            </a:pPr>
            <a:r>
              <a:t>Infosys Springboard Internship 7.0</a:t>
            </a:r>
            <a:br/>
            <a:r>
              <a:t>Domain: Data Visualization — Higher Education Intelligence System</a:t>
            </a:r>
          </a:p>
          <a:p>
            <a:pPr>
              <a:spcAft>
                <a:spcPts val="400"/>
              </a:spcAft>
              <a:defRPr sz="1300" b="1">
                <a:solidFill>
                  <a:srgbClr val="2BCA81"/>
                </a:solidFill>
                <a:latin typeface="Segoe UI"/>
              </a:defRPr>
            </a:pPr>
            <a:r>
              <a:t>Core Deliverables &amp; Technical Scope:</a:t>
            </a:r>
          </a:p>
          <a:p>
            <a:pPr>
              <a:defRPr sz="1150">
                <a:solidFill>
                  <a:srgbClr val="CBD5E1"/>
                </a:solidFill>
                <a:latin typeface="Segoe UI"/>
              </a:defRPr>
            </a:pPr>
            <a:r>
              <a:t>• End-to-End Automated Python ETL &amp; Regex Entity Normalization Pipeline</a:t>
            </a:r>
            <a:br/>
            <a:r>
              <a:t>• 4 Conformed Fact Tables &amp; Centralized Dimension Star Schema</a:t>
            </a:r>
            <a:br/>
            <a:r>
              <a:t>• 4 Production Interconnected Tableau Dashboards with Bidirectional Filters</a:t>
            </a:r>
            <a:br/>
            <a:r>
              <a:t>• 100% Verified Automated QA Test Suite (12/12 Assertions Passed)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Presentation Video &amp; Live Links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45920" y="2011680"/>
            <a:ext cx="8869680" cy="4114800"/>
          </a:xfrm>
          <a:prstGeom prst="roundRect">
            <a:avLst/>
          </a:prstGeom>
          <a:solidFill>
            <a:srgbClr val="131C35"/>
          </a:solidFill>
          <a:ln w="1270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365760" rIns="548640" rtlCol="0" anchor="ctr"/>
          <a:lstStyle/>
          <a:p>
            <a:pPr algn="ctr">
              <a:spcAft>
                <a:spcPts val="200"/>
              </a:spcAft>
              <a:defRPr sz="1500" b="1">
                <a:solidFill>
                  <a:srgbClr val="38BDF8"/>
                </a:solidFill>
                <a:latin typeface="Segoe UI"/>
              </a:defRPr>
            </a:pPr>
            <a:r>
              <a:rPr dirty="0"/>
              <a:t>Tableau Public Live Dashboard Suite:</a:t>
            </a:r>
          </a:p>
          <a:p>
            <a:pPr>
              <a:spcAft>
                <a:spcPts val="1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rPr dirty="0"/>
              <a:t>https://public.tableau.com/app/profile/sujay/viz/EduVision_DV/UniversityOverview</a:t>
            </a:r>
          </a:p>
          <a:p>
            <a:pPr>
              <a:spcAft>
                <a:spcPts val="200"/>
              </a:spcAft>
              <a:defRPr sz="1500" b="1">
                <a:solidFill>
                  <a:srgbClr val="2BCA81"/>
                </a:solidFill>
                <a:latin typeface="Segoe UI"/>
              </a:defRPr>
            </a:pPr>
            <a:r>
              <a:rPr dirty="0"/>
              <a:t>GitHub Deliverable Repository:</a:t>
            </a:r>
          </a:p>
          <a:p>
            <a:pPr>
              <a:spcAft>
                <a:spcPts val="1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rPr dirty="0"/>
              <a:t>Branch: SUJAY_S  |  Folder: Final Project/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0" y="2011680"/>
            <a:ext cx="853409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  <a:defRPr sz="7200" b="1">
                <a:solidFill>
                  <a:srgbClr val="FFFFFF"/>
                </a:solidFill>
                <a:latin typeface="Segoe UI"/>
              </a:defRPr>
            </a:pPr>
            <a:r>
              <a:t>Q n A</a:t>
            </a:r>
          </a:p>
          <a:p>
            <a:pPr algn="ctr">
              <a:defRPr sz="1800">
                <a:solidFill>
                  <a:srgbClr val="38BDF8"/>
                </a:solidFill>
                <a:latin typeface="Segoe UI"/>
              </a:defRPr>
            </a:pPr>
            <a:r>
              <a:t>Questions &amp; Answers</a:t>
            </a:r>
            <a:br/>
            <a:r>
              <a:t>EduVision_DV: Higher Education Intelligence System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lean_bg_p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64592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5600" b="1">
                <a:solidFill>
                  <a:srgbClr val="FFFFFF"/>
                </a:solidFill>
                <a:latin typeface="Segoe UI"/>
              </a:defRPr>
            </a:pPr>
            <a:r>
              <a:t>Thank You</a:t>
            </a:r>
          </a:p>
          <a:p>
            <a:pPr>
              <a:spcAft>
                <a:spcPts val="1200"/>
              </a:spcAft>
              <a:defRPr sz="1700" b="1">
                <a:solidFill>
                  <a:srgbClr val="38BDF8"/>
                </a:solidFill>
                <a:latin typeface="Segoe UI"/>
              </a:defRPr>
            </a:pPr>
            <a:r>
              <a:t>EduVision_DV — Higher Education Intelligence System</a:t>
            </a:r>
          </a:p>
          <a:p>
            <a:pPr>
              <a:spcAft>
                <a:spcPts val="4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Author: Sujay S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Infosys Springboard Internship 7.0</a:t>
            </a:r>
            <a:br/>
            <a:r>
              <a:t>Domain: Data Visualization &amp; Higher Education Analytics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</TotalTime>
  <Words>1250</Words>
  <Application>Microsoft Office PowerPoint</Application>
  <PresentationFormat>Widescreen</PresentationFormat>
  <Paragraphs>112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SUJAY S</cp:lastModifiedBy>
  <cp:revision>1</cp:revision>
  <dcterms:created xsi:type="dcterms:W3CDTF">2013-01-27T09:14:16Z</dcterms:created>
  <dcterms:modified xsi:type="dcterms:W3CDTF">2026-09-30T13:25:17Z</dcterms:modified>
  <cp:category/>
</cp:coreProperties>
</file>