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73" r:id="rId12"/>
    <p:sldId id="274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ini Yuvaraju" userId="052da9b7cd7f2949" providerId="LiveId" clId="{6920EB4C-0E42-43EA-9552-94B6685BAE4D}"/>
    <pc:docChg chg="modSld">
      <pc:chgData name="Hasini Yuvaraju" userId="052da9b7cd7f2949" providerId="LiveId" clId="{6920EB4C-0E42-43EA-9552-94B6685BAE4D}" dt="2026-10-05T18:28:36.428" v="3" actId="1076"/>
      <pc:docMkLst>
        <pc:docMk/>
      </pc:docMkLst>
      <pc:sldChg chg="modSp mod">
        <pc:chgData name="Hasini Yuvaraju" userId="052da9b7cd7f2949" providerId="LiveId" clId="{6920EB4C-0E42-43EA-9552-94B6685BAE4D}" dt="2026-10-05T18:28:36.428" v="3" actId="1076"/>
        <pc:sldMkLst>
          <pc:docMk/>
          <pc:sldMk cId="0" sldId="256"/>
        </pc:sldMkLst>
        <pc:spChg chg="mod">
          <ac:chgData name="Hasini Yuvaraju" userId="052da9b7cd7f2949" providerId="LiveId" clId="{6920EB4C-0E42-43EA-9552-94B6685BAE4D}" dt="2026-10-05T18:28:36.428" v="3" actId="1076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6583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7FF"/>
                </a:solidFill>
                <a:latin typeface="Aptos Display"/>
              </a:defRPr>
            </a:pPr>
            <a:r>
              <a:rPr dirty="0" err="1"/>
              <a:t>EduVision_DV</a:t>
            </a:r>
            <a:endParaRPr dirty="0"/>
          </a:p>
          <a:p>
            <a:pPr>
              <a:defRPr sz="2400">
                <a:solidFill>
                  <a:srgbClr val="37CCFF"/>
                </a:solidFill>
                <a:latin typeface="Aptos"/>
              </a:defRPr>
            </a:pPr>
            <a:r>
              <a:rPr dirty="0"/>
              <a:t>Higher Education Performance Analytics</a:t>
            </a:r>
          </a:p>
          <a:p>
            <a:pPr>
              <a:defRPr sz="1400">
                <a:solidFill>
                  <a:srgbClr val="BEC6E1"/>
                </a:solidFill>
              </a:defRPr>
            </a:pPr>
            <a:r>
              <a:rPr dirty="0"/>
              <a:t>Data Engineering • KPI Analytics • Tableau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5999" y="4746639"/>
            <a:ext cx="38756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BF0FC"/>
                </a:solidFill>
              </a:defRPr>
            </a:pPr>
            <a:r>
              <a:rPr sz="2400" dirty="0"/>
              <a:t>Project Presentation</a:t>
            </a:r>
          </a:p>
          <a:p>
            <a:pPr>
              <a:defRPr sz="1200">
                <a:solidFill>
                  <a:srgbClr val="BEC6E1"/>
                </a:solidFill>
              </a:defRPr>
            </a:pPr>
            <a:r>
              <a:rPr sz="2000" dirty="0"/>
              <a:t>Name: </a:t>
            </a:r>
            <a:r>
              <a:rPr lang="en-IN" sz="2000" dirty="0"/>
              <a:t> </a:t>
            </a:r>
            <a:r>
              <a:rPr lang="en-IN" sz="2000" dirty="0" err="1"/>
              <a:t>Vepanjeri</a:t>
            </a:r>
            <a:r>
              <a:rPr lang="en-IN" sz="2000" dirty="0"/>
              <a:t> Hasini</a:t>
            </a:r>
            <a:r>
              <a:rPr sz="2000" dirty="0"/>
              <a:t>   </a:t>
            </a:r>
          </a:p>
          <a:p>
            <a:pPr>
              <a:defRPr sz="1200">
                <a:solidFill>
                  <a:srgbClr val="BEC6E1"/>
                </a:solidFill>
              </a:defRPr>
            </a:pPr>
            <a:r>
              <a:rPr sz="2000" dirty="0"/>
              <a:t>Academic Year:</a:t>
            </a:r>
            <a:r>
              <a:rPr lang="en-IN" sz="2000" dirty="0"/>
              <a:t> 2026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33271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6E1"/>
                </a:solidFill>
                <a:latin typeface="Aptos"/>
              </a:defRPr>
            </a:pPr>
            <a:r>
              <a:t>What EduVision_DV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29000" cy="18288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4008" cy="182880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73351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Integrated Higher-Education Data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Combines university ranking, research, student and country-level education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182880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673351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Analytical Data Model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Transforms cleaned source data into dimensions, fact tables and engineered KPIs.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429000" cy="18288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64008" cy="182880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673351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Interactive Dashboards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Presents insights through four integrated Tableau dashboards.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BF0FC"/>
                </a:solidFill>
                <a:latin typeface="Aptos"/>
              </a:defRPr>
            </a:pPr>
            <a:r>
              <a:t>End-to-end workflow from raw data to final delivery</a:t>
            </a:r>
          </a:p>
          <a:p>
            <a:pPr>
              <a:spcAft>
                <a:spcPts val="1000"/>
              </a:spcAft>
              <a:defRPr sz="1700">
                <a:solidFill>
                  <a:srgbClr val="EBF0FC"/>
                </a:solidFill>
                <a:latin typeface="Aptos"/>
              </a:defRPr>
            </a:pPr>
            <a:r>
              <a:t>Focus on institutional performance and academic excellence</a:t>
            </a:r>
          </a:p>
          <a:p>
            <a:pPr>
              <a:spcAft>
                <a:spcPts val="1000"/>
              </a:spcAft>
              <a:defRPr sz="1700">
                <a:solidFill>
                  <a:srgbClr val="EBF0FC"/>
                </a:solidFill>
                <a:latin typeface="Aptos"/>
              </a:defRPr>
            </a:pPr>
            <a:r>
              <a:t>Designed for comparison, exploration and decision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33271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6E1"/>
                </a:solidFill>
                <a:latin typeface="Aptos"/>
              </a:defRPr>
            </a:pPr>
            <a:r>
              <a:t>Why an integrated analytics system is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561" y="1347041"/>
            <a:ext cx="3048304" cy="254569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45719" cy="2475411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7" y="1581912"/>
            <a:ext cx="2767889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rPr dirty="0"/>
              <a:t>Fragmented Data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rPr dirty="0"/>
              <a:t>Ranking and education information comes from different sources, structures and naming conventions.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2969057" cy="244523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45719" cy="244523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81912"/>
            <a:ext cx="2831897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rPr dirty="0"/>
              <a:t>Difficult Comparison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rPr dirty="0"/>
              <a:t>Without standardization and a common model, university and country comparisons are difficult.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063240" cy="244523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64008" cy="2475411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Limited Visibility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Raw datasets do not provide a unified interactive view of performance indicators.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F7FF"/>
                </a:solidFill>
              </a:defRPr>
            </a:pPr>
            <a:r>
              <a:t>Goal: Convert fragmented higher-education data into a validated, interactive analytical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1D99A-6D8F-A0F2-C318-B9CD74C16BEA}"/>
              </a:ext>
            </a:extLst>
          </p:cNvPr>
          <p:cNvSpPr txBox="1"/>
          <p:nvPr/>
        </p:nvSpPr>
        <p:spPr>
          <a:xfrm>
            <a:off x="200297" y="4132298"/>
            <a:ext cx="117391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1">
                <a:solidFill>
                  <a:srgbClr val="F5F7FF"/>
                </a:solidFill>
              </a:defRPr>
            </a:pPr>
            <a:r>
              <a:rPr lang="en-IN" b="1" dirty="0">
                <a:solidFill>
                  <a:srgbClr val="F5F7FF"/>
                </a:solidFill>
              </a:rPr>
              <a:t>Higher education data is available from multiple sources such as QS and Times Higher Education, but it is often complex, fragmented, and difficult to interpret. There is a need for an interactive analytics solution that can transform this raw data into meaningful insights for evaluating university performance, research strength, student diversity, and country-level education trends.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BF0FC"/>
                </a:solidFill>
                <a:latin typeface="Aptos"/>
              </a:defRPr>
            </a:pPr>
            <a:r>
              <a:t>Collect and prepare higher-education datasets from multiple sources.</a:t>
            </a:r>
          </a:p>
          <a:p>
            <a:pPr>
              <a:spcAft>
                <a:spcPts val="1000"/>
              </a:spcAft>
              <a:defRPr sz="1800">
                <a:solidFill>
                  <a:srgbClr val="EBF0FC"/>
                </a:solidFill>
                <a:latin typeface="Aptos"/>
              </a:defRPr>
            </a:pPr>
            <a:r>
              <a:t>Clean, standardize and match university and country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EBF0FC"/>
                </a:solidFill>
                <a:latin typeface="Aptos"/>
              </a:defRPr>
            </a:pPr>
            <a:r>
              <a:t>Build a structured analytical data model.</a:t>
            </a:r>
          </a:p>
          <a:p>
            <a:pPr>
              <a:spcAft>
                <a:spcPts val="1000"/>
              </a:spcAft>
              <a:defRPr sz="1800">
                <a:solidFill>
                  <a:srgbClr val="EBF0FC"/>
                </a:solidFill>
                <a:latin typeface="Aptos"/>
              </a:defRPr>
            </a:pPr>
            <a:r>
              <a:t>Engineer and validate key performance indicators.</a:t>
            </a:r>
          </a:p>
          <a:p>
            <a:pPr>
              <a:spcAft>
                <a:spcPts val="1000"/>
              </a:spcAft>
              <a:defRPr sz="1800">
                <a:solidFill>
                  <a:srgbClr val="EBF0FC"/>
                </a:solidFill>
                <a:latin typeface="Aptos"/>
              </a:defRPr>
            </a:pPr>
            <a:r>
              <a:t>Develop and integrate interactive Tableau dashboards.</a:t>
            </a:r>
          </a:p>
          <a:p>
            <a:pPr>
              <a:spcAft>
                <a:spcPts val="1000"/>
              </a:spcAft>
              <a:defRPr sz="1800">
                <a:solidFill>
                  <a:srgbClr val="EBF0FC"/>
                </a:solidFill>
                <a:latin typeface="Aptos"/>
              </a:defRPr>
            </a:pPr>
            <a:r>
              <a:t>Test data accuracy, calculations and dashboard interactions.</a:t>
            </a:r>
          </a:p>
          <a:p>
            <a:pPr>
              <a:spcAft>
                <a:spcPts val="1000"/>
              </a:spcAft>
              <a:defRPr sz="1800">
                <a:solidFill>
                  <a:srgbClr val="EBF0FC"/>
                </a:solidFill>
                <a:latin typeface="Aptos"/>
              </a:defRPr>
            </a:pPr>
            <a:r>
              <a:t>Deliver the final workbook, documentation and QA artifacts.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33271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6E1"/>
                </a:solidFill>
                <a:latin typeface="Aptos"/>
              </a:defRPr>
            </a:pPr>
            <a:r>
              <a:t>Public datasets used in 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169164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169164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QS World University Rankings 2025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University ranking and performance indicators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169164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64008" cy="169164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581912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Times Higher Education 2024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University performance and ranking indicators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166360" cy="169164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566160"/>
            <a:ext cx="64008" cy="169164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730752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World University Rankings 2023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Historical university ranking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66160"/>
            <a:ext cx="5166360" cy="169164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566160"/>
            <a:ext cx="64008" cy="169164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3730752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World Bank Education Statistics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Country-level education indicators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Data Processing &amp; 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23160" cy="150876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150876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1. 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41448"/>
            <a:ext cx="2118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EC6E1"/>
                </a:solidFill>
              </a:defRPr>
            </a:pPr>
            <a:r>
              <a:rPr lang="en-IN" sz="1000">
                <a:solidFill>
                  <a:srgbClr val="BEC6E1"/>
                </a:solidFill>
              </a:rPr>
              <a:t>Collected ranking and education data from multiple public sources.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3520439" y="1508760"/>
            <a:ext cx="2423160" cy="150876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39" y="1508760"/>
            <a:ext cx="64008" cy="150876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1673351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2.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2441448"/>
            <a:ext cx="2155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EC6E1"/>
                </a:solidFill>
              </a:defRPr>
            </a:pPr>
            <a:r>
              <a:rPr lang="en-IN" sz="1000">
                <a:solidFill>
                  <a:srgbClr val="BEC6E1"/>
                </a:solidFill>
              </a:rPr>
              <a:t>Handled missing values, duplicates, and inconsistent data formats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309359" y="1508760"/>
            <a:ext cx="2423160" cy="150876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59" y="1508760"/>
            <a:ext cx="64008" cy="150876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7" y="1673351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3. Standardization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1" y="2441448"/>
            <a:ext cx="2295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EC6E1"/>
                </a:solidFill>
              </a:defRPr>
            </a:pPr>
            <a:r>
              <a:rPr lang="en-IN" sz="1000" dirty="0">
                <a:solidFill>
                  <a:srgbClr val="BEC6E1"/>
                </a:solidFill>
              </a:rPr>
              <a:t>Standardized university names, country names, fields, and data formats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9098280" y="1508760"/>
            <a:ext cx="2423160" cy="150876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508760"/>
            <a:ext cx="64008" cy="150876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1673351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4. University &amp; Country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441448"/>
            <a:ext cx="2093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EC6E1"/>
                </a:solidFill>
              </a:defRPr>
            </a:pPr>
            <a:r>
              <a:rPr lang="en-IN" sz="1000">
                <a:solidFill>
                  <a:srgbClr val="BEC6E1"/>
                </a:solidFill>
              </a:rPr>
              <a:t>Matched universities and countries across different datasets.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731520" y="3566160"/>
            <a:ext cx="2423160" cy="150876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566160"/>
            <a:ext cx="64008" cy="150876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730752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5. Data Modeling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498848"/>
            <a:ext cx="2057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EC6E1"/>
                </a:solidFill>
              </a:defRPr>
            </a:pPr>
            <a:r>
              <a:rPr lang="en-IN" sz="1000">
                <a:solidFill>
                  <a:srgbClr val="BEC6E1"/>
                </a:solidFill>
              </a:rPr>
              <a:t>Created dimension and fact tables using a structured star schema.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3520439" y="3566160"/>
            <a:ext cx="2423160" cy="150876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20439" y="3566160"/>
            <a:ext cx="64008" cy="150876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21607" y="3730752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6. KPI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3740" y="4498848"/>
            <a:ext cx="21465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EC6E1"/>
                </a:solidFill>
              </a:defRPr>
            </a:pPr>
            <a:r>
              <a:rPr lang="en-IN" sz="1000" dirty="0">
                <a:solidFill>
                  <a:srgbClr val="BEC6E1"/>
                </a:solidFill>
              </a:rPr>
              <a:t>Developed six KPIs to measure university and research performance.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6309359" y="3566160"/>
            <a:ext cx="2423160" cy="150876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59" y="3566160"/>
            <a:ext cx="64008" cy="150876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7" y="3730752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7.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1" y="4498848"/>
            <a:ext cx="22585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EC6E1"/>
                </a:solidFill>
              </a:defRPr>
            </a:pPr>
            <a:r>
              <a:rPr lang="en-IN" sz="1000">
                <a:solidFill>
                  <a:srgbClr val="BEC6E1"/>
                </a:solidFill>
              </a:rPr>
              <a:t>Verified data integrity, KPI calculations, rankings, and relationships</a:t>
            </a:r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9098280" y="3566160"/>
            <a:ext cx="2423160" cy="150876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98280" y="3566160"/>
            <a:ext cx="64008" cy="150876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99448" y="3730752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8. Tableau Development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872" y="4498848"/>
            <a:ext cx="2197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EC6E1"/>
                </a:solidFill>
              </a:defRPr>
            </a:pPr>
            <a:r>
              <a:rPr lang="en-IN" sz="1000">
                <a:solidFill>
                  <a:srgbClr val="BEC6E1"/>
                </a:solidFill>
              </a:rPr>
              <a:t>Built and integrated four interactive Tableau dashboards.</a:t>
            </a:r>
            <a:endParaRPr dirty="0"/>
          </a:p>
        </p:txBody>
      </p:sp>
      <p:sp>
        <p:nvSpPr>
          <p:cNvPr id="38" name="Rectangle 3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Analytical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33271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6E1"/>
                </a:solidFill>
                <a:latin typeface="Aptos"/>
              </a:defRPr>
            </a:pPr>
            <a:r>
              <a:t>Star-schema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331720"/>
            <a:ext cx="3657600" cy="11430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51960" y="2331720"/>
            <a:ext cx="64008" cy="114300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3128" y="24963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DIM_UNIVERSITY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University-level master dimension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886200"/>
            <a:ext cx="3657600" cy="11430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3886200"/>
            <a:ext cx="64008" cy="114300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4050791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DIM_COUNTRY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Country-level master dimension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508760"/>
            <a:ext cx="3246120" cy="11430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1508760"/>
            <a:ext cx="64008" cy="114300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1673351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FACT_UNIVERSITY_PERFORMANCE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Analytical fact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08760"/>
            <a:ext cx="3246120" cy="11430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508760"/>
            <a:ext cx="64008" cy="114300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1673351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FACT_RESEARCH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Analytical fact 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526280"/>
            <a:ext cx="3246120" cy="11430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4526280"/>
            <a:ext cx="64008" cy="114300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4690872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FACT_STUDENT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Analytical fact 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526280"/>
            <a:ext cx="3246120" cy="11430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4526280"/>
            <a:ext cx="64008" cy="114300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0768" y="4690872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FACT_COUNTRY_EDUCATION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Analytical fact 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Key Performance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33271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6E1"/>
                </a:solidFill>
                <a:latin typeface="Aptos"/>
              </a:defRPr>
            </a:pPr>
            <a:r>
              <a:t>Six core engineered KPIs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16002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160020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2971800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rPr dirty="0"/>
              <a:t>Global Ranking Score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rPr lang="en-IN" sz="1150" dirty="0">
                <a:solidFill>
                  <a:srgbClr val="BEC6E1"/>
                </a:solidFill>
                <a:latin typeface="Aptos"/>
              </a:rPr>
              <a:t>Measures overall global ranking performance.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6002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64008" cy="160020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581912"/>
            <a:ext cx="2971800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rPr dirty="0"/>
              <a:t>Research Impact Score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rPr lang="en-IN" sz="1150" dirty="0">
                <a:solidFill>
                  <a:srgbClr val="BEC6E1"/>
                </a:solidFill>
                <a:latin typeface="Aptos"/>
              </a:rPr>
              <a:t>Measures research impact and citation performance.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16002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160020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71800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rPr dirty="0"/>
              <a:t>Faculty-to-Student Ratio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rPr lang="en-IN" sz="1150" dirty="0">
                <a:solidFill>
                  <a:srgbClr val="BEC6E1"/>
                </a:solidFill>
                <a:latin typeface="Aptos"/>
              </a:rPr>
              <a:t>Measures students relative to faculty or staff.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3337560" cy="16002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474720"/>
            <a:ext cx="64008" cy="160020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39312"/>
            <a:ext cx="2971800" cy="105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rPr dirty="0"/>
              <a:t>International Student Percentage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rPr lang="en-IN" sz="1150" dirty="0">
                <a:solidFill>
                  <a:srgbClr val="BEC6E1"/>
                </a:solidFill>
                <a:latin typeface="Aptos"/>
              </a:rPr>
              <a:t>Shows the proportion of international students.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4434840" y="3474720"/>
            <a:ext cx="3337560" cy="16002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4840" y="3474720"/>
            <a:ext cx="64008" cy="160020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36007" y="3639312"/>
            <a:ext cx="2971800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rPr dirty="0"/>
              <a:t>Academic Reputation Score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rPr lang="en-IN" sz="1150" dirty="0">
                <a:solidFill>
                  <a:srgbClr val="BEC6E1"/>
                </a:solidFill>
                <a:latin typeface="Aptos"/>
              </a:rPr>
              <a:t>Measures the university's academic reputation.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8183879" y="3474720"/>
            <a:ext cx="3337560" cy="160020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83879" y="3474720"/>
            <a:ext cx="64008" cy="160020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5048" y="3639312"/>
            <a:ext cx="2971800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rPr dirty="0"/>
              <a:t>Research Productivity Index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rPr lang="en-IN" sz="1150" dirty="0">
                <a:solidFill>
                  <a:srgbClr val="BEC6E1"/>
                </a:solidFill>
                <a:latin typeface="Aptos"/>
              </a:rPr>
              <a:t>Measures productivity using research-related indicators.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E8DD-61DE-FFAE-E4E0-9FA6621A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BB5A21-BC93-0550-3A76-030FE25CB7E5}"/>
              </a:ext>
            </a:extLst>
          </p:cNvPr>
          <p:cNvSpPr/>
          <p:nvPr/>
        </p:nvSpPr>
        <p:spPr>
          <a:xfrm>
            <a:off x="8709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2DA2F5-FE57-A0F3-3C38-6BAD184AB2D4}"/>
              </a:ext>
            </a:extLst>
          </p:cNvPr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AC9842-F612-03CD-D27A-5090E9D2E522}"/>
              </a:ext>
            </a:extLst>
          </p:cNvPr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A3987-C940-49EC-A5C4-B891B1DE869D}"/>
              </a:ext>
            </a:extLst>
          </p:cNvPr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Dashboard Highlights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6568EA-7B5C-8899-ECCD-6A43836F3C8A}"/>
              </a:ext>
            </a:extLst>
          </p:cNvPr>
          <p:cNvSpPr/>
          <p:nvPr/>
        </p:nvSpPr>
        <p:spPr>
          <a:xfrm>
            <a:off x="594360" y="1371600"/>
            <a:ext cx="10927080" cy="4965192"/>
          </a:xfrm>
          <a:prstGeom prst="roundRect">
            <a:avLst/>
          </a:prstGeom>
          <a:solidFill>
            <a:srgbClr val="2D3869"/>
          </a:solidFill>
          <a:ln>
            <a:solidFill>
              <a:srgbClr val="647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EC6E1"/>
                </a:solidFill>
                <a:latin typeface="Aptos"/>
              </a:defRPr>
            </a:pPr>
            <a:r>
              <a:rPr dirty="0"/>
              <a:t>RESEARCH ANALYTICS SCREENSHOT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900C1-5642-175B-0167-374DBA4F9588}"/>
              </a:ext>
            </a:extLst>
          </p:cNvPr>
          <p:cNvSpPr txBox="1"/>
          <p:nvPr/>
        </p:nvSpPr>
        <p:spPr>
          <a:xfrm>
            <a:off x="646547" y="974925"/>
            <a:ext cx="179844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</a:defRPr>
            </a:pPr>
            <a:r>
              <a:rPr lang="en-IN" sz="1500" dirty="0"/>
              <a:t>University Overview</a:t>
            </a:r>
            <a:endParaRPr sz="15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E8799-96F6-14BB-FF3A-AFB5AF397EA4}"/>
              </a:ext>
            </a:extLst>
          </p:cNvPr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A32DCC-7474-3538-A4A2-02BDCAA9061D}"/>
              </a:ext>
            </a:extLst>
          </p:cNvPr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10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00C17D-0CCF-FBC8-8671-3C85ECA52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246" y="1410830"/>
            <a:ext cx="9196252" cy="492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12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DC02-544C-5F7D-4395-51BE0140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4A36EB-62F2-0E30-61CB-0F5227199F8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C894A3F-44B1-D50D-B494-B075692627D1}"/>
              </a:ext>
            </a:extLst>
          </p:cNvPr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D54720-103E-2416-8D6C-F0B8FBE6E333}"/>
              </a:ext>
            </a:extLst>
          </p:cNvPr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FC12B-10A8-8805-13C1-A24BDEFE079C}"/>
              </a:ext>
            </a:extLst>
          </p:cNvPr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Dashboard Highlights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140F21E-468A-FE75-1672-2C71A76F37BB}"/>
              </a:ext>
            </a:extLst>
          </p:cNvPr>
          <p:cNvSpPr/>
          <p:nvPr/>
        </p:nvSpPr>
        <p:spPr>
          <a:xfrm>
            <a:off x="594360" y="1371600"/>
            <a:ext cx="10927080" cy="4965192"/>
          </a:xfrm>
          <a:prstGeom prst="roundRect">
            <a:avLst/>
          </a:prstGeom>
          <a:solidFill>
            <a:srgbClr val="2D3869"/>
          </a:solidFill>
          <a:ln>
            <a:solidFill>
              <a:srgbClr val="647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EC6E1"/>
                </a:solidFill>
                <a:latin typeface="Aptos"/>
              </a:defRPr>
            </a:pPr>
            <a:r>
              <a:rPr dirty="0"/>
              <a:t>RESEARCH ANALYTICS SCREENSHOT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CDF8B-AD73-E91F-373A-67EBE55117A9}"/>
              </a:ext>
            </a:extLst>
          </p:cNvPr>
          <p:cNvSpPr txBox="1"/>
          <p:nvPr/>
        </p:nvSpPr>
        <p:spPr>
          <a:xfrm>
            <a:off x="688676" y="974925"/>
            <a:ext cx="171418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</a:defRPr>
            </a:pPr>
            <a:r>
              <a:rPr sz="1500" dirty="0"/>
              <a:t>Research Analytics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031DAB-3273-A59F-5C3C-868496D1F439}"/>
              </a:ext>
            </a:extLst>
          </p:cNvPr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39E5E4-EF9F-7163-E35B-57DD8303CBB6}"/>
              </a:ext>
            </a:extLst>
          </p:cNvPr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2765AE-D8B7-5088-B42B-1BBE289F6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503" y="1428066"/>
            <a:ext cx="9281160" cy="490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83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5CE7A-9BE4-6189-D358-BE296376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B1EC72-B95F-3878-3EB8-30DE7AEF761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D43102F-77FB-F5DF-CBC9-64B6001F3BC0}"/>
              </a:ext>
            </a:extLst>
          </p:cNvPr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ACAC3AF-278B-E9D6-1088-26C96AB31E50}"/>
              </a:ext>
            </a:extLst>
          </p:cNvPr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77E46-A442-67B1-DEF1-3653D4161CA0}"/>
              </a:ext>
            </a:extLst>
          </p:cNvPr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Dashboard Highlights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2C9898-0516-AFB7-9C04-60B7E79389B3}"/>
              </a:ext>
            </a:extLst>
          </p:cNvPr>
          <p:cNvSpPr/>
          <p:nvPr/>
        </p:nvSpPr>
        <p:spPr>
          <a:xfrm>
            <a:off x="594360" y="1371600"/>
            <a:ext cx="10927080" cy="4965192"/>
          </a:xfrm>
          <a:prstGeom prst="roundRect">
            <a:avLst/>
          </a:prstGeom>
          <a:solidFill>
            <a:srgbClr val="2D3869"/>
          </a:solidFill>
          <a:ln>
            <a:solidFill>
              <a:srgbClr val="647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EC6E1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657350-DDE7-F3FD-0FD5-D6F3DB3CC771}"/>
              </a:ext>
            </a:extLst>
          </p:cNvPr>
          <p:cNvSpPr txBox="1"/>
          <p:nvPr/>
        </p:nvSpPr>
        <p:spPr>
          <a:xfrm>
            <a:off x="734103" y="974925"/>
            <a:ext cx="162333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</a:defRPr>
            </a:pPr>
            <a:r>
              <a:rPr lang="en-IN" sz="1500" dirty="0"/>
              <a:t>Student</a:t>
            </a:r>
            <a:r>
              <a:rPr sz="1500" dirty="0"/>
              <a:t> Analytics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602E96-08B0-4752-435F-367B5302795B}"/>
              </a:ext>
            </a:extLst>
          </p:cNvPr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9975AB-3516-FA8F-6F1E-9282EF7FB35A}"/>
              </a:ext>
            </a:extLst>
          </p:cNvPr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B0B13-DDD7-AD18-623D-7AFA5F368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67" y="1408293"/>
            <a:ext cx="9367093" cy="493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59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EB82-DDDD-F092-65E0-488B6B8E0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104EC8-313B-DE4C-2F6C-F99E88D8994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A99BC-B587-F460-0A7A-D345BEE5BBB4}"/>
              </a:ext>
            </a:extLst>
          </p:cNvPr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55A2A6-01F8-4386-A76C-2403E33256D1}"/>
              </a:ext>
            </a:extLst>
          </p:cNvPr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B38BC-D6DE-174A-7B48-E6DDE0417BEF}"/>
              </a:ext>
            </a:extLst>
          </p:cNvPr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Dashboard Highlights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99D03BD-188D-F48B-179C-CBB13BAAE0AE}"/>
              </a:ext>
            </a:extLst>
          </p:cNvPr>
          <p:cNvSpPr/>
          <p:nvPr/>
        </p:nvSpPr>
        <p:spPr>
          <a:xfrm>
            <a:off x="594360" y="1371600"/>
            <a:ext cx="10927080" cy="4965192"/>
          </a:xfrm>
          <a:prstGeom prst="roundRect">
            <a:avLst/>
          </a:prstGeom>
          <a:solidFill>
            <a:srgbClr val="2D3869"/>
          </a:solidFill>
          <a:ln>
            <a:solidFill>
              <a:srgbClr val="647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EC6E1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598969-CF02-C77C-A336-A9AD0F5409BB}"/>
              </a:ext>
            </a:extLst>
          </p:cNvPr>
          <p:cNvSpPr txBox="1"/>
          <p:nvPr/>
        </p:nvSpPr>
        <p:spPr>
          <a:xfrm>
            <a:off x="610738" y="974925"/>
            <a:ext cx="187006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</a:defRPr>
            </a:pPr>
            <a:r>
              <a:rPr lang="en-IN" sz="1500" dirty="0"/>
              <a:t>Country Comparison</a:t>
            </a:r>
            <a:r>
              <a:rPr sz="1500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20F195-FE9E-EB52-6B06-CF46ECF19B4A}"/>
              </a:ext>
            </a:extLst>
          </p:cNvPr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BBB15-BA63-5311-B7DE-F540F0D7A297}"/>
              </a:ext>
            </a:extLst>
          </p:cNvPr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15837C-64DD-BF38-4822-36FD255A6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621" y="1409831"/>
            <a:ext cx="9062699" cy="488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56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Testing &amp; Quality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33271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6E1"/>
                </a:solidFill>
                <a:latin typeface="Aptos"/>
              </a:defRPr>
            </a:pPr>
            <a:r>
              <a:t>Validation performed before final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468880" cy="169164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169164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30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QA test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468880" cy="169164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64008" cy="169164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7" y="1581912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26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2468880" cy="169164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64008" cy="169164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581912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2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PASS WITH NOTE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417320"/>
            <a:ext cx="2468880" cy="169164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52559" y="1417320"/>
            <a:ext cx="64008" cy="169164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53728" y="1581912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2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MANUAL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2044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BF0FC"/>
                </a:solidFill>
                <a:latin typeface="Aptos"/>
              </a:defRPr>
            </a:pPr>
            <a:r>
              <a:t>University and country ID uniqueness validated</a:t>
            </a:r>
          </a:p>
          <a:p>
            <a:pPr>
              <a:spcAft>
                <a:spcPts val="1000"/>
              </a:spcAft>
              <a:defRPr sz="1600">
                <a:solidFill>
                  <a:srgbClr val="EBF0FC"/>
                </a:solidFill>
                <a:latin typeface="Aptos"/>
              </a:defRPr>
            </a:pPr>
            <a:r>
              <a:t>Fact-table composite keys and referential integrity checked</a:t>
            </a:r>
          </a:p>
          <a:p>
            <a:pPr>
              <a:spcAft>
                <a:spcPts val="1000"/>
              </a:spcAft>
              <a:defRPr sz="1600">
                <a:solidFill>
                  <a:srgbClr val="EBF0FC"/>
                </a:solidFill>
                <a:latin typeface="Aptos"/>
              </a:defRPr>
            </a:pPr>
            <a:r>
              <a:t>KPI calculations independently validated</a:t>
            </a:r>
          </a:p>
          <a:p>
            <a:pPr>
              <a:spcAft>
                <a:spcPts val="1000"/>
              </a:spcAft>
              <a:defRPr sz="1600">
                <a:solidFill>
                  <a:srgbClr val="EBF0FC"/>
                </a:solidFill>
                <a:latin typeface="Aptos"/>
              </a:defRPr>
            </a:pPr>
            <a:r>
              <a:t>Ranking and educational metrics validated</a:t>
            </a:r>
          </a:p>
          <a:p>
            <a:pPr>
              <a:spcAft>
                <a:spcPts val="1000"/>
              </a:spcAft>
              <a:defRPr sz="1600">
                <a:solidFill>
                  <a:srgbClr val="EBF0FC"/>
                </a:solidFill>
                <a:latin typeface="Aptos"/>
              </a:defRPr>
            </a:pPr>
            <a:r>
              <a:t>Dashboard rendering, navigation, filters and interactions tested</a:t>
            </a:r>
          </a:p>
          <a:p>
            <a:pPr>
              <a:spcAft>
                <a:spcPts val="1000"/>
              </a:spcAft>
              <a:defRPr sz="1600">
                <a:solidFill>
                  <a:srgbClr val="EBF0FC"/>
                </a:solidFill>
                <a:latin typeface="Aptos"/>
              </a:defRPr>
            </a:pPr>
            <a:r>
              <a:t>Final Tableau workbook and documentation prepared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t>Final Results &amp;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32588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32588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4,708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Unique universities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132588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132588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581912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136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Countries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5166360" cy="132588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063240"/>
            <a:ext cx="64008" cy="1325880"/>
          </a:xfrm>
          <a:prstGeom prst="rect">
            <a:avLst/>
          </a:prstGeom>
          <a:solidFill>
            <a:srgbClr val="3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227832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119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Countries with World Bank indicators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063240"/>
            <a:ext cx="5166360" cy="1325880"/>
          </a:xfrm>
          <a:prstGeom prst="roundRect">
            <a:avLst/>
          </a:prstGeom>
          <a:solidFill>
            <a:srgbClr val="222D5E"/>
          </a:solidFill>
          <a:ln>
            <a:solidFill>
              <a:srgbClr val="41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3063240"/>
            <a:ext cx="64008" cy="132588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3227832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F"/>
                </a:solidFill>
                <a:latin typeface="Aptos"/>
              </a:defRPr>
            </a:pPr>
            <a:r>
              <a:t>6,409</a:t>
            </a:r>
          </a:p>
          <a:p>
            <a:pPr>
              <a:spcBef>
                <a:spcPts val="700"/>
              </a:spcBef>
              <a:defRPr sz="1150">
                <a:solidFill>
                  <a:srgbClr val="BEC6E1"/>
                </a:solidFill>
                <a:latin typeface="Aptos"/>
              </a:defRPr>
            </a:pPr>
            <a:r>
              <a:t>University/source/year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BF0FC"/>
                </a:solidFill>
                <a:latin typeface="Aptos"/>
              </a:defRPr>
            </a:pPr>
            <a:r>
              <a:t>Four integrated Tableau dashboards</a:t>
            </a:r>
          </a:p>
          <a:p>
            <a:pPr>
              <a:spcAft>
                <a:spcPts val="1000"/>
              </a:spcAft>
              <a:defRPr sz="1500">
                <a:solidFill>
                  <a:srgbClr val="EBF0FC"/>
                </a:solidFill>
                <a:latin typeface="Aptos"/>
              </a:defRPr>
            </a:pPr>
            <a:r>
              <a:t>Validated analytical data model and KPIs</a:t>
            </a:r>
          </a:p>
          <a:p>
            <a:pPr>
              <a:spcAft>
                <a:spcPts val="1000"/>
              </a:spcAft>
              <a:defRPr sz="1500">
                <a:solidFill>
                  <a:srgbClr val="EBF0FC"/>
                </a:solidFill>
                <a:latin typeface="Aptos"/>
              </a:defRPr>
            </a:pPr>
            <a:r>
              <a:t>Final Tableau workbook and dashboard PDF</a:t>
            </a:r>
          </a:p>
          <a:p>
            <a:pPr>
              <a:spcAft>
                <a:spcPts val="1000"/>
              </a:spcAft>
              <a:defRPr sz="1500">
                <a:solidFill>
                  <a:srgbClr val="EBF0FC"/>
                </a:solidFill>
                <a:latin typeface="Aptos"/>
              </a:defRPr>
            </a:pPr>
            <a:r>
              <a:t>QA checklist, testing report and final documentation</a:t>
            </a:r>
          </a:p>
          <a:p>
            <a:pPr>
              <a:spcAft>
                <a:spcPts val="1000"/>
              </a:spcAft>
              <a:defRPr sz="1500">
                <a:solidFill>
                  <a:srgbClr val="EBF0FC"/>
                </a:solidFill>
                <a:latin typeface="Aptos"/>
              </a:defRPr>
            </a:pPr>
            <a:r>
              <a:t>Complete GitHub project repository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6280" y="450926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 Display"/>
              </a:defRPr>
            </a:pPr>
            <a:r>
              <a:rPr dirty="0"/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2743" y="1913966"/>
            <a:ext cx="961861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7CCFF"/>
                </a:solidFill>
              </a:defRPr>
            </a:pPr>
            <a:r>
              <a:rPr dirty="0" err="1"/>
              <a:t>EduVision_DV</a:t>
            </a:r>
            <a:endParaRPr dirty="0"/>
          </a:p>
          <a:p>
            <a:pPr algn="ctr">
              <a:defRPr sz="2100">
                <a:solidFill>
                  <a:srgbClr val="F5F7FF"/>
                </a:solidFill>
              </a:defRPr>
            </a:pPr>
            <a:r>
              <a:rPr dirty="0"/>
              <a:t>A complete higher-education analytics workflow from raw data to validated interactive dashboards.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BF0FC"/>
                </a:solidFill>
                <a:latin typeface="Aptos"/>
              </a:defRPr>
            </a:pPr>
            <a:r>
              <a:t>Integrated multi-source higher-education data</a:t>
            </a:r>
          </a:p>
          <a:p>
            <a:pPr>
              <a:spcAft>
                <a:spcPts val="1000"/>
              </a:spcAft>
              <a:defRPr sz="1800">
                <a:solidFill>
                  <a:srgbClr val="EBF0FC"/>
                </a:solidFill>
                <a:latin typeface="Aptos"/>
              </a:defRPr>
            </a:pPr>
            <a:r>
              <a:t>Structured analytical model and engineered KPIs</a:t>
            </a:r>
          </a:p>
          <a:p>
            <a:pPr>
              <a:spcAft>
                <a:spcPts val="1000"/>
              </a:spcAft>
              <a:defRPr sz="1800">
                <a:solidFill>
                  <a:srgbClr val="EBF0FC"/>
                </a:solidFill>
                <a:latin typeface="Aptos"/>
              </a:defRPr>
            </a:pPr>
            <a:r>
              <a:t>Interactive Tableau dashboard system</a:t>
            </a:r>
          </a:p>
          <a:p>
            <a:pPr>
              <a:spcAft>
                <a:spcPts val="1000"/>
              </a:spcAft>
              <a:defRPr sz="1800">
                <a:solidFill>
                  <a:srgbClr val="EBF0FC"/>
                </a:solidFill>
                <a:latin typeface="Aptos"/>
              </a:defRPr>
            </a:pPr>
            <a:r>
              <a:t>Testing, QA and complete project documentation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-502920"/>
            <a:ext cx="2103120" cy="2103120"/>
          </a:xfrm>
          <a:prstGeom prst="ellipse">
            <a:avLst/>
          </a:prstGeom>
          <a:solidFill>
            <a:srgbClr val="34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85800" y="5806440"/>
            <a:ext cx="1828800" cy="1828800"/>
          </a:xfrm>
          <a:prstGeom prst="ellipse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16480" y="2070206"/>
            <a:ext cx="667076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F7FF"/>
                </a:solidFill>
              </a:defRPr>
            </a:pPr>
            <a:endParaRPr lang="en-IN" sz="4000" dirty="0"/>
          </a:p>
          <a:p>
            <a:pPr algn="ctr">
              <a:defRPr sz="2400">
                <a:solidFill>
                  <a:srgbClr val="37CCFF"/>
                </a:solidFill>
              </a:defRPr>
            </a:pPr>
            <a:r>
              <a:rPr lang="en-IN" sz="6000" dirty="0"/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E1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741</Words>
  <Application>Microsoft Office PowerPoint</Application>
  <PresentationFormat>Widescreen</PresentationFormat>
  <Paragraphs>154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Hasini Yuvaraju</dc:creator>
  <cp:keywords/>
  <dc:description>generated using python-pptx</dc:description>
  <cp:lastModifiedBy>Hasini Yuvaraju</cp:lastModifiedBy>
  <cp:revision>2</cp:revision>
  <dcterms:created xsi:type="dcterms:W3CDTF">2013-01-27T09:14:16Z</dcterms:created>
  <dcterms:modified xsi:type="dcterms:W3CDTF">2026-10-05T18:28:46Z</dcterms:modified>
  <cp:category/>
</cp:coreProperties>
</file>