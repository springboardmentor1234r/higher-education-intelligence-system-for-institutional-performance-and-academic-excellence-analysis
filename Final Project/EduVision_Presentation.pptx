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  <p:sldId id="271" r:id="rId14"/>
    <p:sldId id="273" r:id="rId15"/>
    <p:sldId id="274" r:id="rId16"/>
    <p:sldId id="275" r:id="rId17"/>
    <p:sldId id="277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2" d="100"/>
          <a:sy n="72" d="100"/>
        </p:scale>
        <p:origin x="67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81861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Rankings and education data are fragmented.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views/EduVision_DV_17908426546120/UniversityOverview?:language=en-US&amp;:sid=&amp;:redirect=auth&amp;:display_count=n&amp;:origin=viz_share_link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public.tableau.com/views/EduVision_DV_17908426546120/UniversityOverview?:language=en-US&amp;:sid=&amp;:redirect=auth&amp;:display_count=n&amp;:origin=viz_share_link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eg"/><Relationship Id="rId4" Type="http://schemas.openxmlformats.org/officeDocument/2006/relationships/hyperlink" Target="https://github.com/springboardmentor1234r/Higher-Education-Intelligence-System-for-Institutional-Performance-and-Academic-Excellence-Analysis/tree/Lekhana_B_M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springboardmentor1234r/Higher-Education-Intelligence-System-for-Institutional-Performance-and-Academic-Excellence-Analysis/tree/Lekhana_B_M" TargetMode="External"/><Relationship Id="rId5" Type="http://schemas.openxmlformats.org/officeDocument/2006/relationships/image" Target="../media/image2.jpeg"/><Relationship Id="rId4" Type="http://schemas.openxmlformats.org/officeDocument/2006/relationships/hyperlink" Target="https://public.tableau.com/views/EduVision_DV_17908426546120/UniversityOverview?:language=en-US&amp;:sid=&amp;:redirect=auth&amp;:display_count=n&amp;:origin=viz_share_lin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Lekhana B 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Education Intelligence System for Institutional Performance and Academic Excellence Analysis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  |  Data Visualization Project  |  Python + Tableau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2011680" cy="2011680"/>
          </a:xfrm>
          <a:prstGeom prst="ellipse">
            <a:avLst/>
          </a:prstGeom>
          <a:solidFill>
            <a:srgbClr val="FFB03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74320"/>
            <a:ext cx="164592" cy="164592"/>
          </a:xfrm>
          <a:prstGeom prst="ellipse">
            <a:avLst/>
          </a:prstGeom>
          <a:solidFill>
            <a:srgbClr val="E844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01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47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551432" y="1760220"/>
            <a:ext cx="582472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40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University rankings come from separate sources (QS, THE) with different formats, names and scales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40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Country names and university names are inconsistent across datasets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40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Institutional performance is hard to compare with national education context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40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Decision-makers lack one interactive view of research, students and country trends</a:t>
            </a:r>
            <a:endParaRPr lang="en-US" sz="1400" dirty="0"/>
          </a:p>
        </p:txBody>
      </p:sp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2011680" cy="2011680"/>
          </a:xfrm>
          <a:prstGeom prst="ellipse">
            <a:avLst/>
          </a:prstGeom>
          <a:solidFill>
            <a:srgbClr val="FFB03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74320"/>
            <a:ext cx="164592" cy="164592"/>
          </a:xfrm>
          <a:prstGeom prst="ellipse">
            <a:avLst/>
          </a:prstGeom>
          <a:solidFill>
            <a:srgbClr val="E844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01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47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Objectives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1885950" cy="2468880"/>
          </a:xfrm>
          <a:prstGeom prst="roundRect">
            <a:avLst>
              <a:gd name="adj" fmla="val 5818"/>
            </a:avLst>
          </a:prstGeom>
          <a:solidFill>
            <a:srgbClr val="E8442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&amp; Clean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788920"/>
            <a:ext cx="152019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 QS, THE and World Bank data; standardize names.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571750" y="1645920"/>
            <a:ext cx="1885950" cy="2468880"/>
          </a:xfrm>
          <a:prstGeom prst="roundRect">
            <a:avLst>
              <a:gd name="adj" fmla="val 5818"/>
            </a:avLst>
          </a:prstGeom>
          <a:solidFill>
            <a:srgbClr val="F47B20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754630" y="178308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754630" y="228600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&amp; Model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54630" y="2788920"/>
            <a:ext cx="152019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 university and country data using unique IDs.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86300" y="1645920"/>
            <a:ext cx="1885950" cy="2468880"/>
          </a:xfrm>
          <a:prstGeom prst="roundRect">
            <a:avLst>
              <a:gd name="adj" fmla="val 5818"/>
            </a:avLst>
          </a:prstGeom>
          <a:solidFill>
            <a:srgbClr val="D9365E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869180" y="178308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869180" y="228600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 KPIs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69180" y="2788920"/>
            <a:ext cx="152019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six education KPIs with Python.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00850" y="1645920"/>
            <a:ext cx="1885950" cy="2468880"/>
          </a:xfrm>
          <a:prstGeom prst="roundRect">
            <a:avLst>
              <a:gd name="adj" fmla="val 5818"/>
            </a:avLst>
          </a:prstGeom>
          <a:solidFill>
            <a:srgbClr val="FFB030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983730" y="178308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983730" y="228600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Visualize &amp; Validate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83730" y="2788920"/>
            <a:ext cx="152019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Tableau dashboards, tested end to end.</a:t>
            </a:r>
            <a:endParaRPr lang="en-US" sz="1150" dirty="0"/>
          </a:p>
        </p:txBody>
      </p:sp>
    </p:spTree>
  </p:cSld>
  <p:clrMapOvr>
    <a:masterClrMapping/>
  </p:clrMapOvr>
  <p:transition spd="med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2011680" cy="2011680"/>
          </a:xfrm>
          <a:prstGeom prst="ellipse">
            <a:avLst/>
          </a:prstGeom>
          <a:solidFill>
            <a:srgbClr val="FFB03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74320"/>
            <a:ext cx="164592" cy="164592"/>
          </a:xfrm>
          <a:prstGeom prst="ellipse">
            <a:avLst/>
          </a:prstGeom>
          <a:solidFill>
            <a:srgbClr val="E844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01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47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 / Project Overview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54480"/>
            <a:ext cx="42062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40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 integrates university rankings with country-level education indicators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40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cleans, standardizes and engineers KPIs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40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interactive Tableau dashboards with filters, parameters and actions</a:t>
            </a:r>
            <a:endParaRPr lang="en-US" sz="14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40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 navigation loop across all dashboards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0" y="155448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E844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0" y="15544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University Overview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0" y="233172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F47B2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0" y="233172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Analytics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0" y="310896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D9365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0" y="3108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Analytics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029200" y="3886200"/>
            <a:ext cx="3657600" cy="640080"/>
          </a:xfrm>
          <a:prstGeom prst="roundRect">
            <a:avLst>
              <a:gd name="adj" fmla="val 14286"/>
            </a:avLst>
          </a:prstGeom>
          <a:solidFill>
            <a:srgbClr val="FFB03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29200" y="38862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Country Comparison</a:t>
            </a:r>
            <a:endParaRPr lang="en-US" sz="1400" dirty="0"/>
          </a:p>
        </p:txBody>
      </p:sp>
    </p:spTree>
  </p:cSld>
  <p:clrMapOvr>
    <a:masterClrMapping/>
  </p:clrMapOvr>
  <p:transition spd="med">
    <p:spli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2011680" cy="2011680"/>
          </a:xfrm>
          <a:prstGeom prst="ellipse">
            <a:avLst/>
          </a:prstGeom>
          <a:solidFill>
            <a:srgbClr val="FFB03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74320"/>
            <a:ext cx="164592" cy="164592"/>
          </a:xfrm>
          <a:prstGeom prst="ellipse">
            <a:avLst/>
          </a:prstGeom>
          <a:solidFill>
            <a:srgbClr val="E844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01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47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Stack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1885950" cy="2194560"/>
          </a:xfrm>
          <a:prstGeom prst="roundRect">
            <a:avLst>
              <a:gd name="adj" fmla="val 5818"/>
            </a:avLst>
          </a:prstGeom>
          <a:solidFill>
            <a:srgbClr val="E8442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788920"/>
            <a:ext cx="15201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cleaning, transformation, KPI engineering.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571750" y="1645920"/>
            <a:ext cx="1885950" cy="2194560"/>
          </a:xfrm>
          <a:prstGeom prst="roundRect">
            <a:avLst>
              <a:gd name="adj" fmla="val 5818"/>
            </a:avLst>
          </a:prstGeom>
          <a:solidFill>
            <a:srgbClr val="F47B20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754630" y="178308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754630" y="228600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Pandas &amp; NumPy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54630" y="2788920"/>
            <a:ext cx="15201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Analysis, integration, validation, EDA.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86300" y="1645920"/>
            <a:ext cx="1885950" cy="2194560"/>
          </a:xfrm>
          <a:prstGeom prst="roundRect">
            <a:avLst>
              <a:gd name="adj" fmla="val 5818"/>
            </a:avLst>
          </a:prstGeom>
          <a:solidFill>
            <a:srgbClr val="D9365E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869180" y="178308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869180" y="228600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Tableau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69180" y="2788920"/>
            <a:ext cx="15201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Dashboards, parameters, actions, Tableau Public.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00850" y="1645920"/>
            <a:ext cx="1885950" cy="2194560"/>
          </a:xfrm>
          <a:prstGeom prst="roundRect">
            <a:avLst>
              <a:gd name="adj" fmla="val 5818"/>
            </a:avLst>
          </a:prstGeom>
          <a:solidFill>
            <a:srgbClr val="FFB030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983730" y="178308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983730" y="228600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&amp; GitHub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83730" y="2788920"/>
            <a:ext cx="152019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Version control and project delivery.</a:t>
            </a:r>
            <a:endParaRPr lang="en-US" sz="1150" dirty="0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2011680" cy="2011680"/>
          </a:xfrm>
          <a:prstGeom prst="ellipse">
            <a:avLst/>
          </a:prstGeom>
          <a:solidFill>
            <a:srgbClr val="FFB03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74320"/>
            <a:ext cx="164592" cy="164592"/>
          </a:xfrm>
          <a:prstGeom prst="ellipse">
            <a:avLst/>
          </a:prstGeom>
          <a:solidFill>
            <a:srgbClr val="E844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01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47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Sources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1885950" cy="2468880"/>
          </a:xfrm>
          <a:prstGeom prst="roundRect">
            <a:avLst>
              <a:gd name="adj" fmla="val 5818"/>
            </a:avLst>
          </a:prstGeom>
          <a:solidFill>
            <a:srgbClr val="E8442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QS Rankings 2025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788920"/>
            <a:ext cx="152019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score, reputation, citations, internationalization.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571750" y="1645920"/>
            <a:ext cx="1885950" cy="2468880"/>
          </a:xfrm>
          <a:prstGeom prst="roundRect">
            <a:avLst>
              <a:gd name="adj" fmla="val 5818"/>
            </a:avLst>
          </a:prstGeom>
          <a:solidFill>
            <a:srgbClr val="F47B20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754630" y="178308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754630" y="228600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Rankings 2024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54630" y="2788920"/>
            <a:ext cx="152019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Teaching, research, citations, industry income.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86300" y="1645920"/>
            <a:ext cx="1885950" cy="2468880"/>
          </a:xfrm>
          <a:prstGeom prst="roundRect">
            <a:avLst>
              <a:gd name="adj" fmla="val 5818"/>
            </a:avLst>
          </a:prstGeom>
          <a:solidFill>
            <a:srgbClr val="D9365E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869180" y="178308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869180" y="228600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Rankings 2023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69180" y="2788920"/>
            <a:ext cx="152019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research and student indicators.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00850" y="1645920"/>
            <a:ext cx="1885950" cy="2468880"/>
          </a:xfrm>
          <a:prstGeom prst="roundRect">
            <a:avLst>
              <a:gd name="adj" fmla="val 5818"/>
            </a:avLst>
          </a:prstGeom>
          <a:solidFill>
            <a:srgbClr val="FFB030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983730" y="178308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983730" y="228600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Bank EdStats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83730" y="2788920"/>
            <a:ext cx="152019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Country education indicators (2015).</a:t>
            </a:r>
            <a:endParaRPr lang="en-US" sz="1150" dirty="0"/>
          </a:p>
        </p:txBody>
      </p:sp>
    </p:spTree>
  </p:cSld>
  <p:clrMapOvr>
    <a:masterClrMapping/>
  </p:clrMapOvr>
  <p:transition spd="med">
    <p:push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2011680" cy="2011680"/>
          </a:xfrm>
          <a:prstGeom prst="ellipse">
            <a:avLst/>
          </a:prstGeom>
          <a:solidFill>
            <a:srgbClr val="FFB03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74320"/>
            <a:ext cx="164592" cy="164592"/>
          </a:xfrm>
          <a:prstGeom prst="ellipse">
            <a:avLst/>
          </a:prstGeom>
          <a:solidFill>
            <a:srgbClr val="E844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01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47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Pipeline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2011680"/>
            <a:ext cx="1426464" cy="1463040"/>
          </a:xfrm>
          <a:prstGeom prst="roundRect">
            <a:avLst>
              <a:gd name="adj" fmla="val 6410"/>
            </a:avLst>
          </a:prstGeom>
          <a:solidFill>
            <a:srgbClr val="E844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21031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Data (QS, THE, World Bank)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883664" y="2468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2157984" y="2011680"/>
            <a:ext cx="1426464" cy="1463040"/>
          </a:xfrm>
          <a:prstGeom prst="roundRect">
            <a:avLst>
              <a:gd name="adj" fmla="val 6410"/>
            </a:avLst>
          </a:prstGeom>
          <a:solidFill>
            <a:srgbClr val="F47B2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231136" y="21031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&amp; Standardize (Python)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2468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858768" y="2011680"/>
            <a:ext cx="1426464" cy="1463040"/>
          </a:xfrm>
          <a:prstGeom prst="roundRect">
            <a:avLst>
              <a:gd name="adj" fmla="val 6410"/>
            </a:avLst>
          </a:prstGeom>
          <a:solidFill>
            <a:srgbClr val="E844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931920" y="21031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Integrate (university_id)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285232" y="2468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5559552" y="2011680"/>
            <a:ext cx="1426464" cy="1463040"/>
          </a:xfrm>
          <a:prstGeom prst="roundRect">
            <a:avLst>
              <a:gd name="adj" fmla="val 6410"/>
            </a:avLst>
          </a:prstGeom>
          <a:solidFill>
            <a:srgbClr val="F47B2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32704" y="21031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Engineering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986016" y="2468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7260336" y="2011680"/>
            <a:ext cx="1426464" cy="1463040"/>
          </a:xfrm>
          <a:prstGeom prst="roundRect">
            <a:avLst>
              <a:gd name="adj" fmla="val 6410"/>
            </a:avLst>
          </a:prstGeom>
          <a:solidFill>
            <a:srgbClr val="E844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33488" y="21031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Tableau Dashboards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FFF1E8"/>
          </a:solidFill>
          <a:ln/>
        </p:spPr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2011680" cy="2011680"/>
          </a:xfrm>
          <a:prstGeom prst="ellipse">
            <a:avLst/>
          </a:prstGeom>
          <a:solidFill>
            <a:srgbClr val="FFB03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74320"/>
            <a:ext cx="164592" cy="164592"/>
          </a:xfrm>
          <a:prstGeom prst="ellipse">
            <a:avLst/>
          </a:prstGeom>
          <a:solidFill>
            <a:srgbClr val="E844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01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47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Cleaning &amp; Preprocessing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5448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5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Removed duplicate rows and duplicate universities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5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 column names and selected analytical fields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5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Standardized university and country names via a country mapping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5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Assigned a unique university_id to each institution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5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Converted rankings to a common structure, preserving original scores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5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Analyzed missing values instead of replacing with zero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52160" y="1600200"/>
            <a:ext cx="2834640" cy="1371600"/>
          </a:xfrm>
          <a:prstGeom prst="roundRect">
            <a:avLst>
              <a:gd name="adj" fmla="val 8000"/>
            </a:avLst>
          </a:prstGeom>
          <a:solidFill>
            <a:srgbClr val="FFF1E8"/>
          </a:solidFill>
          <a:ln w="12700">
            <a:solidFill>
              <a:srgbClr val="F47B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852160" y="17373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1,503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23774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QS 2025 rows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852160" y="3200400"/>
            <a:ext cx="2834640" cy="1371600"/>
          </a:xfrm>
          <a:prstGeom prst="roundRect">
            <a:avLst>
              <a:gd name="adj" fmla="val 8000"/>
            </a:avLst>
          </a:prstGeom>
          <a:solidFill>
            <a:srgbClr val="FFF1E8"/>
          </a:solidFill>
          <a:ln w="12700">
            <a:solidFill>
              <a:srgbClr val="F47B2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52160" y="3337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39776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duplicates</a:t>
            </a:r>
            <a:endParaRPr lang="en-US" sz="1150" dirty="0"/>
          </a:p>
        </p:txBody>
      </p:sp>
    </p:spTree>
  </p:cSld>
  <p:clrMapOvr>
    <a:masterClrMapping/>
  </p:clrMapOvr>
  <p:transition spd="med">
    <p:wipe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2011680" cy="2011680"/>
          </a:xfrm>
          <a:prstGeom prst="ellipse">
            <a:avLst/>
          </a:prstGeom>
          <a:solidFill>
            <a:srgbClr val="FFB03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74320"/>
            <a:ext cx="164592" cy="164592"/>
          </a:xfrm>
          <a:prstGeom prst="ellipse">
            <a:avLst/>
          </a:prstGeom>
          <a:solidFill>
            <a:srgbClr val="E844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01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47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Model / System Architecture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3291840" y="2194560"/>
            <a:ext cx="2560320" cy="822960"/>
          </a:xfrm>
          <a:prstGeom prst="roundRect">
            <a:avLst>
              <a:gd name="adj" fmla="val 11111"/>
            </a:avLst>
          </a:prstGeom>
          <a:solidFill>
            <a:srgbClr val="5A103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291840" y="219456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dim_university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(university_id)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55448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E844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1554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fact_university_performance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834640" y="1897380"/>
            <a:ext cx="228600" cy="0"/>
          </a:xfrm>
          <a:prstGeom prst="line">
            <a:avLst/>
          </a:prstGeom>
          <a:noFill/>
          <a:ln w="19050">
            <a:solidFill>
              <a:srgbClr val="F47B2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310896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E8442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108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fact_research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834640" y="3451860"/>
            <a:ext cx="228600" cy="0"/>
          </a:xfrm>
          <a:prstGeom prst="line">
            <a:avLst/>
          </a:prstGeom>
          <a:noFill/>
          <a:ln w="19050">
            <a:solidFill>
              <a:srgbClr val="F47B2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09360" y="155448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E844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09360" y="15544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fact_student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80760" y="1897380"/>
            <a:ext cx="228600" cy="0"/>
          </a:xfrm>
          <a:prstGeom prst="line">
            <a:avLst/>
          </a:prstGeom>
          <a:noFill/>
          <a:ln w="19050">
            <a:solidFill>
              <a:srgbClr val="F47B2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3108960"/>
            <a:ext cx="2377440" cy="685800"/>
          </a:xfrm>
          <a:prstGeom prst="roundRect">
            <a:avLst>
              <a:gd name="adj" fmla="val 13333"/>
            </a:avLst>
          </a:prstGeom>
          <a:solidFill>
            <a:srgbClr val="E844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309360" y="310896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fact_university_kpi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080760" y="3451860"/>
            <a:ext cx="228600" cy="0"/>
          </a:xfrm>
          <a:prstGeom prst="line">
            <a:avLst/>
          </a:prstGeom>
          <a:noFill/>
          <a:ln w="19050">
            <a:solidFill>
              <a:srgbClr val="F47B2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63240" y="1897380"/>
            <a:ext cx="0" cy="1554480"/>
          </a:xfrm>
          <a:prstGeom prst="line">
            <a:avLst/>
          </a:prstGeom>
          <a:noFill/>
          <a:ln w="19050">
            <a:solidFill>
              <a:srgbClr val="F47B2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80760" y="1897380"/>
            <a:ext cx="0" cy="1554480"/>
          </a:xfrm>
          <a:prstGeom prst="line">
            <a:avLst/>
          </a:prstGeom>
          <a:noFill/>
          <a:ln w="19050">
            <a:solidFill>
              <a:srgbClr val="F47B2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063240" y="2606040"/>
            <a:ext cx="228600" cy="0"/>
          </a:xfrm>
          <a:prstGeom prst="line">
            <a:avLst/>
          </a:prstGeom>
          <a:noFill/>
          <a:ln w="19050">
            <a:solidFill>
              <a:srgbClr val="F47B2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52160" y="2606040"/>
            <a:ext cx="228600" cy="0"/>
          </a:xfrm>
          <a:prstGeom prst="line">
            <a:avLst/>
          </a:prstGeom>
          <a:noFill/>
          <a:ln w="19050">
            <a:solidFill>
              <a:srgbClr val="F47B2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91840" y="3931920"/>
            <a:ext cx="2560320" cy="685800"/>
          </a:xfrm>
          <a:prstGeom prst="roundRect">
            <a:avLst>
              <a:gd name="adj" fmla="val 13333"/>
            </a:avLst>
          </a:prstGeom>
          <a:solidFill>
            <a:srgbClr val="F47B2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291840" y="3931920"/>
            <a:ext cx="2560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fact_country_education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(WB Country Code)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0" y="3017520"/>
            <a:ext cx="0" cy="914400"/>
          </a:xfrm>
          <a:prstGeom prst="line">
            <a:avLst/>
          </a:prstGeom>
          <a:noFill/>
          <a:ln w="19050">
            <a:solidFill>
              <a:srgbClr val="F47B20"/>
            </a:solidFill>
            <a:prstDash val="solid"/>
          </a:ln>
        </p:spPr>
      </p:sp>
    </p:spTree>
  </p:cSld>
  <p:clrMapOvr>
    <a:masterClrMapping/>
  </p:clrMapOvr>
  <p:transition spd="med">
    <p:cover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2011680" cy="2011680"/>
          </a:xfrm>
          <a:prstGeom prst="ellipse">
            <a:avLst/>
          </a:prstGeom>
          <a:solidFill>
            <a:srgbClr val="FFB03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74320"/>
            <a:ext cx="164592" cy="164592"/>
          </a:xfrm>
          <a:prstGeom prst="ellipse">
            <a:avLst/>
          </a:prstGeom>
          <a:solidFill>
            <a:srgbClr val="E844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01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47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Data Analysis (EDA)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2590800" cy="1554480"/>
          </a:xfrm>
          <a:prstGeom prst="roundRect">
            <a:avLst>
              <a:gd name="adj" fmla="val 7059"/>
            </a:avLst>
          </a:prstGeom>
          <a:solidFill>
            <a:srgbClr val="FFF1E8"/>
          </a:solidFill>
          <a:ln w="12700">
            <a:solidFill>
              <a:srgbClr val="F47B2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0" y="1828800"/>
            <a:ext cx="259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3,530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560320"/>
            <a:ext cx="240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university records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76600" y="1645920"/>
            <a:ext cx="2590800" cy="1554480"/>
          </a:xfrm>
          <a:prstGeom prst="roundRect">
            <a:avLst>
              <a:gd name="adj" fmla="val 7059"/>
            </a:avLst>
          </a:prstGeom>
          <a:solidFill>
            <a:srgbClr val="FFF1E8"/>
          </a:solidFill>
          <a:ln w="12700">
            <a:solidFill>
              <a:srgbClr val="F47B2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76600" y="1828800"/>
            <a:ext cx="259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98.19%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368040" y="2560320"/>
            <a:ext cx="240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 Bank linkage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96000" y="1645920"/>
            <a:ext cx="2590800" cy="1554480"/>
          </a:xfrm>
          <a:prstGeom prst="roundRect">
            <a:avLst>
              <a:gd name="adj" fmla="val 7059"/>
            </a:avLst>
          </a:prstGeom>
          <a:solidFill>
            <a:srgbClr val="FFF1E8"/>
          </a:solidFill>
          <a:ln w="12700">
            <a:solidFill>
              <a:srgbClr val="F47B2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96000" y="1828800"/>
            <a:ext cx="259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187440" y="2560320"/>
            <a:ext cx="240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countries (QS)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474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Checked distributions of ranking, research and student indicators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Analyzed missing values and overlap between QS and THE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0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country mapping and university_id overlap</a:t>
            </a:r>
            <a:endParaRPr lang="en-US" sz="1300" dirty="0"/>
          </a:p>
        </p:txBody>
      </p:sp>
    </p:spTree>
  </p:cSld>
  <p:clrMapOvr>
    <a:masterClrMapping/>
  </p:clrMapOvr>
  <p:transition spd="med">
    <p:spli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2011680" cy="2011680"/>
          </a:xfrm>
          <a:prstGeom prst="ellipse">
            <a:avLst/>
          </a:prstGeom>
          <a:solidFill>
            <a:srgbClr val="FFB03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74320"/>
            <a:ext cx="164592" cy="164592"/>
          </a:xfrm>
          <a:prstGeom prst="ellipse">
            <a:avLst/>
          </a:prstGeom>
          <a:solidFill>
            <a:srgbClr val="E844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01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47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Tableau Dashboard / Visualization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54480"/>
            <a:ext cx="5943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5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University Overview: rankings, reputation, distribution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5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Analytics: productivity and citation trends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5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Analytics: international students, staff ratios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35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Country Comparison: country and regional education indicators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3749040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E8442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dashboard on Tableau Public  </a:t>
            </a:r>
            <a:endParaRPr lang="en-US" sz="1300" dirty="0"/>
          </a:p>
          <a:p>
            <a:pPr marL="0" indent="0">
              <a:buNone/>
            </a:pPr>
            <a:r>
              <a:rPr lang="en-US" sz="1300" u="sng" dirty="0">
                <a:solidFill>
                  <a:srgbClr val="FFF1B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View EduVision University Overview</a:t>
            </a:r>
            <a:endParaRPr lang="en-US" sz="13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17456EF-5A6F-8D7C-02CB-8F1CB3C211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1648047"/>
            <a:ext cx="1645920" cy="1643793"/>
          </a:xfrm>
          <a:prstGeom prst="rect">
            <a:avLst/>
          </a:prstGeom>
        </p:spPr>
      </p:pic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2011680" cy="2011680"/>
          </a:xfrm>
          <a:prstGeom prst="ellipse">
            <a:avLst/>
          </a:prstGeom>
          <a:solidFill>
            <a:srgbClr val="FFB03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74320"/>
            <a:ext cx="164592" cy="164592"/>
          </a:xfrm>
          <a:prstGeom prst="ellipse">
            <a:avLst/>
          </a:prstGeom>
          <a:solidFill>
            <a:srgbClr val="E844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01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47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KPIs / Key Metrics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2590800" cy="1325880"/>
          </a:xfrm>
          <a:prstGeom prst="roundRect">
            <a:avLst>
              <a:gd name="adj" fmla="val 8276"/>
            </a:avLst>
          </a:prstGeom>
          <a:solidFill>
            <a:srgbClr val="E8442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1691640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Ranking Score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148840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QS 2025 overall score.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76600" y="1554480"/>
            <a:ext cx="2590800" cy="1325880"/>
          </a:xfrm>
          <a:prstGeom prst="roundRect">
            <a:avLst>
              <a:gd name="adj" fmla="val 8276"/>
            </a:avLst>
          </a:prstGeom>
          <a:solidFill>
            <a:srgbClr val="F47B20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459480" y="1691640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Impact Score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459480" y="2148840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Citation-based research strength.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096000" y="1554480"/>
            <a:ext cx="2590800" cy="1325880"/>
          </a:xfrm>
          <a:prstGeom prst="roundRect">
            <a:avLst>
              <a:gd name="adj" fmla="val 8276"/>
            </a:avLst>
          </a:prstGeom>
          <a:solidFill>
            <a:srgbClr val="D9365E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278880" y="1691640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Faculty-to-Student Score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278880" y="2148840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Percentile score, 0 to 100.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108960"/>
            <a:ext cx="2590800" cy="1325880"/>
          </a:xfrm>
          <a:prstGeom prst="roundRect">
            <a:avLst>
              <a:gd name="adj" fmla="val 8276"/>
            </a:avLst>
          </a:prstGeom>
          <a:solidFill>
            <a:srgbClr val="E8442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3246120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Student %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703320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of international students.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276600" y="3108960"/>
            <a:ext cx="2590800" cy="1325880"/>
          </a:xfrm>
          <a:prstGeom prst="roundRect">
            <a:avLst>
              <a:gd name="adj" fmla="val 8276"/>
            </a:avLst>
          </a:prstGeom>
          <a:solidFill>
            <a:srgbClr val="F47B20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9480" y="3246120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Academic Reputation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459480" y="3703320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QS academic reputation score.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096000" y="3108960"/>
            <a:ext cx="2590800" cy="1325880"/>
          </a:xfrm>
          <a:prstGeom prst="roundRect">
            <a:avLst>
              <a:gd name="adj" fmla="val 8276"/>
            </a:avLst>
          </a:prstGeom>
          <a:solidFill>
            <a:srgbClr val="D9365E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278880" y="3246120"/>
            <a:ext cx="222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Productivity Index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278880" y="3703320"/>
            <a:ext cx="222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Weighted research index.</a:t>
            </a:r>
            <a:endParaRPr lang="en-US" sz="1150" dirty="0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2011680" cy="2011680"/>
          </a:xfrm>
          <a:prstGeom prst="ellipse">
            <a:avLst/>
          </a:prstGeom>
          <a:solidFill>
            <a:srgbClr val="FFB03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74320"/>
            <a:ext cx="164592" cy="164592"/>
          </a:xfrm>
          <a:prstGeom prst="ellipse">
            <a:avLst/>
          </a:prstGeom>
          <a:solidFill>
            <a:srgbClr val="E844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01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47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 / Project Demonstration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1851660" cy="1463040"/>
          </a:xfrm>
          <a:prstGeom prst="roundRect">
            <a:avLst>
              <a:gd name="adj" fmla="val 6250"/>
            </a:avLst>
          </a:prstGeom>
          <a:solidFill>
            <a:srgbClr val="E844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920240"/>
            <a:ext cx="17053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University Overview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308860" y="22860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2583180" y="1828800"/>
            <a:ext cx="1851660" cy="1463040"/>
          </a:xfrm>
          <a:prstGeom prst="roundRect">
            <a:avLst>
              <a:gd name="adj" fmla="val 6250"/>
            </a:avLst>
          </a:prstGeom>
          <a:solidFill>
            <a:srgbClr val="F47B2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656332" y="1920240"/>
            <a:ext cx="17053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Analytics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22860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709160" y="1828800"/>
            <a:ext cx="1851660" cy="1463040"/>
          </a:xfrm>
          <a:prstGeom prst="roundRect">
            <a:avLst>
              <a:gd name="adj" fmla="val 6250"/>
            </a:avLst>
          </a:prstGeom>
          <a:solidFill>
            <a:srgbClr val="E844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82312" y="1920240"/>
            <a:ext cx="17053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Analytics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60820" y="22860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835140" y="1828800"/>
            <a:ext cx="1851660" cy="1463040"/>
          </a:xfrm>
          <a:prstGeom prst="roundRect">
            <a:avLst>
              <a:gd name="adj" fmla="val 6250"/>
            </a:avLst>
          </a:prstGeom>
          <a:solidFill>
            <a:srgbClr val="F47B2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08292" y="1920240"/>
            <a:ext cx="170535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Country Comparison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566160"/>
            <a:ext cx="8229600" cy="685800"/>
          </a:xfrm>
          <a:prstGeom prst="roundRect">
            <a:avLst>
              <a:gd name="adj" fmla="val 13333"/>
            </a:avLst>
          </a:prstGeom>
          <a:solidFill>
            <a:srgbClr val="FFF1E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356616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A1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Filters: Country, Region, Income Group, University, Year. Parameter and dashboard actions link the views.</a:t>
            </a:r>
            <a:endParaRPr lang="en-US" sz="1250" dirty="0"/>
          </a:p>
        </p:txBody>
      </p:sp>
    </p:spTree>
  </p:cSld>
  <p:clrMapOvr>
    <a:masterClrMapping/>
  </p:clrMapOvr>
  <p:transition spd="med">
    <p:spli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2011680" cy="2011680"/>
          </a:xfrm>
          <a:prstGeom prst="ellipse">
            <a:avLst/>
          </a:prstGeom>
          <a:solidFill>
            <a:srgbClr val="FFB03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74320"/>
            <a:ext cx="164592" cy="164592"/>
          </a:xfrm>
          <a:prstGeom prst="ellipse">
            <a:avLst/>
          </a:prstGeom>
          <a:solidFill>
            <a:srgbClr val="E844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01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47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 / Project Resources</a:t>
            </a:r>
            <a:endParaRPr lang="en-US" sz="2600" dirty="0"/>
          </a:p>
        </p:txBody>
      </p:sp>
      <p:sp>
        <p:nvSpPr>
          <p:cNvPr id="9" name="Text 5"/>
          <p:cNvSpPr txBox="1"/>
          <p:nvPr/>
        </p:nvSpPr>
        <p:spPr>
          <a:xfrm>
            <a:off x="731520" y="33375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Tableau Public</a:t>
            </a:r>
            <a:endParaRPr lang="en-US" sz="1300" dirty="0"/>
          </a:p>
          <a:p>
            <a:pPr marL="0" indent="0">
              <a:buNone/>
            </a:pPr>
            <a:r>
              <a:rPr lang="en-US" sz="1300" u="sng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live dashboard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4754880" y="3337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Repository</a:t>
            </a:r>
            <a:endParaRPr lang="en-US" sz="1300" dirty="0"/>
          </a:p>
          <a:p>
            <a:pPr marL="0" indent="0">
              <a:buNone/>
            </a:pPr>
            <a:r>
              <a:rPr lang="en-US" sz="1300" u="sng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project repository</a:t>
            </a:r>
            <a:endParaRPr lang="en-US" sz="13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E97CDF8-4144-1B73-E8D9-8CD6059BDF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688" y="1637414"/>
            <a:ext cx="1760752" cy="164592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DEA6D19-C319-21B7-A8B3-5924045DD5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2807" y="1711709"/>
            <a:ext cx="1605516" cy="1497330"/>
          </a:xfrm>
          <a:prstGeom prst="rect">
            <a:avLst/>
          </a:prstGeom>
        </p:spPr>
      </p:pic>
    </p:spTree>
  </p:cSld>
  <p:clrMapOvr>
    <a:masterClrMapping/>
  </p:clrMapOvr>
  <p:transition spd="med">
    <p:push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2011680" cy="2011680"/>
          </a:xfrm>
          <a:prstGeom prst="ellipse">
            <a:avLst/>
          </a:prstGeom>
          <a:solidFill>
            <a:srgbClr val="FFB03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74320"/>
            <a:ext cx="164592" cy="164592"/>
          </a:xfrm>
          <a:prstGeom prst="ellipse">
            <a:avLst/>
          </a:prstGeom>
          <a:solidFill>
            <a:srgbClr val="E844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01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47B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554480"/>
            <a:ext cx="82296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 unifies QS, THE and World Bank data into one analytical model of 3,530 universities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validated KPIs support fair institutional comparison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linked Tableau dashboards enable interactive exploration</a:t>
            </a:r>
            <a:endParaRPr lang="en-US" sz="1500" dirty="0"/>
          </a:p>
          <a:p>
            <a:pPr marL="342900" indent="-342900">
              <a:spcAft>
                <a:spcPts val="700"/>
              </a:spcAft>
              <a:buSzPct val="100000"/>
              <a:buChar char="●"/>
            </a:pPr>
            <a:r>
              <a:rPr lang="en-US" sz="1500" dirty="0">
                <a:solidFill>
                  <a:srgbClr val="3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confirmed accurate calculations and reliable navigation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822960"/>
            <a:ext cx="2011680" cy="2011680"/>
          </a:xfrm>
          <a:prstGeom prst="ellipse">
            <a:avLst/>
          </a:prstGeom>
          <a:solidFill>
            <a:srgbClr val="FFB030">
              <a:alpha val="3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274320" y="274320"/>
            <a:ext cx="164592" cy="164592"/>
          </a:xfrm>
          <a:prstGeom prst="ellipse">
            <a:avLst/>
          </a:prstGeom>
          <a:solidFill>
            <a:srgbClr val="E8442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201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138160" y="47091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F47B20"/>
                </a:solidFill>
                <a:latin typeface="Arial" pitchFamily="34" charset="0"/>
                <a:cs typeface="Arial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844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Scope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1885950" cy="2286000"/>
          </a:xfrm>
          <a:prstGeom prst="roundRect">
            <a:avLst>
              <a:gd name="adj" fmla="val 5818"/>
            </a:avLst>
          </a:prstGeom>
          <a:solidFill>
            <a:srgbClr val="E8442F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178308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28600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Years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788920"/>
            <a:ext cx="15201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multi-year ranking trends.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571750" y="1645920"/>
            <a:ext cx="1885950" cy="2286000"/>
          </a:xfrm>
          <a:prstGeom prst="roundRect">
            <a:avLst>
              <a:gd name="adj" fmla="val 5818"/>
            </a:avLst>
          </a:prstGeom>
          <a:solidFill>
            <a:srgbClr val="F47B20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754630" y="178308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754630" y="228600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Sources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754630" y="2788920"/>
            <a:ext cx="15201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Include Shanghai and CWUR rankings.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86300" y="1645920"/>
            <a:ext cx="1885950" cy="2286000"/>
          </a:xfrm>
          <a:prstGeom prst="roundRect">
            <a:avLst>
              <a:gd name="adj" fmla="val 5818"/>
            </a:avLst>
          </a:prstGeom>
          <a:solidFill>
            <a:srgbClr val="D9365E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869180" y="178308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4869180" y="228600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869180" y="2788920"/>
            <a:ext cx="15201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Scheduled data refresh and pipelines.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00850" y="1645920"/>
            <a:ext cx="1885950" cy="2286000"/>
          </a:xfrm>
          <a:prstGeom prst="roundRect">
            <a:avLst>
              <a:gd name="adj" fmla="val 5818"/>
            </a:avLst>
          </a:prstGeom>
          <a:solidFill>
            <a:srgbClr val="FFB030"/>
          </a:solidFill>
          <a:ln/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6983730" y="178308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6983730" y="2286000"/>
            <a:ext cx="15201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Predictive Models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983730" y="2788920"/>
            <a:ext cx="15201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ranking movement.</a:t>
            </a:r>
            <a:endParaRPr lang="en-US" sz="1150" dirty="0"/>
          </a:p>
        </p:txBody>
      </p:sp>
    </p:spTree>
  </p:cSld>
  <p:clrMapOvr>
    <a:masterClrMapping/>
  </p:clrMapOvr>
  <p:transition spd="med">
    <p:wipe dir="r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EduVision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7498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  |  Q&amp;A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and feedback are welcome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035040" y="2880360"/>
            <a:ext cx="2743200" cy="1691640"/>
          </a:xfrm>
          <a:prstGeom prst="roundRect">
            <a:avLst>
              <a:gd name="adj" fmla="val 5405"/>
            </a:avLst>
          </a:prstGeom>
          <a:solidFill>
            <a:srgbClr val="FFFFFF">
              <a:alpha val="90000"/>
            </a:srgbClr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6172200" y="4251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5A10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Tableau        GitHub</a:t>
            </a:r>
            <a:endParaRPr lang="en-US" sz="1000" dirty="0"/>
          </a:p>
        </p:txBody>
      </p:sp>
      <p:pic>
        <p:nvPicPr>
          <p:cNvPr id="10" name="Picture 9">
            <a:hlinkClick r:id="rId4"/>
            <a:extLst>
              <a:ext uri="{FF2B5EF4-FFF2-40B4-BE49-F238E27FC236}">
                <a16:creationId xmlns:a16="http://schemas.microsoft.com/office/drawing/2014/main" id="{DACAA5DB-6C8A-3B6C-5E5F-CC6AAB81CA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3620" y="3040380"/>
            <a:ext cx="1280160" cy="1234440"/>
          </a:xfrm>
          <a:prstGeom prst="rect">
            <a:avLst/>
          </a:prstGeom>
        </p:spPr>
      </p:pic>
      <p:pic>
        <p:nvPicPr>
          <p:cNvPr id="14" name="Picture 13">
            <a:hlinkClick r:id="rId6"/>
            <a:extLst>
              <a:ext uri="{FF2B5EF4-FFF2-40B4-BE49-F238E27FC236}">
                <a16:creationId xmlns:a16="http://schemas.microsoft.com/office/drawing/2014/main" id="{50CEE02A-AB3C-9E59-7858-4DEE609B36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0" y="3075999"/>
            <a:ext cx="1291590" cy="1163202"/>
          </a:xfrm>
          <a:prstGeom prst="rect">
            <a:avLst/>
          </a:prstGeom>
        </p:spPr>
      </p:pic>
    </p:spTree>
  </p:cSld>
  <p:clrMapOvr>
    <a:masterClrMapping/>
  </p:clrMapOvr>
  <p:transition spd="med">
    <p:spli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322</TotalTime>
  <Words>723</Words>
  <Application>Microsoft Office PowerPoint</Application>
  <PresentationFormat>On-screen Show (16:9)</PresentationFormat>
  <Paragraphs>200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Lekhana B M</cp:lastModifiedBy>
  <cp:revision>14</cp:revision>
  <dcterms:created xsi:type="dcterms:W3CDTF">2026-09-30T19:31:33Z</dcterms:created>
  <dcterms:modified xsi:type="dcterms:W3CDTF">2026-10-01T09:31:58Z</dcterms:modified>
</cp:coreProperties>
</file>