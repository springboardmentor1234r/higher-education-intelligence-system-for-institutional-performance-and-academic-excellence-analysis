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24"/>
    <p:sldId id="267" r:id="rId12"/>
    <p:sldId id="268" r:id="rId13"/>
    <p:sldId id="279" r:id="rId25"/>
    <p:sldId id="280" r:id="rId26"/>
    <p:sldId id="271" r:id="rId14"/>
    <p:sldId id="281" r:id="rId27"/>
    <p:sldId id="273" r:id="rId15"/>
    <p:sldId id="274" r:id="rId16"/>
    <p:sldId id="275" r:id="rId17"/>
    <p:sldId id="27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7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186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Rankings and education data are fragmented.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public.tableau.com/views/EduVision_DV_17908426546120/UniversityOverview?:language=en-US&amp;:sid=&amp;:redirect=auth&amp;:display_count=n&amp;:origin=viz_share_link" TargetMode="External"/><Relationship Id="rId4" Type="http://schemas.openxmlformats.org/officeDocument/2006/relationships/image" Target="../media/image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public.tableau.com/views/EduVision_DV_17908426546120/UniversityOverview?:language=en-US&amp;:sid=&amp;:redirect=auth&amp;:display_count=n&amp;:origin=viz_share_link" TargetMode="External"/><Relationship Id="rId4" Type="http://schemas.openxmlformats.org/officeDocument/2006/relationships/hyperlink" Target="https://github.com/springboardmentor1234r/Higher-Education-Intelligence-System-for-Institutional-Performance-and-Academic-Excellence-Analysis/tree/Lekhana_B_M" TargetMode="External"/><Relationship Id="rId5" Type="http://schemas.openxmlformats.org/officeDocument/2006/relationships/image" Target="../media/image2.jpeg"/><Relationship Id="rId6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hyperlink" Target="https://public.tableau.com/views/EduVision_DV_17908426546120/UniversityOverview?:language=en-US&amp;:sid=&amp;:redirect=auth&amp;:display_count=n&amp;:origin=viz_share_link" TargetMode="External"/><Relationship Id="rId5" Type="http://schemas.openxmlformats.org/officeDocument/2006/relationships/image" Target="../media/image2.jpeg"/><Relationship Id="rId6" Type="http://schemas.openxmlformats.org/officeDocument/2006/relationships/hyperlink" Target="https://github.com/springboardmentor1234r/Higher-Education-Intelligence-System-for-Institutional-Performance-and-Academic-Excellence-Analysis/tree/Lekhana_B_M" TargetMode="External"/><Relationship Id="rId7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Lekhana B 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Education Intelligence System for Institutional Performance and Academic Excellence Analysis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  |  Data Visualization Project  |  Python + Tableau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551432" y="1760220"/>
            <a:ext cx="58247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rankings come from separate sources (QS, THE) with different formats, names and scales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names and university names are inconsistent across datasets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performance is hard to compare with national education context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Decision-makers lack one interactive view of research, students and country trends</a:t>
            </a:r>
            <a:endParaRPr lang="en-US" sz="1400" dirty="0"/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885950" cy="2468880"/>
          </a:xfrm>
          <a:prstGeom prst="roundRect">
            <a:avLst>
              <a:gd name="adj" fmla="val 5818"/>
            </a:avLst>
          </a:prstGeom>
          <a:solidFill>
            <a:srgbClr val="E8442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&amp; Clean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88920"/>
            <a:ext cx="15201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QS, THE and World Bank data; standardize names.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71750" y="1645920"/>
            <a:ext cx="1885950" cy="2468880"/>
          </a:xfrm>
          <a:prstGeom prst="roundRect">
            <a:avLst>
              <a:gd name="adj" fmla="val 5818"/>
            </a:avLst>
          </a:prstGeom>
          <a:solidFill>
            <a:srgbClr val="F47B2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275463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75463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&amp; Model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54630" y="2788920"/>
            <a:ext cx="15201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university and country data using unique IDs.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86300" y="1645920"/>
            <a:ext cx="1885950" cy="2468880"/>
          </a:xfrm>
          <a:prstGeom prst="roundRect">
            <a:avLst>
              <a:gd name="adj" fmla="val 5818"/>
            </a:avLst>
          </a:prstGeom>
          <a:solidFill>
            <a:srgbClr val="D9365E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86918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86918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KPIs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69180" y="2788920"/>
            <a:ext cx="15201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six education KPIs with Python.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00850" y="1645920"/>
            <a:ext cx="1885950" cy="2468880"/>
          </a:xfrm>
          <a:prstGeom prst="roundRect">
            <a:avLst>
              <a:gd name="adj" fmla="val 5818"/>
            </a:avLst>
          </a:prstGeom>
          <a:solidFill>
            <a:srgbClr val="FFB03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98373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98373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&amp; Validate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83730" y="2788920"/>
            <a:ext cx="15201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Tableau dashboards, tested end to end.</a:t>
            </a:r>
            <a:endParaRPr lang="en-US" sz="1150" dirty="0"/>
          </a:p>
        </p:txBody>
      </p:sp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/ Project Overview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5448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 integrates university rankings with country-level education indicators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cleans, standardizes and engineers KPIs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interactive Tableau dashboards with filters, parameters and actions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navigation loop across all dashboards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55448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02920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Overview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233172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F47B2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029200" y="2331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Analytics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310896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D9365E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02920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Analytics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388620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FFB030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029200" y="3886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Comparison</a:t>
            </a:r>
            <a:endParaRPr lang="en-US" sz="1400" dirty="0"/>
          </a:p>
        </p:txBody>
      </p:sp>
    </p:spTree>
  </p:cSld>
  <p:clrMapOvr>
    <a:masterClrMapping/>
  </p:clrMapOvr>
  <p:transition spd="med">
    <p:spli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885950" cy="2194560"/>
          </a:xfrm>
          <a:prstGeom prst="roundRect">
            <a:avLst>
              <a:gd name="adj" fmla="val 5818"/>
            </a:avLst>
          </a:prstGeom>
          <a:solidFill>
            <a:srgbClr val="E8442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88920"/>
            <a:ext cx="15201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cleaning, transformation, KPI engineering.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71750" y="1645920"/>
            <a:ext cx="1885950" cy="2194560"/>
          </a:xfrm>
          <a:prstGeom prst="roundRect">
            <a:avLst>
              <a:gd name="adj" fmla="val 5818"/>
            </a:avLst>
          </a:prstGeom>
          <a:solidFill>
            <a:srgbClr val="F47B2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275463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75463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&amp; NumPy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54630" y="2788920"/>
            <a:ext cx="15201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Analysis, integration, validation, EDA.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86300" y="1645920"/>
            <a:ext cx="1885950" cy="2194560"/>
          </a:xfrm>
          <a:prstGeom prst="roundRect">
            <a:avLst>
              <a:gd name="adj" fmla="val 5818"/>
            </a:avLst>
          </a:prstGeom>
          <a:solidFill>
            <a:srgbClr val="D9365E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86918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86918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69180" y="2788920"/>
            <a:ext cx="15201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Dashboards, parameters, actions, Tableau Public.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00850" y="1645920"/>
            <a:ext cx="1885950" cy="2194560"/>
          </a:xfrm>
          <a:prstGeom prst="roundRect">
            <a:avLst>
              <a:gd name="adj" fmla="val 5818"/>
            </a:avLst>
          </a:prstGeom>
          <a:solidFill>
            <a:srgbClr val="FFB03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98373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98373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83730" y="2788920"/>
            <a:ext cx="15201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and project delivery.</a:t>
            </a:r>
            <a:endParaRPr lang="en-US" sz="1150" dirty="0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885950" cy="2468880"/>
          </a:xfrm>
          <a:prstGeom prst="roundRect">
            <a:avLst>
              <a:gd name="adj" fmla="val 5818"/>
            </a:avLst>
          </a:prstGeom>
          <a:solidFill>
            <a:srgbClr val="E8442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 Rankings 2025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88920"/>
            <a:ext cx="15201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score, reputation, citations, internationalization.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71750" y="1645920"/>
            <a:ext cx="1885950" cy="2468880"/>
          </a:xfrm>
          <a:prstGeom prst="roundRect">
            <a:avLst>
              <a:gd name="adj" fmla="val 5818"/>
            </a:avLst>
          </a:prstGeom>
          <a:solidFill>
            <a:srgbClr val="F47B2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275463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75463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Rankings 2024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54630" y="2788920"/>
            <a:ext cx="15201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Teaching, research, citations, industry income.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86300" y="1645920"/>
            <a:ext cx="1885950" cy="2468880"/>
          </a:xfrm>
          <a:prstGeom prst="roundRect">
            <a:avLst>
              <a:gd name="adj" fmla="val 5818"/>
            </a:avLst>
          </a:prstGeom>
          <a:solidFill>
            <a:srgbClr val="D9365E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86918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86918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Rankings 2023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69180" y="2788920"/>
            <a:ext cx="15201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research and student indicators.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00850" y="1645920"/>
            <a:ext cx="1885950" cy="2468880"/>
          </a:xfrm>
          <a:prstGeom prst="roundRect">
            <a:avLst>
              <a:gd name="adj" fmla="val 5818"/>
            </a:avLst>
          </a:prstGeom>
          <a:solidFill>
            <a:srgbClr val="FFB03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98373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98373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Bank EdStats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83730" y="2788920"/>
            <a:ext cx="15201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education indicators (2015).</a:t>
            </a:r>
            <a:endParaRPr lang="en-US" sz="1150" dirty="0"/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426464" cy="1463040"/>
          </a:xfrm>
          <a:prstGeom prst="roundRect">
            <a:avLst>
              <a:gd name="adj" fmla="val 6410"/>
            </a:avLst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30352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(QS, THE, World Bank)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83664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157984" y="2011680"/>
            <a:ext cx="1426464" cy="1463040"/>
          </a:xfrm>
          <a:prstGeom prst="roundRect">
            <a:avLst>
              <a:gd name="adj" fmla="val 6410"/>
            </a:avLst>
          </a:prstGeom>
          <a:solidFill>
            <a:srgbClr val="F47B2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231136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 Standardize (Python)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858768" y="2011680"/>
            <a:ext cx="1426464" cy="1463040"/>
          </a:xfrm>
          <a:prstGeom prst="roundRect">
            <a:avLst>
              <a:gd name="adj" fmla="val 6410"/>
            </a:avLst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93192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(university_id)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85232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559552" y="2011680"/>
            <a:ext cx="1426464" cy="1463040"/>
          </a:xfrm>
          <a:prstGeom prst="roundRect">
            <a:avLst>
              <a:gd name="adj" fmla="val 6410"/>
            </a:avLst>
          </a:prstGeom>
          <a:solidFill>
            <a:srgbClr val="F47B20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632704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Engineering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86016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260336" y="2011680"/>
            <a:ext cx="1426464" cy="1463040"/>
          </a:xfrm>
          <a:prstGeom prst="roundRect">
            <a:avLst>
              <a:gd name="adj" fmla="val 6410"/>
            </a:avLst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333488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Dashboards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1E8"/>
          </a:solidFill>
          <a:ln/>
        </p:spPr>
        <p:txBody>
          <a:bodyPr/>
          <a:p/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Preprocessing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5448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duplicate rows and duplicate universities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column names and selected analytical fields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university and country names via a country mapping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a unique university_id to each institution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rankings to a common structure, preserving original scores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 missing values instead of replacing with zero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52160" y="160020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FFF1E8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852160" y="1737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 2025 rows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52160" y="320040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FFF1E8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852160" y="3337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977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</a:t>
            </a:r>
            <a:endParaRPr lang="en-US" sz="1150" dirty="0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/ System Architecture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91840" y="219456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5A103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291840" y="2194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dim_university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(university_id)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57200" y="1554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fact_university_performance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34640" y="1897380"/>
            <a:ext cx="228600" cy="0"/>
          </a:xfrm>
          <a:prstGeom prst="line">
            <a:avLst/>
          </a:prstGeom>
          <a:noFill/>
          <a:ln w="1905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310896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57200" y="3108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fact_research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34640" y="3451860"/>
            <a:ext cx="228600" cy="0"/>
          </a:xfrm>
          <a:prstGeom prst="line">
            <a:avLst/>
          </a:prstGeom>
          <a:noFill/>
          <a:ln w="1905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09360" y="1554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309360" y="1554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fact_student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0760" y="1897380"/>
            <a:ext cx="228600" cy="0"/>
          </a:xfrm>
          <a:prstGeom prst="line">
            <a:avLst/>
          </a:prstGeom>
          <a:noFill/>
          <a:ln w="1905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309360" y="310896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309360" y="3108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fact_university_kpi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3451860"/>
            <a:ext cx="228600" cy="0"/>
          </a:xfrm>
          <a:prstGeom prst="line">
            <a:avLst/>
          </a:prstGeom>
          <a:noFill/>
          <a:ln w="1905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063240" y="1897380"/>
            <a:ext cx="0" cy="1554480"/>
          </a:xfrm>
          <a:prstGeom prst="line">
            <a:avLst/>
          </a:prstGeom>
          <a:noFill/>
          <a:ln w="1905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080760" y="1897380"/>
            <a:ext cx="0" cy="1554480"/>
          </a:xfrm>
          <a:prstGeom prst="line">
            <a:avLst/>
          </a:prstGeom>
          <a:noFill/>
          <a:ln w="1905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063240" y="2606040"/>
            <a:ext cx="228600" cy="0"/>
          </a:xfrm>
          <a:prstGeom prst="line">
            <a:avLst/>
          </a:prstGeom>
          <a:noFill/>
          <a:ln w="1905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852160" y="2606040"/>
            <a:ext cx="228600" cy="0"/>
          </a:xfrm>
          <a:prstGeom prst="line">
            <a:avLst/>
          </a:prstGeom>
          <a:noFill/>
          <a:ln w="1905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291840" y="393192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F47B20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3291840" y="39319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fact_country_education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(WB Country Code)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017520"/>
            <a:ext cx="0" cy="914400"/>
          </a:xfrm>
          <a:prstGeom prst="line">
            <a:avLst/>
          </a:prstGeom>
          <a:noFill/>
          <a:ln w="19050">
            <a:solidFill>
              <a:srgbClr val="F47B20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p:transition spd="med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(EDA)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590800" cy="1554480"/>
          </a:xfrm>
          <a:prstGeom prst="roundRect">
            <a:avLst>
              <a:gd name="adj" fmla="val 7059"/>
            </a:avLst>
          </a:prstGeom>
          <a:solidFill>
            <a:srgbClr val="FFF1E8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57200" y="1828800"/>
            <a:ext cx="259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3,530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6032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records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76600" y="1645920"/>
            <a:ext cx="2590800" cy="1554480"/>
          </a:xfrm>
          <a:prstGeom prst="roundRect">
            <a:avLst>
              <a:gd name="adj" fmla="val 7059"/>
            </a:avLst>
          </a:prstGeom>
          <a:solidFill>
            <a:srgbClr val="FFF1E8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276600" y="1828800"/>
            <a:ext cx="259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98.19%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368040" y="256032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Bank linkage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96000" y="1645920"/>
            <a:ext cx="2590800" cy="1554480"/>
          </a:xfrm>
          <a:prstGeom prst="roundRect">
            <a:avLst>
              <a:gd name="adj" fmla="val 7059"/>
            </a:avLst>
          </a:prstGeom>
          <a:solidFill>
            <a:srgbClr val="FFF1E8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096000" y="1828800"/>
            <a:ext cx="259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187440" y="256032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(QS)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distributions of ranking, research and student indicators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 missing values and overlap between QS and THE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country mapping and university_id overlap</a:t>
            </a:r>
            <a:endParaRPr lang="en-US" sz="1300" dirty="0"/>
          </a:p>
        </p:txBody>
      </p:sp>
    </p:spTree>
  </p:cSld>
  <p:clrMapOvr>
    <a:masterClrMapping/>
  </p:clrMapOvr>
  <p:transition spd="med">
    <p:spli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Dashboard / Visualization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5448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Overview: rankings, reputation, distribution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Analytics: productivity and citation trends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Analytics: international students, staff ratios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Comparison: country and regional education indicators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on Tableau Public  </a:t>
            </a:r>
            <a:endParaRPr lang="en-US" sz="1300" dirty="0"/>
          </a:p>
          <a:p>
            <a:pPr marL="0" indent="0">
              <a:buNone/>
            </a:pPr>
            <a:r>
              <a:rPr lang="en-US" sz="1300" u="sng" dirty="0">
                <a:solidFill>
                  <a:srgbClr val="FFF1B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EduVision University Overview</a:t>
            </a:r>
            <a:endParaRPr lang="en-US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7456EF-5A6F-8D7C-02CB-8F1CB3C21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648047"/>
            <a:ext cx="1645920" cy="1643793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/ Key Metrics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590800" cy="1325880"/>
          </a:xfrm>
          <a:prstGeom prst="roundRect">
            <a:avLst>
              <a:gd name="adj" fmla="val 8276"/>
            </a:avLst>
          </a:prstGeom>
          <a:solidFill>
            <a:srgbClr val="E8442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Ranking Score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48840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 2025 overall score.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76600" y="1554480"/>
            <a:ext cx="2590800" cy="1325880"/>
          </a:xfrm>
          <a:prstGeom prst="roundRect">
            <a:avLst>
              <a:gd name="adj" fmla="val 8276"/>
            </a:avLst>
          </a:prstGeom>
          <a:solidFill>
            <a:srgbClr val="F47B2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459480" y="169164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Impact Score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2148840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Citation-based research strength.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96000" y="1554480"/>
            <a:ext cx="2590800" cy="1325880"/>
          </a:xfrm>
          <a:prstGeom prst="roundRect">
            <a:avLst>
              <a:gd name="adj" fmla="val 8276"/>
            </a:avLst>
          </a:prstGeom>
          <a:solidFill>
            <a:srgbClr val="D9365E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278880" y="169164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Faculty-to-Student Score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78880" y="2148840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Percentile score, 0 to 100.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590800" cy="1325880"/>
          </a:xfrm>
          <a:prstGeom prst="roundRect">
            <a:avLst>
              <a:gd name="adj" fmla="val 8276"/>
            </a:avLst>
          </a:prstGeom>
          <a:solidFill>
            <a:srgbClr val="E8442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0080" y="324612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Student %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03320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international students.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76600" y="3108960"/>
            <a:ext cx="2590800" cy="1325880"/>
          </a:xfrm>
          <a:prstGeom prst="roundRect">
            <a:avLst>
              <a:gd name="adj" fmla="val 8276"/>
            </a:avLst>
          </a:prstGeom>
          <a:solidFill>
            <a:srgbClr val="F47B2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3459480" y="324612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Reputation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459480" y="3703320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 academic reputation score.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96000" y="3108960"/>
            <a:ext cx="2590800" cy="1325880"/>
          </a:xfrm>
          <a:prstGeom prst="roundRect">
            <a:avLst>
              <a:gd name="adj" fmla="val 8276"/>
            </a:avLst>
          </a:prstGeom>
          <a:solidFill>
            <a:srgbClr val="D9365E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278880" y="324612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Productivity Index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78880" y="3703320"/>
            <a:ext cx="222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research index.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/ Project Demonstration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851660" cy="1463040"/>
          </a:xfrm>
          <a:prstGeom prst="roundRect">
            <a:avLst>
              <a:gd name="adj" fmla="val 6250"/>
            </a:avLst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30352" y="1920240"/>
            <a:ext cx="17053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Overview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0886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583180" y="1828800"/>
            <a:ext cx="1851660" cy="1463040"/>
          </a:xfrm>
          <a:prstGeom prst="roundRect">
            <a:avLst>
              <a:gd name="adj" fmla="val 6250"/>
            </a:avLst>
          </a:prstGeom>
          <a:solidFill>
            <a:srgbClr val="F47B2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656332" y="1920240"/>
            <a:ext cx="17053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Analytics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709160" y="1828800"/>
            <a:ext cx="1851660" cy="1463040"/>
          </a:xfrm>
          <a:prstGeom prst="roundRect">
            <a:avLst>
              <a:gd name="adj" fmla="val 6250"/>
            </a:avLst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782312" y="1920240"/>
            <a:ext cx="17053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Analytics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6082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835140" y="1828800"/>
            <a:ext cx="1851660" cy="1463040"/>
          </a:xfrm>
          <a:prstGeom prst="roundRect">
            <a:avLst>
              <a:gd name="adj" fmla="val 6250"/>
            </a:avLst>
          </a:prstGeom>
          <a:solidFill>
            <a:srgbClr val="F47B20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908292" y="1920240"/>
            <a:ext cx="17053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Comparison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1E8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Filters: Country, Region, Income Group, University, Year. Parameter and dashboard actions link the views.</a:t>
            </a:r>
            <a:endParaRPr lang="en-US" sz="1250" dirty="0"/>
          </a:p>
        </p:txBody>
      </p:sp>
    </p:spTree>
  </p:cSld>
  <p:clrMapOvr>
    <a:masterClrMapping/>
  </p:clrMapOvr>
  <p:transition spd="med">
    <p:spli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/ Project Resources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337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Public</a:t>
            </a:r>
            <a:endParaRPr lang="en-US" sz="1300" dirty="0"/>
          </a:p>
          <a:p>
            <a:pPr marL="0" indent="0">
              <a:buNone/>
            </a:pPr>
            <a:r>
              <a:rPr lang="en-US" sz="1300" u="sng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live dashboard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3337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300" dirty="0"/>
          </a:p>
          <a:p>
            <a:pPr marL="0" indent="0">
              <a:buNone/>
            </a:pPr>
            <a:r>
              <a:rPr lang="en-US" sz="1300" u="sng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project repository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97CDF8-4144-1B73-E8D9-8CD6059BDF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688" y="1637414"/>
            <a:ext cx="1760752" cy="16459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EA6D19-C319-21B7-A8B3-5924045DD5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2807" y="1711709"/>
            <a:ext cx="1605516" cy="1497330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544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 unifies QS, THE and World Bank data into one analytical model of 3,530 universities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validated KPIs support fair institutional comparison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linked Tableau dashboards enable interactive exploration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confirmed accurate calculations and reliable navigation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885950" cy="2286000"/>
          </a:xfrm>
          <a:prstGeom prst="roundRect">
            <a:avLst>
              <a:gd name="adj" fmla="val 5818"/>
            </a:avLst>
          </a:prstGeom>
          <a:solidFill>
            <a:srgbClr val="E8442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Years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88920"/>
            <a:ext cx="15201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multi-year ranking trends.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71750" y="1645920"/>
            <a:ext cx="1885950" cy="2286000"/>
          </a:xfrm>
          <a:prstGeom prst="roundRect">
            <a:avLst>
              <a:gd name="adj" fmla="val 5818"/>
            </a:avLst>
          </a:prstGeom>
          <a:solidFill>
            <a:srgbClr val="F47B2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275463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75463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Sources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54630" y="2788920"/>
            <a:ext cx="15201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Shanghai and CWUR rankings.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86300" y="1645920"/>
            <a:ext cx="1885950" cy="2286000"/>
          </a:xfrm>
          <a:prstGeom prst="roundRect">
            <a:avLst>
              <a:gd name="adj" fmla="val 5818"/>
            </a:avLst>
          </a:prstGeom>
          <a:solidFill>
            <a:srgbClr val="D9365E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86918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86918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69180" y="2788920"/>
            <a:ext cx="15201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data refresh and pipelines.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00850" y="1645920"/>
            <a:ext cx="1885950" cy="2286000"/>
          </a:xfrm>
          <a:prstGeom prst="roundRect">
            <a:avLst>
              <a:gd name="adj" fmla="val 5818"/>
            </a:avLst>
          </a:prstGeom>
          <a:solidFill>
            <a:srgbClr val="FFB03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98373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98373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83730" y="2788920"/>
            <a:ext cx="15201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ranking movement.</a:t>
            </a:r>
            <a:endParaRPr lang="en-US" sz="1150" dirty="0"/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|  Q&amp;A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feedback are welcome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35040" y="28803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617220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       GitHub</a:t>
            </a:r>
            <a:endParaRPr lang="en-US" sz="1000" dirty="0"/>
          </a:p>
        </p:txBody>
      </p:sp>
      <p:pic>
        <p:nvPicPr>
          <p:cNvPr id="10" name="Picture 9">
            <a:hlinkClick r:id="rId4"/>
            <a:extLst>
              <a:ext uri="{FF2B5EF4-FFF2-40B4-BE49-F238E27FC236}">
                <a16:creationId xmlns:a16="http://schemas.microsoft.com/office/drawing/2014/main" id="{DACAA5DB-6C8A-3B6C-5E5F-CC6AAB81C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3620" y="3040380"/>
            <a:ext cx="1280160" cy="1234440"/>
          </a:xfrm>
          <a:prstGeom prst="rect">
            <a:avLst/>
          </a:prstGeom>
        </p:spPr>
      </p:pic>
      <p:pic>
        <p:nvPicPr>
          <p:cNvPr id="14" name="Picture 13">
            <a:hlinkClick r:id="rId6"/>
            <a:extLst>
              <a:ext uri="{FF2B5EF4-FFF2-40B4-BE49-F238E27FC236}">
                <a16:creationId xmlns:a16="http://schemas.microsoft.com/office/drawing/2014/main" id="{50CEE02A-AB3C-9E59-7858-4DEE609B36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3075999"/>
            <a:ext cx="1291590" cy="1163202"/>
          </a:xfrm>
          <a:prstGeom prst="rect">
            <a:avLst/>
          </a:prstGeom>
        </p:spPr>
      </p:pic>
    </p:spTree>
  </p:cSld>
  <p:clrMapOvr>
    <a:masterClrMapping/>
  </p:clrMapOvr>
  <p:transition spd="med">
    <p:split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Methodology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885950" cy="2194560"/>
          </a:xfrm>
          <a:prstGeom prst="roundRect">
            <a:avLst>
              <a:gd name="adj" fmla="val 5818"/>
            </a:avLst>
          </a:prstGeom>
          <a:solidFill>
            <a:srgbClr val="E8442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University-Level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88920"/>
            <a:ext cx="15201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Ranking, reputation, research impact, students per staff.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71750" y="1645920"/>
            <a:ext cx="1885950" cy="2194560"/>
          </a:xfrm>
          <a:prstGeom prst="roundRect">
            <a:avLst>
              <a:gd name="adj" fmla="val 5818"/>
            </a:avLst>
          </a:prstGeom>
          <a:solidFill>
            <a:srgbClr val="F47B2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275463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75463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Analytics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54630" y="2788920"/>
            <a:ext cx="15201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 per faculty, research and citation scores, RPI.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86300" y="1645920"/>
            <a:ext cx="1885950" cy="2194560"/>
          </a:xfrm>
          <a:prstGeom prst="roundRect">
            <a:avLst>
              <a:gd name="adj" fmla="val 5818"/>
            </a:avLst>
          </a:prstGeom>
          <a:solidFill>
            <a:srgbClr val="D9365E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86918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86918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Analytics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69180" y="2788920"/>
            <a:ext cx="15201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%, faculty-to-student ratio score.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00850" y="1645920"/>
            <a:ext cx="1885950" cy="2194560"/>
          </a:xfrm>
          <a:prstGeom prst="roundRect">
            <a:avLst>
              <a:gd name="adj" fmla="val 5818"/>
            </a:avLst>
          </a:prstGeom>
          <a:solidFill>
            <a:srgbClr val="FFB030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983730" y="17830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983730" y="228600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Level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83730" y="2788920"/>
            <a:ext cx="15201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Bank indicators and regional comparison.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1E8"/>
          </a:solidFill>
          <a:ln/>
        </p:spPr>
        <p:txBody>
          <a:bodyPr/>
          <a:p/>
        </p:txBody>
      </p:sp>
      <p:sp>
        <p:nvSpPr>
          <p:cNvPr id="23" name="TextBox 22"/>
          <p:cNvSpPr txBox="1"/>
          <p:nvPr/>
        </p:nvSpPr>
        <p:spPr>
          <a:xfrm>
            <a:off x="640080" y="4069080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5A1030"/>
                </a:solidFill>
                <a:latin typeface="Arial"/>
              </a:rPr>
              <a:t>RPI = 0.40 x QS Citations/Faculty + 0.35 x THE Research + 0.25 x THE Citations</a:t>
            </a:r>
          </a:p>
        </p:txBody>
      </p:sp>
    </p:spTree>
  </p:cSld>
  <p:clrMapOvr>
    <a:masterClrMapping/>
  </p:clrMapOvr>
  <p:transition spd="med">
    <p:push dir="l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590800" cy="1554480"/>
          </a:xfrm>
          <a:prstGeom prst="roundRect">
            <a:avLst>
              <a:gd name="adj" fmla="val 7059"/>
            </a:avLst>
          </a:prstGeom>
          <a:solidFill>
            <a:srgbClr val="FFF1E8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57200" y="1828800"/>
            <a:ext cx="259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41.84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6032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Global Ranking Score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76600" y="1645920"/>
            <a:ext cx="2590800" cy="1554480"/>
          </a:xfrm>
          <a:prstGeom prst="roundRect">
            <a:avLst>
              <a:gd name="adj" fmla="val 7059"/>
            </a:avLst>
          </a:prstGeom>
          <a:solidFill>
            <a:srgbClr val="FFF1E8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276600" y="1828800"/>
            <a:ext cx="259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368040" y="256032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Research Impact Score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96000" y="1645920"/>
            <a:ext cx="2590800" cy="1554480"/>
          </a:xfrm>
          <a:prstGeom prst="roundRect">
            <a:avLst>
              <a:gd name="adj" fmla="val 7059"/>
            </a:avLst>
          </a:prstGeom>
          <a:solidFill>
            <a:srgbClr val="FFF1E8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096000" y="1828800"/>
            <a:ext cx="259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20.29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187440" y="256032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Academic Reputation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1E8"/>
          </a:solidFill>
          <a:ln/>
        </p:spPr>
        <p:txBody>
          <a:bodyPr/>
          <a:p/>
        </p:txBody>
      </p:sp>
      <p:sp>
        <p:nvSpPr>
          <p:cNvPr id="22" name="TextBox 2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5A1030"/>
                </a:solidFill>
                <a:latin typeface="Arial"/>
              </a:rPr>
              <a:t>Python-generated KPI averages matched the Tableau dashboard values.</a:t>
            </a: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544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leads the Global Ranking Score at 100.0, followed by Imperial College London (98.5) and Oxford (96.9)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also includes Harvard, Cambridge, Stanford, ETH Zurich, NUS, UCL and Caltech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scores sit well below the leaders: the performance gap is wide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5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linkage to World Bank data adds education context to rankings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863840" y="-822960"/>
            <a:ext cx="2011680" cy="2011680"/>
          </a:xfrm>
          <a:prstGeom prst="ellipse">
            <a:avLst/>
          </a:prstGeom>
          <a:solidFill>
            <a:srgbClr val="FFB030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274320"/>
            <a:ext cx="164592" cy="164592"/>
          </a:xfrm>
          <a:prstGeom prst="ellipse">
            <a:avLst/>
          </a:prstGeom>
          <a:solidFill>
            <a:srgbClr val="E8442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/ Validation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590800" cy="1554480"/>
          </a:xfrm>
          <a:prstGeom prst="roundRect">
            <a:avLst>
              <a:gd name="adj" fmla="val 7059"/>
            </a:avLst>
          </a:prstGeom>
          <a:solidFill>
            <a:srgbClr val="FFF1E8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57200" y="1828800"/>
            <a:ext cx="259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6032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validated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76600" y="1645920"/>
            <a:ext cx="2590800" cy="1554480"/>
          </a:xfrm>
          <a:prstGeom prst="roundRect">
            <a:avLst>
              <a:gd name="adj" fmla="val 7059"/>
            </a:avLst>
          </a:prstGeom>
          <a:solidFill>
            <a:srgbClr val="FFF1E8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276600" y="1828800"/>
            <a:ext cx="259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368040" y="256032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tests passed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96000" y="1645920"/>
            <a:ext cx="2590800" cy="1554480"/>
          </a:xfrm>
          <a:prstGeom prst="roundRect">
            <a:avLst>
              <a:gd name="adj" fmla="val 7059"/>
            </a:avLst>
          </a:prstGeom>
          <a:solidFill>
            <a:srgbClr val="FFF1E8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096000" y="1828800"/>
            <a:ext cx="259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187440" y="256032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checks marked PASS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country-code relationship, ranking sort and research field issues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3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 or missing university IDs; row count preserved</a:t>
            </a:r>
            <a:endParaRPr lang="en-US" sz="1300" dirty="0"/>
          </a:p>
        </p:txBody>
      </p:sp>
    </p:spTree>
  </p:cSld>
  <p:clrMapOvr>
    <a:masterClrMapping/>
  </p:clrMapOvr>
  <p:transition spd="med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723</Words>
  <Application>Microsoft Office PowerPoint</Application>
  <PresentationFormat>On-screen Show (16:9)</PresentationFormat>
  <Paragraphs>200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Lekhana B M</cp:lastModifiedBy>
  <cp:revision>14</cp:revision>
  <dcterms:created xsi:type="dcterms:W3CDTF">2026-09-30T19:31:33Z</dcterms:created>
  <dcterms:modified xsi:type="dcterms:W3CDTF">2026-10-01T09:31:58Z</dcterms:modified>
</cp:coreProperties>
</file>