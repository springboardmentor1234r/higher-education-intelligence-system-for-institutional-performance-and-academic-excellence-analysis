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640080"/>
            <a:ext cx="5486400" cy="5394960"/>
          </a:xfrm>
          <a:prstGeom prst="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91022620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731520"/>
            <a:ext cx="530352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822960"/>
            <a:ext cx="5303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HIGHER EDUCATION PERFORMANCE &amp; DATA VISUALIZATION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3035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EduVision_DV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5303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i="0">
                <a:solidFill>
                  <a:srgbClr val="2DD4BF"/>
                </a:solidFill>
                <a:latin typeface="Calibri"/>
              </a:rPr>
              <a:t>Higher Education Intelligence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38404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5303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alibri"/>
              </a:rPr>
              <a:t>Institutional Performance, Research Impact &amp;
Academic Excellence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3035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1" i="0">
                <a:solidFill>
                  <a:srgbClr val="94A3B8"/>
                </a:solidFill>
                <a:latin typeface="Calibri"/>
              </a:rPr>
              <a:t>Unified Interactive Tableau Dashboard Suite | Complete Project Documentation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5120640" cy="685800"/>
          </a:xfrm>
          <a:prstGeom prst="rect">
            <a:avLst/>
          </a:prstGeom>
          <a:solidFill>
            <a:srgbClr val="0C1A30"/>
          </a:solidFill>
          <a:ln w="19050">
            <a:solidFill>
              <a:srgbClr val="1A3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7548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Calibri"/>
              </a:rPr>
              <a:t>AUTHOR: Chaitanya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Higher Education Performance &amp; Data Visualization Track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212080"/>
            <a:ext cx="5120640" cy="822960"/>
          </a:xfrm>
          <a:prstGeom prst="rect">
            <a:avLst/>
          </a:prstGeom>
          <a:solidFill>
            <a:srgbClr val="0C1A30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2"/>
            <a:ext cx="47548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  <a:latin typeface="Calibri"/>
              </a:rPr>
              <a:t>BENCHMARK DATASETS INTEGRATED: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475488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QS World Rankings 2025 • THE World Rankings 2024
WUR 2023 • World Bank EdStats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rotate dir="l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Statement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0C1A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Global university ranking data is fragmented across distinct rating agencies (QS, THE, WUR), each utilizing disparate methodologies, metric scales, and naming conventions.
Academic decision-makers, students, and research bodies lack an integrated cross-comparison platform capable of harmonizing disparate institutional indicators.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070F1E"/>
                </a:solidFill>
                <a:latin typeface="Calibri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An enterprise-grade, four-dashboard analytical suite (University Overview, Research Analytics, Student Analytics, Country Comparison) providing harmonized data models, custom KPIs, and cross-dashboard interactive filtering.
Delivers unified institutional intelligence, cross-border research benchmarking, and interactive discovery across 2,500+ global universities.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11064240" cy="237744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1106424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50791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070F1E"/>
                </a:solidFill>
                <a:latin typeface="Calibri"/>
              </a:rPr>
              <a:t>CORE DELIVERABLES &amp; KEY ARTIFACTS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526280"/>
            <a:ext cx="2560320" cy="1691640"/>
          </a:xfrm>
          <a:prstGeom prst="rect">
            <a:avLst/>
          </a:prstGeom>
          <a:solidFill>
            <a:srgbClr val="070F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1772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• Unified Tableau Workbook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23774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EduVision_DV.twbx &amp; Book2.twb with 4 fully connected interactive dashboards, zero DTD errors, and validated XML schema.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526280"/>
            <a:ext cx="2560320" cy="1691640"/>
          </a:xfrm>
          <a:prstGeom prst="rect">
            <a:avLst/>
          </a:prstGeom>
          <a:solidFill>
            <a:srgbClr val="070F1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61772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• 6 Standardized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983480"/>
            <a:ext cx="23774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Engineered higher education KPIs covering global rank, citations impact, faculty ratios, internationalization, and reputation.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526280"/>
            <a:ext cx="2560320" cy="1691640"/>
          </a:xfrm>
          <a:prstGeom prst="rect">
            <a:avLst/>
          </a:prstGeom>
          <a:solidFill>
            <a:srgbClr val="070F1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61772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• Star Schema Data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983480"/>
            <a:ext cx="23774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Robust relational pipeline harmonizing QS 2025, THE 2024, WUR 2023, and World Bank EdStats via surrogate keys.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0" y="4526280"/>
            <a:ext cx="2560320" cy="1691640"/>
          </a:xfrm>
          <a:prstGeom prst="rect">
            <a:avLst/>
          </a:prstGeom>
          <a:solidFill>
            <a:srgbClr val="070F1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617720"/>
            <a:ext cx="2377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• 4 Connected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983480"/>
            <a:ext cx="237744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Seamless executive navigation bar, synchronized context filter pipeline, and responsive multi-resolution layout.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 Strategy &amp; Star Schema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070F1E"/>
                </a:solidFill>
                <a:latin typeface="Calibri"/>
              </a:rPr>
              <a:t>DATASET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2423160" cy="365760"/>
          </a:xfrm>
          <a:prstGeom prst="rect">
            <a:avLst/>
          </a:prstGeom>
          <a:solidFill>
            <a:srgbClr val="070F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  <a:latin typeface="Calibri"/>
              </a:rPr>
              <a:t>1,503 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QS World Rankings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17520"/>
            <a:ext cx="137160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24231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1,503 institutions across 105 countries.
Primary driver for Overall Rank, Academic Reputation, Citations per Faculty, Employer Reputation, and International Faculty.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2" y="1371600"/>
            <a:ext cx="269748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2" y="1371600"/>
            <a:ext cx="269748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4630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DATASET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2152" y="1965960"/>
            <a:ext cx="2423160" cy="365760"/>
          </a:xfrm>
          <a:prstGeom prst="rect">
            <a:avLst/>
          </a:prstGeom>
          <a:solidFill>
            <a:srgbClr val="070F1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201168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Calibri"/>
              </a:rPr>
              <a:t>Top Global Centers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46888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World Rankings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3017520"/>
            <a:ext cx="1371600" cy="182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3154680"/>
            <a:ext cx="24231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Complementary research, teaching, international outlook, and citations metrics across global top research centers.
Provides teaching environment scores and industry income metrics.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371600"/>
            <a:ext cx="269748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1371600"/>
            <a:ext cx="269748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14630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070F1E"/>
                </a:solidFill>
                <a:latin typeface="Calibri"/>
              </a:rPr>
              <a:t>DATASET 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1965960"/>
            <a:ext cx="2423160" cy="365760"/>
          </a:xfrm>
          <a:prstGeom prst="rect">
            <a:avLst/>
          </a:prstGeom>
          <a:solidFill>
            <a:srgbClr val="070F1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201168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2DD4BF"/>
                </a:solidFill>
                <a:latin typeface="Calibri"/>
              </a:rPr>
              <a:t>Student Demographics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46888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WUR 2023 Dataset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8504" y="3017520"/>
            <a:ext cx="1371600" cy="182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3154680"/>
            <a:ext cx="24231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Detailed student demographics, total enrolled student volume, student-to-staff ratios, and gender balance ratios.
Powers student body analytics and faculty capacity benchmarks.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7696" y="1371600"/>
            <a:ext cx="269748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97696" y="1371600"/>
            <a:ext cx="269748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14630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DATASET 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4856" y="1965960"/>
            <a:ext cx="2423160" cy="365760"/>
          </a:xfrm>
          <a:prstGeom prst="rect">
            <a:avLst/>
          </a:prstGeom>
          <a:solidFill>
            <a:srgbClr val="070F1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34856" y="201168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  <a:latin typeface="Calibri"/>
              </a:rPr>
              <a:t>Macro Indicators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2468880"/>
            <a:ext cx="2423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World Bank EdStats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34856" y="3017520"/>
            <a:ext cx="1371600" cy="182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34856" y="3154680"/>
            <a:ext cx="242316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Macro-level national educational expenditure, tertiary completion, and demographic country benchmarking.
Enables cross-country macroeconomic context and policy comparisons.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orbit dir="l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Higher Education Key Performance Indicators (KPIs)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STANDARDIZED 0–100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1: Global Ranking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164592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QS Overall Score (0–100 scale) benchmarking institutional academic and employer excellence.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3716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16002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A855F7"/>
                </a:solidFill>
                <a:latin typeface="Calibri"/>
              </a:rPr>
              <a:t>SCHOLARLY CITATION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116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2: Research Impact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59" y="2468880"/>
            <a:ext cx="1645920" cy="228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5603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Normalized citation frequency per faculty member reflecting global scholarly influence.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13716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9" y="15544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6002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2DD4BF"/>
                </a:solidFill>
                <a:latin typeface="Calibri"/>
              </a:rPr>
              <a:t>INSTRUCTIONAL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0116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3: Faculty-to-Student Ratio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599" y="2468880"/>
            <a:ext cx="1645920" cy="2286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25603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Actual student enrollment divided by academic teaching staff (e.g. 1 : 17.3 ratio).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0690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148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  <a:latin typeface="Calibri"/>
              </a:rPr>
              <a:t>GLOBAL DIVERSITY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4: International Student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983480"/>
            <a:ext cx="1645920" cy="228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Percentage share of international students enrolled across the university body.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38862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40690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79" y="41148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F97316"/>
                </a:solidFill>
                <a:latin typeface="Calibri"/>
              </a:rPr>
              <a:t>GLOBAL PEER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45262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5: Academic Reputation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4983480"/>
            <a:ext cx="1645920" cy="228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50749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Global peer survey evaluation reflecting academic standing across 100,000+ respondents.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19" y="3886200"/>
            <a:ext cx="3611880" cy="228600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599" y="4069080"/>
            <a:ext cx="3246120" cy="347472"/>
          </a:xfrm>
          <a:prstGeom prst="rect">
            <a:avLst/>
          </a:prstGeom>
          <a:solidFill>
            <a:srgbClr val="070F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19" y="4114800"/>
            <a:ext cx="3154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50" b="1" i="0">
                <a:solidFill>
                  <a:srgbClr val="38BDF8"/>
                </a:solidFill>
                <a:latin typeface="Calibri"/>
              </a:rPr>
              <a:t>COMPOSITE IMPACT INDEX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4526280"/>
            <a:ext cx="32461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KPI 6: Research Productivity Index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599" y="4983480"/>
            <a:ext cx="164592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9" y="5074920"/>
            <a:ext cx="324612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Composite normalized index synthesizing publication volume, citation impact, and 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1: University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114800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70F1E"/>
                </a:solidFill>
                <a:latin typeface="Calibri"/>
              </a:rPr>
              <a:t>LANDING &amp; INSTITUTIONAL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• Top Universities by Overall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Horizontal ranking chart with descending score bars identifying world leaders.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• Universities by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Geographic distribution of world-ranked institutions across 105+ countries.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• Academic Reputation vs.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Correlation scatter plot analyzing peer evaluation against aggregate ranking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42816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• 4 Executive KPI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Top Global Rank (#1), Universities Ranked (242), Average QS Overall Score (48.89), and Academic Reputation Score (24.86).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• Bi-Directional Interactivity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Selecting any university isolates metrics; country filter updates institutional ranking instantly.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280160"/>
            <a:ext cx="6812280" cy="5120640"/>
          </a:xfrm>
          <a:prstGeom prst="rect">
            <a:avLst/>
          </a:prstGeom>
          <a:solidFill>
            <a:srgbClr val="0C1A3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dia_1791022620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53312"/>
            <a:ext cx="6665976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rotate dir="l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2: Research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11480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70F1E"/>
                </a:solidFill>
                <a:latin typeface="Calibri"/>
              </a:rPr>
              <a:t>EXECUTIVE TRI-PANEL BAR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2DD4BF"/>
                </a:solidFill>
                <a:latin typeface="Calibri"/>
              </a:rPr>
              <a:t>• Tri-Panel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1) QS Research Impact, 2) QS Citations per Faculty, and 3) Research Productivity Index.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2DD4BF"/>
                </a:solidFill>
                <a:latin typeface="Calibri"/>
              </a:rPr>
              <a:t>• New Bar Chart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Dedicated QS Citations per Faculty replaces legacy single-point scatter for clean comparative clarity.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2DD4BF"/>
                </a:solidFill>
                <a:latin typeface="Calibri"/>
              </a:rPr>
              <a:t>• Single-University Enlargement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Clicking any university displays that university ONLY across the other two bar charts.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42816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2DD4BF"/>
                </a:solidFill>
                <a:latin typeface="Calibri"/>
              </a:rPr>
              <a:t>• Entire View Zoom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Selected single bar expands/enlarges to fill full chart container with automatic label alignment.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2DD4BF"/>
                </a:solidFill>
                <a:latin typeface="Calibri"/>
              </a:rPr>
              <a:t>• Constant KPI Colors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Solid #ffffff white styling prevents mark dimming/fading during filter 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280160"/>
            <a:ext cx="6812280" cy="5120640"/>
          </a:xfrm>
          <a:prstGeom prst="rect">
            <a:avLst/>
          </a:prstGeom>
          <a:solidFill>
            <a:srgbClr val="0C1A30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dia_1791022618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53312"/>
            <a:ext cx="6665976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3: Student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solidFill>
            <a:srgbClr val="0C1A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114800" cy="411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070F1E"/>
                </a:solidFill>
                <a:latin typeface="Calibri"/>
              </a:rPr>
              <a:t>DEMOGRAPHICS &amp; FACULTY RATIOS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• International Students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Global distribution of international scholar attraction benchmarked across top universities.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• Total Enrollment by Country (Top 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Country-level student volume distribution highlighting national higher education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• Faculty-to-Student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Teaching capacity and mentoring density across global elite universities (KPI 3).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42816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• Fixed Responsiveness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Student Distribution responds bi-directionally to all filter actions without layout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Calibri"/>
              </a:rPr>
              <a:t>• Context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[Action (Country)] context='true' guarantees zero blank charts on country clicks.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280160"/>
            <a:ext cx="6812280" cy="5120640"/>
          </a:xfrm>
          <a:prstGeom prst="rect">
            <a:avLst/>
          </a:prstGeom>
          <a:solidFill>
            <a:srgbClr val="0C1A3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dia_1791022616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53312"/>
            <a:ext cx="6665976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orbit dir="l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4: Country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4114800" cy="5120640"/>
          </a:xfrm>
          <a:prstGeom prst="rect">
            <a:avLst/>
          </a:prstGeom>
          <a:solidFill>
            <a:srgbClr val="0C1A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11480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NATIONAL EDUCATION BENCHMARKING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Calibri"/>
              </a:rPr>
              <a:t>• 4 Benchmarking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Universities by Country, Country Ranking Comparison, Research Performance, International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Calibri"/>
              </a:rPr>
              <a:t>• Single-Country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Clicking ANY country updates all other 3 charts to show that country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38144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Calibri"/>
              </a:rPr>
              <a:t>• Dynamic KPI Re-aggregation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4 national KPIs: Countries Ranked (=1), Institutions Count, National Avg Score, Research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42816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Calibri"/>
              </a:rPr>
              <a:t>• Context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Context filters prevent empty/blank states during dynamic cross-selection.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47488"/>
            <a:ext cx="37490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1" i="0">
                <a:solidFill>
                  <a:srgbClr val="A855F7"/>
                </a:solidFill>
                <a:latin typeface="Calibri"/>
              </a:rPr>
              <a:t>• Cross-National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76088"/>
            <a:ext cx="36118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Benchmark national performance directly against global peers across 120 countries.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280160"/>
            <a:ext cx="6812280" cy="5120640"/>
          </a:xfrm>
          <a:prstGeom prst="rect">
            <a:avLst/>
          </a:prstGeom>
          <a:solidFill>
            <a:srgbClr val="0C1A30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dia_1791022614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353312"/>
            <a:ext cx="6665976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Navigation Alignment &amp; Tableau DTD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70F1E"/>
                </a:solidFill>
                <a:latin typeface="Calibri"/>
              </a:rPr>
              <a:t>MATHEMATICAL NAVIGATION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Identical 4-button header across all 4 dashboards:
• OVERVIEW:   x = 586,   w = 24,743
• RESEARCH:   x = 25,329, w = 24,744
• STUDENTS:   x = 50,073, w = 24,671
• COUNTRIES:  x = 74,744, w = 24,670
Total Width = 98,828
(Seamless span across full dashboard width with exact button heights and active-state styling)
• Synchronized tab styling with active state highlighting
• Zero horizontal jitter during cross-dashboard tab transitions
• Native button navigation actions mapped across all 4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4937760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070F1E"/>
                </a:solidFill>
                <a:latin typeface="Calibri"/>
              </a:rPr>
              <a:t>STRICT TABLEAU DTD SCHEMA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9377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• Strict Tag Order:
  &lt;view&gt; children ordered in exact DTD sequence:
  (datasources -&gt; mapsources -&gt; deps -&gt; filter -&gt; sort -&gt; perspectives -&gt; shelf-sorts -&gt; slices -&gt; agg)
• Viewpoints Container Fix:
  Direct window &lt;viewpoint&gt; tags nested inside &lt;viewpoints&gt;, eliminating error D2E8DA72 entirely.
• Simple-ID Placement:
  Conforms strictly to grammar:
  ((cards,viewpoint?,simple-id) | (viewpoints,active,device-preview,simple-id))
• Strict Validation:
  100% Passed with 0 schema errors across all 27 worksheets.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rotate dir="l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05156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Summary &amp; Project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2011680" cy="3200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3749039"/>
          </a:xfrm>
          <a:prstGeom prst="rect">
            <a:avLst/>
          </a:prstGeom>
          <a:solidFill>
            <a:srgbClr val="0C1A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10515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50" b="1" i="0">
                <a:solidFill>
                  <a:srgbClr val="070F1E"/>
                </a:solidFill>
                <a:latin typeface="Calibri"/>
              </a:rPr>
              <a:t>COMPLETE MILESTONE VERIFICATION &amp; DELIVERABLES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292608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292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70F1E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Milestone 1: Data Collection &amp;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38528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QS 2025, THE 2024, WUR 2023 raw and cleaned datasets, data_collection.py, cleaning notebook, and normalized star schema tables.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14600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32888"/>
            <a:ext cx="292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70F1E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146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  <a:latin typeface="Calibri"/>
              </a:rPr>
              <a:t>Milestone 2: KPI Engineering &amp; Prototyping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532888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 standardized Higher Education KPIs, generate_education_kpis.py, university_final_dataset.xlsx, and interactive storyboard PDF.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08960"/>
            <a:ext cx="292608" cy="2926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27248"/>
            <a:ext cx="292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70F1E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10896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  <a:latin typeface="Calibri"/>
              </a:rPr>
              <a:t>Milestone 3: Dashboard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127248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EduVision_DV.twbx &amp; Book2.twb with 4 interlinked dashboards and executive tri-panel research layout.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03320"/>
            <a:ext cx="292608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21608"/>
            <a:ext cx="292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70F1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033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Milestone 4: Quality Assurance &amp;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21608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QA Checklist, Testing Report, XML DTD Schema Validation (0 errors), Constant KPI Colors, and navigation parity.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97680"/>
            <a:ext cx="292608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15968"/>
            <a:ext cx="292608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070F1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29768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Final Project: Complete Executive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315968"/>
            <a:ext cx="6492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Complete Executive Presentation PPT, documentation reports, and interactive Tableau dashboards.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solidFill>
            <a:srgbClr val="0C1A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394960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INTERACTIVE WORKBOOK DELIVERABLES: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6928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• Interactive Dashboard: Milestone 3/Module 6/EduVision_DV.twbx &amp; Book2.twb
• GitHub Branch: chaitanya/milestone-1-2-3-4  |  Track: Higher Education Performance &amp; Data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E"/>
        </a:solidFill>
        <a:effectLst/>
      </p:bgPr>
    </p:bg>
    <p:transition spd="med">
      <p:zoom dir="in"/>
    </p:transition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EDUVISION_DV HIGHER EDUCATION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9144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9144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i="0">
                <a:solidFill>
                  <a:srgbClr val="2DD4B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9436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Author: Chaitanya
Higher Education Performance &amp; Data Visualization Track
Unified Interactive Tableau Dashboard 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371600"/>
            <a:ext cx="2377440" cy="2103120"/>
          </a:xfrm>
          <a:prstGeom prst="rect">
            <a:avLst/>
          </a:prstGeom>
          <a:solidFill>
            <a:srgbClr val="0C1A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17910226209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228600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315468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University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0" y="1371600"/>
            <a:ext cx="2377440" cy="2103120"/>
          </a:xfrm>
          <a:prstGeom prst="rect">
            <a:avLst/>
          </a:prstGeom>
          <a:solidFill>
            <a:srgbClr val="0C1A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dia_17910226186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1417320"/>
            <a:ext cx="228600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418320" y="315468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Research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840480"/>
            <a:ext cx="2377440" cy="2103120"/>
          </a:xfrm>
          <a:prstGeom prst="rect">
            <a:avLst/>
          </a:prstGeom>
          <a:solidFill>
            <a:srgbClr val="0C1A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edia_1791022616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886200"/>
            <a:ext cx="228600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0" y="562356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Student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3840480"/>
            <a:ext cx="2377440" cy="2103120"/>
          </a:xfrm>
          <a:prstGeom prst="rect">
            <a:avLst/>
          </a:prstGeom>
          <a:solidFill>
            <a:srgbClr val="0C1A3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edia_17910226144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3886200"/>
            <a:ext cx="2286000" cy="1691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418320" y="5623560"/>
            <a:ext cx="2377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50" b="1" i="0">
                <a:solidFill>
                  <a:srgbClr val="38BDF8"/>
                </a:solidFill>
                <a:latin typeface="Calibri"/>
              </a:rPr>
              <a:t>Country 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