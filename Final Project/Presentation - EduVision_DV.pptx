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Bricolage Grotesque" panose="020B0604020202020204" charset="0"/>
      <p:bold r:id="rId17"/>
    </p:embeddedFont>
    <p:embeddedFont>
      <p:font typeface="Bricolage Grotesque SemiBold" panose="020B0604020202020204" charset="0"/>
      <p:regular r:id="rId18"/>
      <p:bold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Times" panose="02020603050405020304" pitchFamily="18" charset="0"/>
      <p:regular r:id="rId24"/>
      <p:bold r:id="rId25"/>
      <p:italic r:id="rId26"/>
      <p:boldItalic r:id="rId27"/>
    </p:embeddedFont>
    <p:embeddedFont>
      <p:font typeface="Trochut" panose="020B0604020202020204" charset="0"/>
      <p:regular r:id="rId28"/>
      <p:bold r:id="rId29"/>
      <p: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5" roundtripDataSignature="AMtx7mjIag3UzWnSG1OqD8DEzcqGxpMF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customschemas.google.com/relationships/presentationmetadata" Target="meta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qdUX4mZIYnqYw2uLk9LXyxibQahyiJgE?usp=drive_link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 rot="-88125">
            <a:off x="541928" y="1028700"/>
            <a:ext cx="18931100" cy="8983668"/>
          </a:xfrm>
          <a:custGeom>
            <a:avLst/>
            <a:gdLst/>
            <a:ahLst/>
            <a:cxnLst/>
            <a:rect l="l" t="t" r="r" b="b"/>
            <a:pathLst>
              <a:path w="18931100" h="8983668" extrusionOk="0">
                <a:moveTo>
                  <a:pt x="0" y="0"/>
                </a:moveTo>
                <a:lnTo>
                  <a:pt x="18931101" y="0"/>
                </a:lnTo>
                <a:lnTo>
                  <a:pt x="18931101" y="8983668"/>
                </a:lnTo>
                <a:lnTo>
                  <a:pt x="0" y="8983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8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85" name="Google Shape;85;p1"/>
          <p:cNvSpPr/>
          <p:nvPr/>
        </p:nvSpPr>
        <p:spPr>
          <a:xfrm>
            <a:off x="10734675" y="785862"/>
            <a:ext cx="7553325" cy="8715276"/>
          </a:xfrm>
          <a:custGeom>
            <a:avLst/>
            <a:gdLst/>
            <a:ahLst/>
            <a:cxnLst/>
            <a:rect l="l" t="t" r="r" b="b"/>
            <a:pathLst>
              <a:path w="1202194" h="1387131" extrusionOk="0">
                <a:moveTo>
                  <a:pt x="20499" y="0"/>
                </a:moveTo>
                <a:lnTo>
                  <a:pt x="1181695" y="0"/>
                </a:lnTo>
                <a:cubicBezTo>
                  <a:pt x="1187132" y="0"/>
                  <a:pt x="1192346" y="2160"/>
                  <a:pt x="1196190" y="6004"/>
                </a:cubicBezTo>
                <a:cubicBezTo>
                  <a:pt x="1200035" y="9849"/>
                  <a:pt x="1202194" y="15063"/>
                  <a:pt x="1202194" y="20499"/>
                </a:cubicBezTo>
                <a:lnTo>
                  <a:pt x="1202194" y="1366632"/>
                </a:lnTo>
                <a:cubicBezTo>
                  <a:pt x="1202194" y="1372069"/>
                  <a:pt x="1200035" y="1377283"/>
                  <a:pt x="1196190" y="1381127"/>
                </a:cubicBezTo>
                <a:cubicBezTo>
                  <a:pt x="1192346" y="1384972"/>
                  <a:pt x="1187132" y="1387131"/>
                  <a:pt x="1181695" y="1387131"/>
                </a:cubicBezTo>
                <a:lnTo>
                  <a:pt x="20499" y="1387131"/>
                </a:lnTo>
                <a:cubicBezTo>
                  <a:pt x="9178" y="1387131"/>
                  <a:pt x="0" y="1377954"/>
                  <a:pt x="0" y="1366632"/>
                </a:cubicBezTo>
                <a:lnTo>
                  <a:pt x="0" y="20499"/>
                </a:lnTo>
                <a:cubicBezTo>
                  <a:pt x="0" y="15063"/>
                  <a:pt x="2160" y="9849"/>
                  <a:pt x="6004" y="6004"/>
                </a:cubicBezTo>
                <a:cubicBezTo>
                  <a:pt x="9849" y="2160"/>
                  <a:pt x="15063" y="0"/>
                  <a:pt x="20499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241" b="-240"/>
            </a:stretch>
          </a:blipFill>
          <a:ln w="19050" cap="sq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" name="Google Shape;86;p1"/>
          <p:cNvGrpSpPr/>
          <p:nvPr/>
        </p:nvGrpSpPr>
        <p:grpSpPr>
          <a:xfrm rot="10800000">
            <a:off x="15519492" y="6654336"/>
            <a:ext cx="3479615" cy="4575762"/>
            <a:chOff x="-101668" y="-68231"/>
            <a:chExt cx="4639486" cy="6101015"/>
          </a:xfrm>
        </p:grpSpPr>
        <p:grpSp>
          <p:nvGrpSpPr>
            <p:cNvPr id="87" name="Google Shape;87;p1"/>
            <p:cNvGrpSpPr/>
            <p:nvPr/>
          </p:nvGrpSpPr>
          <p:grpSpPr>
            <a:xfrm rot="-2700000">
              <a:off x="-103522" y="2896431"/>
              <a:ext cx="4441804" cy="1834612"/>
              <a:chOff x="0" y="-28575"/>
              <a:chExt cx="882773" cy="364614"/>
            </a:xfrm>
          </p:grpSpPr>
          <p:sp>
            <p:nvSpPr>
              <p:cNvPr id="88" name="Google Shape;88;p1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D4F59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1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2525" tIns="152525" rIns="152525" bIns="152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30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" name="Google Shape;90;p1"/>
            <p:cNvGrpSpPr/>
            <p:nvPr/>
          </p:nvGrpSpPr>
          <p:grpSpPr>
            <a:xfrm rot="-2700000">
              <a:off x="85262" y="1249274"/>
              <a:ext cx="4471480" cy="1798621"/>
              <a:chOff x="0" y="-19050"/>
              <a:chExt cx="882773" cy="355089"/>
            </a:xfrm>
          </p:grpSpPr>
          <p:sp>
            <p:nvSpPr>
              <p:cNvPr id="91" name="Google Shape;91;p1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A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1"/>
              <p:cNvSpPr txBox="1"/>
              <p:nvPr/>
            </p:nvSpPr>
            <p:spPr>
              <a:xfrm>
                <a:off x="0" y="-19050"/>
                <a:ext cx="882773" cy="3550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5700" tIns="55700" rIns="55700" bIns="5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419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4" name="Google Shape;94;p1"/>
          <p:cNvGrpSpPr/>
          <p:nvPr/>
        </p:nvGrpSpPr>
        <p:grpSpPr>
          <a:xfrm>
            <a:off x="206038" y="3141509"/>
            <a:ext cx="10528637" cy="2801296"/>
            <a:chOff x="0" y="-95250"/>
            <a:chExt cx="14038183" cy="3735062"/>
          </a:xfrm>
        </p:grpSpPr>
        <p:sp>
          <p:nvSpPr>
            <p:cNvPr id="95" name="Google Shape;95;p1"/>
            <p:cNvSpPr txBox="1"/>
            <p:nvPr/>
          </p:nvSpPr>
          <p:spPr>
            <a:xfrm>
              <a:off x="0" y="-95250"/>
              <a:ext cx="14038183" cy="29150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8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99" dirty="0" err="1">
                  <a:solidFill>
                    <a:srgbClr val="D2EEFF"/>
                  </a:solidFill>
                  <a:latin typeface="Trochut"/>
                  <a:ea typeface="Trochut"/>
                  <a:cs typeface="Trochut"/>
                  <a:sym typeface="Trochut"/>
                </a:rPr>
                <a:t>EduVision_DV</a:t>
              </a:r>
              <a:r>
                <a:rPr lang="en-US" sz="11099" b="0" i="0" u="none" strike="noStrike" cap="none" dirty="0">
                  <a:solidFill>
                    <a:srgbClr val="B0AFD3"/>
                  </a:solidFill>
                  <a:latin typeface="Trochut"/>
                  <a:ea typeface="Trochut"/>
                  <a:cs typeface="Trochut"/>
                  <a:sym typeface="Trochut"/>
                </a:rPr>
                <a:t> </a:t>
              </a:r>
              <a:endParaRPr dirty="0"/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107953" y="2518137"/>
              <a:ext cx="13742123" cy="11216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5" dirty="0">
                  <a:solidFill>
                    <a:srgbClr val="FFFFFF"/>
                  </a:solidFill>
                </a:rPr>
                <a:t>Global Higher Education Insights</a:t>
              </a:r>
              <a:endParaRPr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5AB4FB05-A7E5-F611-78DD-7E9357759E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1697" y="1694229"/>
            <a:ext cx="7040134" cy="58667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2"/>
          <p:cNvGrpSpPr/>
          <p:nvPr/>
        </p:nvGrpSpPr>
        <p:grpSpPr>
          <a:xfrm>
            <a:off x="9452403" y="6746441"/>
            <a:ext cx="4083842" cy="2222034"/>
            <a:chOff x="0" y="0"/>
            <a:chExt cx="5445123" cy="2962711"/>
          </a:xfrm>
        </p:grpSpPr>
        <p:sp>
          <p:nvSpPr>
            <p:cNvPr id="102" name="Google Shape;102;p2"/>
            <p:cNvSpPr txBox="1"/>
            <p:nvPr/>
          </p:nvSpPr>
          <p:spPr>
            <a:xfrm>
              <a:off x="0" y="0"/>
              <a:ext cx="5346700" cy="969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69" b="1" dirty="0">
                  <a:solidFill>
                    <a:srgbClr val="D2EEFF"/>
                  </a:solidFill>
                  <a:latin typeface="Bricolage Grotesque"/>
                  <a:sym typeface="Bricolage Grotesque"/>
                </a:rPr>
                <a:t>Pandas: The Art of Data Manipulation</a:t>
              </a:r>
            </a:p>
          </p:txBody>
        </p:sp>
        <p:sp>
          <p:nvSpPr>
            <p:cNvPr id="103" name="Google Shape;103;p2"/>
            <p:cNvSpPr txBox="1"/>
            <p:nvPr/>
          </p:nvSpPr>
          <p:spPr>
            <a:xfrm>
              <a:off x="98423" y="1022351"/>
              <a:ext cx="5346700" cy="19403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70" dirty="0">
                  <a:solidFill>
                    <a:schemeClr val="bg1"/>
                  </a:solidFill>
                </a:rPr>
                <a:t>Pandas simplifies data cleaning, transformation, and analysis through powerful </a:t>
              </a:r>
              <a:r>
                <a:rPr lang="en-US" sz="1970" dirty="0" err="1">
                  <a:solidFill>
                    <a:schemeClr val="bg1"/>
                  </a:solidFill>
                </a:rPr>
                <a:t>DataFrames</a:t>
              </a:r>
              <a:r>
                <a:rPr lang="en-US" sz="1970" dirty="0">
                  <a:solidFill>
                    <a:schemeClr val="bg1"/>
                  </a:solidFill>
                </a:rPr>
                <a:t> and flexible data-handling tools.</a:t>
              </a:r>
              <a:endParaRPr sz="197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" name="Google Shape;104;p2"/>
          <p:cNvGrpSpPr/>
          <p:nvPr/>
        </p:nvGrpSpPr>
        <p:grpSpPr>
          <a:xfrm>
            <a:off x="4985177" y="6746441"/>
            <a:ext cx="4028475" cy="2576420"/>
            <a:chOff x="0" y="0"/>
            <a:chExt cx="5371300" cy="3435227"/>
          </a:xfrm>
        </p:grpSpPr>
        <p:sp>
          <p:nvSpPr>
            <p:cNvPr id="105" name="Google Shape;105;p2"/>
            <p:cNvSpPr txBox="1"/>
            <p:nvPr/>
          </p:nvSpPr>
          <p:spPr>
            <a:xfrm>
              <a:off x="0" y="0"/>
              <a:ext cx="5346700" cy="13143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69" b="1" dirty="0" err="1">
                  <a:solidFill>
                    <a:srgbClr val="D2EEFF"/>
                  </a:solidFill>
                  <a:latin typeface="Bricolage Grotesque"/>
                  <a:sym typeface="Bricolage Grotesque"/>
                </a:rPr>
                <a:t>Numpy</a:t>
              </a:r>
              <a:r>
                <a:rPr lang="en-US" sz="1969" b="1" dirty="0">
                  <a:solidFill>
                    <a:srgbClr val="D2EEFF"/>
                  </a:solidFill>
                  <a:latin typeface="Bricolage Grotesque"/>
                  <a:sym typeface="Bricolage Grotesque"/>
                </a:rPr>
                <a:t>: The Power of Numerical Computing</a:t>
              </a:r>
            </a:p>
            <a:p>
              <a:pPr marL="0" marR="0" lvl="0" indent="0" algn="ctr" rtl="0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6" name="Google Shape;106;p2"/>
            <p:cNvSpPr txBox="1"/>
            <p:nvPr/>
          </p:nvSpPr>
          <p:spPr>
            <a:xfrm>
              <a:off x="24600" y="1009776"/>
              <a:ext cx="5346700" cy="24254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70" dirty="0">
                  <a:solidFill>
                    <a:schemeClr val="bg1"/>
                  </a:solidFill>
                </a:rPr>
                <a:t>NumPy enables fast numerical operations and efficient array processing, supporting mathematical computations and data analysis.</a:t>
              </a:r>
              <a:endParaRPr sz="197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7" name="Google Shape;107;p2"/>
          <p:cNvGrpSpPr/>
          <p:nvPr/>
        </p:nvGrpSpPr>
        <p:grpSpPr>
          <a:xfrm>
            <a:off x="392139" y="6670561"/>
            <a:ext cx="4154287" cy="2297913"/>
            <a:chOff x="0" y="0"/>
            <a:chExt cx="5539049" cy="3063884"/>
          </a:xfrm>
        </p:grpSpPr>
        <p:sp>
          <p:nvSpPr>
            <p:cNvPr id="108" name="Google Shape;108;p2"/>
            <p:cNvSpPr txBox="1"/>
            <p:nvPr/>
          </p:nvSpPr>
          <p:spPr>
            <a:xfrm>
              <a:off x="0" y="0"/>
              <a:ext cx="5346700" cy="969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69" b="1" dirty="0">
                  <a:solidFill>
                    <a:srgbClr val="D2EEFF"/>
                  </a:solidFill>
                  <a:latin typeface="Bricolage Grotesque"/>
                  <a:sym typeface="Bricolage Grotesque"/>
                </a:rPr>
                <a:t>Python: The Foundation of Data Analytics</a:t>
              </a:r>
              <a:endParaRPr dirty="0"/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192349" y="1123524"/>
              <a:ext cx="5346700" cy="19403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70" dirty="0">
                  <a:solidFill>
                    <a:schemeClr val="bg1"/>
                  </a:solidFill>
                </a:rPr>
                <a:t>Python powers data collection, data cleaning, and analytical workflows, making complex data processing efficient and flexible.</a:t>
              </a:r>
            </a:p>
          </p:txBody>
        </p:sp>
      </p:grpSp>
      <p:sp>
        <p:nvSpPr>
          <p:cNvPr id="110" name="Google Shape;110;p2"/>
          <p:cNvSpPr txBox="1"/>
          <p:nvPr/>
        </p:nvSpPr>
        <p:spPr>
          <a:xfrm>
            <a:off x="536402" y="669925"/>
            <a:ext cx="16954500" cy="2154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0" i="0" u="none" strike="noStrike" cap="none" dirty="0">
                <a:solidFill>
                  <a:srgbClr val="D2EEFF"/>
                </a:solidFill>
                <a:latin typeface="Times"/>
                <a:ea typeface="Times"/>
                <a:cs typeface="Times"/>
                <a:sym typeface="Times"/>
              </a:rPr>
              <a:t>Technology Stack: The </a:t>
            </a:r>
            <a:r>
              <a:rPr lang="en-US" sz="6999" dirty="0">
                <a:solidFill>
                  <a:srgbClr val="D2EEFF"/>
                </a:solidFill>
                <a:latin typeface="Times"/>
                <a:ea typeface="Times"/>
                <a:cs typeface="Times"/>
                <a:sym typeface="Times"/>
              </a:rPr>
              <a:t>Higher Education Analytics Stack</a:t>
            </a:r>
            <a:endParaRPr dirty="0"/>
          </a:p>
        </p:txBody>
      </p:sp>
      <p:grpSp>
        <p:nvGrpSpPr>
          <p:cNvPr id="115" name="Google Shape;115;p2"/>
          <p:cNvGrpSpPr/>
          <p:nvPr/>
        </p:nvGrpSpPr>
        <p:grpSpPr>
          <a:xfrm>
            <a:off x="14085712" y="6746441"/>
            <a:ext cx="4010026" cy="2424776"/>
            <a:chOff x="-1" y="0"/>
            <a:chExt cx="5346701" cy="3233034"/>
          </a:xfrm>
        </p:grpSpPr>
        <p:sp>
          <p:nvSpPr>
            <p:cNvPr id="116" name="Google Shape;116;p2"/>
            <p:cNvSpPr txBox="1"/>
            <p:nvPr/>
          </p:nvSpPr>
          <p:spPr>
            <a:xfrm>
              <a:off x="0" y="0"/>
              <a:ext cx="5346700" cy="969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69" b="1" dirty="0">
                  <a:solidFill>
                    <a:srgbClr val="D2EEFF"/>
                  </a:solidFill>
                  <a:latin typeface="Bricolage Grotesque"/>
                  <a:sym typeface="Bricolage Grotesque"/>
                </a:rPr>
                <a:t>Tableau: The Power of Interactive Visualization</a:t>
              </a:r>
              <a:endParaRPr dirty="0"/>
            </a:p>
          </p:txBody>
        </p:sp>
        <p:sp>
          <p:nvSpPr>
            <p:cNvPr id="117" name="Google Shape;117;p2"/>
            <p:cNvSpPr txBox="1"/>
            <p:nvPr/>
          </p:nvSpPr>
          <p:spPr>
            <a:xfrm>
              <a:off x="-1" y="1211966"/>
              <a:ext cx="5346700" cy="20210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n-US" sz="1970" dirty="0">
                  <a:solidFill>
                    <a:schemeClr val="bg1"/>
                  </a:solidFill>
                </a:rPr>
                <a:t>Tableau transforms complex datasets into interactive dashboards, making higher-education insights easier to explore and understand.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65135AAD-7DEE-442A-40D9-39167AA989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01" y="3334877"/>
            <a:ext cx="3954075" cy="27263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40B59E-DF9D-3C12-6A7C-C85433835B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4114" y="3352800"/>
            <a:ext cx="4336659" cy="26602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2C9778-7D89-D7C1-1BBC-4ED3CCEEC9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4411" y="3352800"/>
            <a:ext cx="4301031" cy="26602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20E717-4671-ECD1-1E2D-F0CCCCD0E1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09080" y="3321688"/>
            <a:ext cx="3742519" cy="26602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3"/>
          <p:cNvGrpSpPr/>
          <p:nvPr/>
        </p:nvGrpSpPr>
        <p:grpSpPr>
          <a:xfrm>
            <a:off x="12892088" y="7376116"/>
            <a:ext cx="4010025" cy="2006338"/>
            <a:chOff x="0" y="0"/>
            <a:chExt cx="5346700" cy="2675116"/>
          </a:xfrm>
        </p:grpSpPr>
        <p:sp>
          <p:nvSpPr>
            <p:cNvPr id="127" name="Google Shape;127;p3"/>
            <p:cNvSpPr txBox="1"/>
            <p:nvPr/>
          </p:nvSpPr>
          <p:spPr>
            <a:xfrm>
              <a:off x="0" y="0"/>
              <a:ext cx="5346700" cy="5107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74" b="1" dirty="0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S</a:t>
              </a:r>
              <a:r>
                <a:rPr lang="en-US" sz="2074" b="1" i="0" u="none" strike="noStrike" cap="none" dirty="0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tudent &amp; Country Analytics</a:t>
              </a:r>
            </a:p>
          </p:txBody>
        </p:sp>
        <p:sp>
          <p:nvSpPr>
            <p:cNvPr id="128" name="Google Shape;128;p3"/>
            <p:cNvSpPr txBox="1"/>
            <p:nvPr/>
          </p:nvSpPr>
          <p:spPr>
            <a:xfrm>
              <a:off x="0" y="654050"/>
              <a:ext cx="5346700" cy="20210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n-US" sz="1970" dirty="0">
                  <a:solidFill>
                    <a:schemeClr val="bg1"/>
                  </a:solidFill>
                </a:rPr>
                <a:t>Understand student diversity, enrollment patterns, and international education trends while comparing educational performance across countries and regions.</a:t>
              </a:r>
            </a:p>
          </p:txBody>
        </p:sp>
      </p:grpSp>
      <p:grpSp>
        <p:nvGrpSpPr>
          <p:cNvPr id="129" name="Google Shape;129;p3"/>
          <p:cNvGrpSpPr/>
          <p:nvPr/>
        </p:nvGrpSpPr>
        <p:grpSpPr>
          <a:xfrm>
            <a:off x="6911038" y="7369648"/>
            <a:ext cx="4470421" cy="2310736"/>
            <a:chOff x="-303933" y="-1480"/>
            <a:chExt cx="5960561" cy="3080982"/>
          </a:xfrm>
        </p:grpSpPr>
        <p:sp>
          <p:nvSpPr>
            <p:cNvPr id="130" name="Google Shape;130;p3"/>
            <p:cNvSpPr txBox="1"/>
            <p:nvPr/>
          </p:nvSpPr>
          <p:spPr>
            <a:xfrm>
              <a:off x="-303933" y="-1480"/>
              <a:ext cx="5960561" cy="8554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74" b="1" dirty="0">
                  <a:solidFill>
                    <a:srgbClr val="B0AFD3"/>
                  </a:solidFill>
                  <a:latin typeface="Bricolage Grotesque"/>
                  <a:sym typeface="Bricolage Grotesque"/>
                </a:rPr>
                <a:t>Research Performance Analysis</a:t>
              </a:r>
            </a:p>
            <a:p>
              <a:pPr marL="0" marR="0" lvl="0" indent="0" algn="ctr" rtl="0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" name="Google Shape;131;p3"/>
            <p:cNvSpPr txBox="1"/>
            <p:nvPr/>
          </p:nvSpPr>
          <p:spPr>
            <a:xfrm>
              <a:off x="-1" y="654051"/>
              <a:ext cx="5346700" cy="24254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70" dirty="0">
                  <a:solidFill>
                    <a:schemeClr val="bg1"/>
                  </a:solidFill>
                </a:rPr>
                <a:t>Analyze research impact, citation scores, and institutional productivity with data-driven charts that reveal research trends and compare academic contributions.</a:t>
              </a:r>
              <a:endParaRPr sz="197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2" name="Google Shape;132;p3"/>
          <p:cNvGrpSpPr/>
          <p:nvPr/>
        </p:nvGrpSpPr>
        <p:grpSpPr>
          <a:xfrm>
            <a:off x="1098557" y="7379159"/>
            <a:ext cx="4940943" cy="1997937"/>
            <a:chOff x="-586307" y="4057"/>
            <a:chExt cx="6587924" cy="2663916"/>
          </a:xfrm>
        </p:grpSpPr>
        <p:sp>
          <p:nvSpPr>
            <p:cNvPr id="133" name="Google Shape;133;p3"/>
            <p:cNvSpPr txBox="1"/>
            <p:nvPr/>
          </p:nvSpPr>
          <p:spPr>
            <a:xfrm>
              <a:off x="-586307" y="4057"/>
              <a:ext cx="6587924" cy="8554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74" b="1" dirty="0">
                  <a:solidFill>
                    <a:srgbClr val="B0AFD3"/>
                  </a:solidFill>
                  <a:latin typeface="Bricolage Grotesque"/>
                  <a:sym typeface="Bricolage Grotesque"/>
                </a:rPr>
                <a:t>Comprehensive University Insights</a:t>
              </a:r>
            </a:p>
            <a:p>
              <a:pPr marL="0" marR="0" lvl="0" indent="0" algn="ctr" rtl="0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" name="Google Shape;134;p3"/>
            <p:cNvSpPr txBox="1"/>
            <p:nvPr/>
          </p:nvSpPr>
          <p:spPr>
            <a:xfrm>
              <a:off x="185197" y="646906"/>
              <a:ext cx="5346700" cy="20210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n-US" sz="1970" dirty="0">
                  <a:solidFill>
                    <a:schemeClr val="bg1"/>
                  </a:solidFill>
                </a:rPr>
                <a:t>Explore global university rankings, academic performance, and country-wise distribution through interactive visualizations that make institutional comparisons easier.</a:t>
              </a:r>
            </a:p>
          </p:txBody>
        </p:sp>
      </p:grpSp>
      <p:sp>
        <p:nvSpPr>
          <p:cNvPr id="135" name="Google Shape;135;p3"/>
          <p:cNvSpPr txBox="1"/>
          <p:nvPr/>
        </p:nvSpPr>
        <p:spPr>
          <a:xfrm>
            <a:off x="666750" y="800100"/>
            <a:ext cx="16954500" cy="2154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1" i="0" u="none" strike="noStrike" cap="none" dirty="0">
                <a:solidFill>
                  <a:srgbClr val="B0AFD3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Core Features of </a:t>
            </a:r>
            <a:r>
              <a:rPr lang="en-US" sz="6999" b="1" dirty="0" err="1">
                <a:solidFill>
                  <a:srgbClr val="B0AFD3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EduVision_DV</a:t>
            </a:r>
            <a:r>
              <a:rPr lang="en-US" sz="6999" b="1" dirty="0">
                <a:solidFill>
                  <a:srgbClr val="B0AFD3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 Analytics</a:t>
            </a:r>
            <a:r>
              <a:rPr lang="en-US" sz="6999" b="1" i="0" u="none" strike="noStrike" cap="none" dirty="0">
                <a:solidFill>
                  <a:srgbClr val="B0AFD3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 Platform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96C2CC-1F13-E654-C85D-A0A1F6ED5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306" y="3352800"/>
            <a:ext cx="4689987" cy="3581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4EA200-3B83-FEB7-0DE6-A6F0197126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233" y="3352800"/>
            <a:ext cx="4793226" cy="3581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A8778A-6541-2E68-3BEF-A6F2E16333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81399" y="3374497"/>
            <a:ext cx="5306949" cy="3581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"/>
          <p:cNvSpPr txBox="1"/>
          <p:nvPr/>
        </p:nvSpPr>
        <p:spPr>
          <a:xfrm>
            <a:off x="666750" y="800100"/>
            <a:ext cx="5987700" cy="4108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75" b="1" i="0" u="none" strike="noStrike" cap="none" dirty="0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Challenges </a:t>
            </a:r>
            <a:r>
              <a:rPr lang="en-US" sz="6675" b="1" dirty="0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in Higher Education Analytics</a:t>
            </a:r>
          </a:p>
        </p:txBody>
      </p:sp>
      <p:grpSp>
        <p:nvGrpSpPr>
          <p:cNvPr id="144" name="Google Shape;144;p4"/>
          <p:cNvGrpSpPr/>
          <p:nvPr/>
        </p:nvGrpSpPr>
        <p:grpSpPr>
          <a:xfrm>
            <a:off x="7858467" y="1519774"/>
            <a:ext cx="854762" cy="415636"/>
            <a:chOff x="0" y="-38100"/>
            <a:chExt cx="769424" cy="374139"/>
          </a:xfrm>
        </p:grpSpPr>
        <p:sp>
          <p:nvSpPr>
            <p:cNvPr id="145" name="Google Shape;145;p4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4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" name="Google Shape;147;p4"/>
          <p:cNvGrpSpPr/>
          <p:nvPr/>
        </p:nvGrpSpPr>
        <p:grpSpPr>
          <a:xfrm>
            <a:off x="12872519" y="5996524"/>
            <a:ext cx="854762" cy="415636"/>
            <a:chOff x="0" y="-38100"/>
            <a:chExt cx="769424" cy="374139"/>
          </a:xfrm>
        </p:grpSpPr>
        <p:sp>
          <p:nvSpPr>
            <p:cNvPr id="148" name="Google Shape;148;p4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4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0" name="Google Shape;150;p4"/>
          <p:cNvGrpSpPr/>
          <p:nvPr/>
        </p:nvGrpSpPr>
        <p:grpSpPr>
          <a:xfrm>
            <a:off x="7858467" y="5996524"/>
            <a:ext cx="854762" cy="415636"/>
            <a:chOff x="0" y="-38100"/>
            <a:chExt cx="769424" cy="374139"/>
          </a:xfrm>
        </p:grpSpPr>
        <p:sp>
          <p:nvSpPr>
            <p:cNvPr id="151" name="Google Shape;151;p4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4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" name="Google Shape;153;p4"/>
          <p:cNvGrpSpPr/>
          <p:nvPr/>
        </p:nvGrpSpPr>
        <p:grpSpPr>
          <a:xfrm>
            <a:off x="12872519" y="1519774"/>
            <a:ext cx="854762" cy="415636"/>
            <a:chOff x="0" y="-38100"/>
            <a:chExt cx="769424" cy="374139"/>
          </a:xfrm>
        </p:grpSpPr>
        <p:sp>
          <p:nvSpPr>
            <p:cNvPr id="154" name="Google Shape;154;p4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4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6" name="Google Shape;156;p4"/>
          <p:cNvGrpSpPr/>
          <p:nvPr/>
        </p:nvGrpSpPr>
        <p:grpSpPr>
          <a:xfrm>
            <a:off x="12872519" y="2288105"/>
            <a:ext cx="4748625" cy="2613501"/>
            <a:chOff x="0" y="0"/>
            <a:chExt cx="6331500" cy="3484669"/>
          </a:xfrm>
        </p:grpSpPr>
        <p:sp>
          <p:nvSpPr>
            <p:cNvPr id="157" name="Google Shape;157;p4"/>
            <p:cNvSpPr txBox="1"/>
            <p:nvPr/>
          </p:nvSpPr>
          <p:spPr>
            <a:xfrm>
              <a:off x="0" y="0"/>
              <a:ext cx="6331500" cy="5877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87" b="1" dirty="0">
                  <a:solidFill>
                    <a:srgbClr val="B0AFD3"/>
                  </a:solidFill>
                  <a:latin typeface="Bricolage Grotesque"/>
                  <a:sym typeface="Bricolage Grotesque"/>
                </a:rPr>
                <a:t>Inconsistent Data Matching</a:t>
              </a:r>
              <a:endParaRPr dirty="0"/>
            </a:p>
          </p:txBody>
        </p:sp>
        <p:sp>
          <p:nvSpPr>
            <p:cNvPr id="158" name="Google Shape;158;p4"/>
            <p:cNvSpPr txBox="1"/>
            <p:nvPr/>
          </p:nvSpPr>
          <p:spPr>
            <a:xfrm>
              <a:off x="0" y="727075"/>
              <a:ext cx="6331500" cy="27575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20" b="1" dirty="0">
                  <a:solidFill>
                    <a:schemeClr val="bg1">
                      <a:lumMod val="75000"/>
                    </a:schemeClr>
                  </a:solidFill>
                </a:rPr>
                <a:t>University rankings and education datasets come from different sources, making it difficult to combine information and maintain consistency across institutions.</a:t>
              </a:r>
              <a:endParaRPr sz="1920" b="1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grpSp>
        <p:nvGrpSpPr>
          <p:cNvPr id="159" name="Google Shape;159;p4"/>
          <p:cNvGrpSpPr/>
          <p:nvPr/>
        </p:nvGrpSpPr>
        <p:grpSpPr>
          <a:xfrm>
            <a:off x="7858075" y="2288100"/>
            <a:ext cx="4748675" cy="2674117"/>
            <a:chOff x="-67" y="-225800"/>
            <a:chExt cx="6331567" cy="3565490"/>
          </a:xfrm>
        </p:grpSpPr>
        <p:sp>
          <p:nvSpPr>
            <p:cNvPr id="160" name="Google Shape;160;p4"/>
            <p:cNvSpPr txBox="1"/>
            <p:nvPr/>
          </p:nvSpPr>
          <p:spPr>
            <a:xfrm>
              <a:off x="-67" y="-225800"/>
              <a:ext cx="6331500" cy="5877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87" b="1" dirty="0">
                  <a:solidFill>
                    <a:srgbClr val="B0AFD3"/>
                  </a:solidFill>
                  <a:latin typeface="Bricolage Grotesque"/>
                  <a:sym typeface="Bricolage Grotesque"/>
                </a:rPr>
                <a:t>Fragmented Data Sources</a:t>
              </a:r>
              <a:endParaRPr lang="en-US" dirty="0"/>
            </a:p>
          </p:txBody>
        </p:sp>
        <p:sp>
          <p:nvSpPr>
            <p:cNvPr id="161" name="Google Shape;161;p4"/>
            <p:cNvSpPr txBox="1"/>
            <p:nvPr/>
          </p:nvSpPr>
          <p:spPr>
            <a:xfrm>
              <a:off x="0" y="582096"/>
              <a:ext cx="6331500" cy="27575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20" b="1" dirty="0">
                  <a:solidFill>
                    <a:schemeClr val="bg1">
                      <a:lumMod val="75000"/>
                    </a:schemeClr>
                  </a:solidFill>
                </a:rPr>
                <a:t>University rankings and education datasets come from different sources, making it difficult to combine information and maintain consistency across institutions.</a:t>
              </a:r>
              <a:endParaRPr sz="1920" b="1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grpSp>
        <p:nvGrpSpPr>
          <p:cNvPr id="162" name="Google Shape;162;p4"/>
          <p:cNvGrpSpPr/>
          <p:nvPr/>
        </p:nvGrpSpPr>
        <p:grpSpPr>
          <a:xfrm>
            <a:off x="7858117" y="6673030"/>
            <a:ext cx="4799459" cy="2982227"/>
            <a:chOff x="0" y="0"/>
            <a:chExt cx="6399279" cy="3976302"/>
          </a:xfrm>
        </p:grpSpPr>
        <p:sp>
          <p:nvSpPr>
            <p:cNvPr id="163" name="Google Shape;163;p4"/>
            <p:cNvSpPr txBox="1"/>
            <p:nvPr/>
          </p:nvSpPr>
          <p:spPr>
            <a:xfrm>
              <a:off x="0" y="0"/>
              <a:ext cx="6331500" cy="11755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87" b="1" dirty="0">
                  <a:solidFill>
                    <a:srgbClr val="B0AFD3"/>
                  </a:solidFill>
                  <a:latin typeface="Bricolage Grotesque"/>
                  <a:sym typeface="Bricolage Grotesque"/>
                </a:rPr>
                <a:t>Complex Performance Evaluation</a:t>
              </a:r>
              <a:endParaRPr dirty="0"/>
            </a:p>
          </p:txBody>
        </p:sp>
        <p:sp>
          <p:nvSpPr>
            <p:cNvPr id="164" name="Google Shape;164;p4"/>
            <p:cNvSpPr txBox="1"/>
            <p:nvPr/>
          </p:nvSpPr>
          <p:spPr>
            <a:xfrm>
              <a:off x="67779" y="1175536"/>
              <a:ext cx="6331500" cy="28007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1" dirty="0">
                  <a:solidFill>
                    <a:schemeClr val="bg1">
                      <a:lumMod val="75000"/>
                    </a:schemeClr>
                  </a:solidFill>
                </a:rPr>
                <a:t>Evaluating academic reputation, research impact, student diversity, and global rankings requires multiple indicators that can be difficult to interpret together.</a:t>
              </a:r>
              <a:endParaRPr sz="1950" b="1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grpSp>
        <p:nvGrpSpPr>
          <p:cNvPr id="165" name="Google Shape;165;p4"/>
          <p:cNvGrpSpPr/>
          <p:nvPr/>
        </p:nvGrpSpPr>
        <p:grpSpPr>
          <a:xfrm>
            <a:off x="12981269" y="6673025"/>
            <a:ext cx="5987708" cy="2678356"/>
            <a:chOff x="347967" y="-86473"/>
            <a:chExt cx="7983610" cy="3571142"/>
          </a:xfrm>
        </p:grpSpPr>
        <p:sp>
          <p:nvSpPr>
            <p:cNvPr id="166" name="Google Shape;166;p4"/>
            <p:cNvSpPr txBox="1"/>
            <p:nvPr/>
          </p:nvSpPr>
          <p:spPr>
            <a:xfrm>
              <a:off x="347978" y="-86473"/>
              <a:ext cx="7983599" cy="5877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87" b="1" dirty="0">
                  <a:solidFill>
                    <a:srgbClr val="B0AFD3"/>
                  </a:solidFill>
                  <a:latin typeface="Bricolage Grotesque"/>
                  <a:sym typeface="Bricolage Grotesque"/>
                </a:rPr>
                <a:t>Limited Interactive Insights</a:t>
              </a:r>
              <a:endParaRPr dirty="0"/>
            </a:p>
          </p:txBody>
        </p:sp>
        <p:sp>
          <p:nvSpPr>
            <p:cNvPr id="167" name="Google Shape;167;p4"/>
            <p:cNvSpPr txBox="1"/>
            <p:nvPr/>
          </p:nvSpPr>
          <p:spPr>
            <a:xfrm>
              <a:off x="347967" y="727075"/>
              <a:ext cx="6331499" cy="27575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20" b="1" dirty="0">
                  <a:solidFill>
                    <a:schemeClr val="bg1">
                      <a:lumMod val="75000"/>
                    </a:schemeClr>
                  </a:solidFill>
                </a:rPr>
                <a:t>Static reports make it harder to explore trends, compare countries, and identify meaningful patterns. An interactive dashboard helps simplify these analyses.</a:t>
              </a:r>
              <a:endParaRPr sz="1920" b="1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grpSp>
        <p:nvGrpSpPr>
          <p:cNvPr id="168" name="Google Shape;168;p4"/>
          <p:cNvGrpSpPr/>
          <p:nvPr/>
        </p:nvGrpSpPr>
        <p:grpSpPr>
          <a:xfrm rot="10800000">
            <a:off x="-1034932" y="6996006"/>
            <a:ext cx="3454198" cy="4601348"/>
            <a:chOff x="-67779" y="-102347"/>
            <a:chExt cx="4605597" cy="6135131"/>
          </a:xfrm>
        </p:grpSpPr>
        <p:grpSp>
          <p:nvGrpSpPr>
            <p:cNvPr id="169" name="Google Shape;169;p4"/>
            <p:cNvGrpSpPr/>
            <p:nvPr/>
          </p:nvGrpSpPr>
          <p:grpSpPr>
            <a:xfrm rot="-2700000">
              <a:off x="-86577" y="2937338"/>
              <a:ext cx="4441804" cy="1786685"/>
              <a:chOff x="0" y="-19050"/>
              <a:chExt cx="882773" cy="355089"/>
            </a:xfrm>
          </p:grpSpPr>
          <p:sp>
            <p:nvSpPr>
              <p:cNvPr id="170" name="Google Shape;170;p4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2BCA8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4"/>
              <p:cNvSpPr txBox="1"/>
              <p:nvPr/>
            </p:nvSpPr>
            <p:spPr>
              <a:xfrm>
                <a:off x="0" y="-19050"/>
                <a:ext cx="882773" cy="3550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2525" tIns="152525" rIns="152525" bIns="152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4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2" name="Google Shape;172;p4"/>
            <p:cNvGrpSpPr/>
            <p:nvPr/>
          </p:nvGrpSpPr>
          <p:grpSpPr>
            <a:xfrm rot="-2700000">
              <a:off x="68205" y="1208093"/>
              <a:ext cx="4471480" cy="1846868"/>
              <a:chOff x="0" y="-28575"/>
              <a:chExt cx="882773" cy="364614"/>
            </a:xfrm>
          </p:grpSpPr>
          <p:sp>
            <p:nvSpPr>
              <p:cNvPr id="173" name="Google Shape;173;p4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A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4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5700" tIns="55700" rIns="55700" bIns="5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75" name="Google Shape;175;p4"/>
          <p:cNvSpPr txBox="1"/>
          <p:nvPr/>
        </p:nvSpPr>
        <p:spPr>
          <a:xfrm>
            <a:off x="13182624" y="6020717"/>
            <a:ext cx="213023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4</a:t>
            </a:r>
            <a:endParaRPr/>
          </a:p>
        </p:txBody>
      </p:sp>
      <p:sp>
        <p:nvSpPr>
          <p:cNvPr id="176" name="Google Shape;176;p4"/>
          <p:cNvSpPr txBox="1"/>
          <p:nvPr/>
        </p:nvSpPr>
        <p:spPr>
          <a:xfrm>
            <a:off x="8182611" y="6002585"/>
            <a:ext cx="206474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3</a:t>
            </a:r>
            <a:endParaRPr/>
          </a:p>
        </p:txBody>
      </p:sp>
      <p:sp>
        <p:nvSpPr>
          <p:cNvPr id="177" name="Google Shape;177;p4"/>
          <p:cNvSpPr txBox="1"/>
          <p:nvPr/>
        </p:nvSpPr>
        <p:spPr>
          <a:xfrm>
            <a:off x="13186394" y="1543967"/>
            <a:ext cx="205482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</a:t>
            </a:r>
            <a:endParaRPr/>
          </a:p>
        </p:txBody>
      </p:sp>
      <p:sp>
        <p:nvSpPr>
          <p:cNvPr id="178" name="Google Shape;178;p4"/>
          <p:cNvSpPr txBox="1"/>
          <p:nvPr/>
        </p:nvSpPr>
        <p:spPr>
          <a:xfrm>
            <a:off x="8227209" y="1543967"/>
            <a:ext cx="117277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p5"/>
          <p:cNvGrpSpPr/>
          <p:nvPr/>
        </p:nvGrpSpPr>
        <p:grpSpPr>
          <a:xfrm rot="8100000">
            <a:off x="-196310" y="-515384"/>
            <a:ext cx="3331353" cy="1596410"/>
            <a:chOff x="0" y="0"/>
            <a:chExt cx="882773" cy="423031"/>
          </a:xfrm>
        </p:grpSpPr>
        <p:sp>
          <p:nvSpPr>
            <p:cNvPr id="184" name="Google Shape;184;p5"/>
            <p:cNvSpPr/>
            <p:nvPr/>
          </p:nvSpPr>
          <p:spPr>
            <a:xfrm>
              <a:off x="0" y="0"/>
              <a:ext cx="882773" cy="336039"/>
            </a:xfrm>
            <a:custGeom>
              <a:avLst/>
              <a:gdLst/>
              <a:ahLst/>
              <a:cxnLst/>
              <a:rect l="l" t="t" r="r" b="b"/>
              <a:pathLst>
                <a:path w="882773" h="336039" extrusionOk="0">
                  <a:moveTo>
                    <a:pt x="679573" y="0"/>
                  </a:moveTo>
                  <a:cubicBezTo>
                    <a:pt x="791798" y="0"/>
                    <a:pt x="882773" y="75225"/>
                    <a:pt x="882773" y="168020"/>
                  </a:cubicBezTo>
                  <a:cubicBezTo>
                    <a:pt x="882773" y="260814"/>
                    <a:pt x="791798" y="336039"/>
                    <a:pt x="679573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D4F59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5"/>
            <p:cNvSpPr txBox="1"/>
            <p:nvPr/>
          </p:nvSpPr>
          <p:spPr>
            <a:xfrm>
              <a:off x="21221" y="97966"/>
              <a:ext cx="822850" cy="3250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1325" tIns="51325" rIns="51325" bIns="51325" anchor="ctr" anchorCtr="0">
              <a:noAutofit/>
            </a:bodyPr>
            <a:lstStyle/>
            <a:p>
              <a:pPr marL="0" marR="0" lvl="0" indent="0" algn="ctr" rtl="0">
                <a:lnSpc>
                  <a:spcPct val="108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6" name="Google Shape;186;p5"/>
          <p:cNvGrpSpPr/>
          <p:nvPr/>
        </p:nvGrpSpPr>
        <p:grpSpPr>
          <a:xfrm rot="8100000">
            <a:off x="14897628" y="9217754"/>
            <a:ext cx="3353610" cy="1421336"/>
            <a:chOff x="0" y="-38100"/>
            <a:chExt cx="882773" cy="374139"/>
          </a:xfrm>
        </p:grpSpPr>
        <p:sp>
          <p:nvSpPr>
            <p:cNvPr id="187" name="Google Shape;187;p5"/>
            <p:cNvSpPr/>
            <p:nvPr/>
          </p:nvSpPr>
          <p:spPr>
            <a:xfrm>
              <a:off x="0" y="0"/>
              <a:ext cx="882773" cy="336039"/>
            </a:xfrm>
            <a:custGeom>
              <a:avLst/>
              <a:gdLst/>
              <a:ahLst/>
              <a:cxnLst/>
              <a:rect l="l" t="t" r="r" b="b"/>
              <a:pathLst>
                <a:path w="882773" h="336039" extrusionOk="0">
                  <a:moveTo>
                    <a:pt x="679573" y="0"/>
                  </a:moveTo>
                  <a:cubicBezTo>
                    <a:pt x="791798" y="0"/>
                    <a:pt x="882773" y="75225"/>
                    <a:pt x="882773" y="168020"/>
                  </a:cubicBezTo>
                  <a:cubicBezTo>
                    <a:pt x="882773" y="260814"/>
                    <a:pt x="791798" y="336039"/>
                    <a:pt x="679573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B0AF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5"/>
            <p:cNvSpPr txBox="1"/>
            <p:nvPr/>
          </p:nvSpPr>
          <p:spPr>
            <a:xfrm>
              <a:off x="0" y="-38100"/>
              <a:ext cx="882773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750" tIns="18750" rIns="18750" bIns="18750" anchor="ctr" anchorCtr="0">
              <a:noAutofit/>
            </a:bodyPr>
            <a:lstStyle/>
            <a:p>
              <a:pPr marL="0" marR="0" lvl="0" indent="0" algn="ctr" rtl="0">
                <a:lnSpc>
                  <a:spcPct val="96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9" name="Google Shape;189;p5"/>
          <p:cNvGrpSpPr/>
          <p:nvPr/>
        </p:nvGrpSpPr>
        <p:grpSpPr>
          <a:xfrm>
            <a:off x="974475" y="1205063"/>
            <a:ext cx="16339050" cy="8456295"/>
            <a:chOff x="0" y="-512625"/>
            <a:chExt cx="21785400" cy="11275057"/>
          </a:xfrm>
        </p:grpSpPr>
        <p:sp>
          <p:nvSpPr>
            <p:cNvPr id="190" name="Google Shape;190;p5"/>
            <p:cNvSpPr txBox="1"/>
            <p:nvPr/>
          </p:nvSpPr>
          <p:spPr>
            <a:xfrm>
              <a:off x="0" y="794577"/>
              <a:ext cx="21785400" cy="99678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9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90" dirty="0">
                  <a:solidFill>
                    <a:schemeClr val="bg1">
                      <a:lumMod val="75000"/>
                    </a:schemeClr>
                  </a:solidFill>
                </a:rPr>
                <a:t>The system architecture of </a:t>
              </a:r>
              <a:r>
                <a:rPr lang="en-US" sz="2690" b="1" dirty="0" err="1">
                  <a:solidFill>
                    <a:schemeClr val="bg1">
                      <a:lumMod val="75000"/>
                    </a:schemeClr>
                  </a:solidFill>
                </a:rPr>
                <a:t>EduVision_DV</a:t>
              </a:r>
              <a:r>
                <a:rPr lang="en-US" sz="2690" dirty="0">
                  <a:solidFill>
                    <a:schemeClr val="bg1">
                      <a:lumMod val="75000"/>
                    </a:schemeClr>
                  </a:solidFill>
                </a:rPr>
                <a:t> is designed to support structured data processing, reliable KPI calculations, and interactive higher education analytics.</a:t>
              </a:r>
            </a:p>
            <a:p>
              <a:pPr marL="0" marR="0" lvl="0" indent="0" algn="l" rtl="0">
                <a:lnSpc>
                  <a:spcPct val="129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90" b="0" i="0" u="none" strike="noStrike" cap="none" dirty="0">
                  <a:solidFill>
                    <a:schemeClr val="bg1">
                      <a:lumMod val="75000"/>
                    </a:schemeClr>
                  </a:solidFill>
                  <a:latin typeface="Arial"/>
                  <a:ea typeface="Arial"/>
                  <a:cs typeface="Arial"/>
                  <a:sym typeface="Arial"/>
                </a:rPr>
                <a:t>Key components include:</a:t>
              </a:r>
              <a:endParaRPr lang="en-US" sz="2690" dirty="0">
                <a:solidFill>
                  <a:schemeClr val="bg1">
                    <a:lumMod val="75000"/>
                  </a:schemeClr>
                </a:solidFill>
              </a:endParaRPr>
            </a:p>
            <a:p>
              <a:pPr marL="581615" marR="0" lvl="1" indent="-290807" algn="l" rtl="0">
                <a:lnSpc>
                  <a:spcPct val="129038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2693"/>
                <a:buFont typeface="Arial"/>
                <a:buChar char="•"/>
              </a:pPr>
              <a:r>
                <a:rPr lang="en-US" sz="2690" b="1" dirty="0">
                  <a:solidFill>
                    <a:schemeClr val="bg1">
                      <a:lumMod val="75000"/>
                    </a:schemeClr>
                  </a:solidFill>
                </a:rPr>
                <a:t>Data Collection:</a:t>
              </a:r>
              <a:r>
                <a:rPr lang="en-US" sz="2690" dirty="0">
                  <a:solidFill>
                    <a:schemeClr val="bg1">
                      <a:lumMod val="75000"/>
                    </a:schemeClr>
                  </a:solidFill>
                </a:rPr>
                <a:t> Integrates university ranking datasets from QS and Times Higher Education (THE) to create a unified data foundation.</a:t>
              </a:r>
              <a:r>
                <a:rPr lang="en-US" sz="2690" b="0" i="0" u="none" strike="noStrike" cap="none" dirty="0">
                  <a:solidFill>
                    <a:schemeClr val="bg1">
                      <a:lumMod val="75000"/>
                    </a:schemeClr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lang="en-US" sz="2690" dirty="0">
                <a:solidFill>
                  <a:schemeClr val="bg1">
                    <a:lumMod val="75000"/>
                  </a:schemeClr>
                </a:solidFill>
              </a:endParaRPr>
            </a:p>
            <a:p>
              <a:pPr marL="581615" marR="0" lvl="1" indent="-290807" algn="l" rtl="0">
                <a:lnSpc>
                  <a:spcPct val="129038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2693"/>
                <a:buFont typeface="Arial"/>
                <a:buChar char="•"/>
              </a:pPr>
              <a:r>
                <a:rPr lang="en-US" sz="2690" b="1" dirty="0">
                  <a:solidFill>
                    <a:schemeClr val="bg1">
                      <a:lumMod val="75000"/>
                    </a:schemeClr>
                  </a:solidFill>
                </a:rPr>
                <a:t>Data Preprocessing:</a:t>
              </a:r>
              <a:r>
                <a:rPr lang="en-US" sz="2690" dirty="0">
                  <a:solidFill>
                    <a:schemeClr val="bg1">
                      <a:lumMod val="75000"/>
                    </a:schemeClr>
                  </a:solidFill>
                </a:rPr>
                <a:t> Cleans, standardizes, and matches university records using common identifiers to improve data consistency.</a:t>
              </a:r>
            </a:p>
            <a:p>
              <a:pPr marL="581615" marR="0" lvl="1" indent="-290807" algn="l" rtl="0">
                <a:lnSpc>
                  <a:spcPct val="129038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2693"/>
                <a:buFont typeface="Arial"/>
                <a:buChar char="•"/>
              </a:pPr>
              <a:r>
                <a:rPr lang="en-US" sz="2690" b="1" dirty="0">
                  <a:solidFill>
                    <a:schemeClr val="bg1">
                      <a:lumMod val="75000"/>
                    </a:schemeClr>
                  </a:solidFill>
                </a:rPr>
                <a:t>KPI Engineering:</a:t>
              </a:r>
              <a:r>
                <a:rPr lang="en-US" sz="2690" dirty="0">
                  <a:solidFill>
                    <a:schemeClr val="bg1">
                      <a:lumMod val="75000"/>
                    </a:schemeClr>
                  </a:solidFill>
                </a:rPr>
                <a:t> Generates key performance indicators, including Global Ranking Score, Research Impact Score, and Research Productivity Index.</a:t>
              </a:r>
            </a:p>
            <a:p>
              <a:pPr marL="581615" marR="0" lvl="1" indent="-290807" algn="l" rtl="0">
                <a:lnSpc>
                  <a:spcPct val="129038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2693"/>
                <a:buFont typeface="Arial"/>
                <a:buChar char="•"/>
              </a:pPr>
              <a:r>
                <a:rPr lang="en-US" sz="2690" b="1" dirty="0">
                  <a:solidFill>
                    <a:schemeClr val="bg1">
                      <a:lumMod val="75000"/>
                    </a:schemeClr>
                  </a:solidFill>
                </a:rPr>
                <a:t>Data Modeling:</a:t>
              </a:r>
              <a:r>
                <a:rPr lang="en-US" sz="2690" dirty="0">
                  <a:solidFill>
                    <a:schemeClr val="bg1">
                      <a:lumMod val="75000"/>
                    </a:schemeClr>
                  </a:solidFill>
                </a:rPr>
                <a:t> Organizes information into interconnected dimension and fact tables to support efficient analysis.</a:t>
              </a:r>
            </a:p>
            <a:p>
              <a:pPr marL="581615" marR="0" lvl="1" indent="-290807" algn="l" rtl="0">
                <a:lnSpc>
                  <a:spcPct val="129038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2693"/>
                <a:buFont typeface="Arial"/>
                <a:buChar char="•"/>
              </a:pPr>
              <a:r>
                <a:rPr lang="en-US" sz="2690" b="1" dirty="0">
                  <a:solidFill>
                    <a:schemeClr val="bg1">
                      <a:lumMod val="75000"/>
                    </a:schemeClr>
                  </a:solidFill>
                </a:rPr>
                <a:t>Interactive Visualization:</a:t>
              </a:r>
              <a:r>
                <a:rPr lang="en-US" sz="2690" dirty="0">
                  <a:solidFill>
                    <a:schemeClr val="bg1">
                      <a:lumMod val="75000"/>
                    </a:schemeClr>
                  </a:solidFill>
                </a:rPr>
                <a:t> Uses Tableau to deliver four connected dashboards with filters, parameter actions, and navigation controls for exploring university, research, student, and country-level performance.</a:t>
              </a:r>
              <a:endParaRPr lang="en-US" sz="2690" b="0" i="0" u="none" strike="noStrike" cap="none" dirty="0">
                <a:solidFill>
                  <a:schemeClr val="bg1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5"/>
            <p:cNvSpPr txBox="1"/>
            <p:nvPr/>
          </p:nvSpPr>
          <p:spPr>
            <a:xfrm>
              <a:off x="0" y="-512625"/>
              <a:ext cx="21785400" cy="83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54" b="1" i="0" u="none" strike="noStrike" cap="none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System Architecture Overview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"/>
          <p:cNvSpPr txBox="1"/>
          <p:nvPr/>
        </p:nvSpPr>
        <p:spPr>
          <a:xfrm>
            <a:off x="666750" y="762000"/>
            <a:ext cx="5448300" cy="2250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75" b="1" i="0" u="none" strike="noStrike" cap="none" dirty="0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Challenges and Solutions in </a:t>
            </a:r>
            <a:r>
              <a:rPr lang="en-US" sz="4875" b="1" i="0" u="none" strike="noStrike" cap="none" dirty="0" err="1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EduVision_DV</a:t>
            </a:r>
            <a:endParaRPr dirty="0"/>
          </a:p>
        </p:txBody>
      </p:sp>
      <p:grpSp>
        <p:nvGrpSpPr>
          <p:cNvPr id="197" name="Google Shape;197;p6"/>
          <p:cNvGrpSpPr/>
          <p:nvPr/>
        </p:nvGrpSpPr>
        <p:grpSpPr>
          <a:xfrm>
            <a:off x="7385353" y="1597284"/>
            <a:ext cx="854762" cy="415636"/>
            <a:chOff x="0" y="-38100"/>
            <a:chExt cx="769424" cy="374139"/>
          </a:xfrm>
        </p:grpSpPr>
        <p:sp>
          <p:nvSpPr>
            <p:cNvPr id="198" name="Google Shape;198;p6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6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0" name="Google Shape;200;p6"/>
          <p:cNvGrpSpPr/>
          <p:nvPr/>
        </p:nvGrpSpPr>
        <p:grpSpPr>
          <a:xfrm>
            <a:off x="12845547" y="5546497"/>
            <a:ext cx="854762" cy="498757"/>
            <a:chOff x="0" y="-38100"/>
            <a:chExt cx="769424" cy="374139"/>
          </a:xfrm>
        </p:grpSpPr>
        <p:sp>
          <p:nvSpPr>
            <p:cNvPr id="201" name="Google Shape;201;p6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6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3" name="Google Shape;203;p6"/>
          <p:cNvGrpSpPr/>
          <p:nvPr/>
        </p:nvGrpSpPr>
        <p:grpSpPr>
          <a:xfrm>
            <a:off x="7438158" y="5491279"/>
            <a:ext cx="854762" cy="415636"/>
            <a:chOff x="0" y="-38100"/>
            <a:chExt cx="769424" cy="374139"/>
          </a:xfrm>
        </p:grpSpPr>
        <p:sp>
          <p:nvSpPr>
            <p:cNvPr id="204" name="Google Shape;204;p6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6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6" name="Google Shape;206;p6"/>
          <p:cNvGrpSpPr/>
          <p:nvPr/>
        </p:nvGrpSpPr>
        <p:grpSpPr>
          <a:xfrm>
            <a:off x="12872519" y="1639610"/>
            <a:ext cx="854762" cy="415636"/>
            <a:chOff x="0" y="-38100"/>
            <a:chExt cx="769424" cy="374139"/>
          </a:xfrm>
        </p:grpSpPr>
        <p:sp>
          <p:nvSpPr>
            <p:cNvPr id="207" name="Google Shape;207;p6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6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9" name="Google Shape;209;p6"/>
          <p:cNvGrpSpPr/>
          <p:nvPr/>
        </p:nvGrpSpPr>
        <p:grpSpPr>
          <a:xfrm>
            <a:off x="12606856" y="2397816"/>
            <a:ext cx="5223944" cy="2583398"/>
            <a:chOff x="-1" y="0"/>
            <a:chExt cx="6331642" cy="3444532"/>
          </a:xfrm>
        </p:grpSpPr>
        <p:sp>
          <p:nvSpPr>
            <p:cNvPr id="210" name="Google Shape;210;p6"/>
            <p:cNvSpPr txBox="1"/>
            <p:nvPr/>
          </p:nvSpPr>
          <p:spPr>
            <a:xfrm>
              <a:off x="0" y="0"/>
              <a:ext cx="6331641" cy="13295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1" dirty="0">
                  <a:solidFill>
                    <a:srgbClr val="B0AFD3"/>
                  </a:solidFill>
                  <a:latin typeface="Bricolage Grotesque"/>
                  <a:sym typeface="Bricolage Grotesque"/>
                </a:rPr>
                <a:t>Data Quality &amp; Missing Values</a:t>
              </a:r>
              <a:endParaRPr dirty="0"/>
            </a:p>
          </p:txBody>
        </p:sp>
        <p:sp>
          <p:nvSpPr>
            <p:cNvPr id="211" name="Google Shape;211;p6"/>
            <p:cNvSpPr txBox="1"/>
            <p:nvPr/>
          </p:nvSpPr>
          <p:spPr>
            <a:xfrm>
              <a:off x="-1" y="814067"/>
              <a:ext cx="6331641" cy="26304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r>
                <a:rPr lang="en-US" sz="1970" dirty="0">
                  <a:solidFill>
                    <a:schemeClr val="bg1">
                      <a:lumMod val="75000"/>
                    </a:schemeClr>
                  </a:solidFill>
                </a:rPr>
                <a:t>Differences in source datasets and missing academic indicators made accurate comparisons challenging.</a:t>
              </a:r>
            </a:p>
            <a:p>
              <a:endParaRPr lang="en-US" sz="1000" dirty="0">
                <a:solidFill>
                  <a:schemeClr val="bg1">
                    <a:lumMod val="75000"/>
                  </a:schemeClr>
                </a:solidFill>
              </a:endParaRPr>
            </a:p>
            <a:p>
              <a:r>
                <a:rPr lang="en-US" sz="1970" b="1" dirty="0">
                  <a:solidFill>
                    <a:schemeClr val="bg1">
                      <a:lumMod val="75000"/>
                    </a:schemeClr>
                  </a:solidFill>
                </a:rPr>
                <a:t>Solution:</a:t>
              </a:r>
              <a:r>
                <a:rPr lang="en-US" sz="1970" dirty="0">
                  <a:solidFill>
                    <a:schemeClr val="bg1">
                      <a:lumMod val="75000"/>
                    </a:schemeClr>
                  </a:solidFill>
                </a:rPr>
                <a:t> Applied data validation and preprocessing techniques while preserving missing values to maintain data integrity.</a:t>
              </a:r>
            </a:p>
          </p:txBody>
        </p:sp>
      </p:grpSp>
      <p:grpSp>
        <p:nvGrpSpPr>
          <p:cNvPr id="212" name="Google Shape;212;p6"/>
          <p:cNvGrpSpPr/>
          <p:nvPr/>
        </p:nvGrpSpPr>
        <p:grpSpPr>
          <a:xfrm>
            <a:off x="7424221" y="2364768"/>
            <a:ext cx="4748731" cy="2884328"/>
            <a:chOff x="0" y="0"/>
            <a:chExt cx="6331641" cy="3845773"/>
          </a:xfrm>
        </p:grpSpPr>
        <p:sp>
          <p:nvSpPr>
            <p:cNvPr id="213" name="Google Shape;213;p6"/>
            <p:cNvSpPr txBox="1"/>
            <p:nvPr/>
          </p:nvSpPr>
          <p:spPr>
            <a:xfrm>
              <a:off x="0" y="0"/>
              <a:ext cx="6331641" cy="6647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1" dirty="0">
                  <a:solidFill>
                    <a:srgbClr val="B0AFD3"/>
                  </a:solidFill>
                  <a:latin typeface="Bricolage Grotesque"/>
                  <a:sym typeface="Bricolage Grotesque"/>
                </a:rPr>
                <a:t>Data Integration Challenges</a:t>
              </a:r>
              <a:endParaRPr dirty="0"/>
            </a:p>
          </p:txBody>
        </p:sp>
        <p:sp>
          <p:nvSpPr>
            <p:cNvPr id="214" name="Google Shape;214;p6"/>
            <p:cNvSpPr txBox="1"/>
            <p:nvPr/>
          </p:nvSpPr>
          <p:spPr>
            <a:xfrm>
              <a:off x="0" y="790575"/>
              <a:ext cx="6331641" cy="30551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r>
                <a:rPr lang="en-US" sz="1970" dirty="0">
                  <a:solidFill>
                    <a:schemeClr val="bg1">
                      <a:lumMod val="75000"/>
                    </a:schemeClr>
                  </a:solidFill>
                </a:rPr>
                <a:t>Combining university ranking datasets from different sources presented inconsistencies in university names, formats, and ranking indicators.</a:t>
              </a:r>
            </a:p>
            <a:p>
              <a:endParaRPr lang="en-US" sz="1000" dirty="0">
                <a:solidFill>
                  <a:schemeClr val="bg1">
                    <a:lumMod val="75000"/>
                  </a:schemeClr>
                </a:solidFill>
              </a:endParaRPr>
            </a:p>
            <a:p>
              <a:r>
                <a:rPr lang="en-US" sz="1970" b="1" dirty="0">
                  <a:solidFill>
                    <a:schemeClr val="bg1">
                      <a:lumMod val="75000"/>
                    </a:schemeClr>
                  </a:solidFill>
                </a:rPr>
                <a:t>Solution:</a:t>
              </a:r>
              <a:r>
                <a:rPr lang="en-US" sz="1970" dirty="0">
                  <a:solidFill>
                    <a:schemeClr val="bg1">
                      <a:lumMod val="75000"/>
                    </a:schemeClr>
                  </a:solidFill>
                </a:rPr>
                <a:t> Implemented data cleaning, standardization, and university matching techniques to create a unified dataset.</a:t>
              </a:r>
            </a:p>
          </p:txBody>
        </p:sp>
      </p:grpSp>
      <p:grpSp>
        <p:nvGrpSpPr>
          <p:cNvPr id="215" name="Google Shape;215;p6"/>
          <p:cNvGrpSpPr/>
          <p:nvPr/>
        </p:nvGrpSpPr>
        <p:grpSpPr>
          <a:xfrm>
            <a:off x="7385353" y="6204559"/>
            <a:ext cx="4638629" cy="3879524"/>
            <a:chOff x="-60977" y="0"/>
            <a:chExt cx="6392162" cy="5172700"/>
          </a:xfrm>
        </p:grpSpPr>
        <p:sp>
          <p:nvSpPr>
            <p:cNvPr id="216" name="Google Shape;216;p6"/>
            <p:cNvSpPr txBox="1"/>
            <p:nvPr/>
          </p:nvSpPr>
          <p:spPr>
            <a:xfrm>
              <a:off x="-60977" y="0"/>
              <a:ext cx="6392162" cy="13295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1" dirty="0">
                  <a:solidFill>
                    <a:srgbClr val="B0AFD3"/>
                  </a:solidFill>
                  <a:latin typeface="Bricolage Grotesque"/>
                  <a:sym typeface="Bricolage Grotesque"/>
                </a:rPr>
                <a:t>KPI Calculation &amp; Metric Validation</a:t>
              </a:r>
            </a:p>
          </p:txBody>
        </p:sp>
        <p:sp>
          <p:nvSpPr>
            <p:cNvPr id="217" name="Google Shape;217;p6"/>
            <p:cNvSpPr txBox="1"/>
            <p:nvPr/>
          </p:nvSpPr>
          <p:spPr>
            <a:xfrm>
              <a:off x="-455" y="1329595"/>
              <a:ext cx="6331640" cy="38431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r>
                <a:rPr lang="en-US" sz="1970" dirty="0">
                  <a:solidFill>
                    <a:schemeClr val="bg1">
                      <a:lumMod val="75000"/>
                    </a:schemeClr>
                  </a:solidFill>
                </a:rPr>
                <a:t>Defining meaningful performance indicators and ensuring consistent calculations across datasets required careful validation.</a:t>
              </a:r>
            </a:p>
            <a:p>
              <a:endParaRPr lang="en-US" sz="1000" dirty="0">
                <a:solidFill>
                  <a:schemeClr val="bg1">
                    <a:lumMod val="75000"/>
                  </a:schemeClr>
                </a:solidFill>
              </a:endParaRPr>
            </a:p>
            <a:p>
              <a:r>
                <a:rPr lang="en-US" sz="1970" b="1" dirty="0">
                  <a:solidFill>
                    <a:schemeClr val="bg1">
                      <a:lumMod val="75000"/>
                    </a:schemeClr>
                  </a:solidFill>
                </a:rPr>
                <a:t>Solution:</a:t>
              </a:r>
              <a:r>
                <a:rPr lang="en-US" sz="1970" dirty="0">
                  <a:solidFill>
                    <a:schemeClr val="bg1">
                      <a:lumMod val="75000"/>
                    </a:schemeClr>
                  </a:solidFill>
                </a:rPr>
                <a:t> Developed six key performance indicators, including Global Ranking Score, Research Impact Score, and Research Productivity Index, and validated their calculations.</a:t>
              </a:r>
            </a:p>
          </p:txBody>
        </p:sp>
      </p:grpSp>
      <p:grpSp>
        <p:nvGrpSpPr>
          <p:cNvPr id="218" name="Google Shape;218;p6"/>
          <p:cNvGrpSpPr/>
          <p:nvPr/>
        </p:nvGrpSpPr>
        <p:grpSpPr>
          <a:xfrm>
            <a:off x="12606856" y="6205338"/>
            <a:ext cx="5223943" cy="4110872"/>
            <a:chOff x="-354219" y="-917647"/>
            <a:chExt cx="6331642" cy="5481164"/>
          </a:xfrm>
        </p:grpSpPr>
        <p:sp>
          <p:nvSpPr>
            <p:cNvPr id="219" name="Google Shape;219;p6"/>
            <p:cNvSpPr txBox="1"/>
            <p:nvPr/>
          </p:nvSpPr>
          <p:spPr>
            <a:xfrm>
              <a:off x="-354218" y="-917647"/>
              <a:ext cx="6331641" cy="13295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1" dirty="0">
                  <a:solidFill>
                    <a:srgbClr val="B0AFD3"/>
                  </a:solidFill>
                  <a:latin typeface="Bricolage Grotesque"/>
                  <a:sym typeface="Bricolage Grotesque"/>
                </a:rPr>
                <a:t>Interactive Dashboard Integration</a:t>
              </a:r>
              <a:endParaRPr lang="en-US" dirty="0"/>
            </a:p>
          </p:txBody>
        </p:sp>
        <p:sp>
          <p:nvSpPr>
            <p:cNvPr id="220" name="Google Shape;220;p6"/>
            <p:cNvSpPr txBox="1"/>
            <p:nvPr/>
          </p:nvSpPr>
          <p:spPr>
            <a:xfrm>
              <a:off x="-354219" y="316200"/>
              <a:ext cx="6331642" cy="42473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r>
                <a:rPr lang="en-US" sz="1970" dirty="0">
                  <a:solidFill>
                    <a:schemeClr val="bg1">
                      <a:lumMod val="75000"/>
                    </a:schemeClr>
                  </a:solidFill>
                </a:rPr>
                <a:t>Connecting four dashboards while maintaining consistent filters, navigation, and university-level comparisons was a key implementation challenge.</a:t>
              </a:r>
            </a:p>
            <a:p>
              <a:endParaRPr lang="en-US" sz="1000" dirty="0">
                <a:solidFill>
                  <a:schemeClr val="bg1">
                    <a:lumMod val="75000"/>
                  </a:schemeClr>
                </a:solidFill>
              </a:endParaRPr>
            </a:p>
            <a:p>
              <a:r>
                <a:rPr lang="en-US" sz="1970" b="1" dirty="0">
                  <a:solidFill>
                    <a:schemeClr val="bg1">
                      <a:lumMod val="75000"/>
                    </a:schemeClr>
                  </a:solidFill>
                </a:rPr>
                <a:t>Solution:</a:t>
              </a:r>
              <a:r>
                <a:rPr lang="en-US" sz="1970" dirty="0">
                  <a:solidFill>
                    <a:schemeClr val="bg1">
                      <a:lumMod val="75000"/>
                    </a:schemeClr>
                  </a:solidFill>
                </a:rPr>
                <a:t> Integrated interactive filters, parameter controls, navigation buttons, and dashboard actions to enable seamless exploration across University Overview, Research Analytics, Student Analytics, and Country Comparison.</a:t>
              </a:r>
            </a:p>
          </p:txBody>
        </p:sp>
      </p:grpSp>
      <p:grpSp>
        <p:nvGrpSpPr>
          <p:cNvPr id="221" name="Google Shape;221;p6"/>
          <p:cNvGrpSpPr/>
          <p:nvPr/>
        </p:nvGrpSpPr>
        <p:grpSpPr>
          <a:xfrm rot="10800000">
            <a:off x="-1034932" y="6996006"/>
            <a:ext cx="3454198" cy="4601348"/>
            <a:chOff x="-67779" y="-102347"/>
            <a:chExt cx="4605597" cy="6135131"/>
          </a:xfrm>
        </p:grpSpPr>
        <p:grpSp>
          <p:nvGrpSpPr>
            <p:cNvPr id="222" name="Google Shape;222;p6"/>
            <p:cNvGrpSpPr/>
            <p:nvPr/>
          </p:nvGrpSpPr>
          <p:grpSpPr>
            <a:xfrm rot="-2700000">
              <a:off x="-86577" y="2937338"/>
              <a:ext cx="4441804" cy="1786685"/>
              <a:chOff x="0" y="-19050"/>
              <a:chExt cx="882773" cy="355089"/>
            </a:xfrm>
          </p:grpSpPr>
          <p:sp>
            <p:nvSpPr>
              <p:cNvPr id="223" name="Google Shape;223;p6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2BCA8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6"/>
              <p:cNvSpPr txBox="1"/>
              <p:nvPr/>
            </p:nvSpPr>
            <p:spPr>
              <a:xfrm>
                <a:off x="0" y="-19050"/>
                <a:ext cx="882773" cy="3550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2525" tIns="152525" rIns="152525" bIns="152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49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5" name="Google Shape;225;p6"/>
            <p:cNvGrpSpPr/>
            <p:nvPr/>
          </p:nvGrpSpPr>
          <p:grpSpPr>
            <a:xfrm rot="-2700000">
              <a:off x="68205" y="1208093"/>
              <a:ext cx="4471480" cy="1846868"/>
              <a:chOff x="0" y="-28575"/>
              <a:chExt cx="882773" cy="364614"/>
            </a:xfrm>
          </p:grpSpPr>
          <p:sp>
            <p:nvSpPr>
              <p:cNvPr id="226" name="Google Shape;226;p6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A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6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5700" tIns="55700" rIns="55700" bIns="5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3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28" name="Google Shape;228;p6"/>
          <p:cNvSpPr txBox="1"/>
          <p:nvPr/>
        </p:nvSpPr>
        <p:spPr>
          <a:xfrm>
            <a:off x="13166417" y="5626244"/>
            <a:ext cx="213023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4</a:t>
            </a:r>
            <a:endParaRPr dirty="0"/>
          </a:p>
        </p:txBody>
      </p:sp>
      <p:sp>
        <p:nvSpPr>
          <p:cNvPr id="229" name="Google Shape;229;p6"/>
          <p:cNvSpPr txBox="1"/>
          <p:nvPr/>
        </p:nvSpPr>
        <p:spPr>
          <a:xfrm>
            <a:off x="7799486" y="1621477"/>
            <a:ext cx="117277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</a:t>
            </a:r>
            <a:endParaRPr dirty="0"/>
          </a:p>
        </p:txBody>
      </p:sp>
      <p:sp>
        <p:nvSpPr>
          <p:cNvPr id="230" name="Google Shape;230;p6"/>
          <p:cNvSpPr txBox="1"/>
          <p:nvPr/>
        </p:nvSpPr>
        <p:spPr>
          <a:xfrm>
            <a:off x="13220359" y="1614548"/>
            <a:ext cx="159081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</a:t>
            </a:r>
            <a:endParaRPr dirty="0"/>
          </a:p>
        </p:txBody>
      </p:sp>
      <p:sp>
        <p:nvSpPr>
          <p:cNvPr id="231" name="Google Shape;231;p6"/>
          <p:cNvSpPr txBox="1"/>
          <p:nvPr/>
        </p:nvSpPr>
        <p:spPr>
          <a:xfrm>
            <a:off x="7760969" y="5534451"/>
            <a:ext cx="206474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3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7"/>
          <p:cNvGrpSpPr/>
          <p:nvPr/>
        </p:nvGrpSpPr>
        <p:grpSpPr>
          <a:xfrm>
            <a:off x="12660232" y="7359447"/>
            <a:ext cx="4241882" cy="1714499"/>
            <a:chOff x="-309141" y="-9525"/>
            <a:chExt cx="5655843" cy="2285998"/>
          </a:xfrm>
        </p:grpSpPr>
        <p:sp>
          <p:nvSpPr>
            <p:cNvPr id="237" name="Google Shape;237;p7"/>
            <p:cNvSpPr txBox="1"/>
            <p:nvPr/>
          </p:nvSpPr>
          <p:spPr>
            <a:xfrm>
              <a:off x="-309141" y="-9525"/>
              <a:ext cx="5655843" cy="5258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3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36" b="1" dirty="0">
                  <a:solidFill>
                    <a:srgbClr val="B0AFD3"/>
                  </a:solidFill>
                  <a:latin typeface="Bricolage Grotesque"/>
                  <a:sym typeface="Bricolage Grotesque"/>
                </a:rPr>
                <a:t>Interactive Global Comparison</a:t>
              </a:r>
            </a:p>
          </p:txBody>
        </p:sp>
        <p:sp>
          <p:nvSpPr>
            <p:cNvPr id="238" name="Google Shape;238;p7"/>
            <p:cNvSpPr txBox="1"/>
            <p:nvPr/>
          </p:nvSpPr>
          <p:spPr>
            <a:xfrm>
              <a:off x="-154570" y="659620"/>
              <a:ext cx="5346700" cy="16168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n-US" sz="1970" dirty="0">
                  <a:solidFill>
                    <a:schemeClr val="bg1">
                      <a:lumMod val="75000"/>
                    </a:schemeClr>
                  </a:solidFill>
                </a:rPr>
                <a:t>Analyze </a:t>
              </a:r>
              <a:r>
                <a:rPr lang="en-US" sz="1970" b="1" dirty="0">
                  <a:solidFill>
                    <a:schemeClr val="bg1">
                      <a:lumMod val="75000"/>
                    </a:schemeClr>
                  </a:solidFill>
                </a:rPr>
                <a:t>student diversity, regional trends, and country performance</a:t>
              </a:r>
              <a:r>
                <a:rPr lang="en-US" sz="1970" dirty="0">
                  <a:solidFill>
                    <a:schemeClr val="bg1">
                      <a:lumMod val="75000"/>
                    </a:schemeClr>
                  </a:solidFill>
                </a:rPr>
                <a:t> using connected dashboards.</a:t>
              </a:r>
            </a:p>
          </p:txBody>
        </p:sp>
      </p:grpSp>
      <p:grpSp>
        <p:nvGrpSpPr>
          <p:cNvPr id="239" name="Google Shape;239;p7"/>
          <p:cNvGrpSpPr/>
          <p:nvPr/>
        </p:nvGrpSpPr>
        <p:grpSpPr>
          <a:xfrm>
            <a:off x="7139002" y="7354100"/>
            <a:ext cx="4587750" cy="1416687"/>
            <a:chOff x="19" y="-9511"/>
            <a:chExt cx="6116999" cy="1888915"/>
          </a:xfrm>
        </p:grpSpPr>
        <p:sp>
          <p:nvSpPr>
            <p:cNvPr id="240" name="Google Shape;240;p7"/>
            <p:cNvSpPr txBox="1"/>
            <p:nvPr/>
          </p:nvSpPr>
          <p:spPr>
            <a:xfrm>
              <a:off x="19" y="-9511"/>
              <a:ext cx="6116999" cy="5258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3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36" b="1" dirty="0">
                  <a:solidFill>
                    <a:srgbClr val="B0AFD3"/>
                  </a:solidFill>
                  <a:latin typeface="Bricolage Grotesque"/>
                  <a:sym typeface="Bricolage Grotesque"/>
                </a:rPr>
                <a:t>Data Driven Research Evaluation</a:t>
              </a:r>
              <a:endParaRPr dirty="0"/>
            </a:p>
          </p:txBody>
        </p:sp>
        <p:sp>
          <p:nvSpPr>
            <p:cNvPr id="241" name="Google Shape;241;p7"/>
            <p:cNvSpPr txBox="1"/>
            <p:nvPr/>
          </p:nvSpPr>
          <p:spPr>
            <a:xfrm>
              <a:off x="194299" y="666764"/>
              <a:ext cx="5346699" cy="12126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n-US" sz="1970" dirty="0">
                  <a:solidFill>
                    <a:schemeClr val="bg1">
                      <a:lumMod val="75000"/>
                    </a:schemeClr>
                  </a:solidFill>
                </a:rPr>
                <a:t>Compare </a:t>
              </a:r>
              <a:r>
                <a:rPr lang="en-US" sz="1970" b="1" dirty="0">
                  <a:solidFill>
                    <a:schemeClr val="bg1">
                      <a:lumMod val="75000"/>
                    </a:schemeClr>
                  </a:solidFill>
                </a:rPr>
                <a:t>research impact, citations, and productivity</a:t>
              </a:r>
              <a:r>
                <a:rPr lang="en-US" sz="1970" dirty="0">
                  <a:solidFill>
                    <a:schemeClr val="bg1">
                      <a:lumMod val="75000"/>
                    </a:schemeClr>
                  </a:solidFill>
                </a:rPr>
                <a:t> to identify leading institutions.</a:t>
              </a:r>
            </a:p>
          </p:txBody>
        </p:sp>
      </p:grpSp>
      <p:grpSp>
        <p:nvGrpSpPr>
          <p:cNvPr id="242" name="Google Shape;242;p7"/>
          <p:cNvGrpSpPr/>
          <p:nvPr/>
        </p:nvGrpSpPr>
        <p:grpSpPr>
          <a:xfrm>
            <a:off x="1297289" y="7354100"/>
            <a:ext cx="4908234" cy="1416686"/>
            <a:chOff x="-506731" y="-9525"/>
            <a:chExt cx="6544312" cy="1888915"/>
          </a:xfrm>
        </p:grpSpPr>
        <p:sp>
          <p:nvSpPr>
            <p:cNvPr id="243" name="Google Shape;243;p7"/>
            <p:cNvSpPr txBox="1"/>
            <p:nvPr/>
          </p:nvSpPr>
          <p:spPr>
            <a:xfrm>
              <a:off x="-506731" y="-9525"/>
              <a:ext cx="6544312" cy="5258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3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36" b="1" dirty="0">
                  <a:solidFill>
                    <a:srgbClr val="B0AFD3"/>
                  </a:solidFill>
                  <a:latin typeface="Bricolage Grotesque"/>
                  <a:sym typeface="Bricolage Grotesque"/>
                </a:rPr>
                <a:t>Comprehensive University Insights</a:t>
              </a:r>
              <a:endParaRPr dirty="0"/>
            </a:p>
          </p:txBody>
        </p:sp>
        <p:sp>
          <p:nvSpPr>
            <p:cNvPr id="244" name="Google Shape;244;p7"/>
            <p:cNvSpPr txBox="1"/>
            <p:nvPr/>
          </p:nvSpPr>
          <p:spPr>
            <a:xfrm>
              <a:off x="0" y="666750"/>
              <a:ext cx="5346700" cy="12126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r>
                <a:rPr lang="en-US" sz="1970" dirty="0">
                  <a:solidFill>
                    <a:schemeClr val="bg1">
                      <a:lumMod val="75000"/>
                    </a:schemeClr>
                  </a:solidFill>
                </a:rPr>
                <a:t>Explore </a:t>
              </a:r>
              <a:r>
                <a:rPr lang="en-US" sz="1970" b="1" dirty="0">
                  <a:solidFill>
                    <a:schemeClr val="bg1">
                      <a:lumMod val="75000"/>
                    </a:schemeClr>
                  </a:solidFill>
                </a:rPr>
                <a:t>2,657 universities across 120 countries</a:t>
              </a:r>
              <a:r>
                <a:rPr lang="en-US" sz="1970" dirty="0">
                  <a:solidFill>
                    <a:schemeClr val="bg1">
                      <a:lumMod val="75000"/>
                    </a:schemeClr>
                  </a:solidFill>
                </a:rPr>
                <a:t> through interactive rankings and distribution analysis.</a:t>
              </a:r>
            </a:p>
          </p:txBody>
        </p:sp>
      </p:grpSp>
      <p:sp>
        <p:nvSpPr>
          <p:cNvPr id="245" name="Google Shape;245;p7"/>
          <p:cNvSpPr txBox="1"/>
          <p:nvPr/>
        </p:nvSpPr>
        <p:spPr>
          <a:xfrm>
            <a:off x="666750" y="800100"/>
            <a:ext cx="16954500" cy="18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1" i="0" u="none" strike="noStrike" cap="none">
                <a:solidFill>
                  <a:srgbClr val="B0AFD3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Measurable Outcomes and Positive Impact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373174-3355-41CE-E8AE-5342DE517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289" y="3352800"/>
            <a:ext cx="4908234" cy="3581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DC3321-D219-811B-4076-7A6849A6F8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958" y="3352800"/>
            <a:ext cx="4772084" cy="3581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FCDC27-30B3-12F3-CA4A-A13AB67137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34913" y="3352800"/>
            <a:ext cx="4267200" cy="3581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B04796-6617-F271-BDC7-00E7042AFF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050" y="385555"/>
            <a:ext cx="6528693" cy="42149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0B3AED-94E3-B5C4-9B36-00ECCED1EB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5255" y="385555"/>
            <a:ext cx="6528695" cy="42149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9C84F3-E2BC-C663-D284-7D06786D61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5255" y="5122440"/>
            <a:ext cx="6528697" cy="4463781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3F7E14DA-3DBF-0189-0E01-688B7E4B31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744" y="3391966"/>
            <a:ext cx="4562512" cy="34609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One Platform. Four Powerful Dashboards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700" b="0" i="0" u="none" strike="noStrike" cap="none" normalizeH="0" baseline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70" b="0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Transforming global higher education data into actionable insights through interactive visualizations, performance analysis, and data-driven comparisons.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970" b="0" i="0" u="none" strike="noStrike" cap="none" normalizeH="0" baseline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7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Explore. Analyze. Compare. Discover.</a:t>
            </a:r>
            <a:endParaRPr kumimoji="0" lang="en-US" altLang="en-US" sz="1970" b="0" i="0" u="none" strike="noStrike" cap="none" normalizeH="0" baseline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CC7A9B-B906-C5A8-EC31-EE7E8D586F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048" y="5246837"/>
            <a:ext cx="6528693" cy="42149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"/>
          <p:cNvSpPr txBox="1"/>
          <p:nvPr/>
        </p:nvSpPr>
        <p:spPr>
          <a:xfrm>
            <a:off x="9296400" y="800100"/>
            <a:ext cx="6866887" cy="2369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1" dirty="0">
                <a:solidFill>
                  <a:srgbClr val="B0AFD3"/>
                </a:solidFill>
                <a:latin typeface="Bricolage Grotesque"/>
                <a:sym typeface="Bricolage Grotesque"/>
              </a:rPr>
              <a:t>Dashboard Exploration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4" name="Google Shape;264;p8"/>
          <p:cNvSpPr txBox="1"/>
          <p:nvPr/>
        </p:nvSpPr>
        <p:spPr>
          <a:xfrm>
            <a:off x="9296399" y="3368906"/>
            <a:ext cx="6866887" cy="4616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700" dirty="0">
                <a:solidFill>
                  <a:schemeClr val="bg1">
                    <a:lumMod val="85000"/>
                  </a:schemeClr>
                </a:solidFill>
              </a:rPr>
              <a:t>Explore global university rankings, research performance, student analytics, and country comparisons through four integrated dashboards.</a:t>
            </a:r>
          </a:p>
          <a:p>
            <a:endParaRPr lang="en-US" sz="10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sz="2700" b="1" dirty="0">
                <a:solidFill>
                  <a:schemeClr val="bg1">
                    <a:lumMod val="85000"/>
                  </a:schemeClr>
                </a:solidFill>
              </a:rPr>
              <a:t>Real-Time Exploration: </a:t>
            </a:r>
            <a:r>
              <a:rPr lang="en-US" sz="2700" dirty="0">
                <a:solidFill>
                  <a:schemeClr val="bg1">
                    <a:lumMod val="85000"/>
                  </a:schemeClr>
                </a:solidFill>
              </a:rPr>
              <a:t>Apply dynamic filters to uncover insights.</a:t>
            </a:r>
          </a:p>
          <a:p>
            <a:endParaRPr lang="en-US" sz="10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sz="2700" b="1" dirty="0">
                <a:solidFill>
                  <a:schemeClr val="bg1">
                    <a:lumMod val="85000"/>
                  </a:schemeClr>
                </a:solidFill>
              </a:rPr>
              <a:t>Data-Driven Decisions: </a:t>
            </a:r>
            <a:r>
              <a:rPr lang="en-US" sz="2700" dirty="0">
                <a:solidFill>
                  <a:schemeClr val="bg1">
                    <a:lumMod val="85000"/>
                  </a:schemeClr>
                </a:solidFill>
              </a:rPr>
              <a:t>Compare universities and education systems.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sz="2700" b="1" dirty="0">
                <a:solidFill>
                  <a:schemeClr val="bg1">
                    <a:lumMod val="85000"/>
                  </a:schemeClr>
                </a:solidFill>
              </a:rPr>
              <a:t>Unified Analytics</a:t>
            </a:r>
            <a:r>
              <a:rPr lang="en-US" sz="2700" dirty="0">
                <a:solidFill>
                  <a:schemeClr val="bg1">
                    <a:lumMod val="85000"/>
                  </a:schemeClr>
                </a:solidFill>
              </a:rPr>
              <a:t>: Navigate seamlessly across dashboards.</a:t>
            </a:r>
          </a:p>
        </p:txBody>
      </p:sp>
      <p:grpSp>
        <p:nvGrpSpPr>
          <p:cNvPr id="273" name="Google Shape;273;p8"/>
          <p:cNvGrpSpPr/>
          <p:nvPr/>
        </p:nvGrpSpPr>
        <p:grpSpPr>
          <a:xfrm rot="10800000">
            <a:off x="15557618" y="6934200"/>
            <a:ext cx="3479615" cy="4575762"/>
            <a:chOff x="-101668" y="-68231"/>
            <a:chExt cx="4639486" cy="6101015"/>
          </a:xfrm>
        </p:grpSpPr>
        <p:grpSp>
          <p:nvGrpSpPr>
            <p:cNvPr id="274" name="Google Shape;274;p8"/>
            <p:cNvGrpSpPr/>
            <p:nvPr/>
          </p:nvGrpSpPr>
          <p:grpSpPr>
            <a:xfrm rot="-2700000">
              <a:off x="-103522" y="2896431"/>
              <a:ext cx="4441804" cy="1834612"/>
              <a:chOff x="0" y="-28575"/>
              <a:chExt cx="882773" cy="364614"/>
            </a:xfrm>
          </p:grpSpPr>
          <p:sp>
            <p:nvSpPr>
              <p:cNvPr id="275" name="Google Shape;275;p8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D4F59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8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2525" tIns="152525" rIns="152525" bIns="152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30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7" name="Google Shape;277;p8"/>
            <p:cNvGrpSpPr/>
            <p:nvPr/>
          </p:nvGrpSpPr>
          <p:grpSpPr>
            <a:xfrm rot="-2700000">
              <a:off x="85262" y="1249274"/>
              <a:ext cx="4471480" cy="1798621"/>
              <a:chOff x="0" y="-19050"/>
              <a:chExt cx="882773" cy="355089"/>
            </a:xfrm>
          </p:grpSpPr>
          <p:sp>
            <p:nvSpPr>
              <p:cNvPr id="278" name="Google Shape;278;p8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A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8"/>
              <p:cNvSpPr txBox="1"/>
              <p:nvPr/>
            </p:nvSpPr>
            <p:spPr>
              <a:xfrm>
                <a:off x="0" y="-19050"/>
                <a:ext cx="882773" cy="3550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5700" tIns="55700" rIns="55700" bIns="5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419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FF00D84-5D95-43C8-9626-DCE5B747F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042" y="330868"/>
            <a:ext cx="8332440" cy="96252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oogle Shape;284;p10"/>
          <p:cNvGrpSpPr/>
          <p:nvPr/>
        </p:nvGrpSpPr>
        <p:grpSpPr>
          <a:xfrm>
            <a:off x="12725484" y="6676781"/>
            <a:ext cx="4009950" cy="2049493"/>
            <a:chOff x="0" y="-239433"/>
            <a:chExt cx="5346600" cy="2732659"/>
          </a:xfrm>
        </p:grpSpPr>
        <p:sp>
          <p:nvSpPr>
            <p:cNvPr id="285" name="Google Shape;285;p10"/>
            <p:cNvSpPr txBox="1"/>
            <p:nvPr/>
          </p:nvSpPr>
          <p:spPr>
            <a:xfrm>
              <a:off x="0" y="-239433"/>
              <a:ext cx="5346600" cy="3668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90" b="1" dirty="0">
                  <a:solidFill>
                    <a:srgbClr val="B0AFD3"/>
                  </a:solidFill>
                  <a:latin typeface="Bricolage Grotesque"/>
                  <a:sym typeface="Bricolage Grotesque"/>
                </a:rPr>
                <a:t>Advanced Comparative Insights </a:t>
              </a:r>
              <a:endParaRPr dirty="0"/>
            </a:p>
          </p:txBody>
        </p:sp>
        <p:sp>
          <p:nvSpPr>
            <p:cNvPr id="286" name="Google Shape;286;p10"/>
            <p:cNvSpPr txBox="1"/>
            <p:nvPr/>
          </p:nvSpPr>
          <p:spPr>
            <a:xfrm>
              <a:off x="0" y="292109"/>
              <a:ext cx="5346600" cy="22011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321724" marR="0" lvl="1" indent="-160862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1490"/>
                <a:buFont typeface="Arial"/>
                <a:buChar char="•"/>
              </a:pPr>
              <a:r>
                <a:rPr lang="en-US" sz="1490" b="0" i="0" u="none" strike="noStrike" cap="none" dirty="0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Enable deeper comparisons across universities and countries.</a:t>
              </a:r>
            </a:p>
            <a:p>
              <a:pPr marL="321724" marR="0" lvl="1" indent="-160862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1490"/>
                <a:buFont typeface="Arial"/>
                <a:buChar char="•"/>
              </a:pPr>
              <a:r>
                <a:rPr lang="en-US" sz="1490" b="0" i="0" u="none" strike="noStrike" cap="none" dirty="0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Add interactive regional and global benchmarking.</a:t>
              </a:r>
            </a:p>
            <a:p>
              <a:pPr marL="321724" marR="0" lvl="1" indent="-160862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1490"/>
                <a:buFont typeface="Arial"/>
                <a:buChar char="•"/>
              </a:pPr>
              <a:r>
                <a:rPr lang="en-US" sz="1490" b="0" i="0" u="none" strike="noStrike" cap="none" dirty="0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Expand visual analytics for research and student performance.</a:t>
              </a:r>
              <a:endParaRPr sz="1490" b="0" i="0" u="none" strike="noStrike" cap="none" dirty="0">
                <a:solidFill>
                  <a:srgbClr val="B0AFD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7" name="Google Shape;287;p10"/>
          <p:cNvGrpSpPr/>
          <p:nvPr/>
        </p:nvGrpSpPr>
        <p:grpSpPr>
          <a:xfrm>
            <a:off x="7059877" y="6676781"/>
            <a:ext cx="4009950" cy="2304970"/>
            <a:chOff x="0" y="-232283"/>
            <a:chExt cx="5346600" cy="3073293"/>
          </a:xfrm>
        </p:grpSpPr>
        <p:sp>
          <p:nvSpPr>
            <p:cNvPr id="288" name="Google Shape;288;p10"/>
            <p:cNvSpPr txBox="1"/>
            <p:nvPr/>
          </p:nvSpPr>
          <p:spPr>
            <a:xfrm>
              <a:off x="0" y="-232283"/>
              <a:ext cx="5346600" cy="3668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90" b="1" dirty="0">
                  <a:solidFill>
                    <a:srgbClr val="B0AFD3"/>
                  </a:solidFill>
                  <a:latin typeface="Bricolage Grotesque"/>
                  <a:sym typeface="Bricolage Grotesque"/>
                </a:rPr>
                <a:t>Real Time Data Integration</a:t>
              </a:r>
              <a:endParaRPr dirty="0"/>
            </a:p>
          </p:txBody>
        </p:sp>
        <p:sp>
          <p:nvSpPr>
            <p:cNvPr id="289" name="Google Shape;289;p10"/>
            <p:cNvSpPr txBox="1"/>
            <p:nvPr/>
          </p:nvSpPr>
          <p:spPr>
            <a:xfrm>
              <a:off x="164324" y="273042"/>
              <a:ext cx="5182276" cy="25679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321724" marR="0" lvl="1" indent="-160862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1490"/>
                <a:buFont typeface="Arial"/>
                <a:buChar char="•"/>
              </a:pPr>
              <a:r>
                <a:rPr lang="en-US" sz="1490" b="0" i="0" u="none" strike="noStrike" cap="none" dirty="0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Integrate updated university ranking datasets.</a:t>
              </a:r>
            </a:p>
            <a:p>
              <a:pPr marL="321724" marR="0" lvl="1" indent="-160862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1490"/>
                <a:buFont typeface="Arial"/>
                <a:buChar char="•"/>
              </a:pPr>
              <a:r>
                <a:rPr lang="en-US" sz="1490" b="0" i="0" u="none" strike="noStrike" cap="none" dirty="0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Automate data collection and KPI calculations.</a:t>
              </a:r>
            </a:p>
            <a:p>
              <a:pPr marL="321724" marR="0" lvl="1" indent="-160862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1490"/>
                <a:buFont typeface="Arial"/>
                <a:buChar char="•"/>
              </a:pPr>
              <a:r>
                <a:rPr lang="en-US" sz="1490" b="0" i="0" u="none" strike="noStrike" cap="none" dirty="0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Keep dashboards current with the latest available data.</a:t>
              </a:r>
              <a:endParaRPr sz="1490" b="0" i="0" u="none" strike="noStrike" cap="none" dirty="0">
                <a:solidFill>
                  <a:srgbClr val="B0AFD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90" b="0" i="0" u="none" strike="noStrike" cap="none" dirty="0">
                <a:solidFill>
                  <a:srgbClr val="B0AFD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0" name="Google Shape;290;p10"/>
          <p:cNvGrpSpPr/>
          <p:nvPr/>
        </p:nvGrpSpPr>
        <p:grpSpPr>
          <a:xfrm>
            <a:off x="1059225" y="6679775"/>
            <a:ext cx="5055827" cy="2307410"/>
            <a:chOff x="-693504" y="49429"/>
            <a:chExt cx="7318800" cy="3076547"/>
          </a:xfrm>
        </p:grpSpPr>
        <p:sp>
          <p:nvSpPr>
            <p:cNvPr id="291" name="Google Shape;291;p10"/>
            <p:cNvSpPr txBox="1"/>
            <p:nvPr/>
          </p:nvSpPr>
          <p:spPr>
            <a:xfrm>
              <a:off x="-693504" y="49429"/>
              <a:ext cx="7318800" cy="3668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90" b="1" i="0" u="none" strike="noStrike" cap="none" dirty="0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AI </a:t>
              </a:r>
              <a:r>
                <a:rPr lang="en-US" sz="1490" b="1" dirty="0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Powered Predictive Analytics</a:t>
              </a:r>
              <a:endParaRPr dirty="0"/>
            </a:p>
          </p:txBody>
        </p:sp>
        <p:sp>
          <p:nvSpPr>
            <p:cNvPr id="292" name="Google Shape;292;p10"/>
            <p:cNvSpPr txBox="1"/>
            <p:nvPr/>
          </p:nvSpPr>
          <p:spPr>
            <a:xfrm>
              <a:off x="8523" y="558008"/>
              <a:ext cx="5346600" cy="25679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321724" marR="0" lvl="1" indent="-160862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1490"/>
                <a:buFont typeface="Arial"/>
                <a:buChar char="•"/>
              </a:pPr>
              <a:r>
                <a:rPr lang="en-US" sz="1490" b="0" i="0" u="none" strike="noStrike" cap="none" dirty="0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Predict future university performance and ranking trends.</a:t>
              </a:r>
            </a:p>
            <a:p>
              <a:pPr marL="321724" marR="0" lvl="1" indent="-160862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1490"/>
                <a:buFont typeface="Arial"/>
                <a:buChar char="•"/>
              </a:pPr>
              <a:r>
                <a:rPr lang="en-US" sz="1490" b="0" i="0" u="none" strike="noStrike" cap="none" dirty="0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Identify emerging research and education patterns.</a:t>
              </a:r>
            </a:p>
            <a:p>
              <a:pPr marL="321724" marR="0" lvl="1" indent="-160862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1490"/>
                <a:buFont typeface="Arial"/>
                <a:buChar char="•"/>
              </a:pPr>
              <a:r>
                <a:rPr lang="en-US" sz="1490" b="0" i="0" u="none" strike="noStrike" cap="none" dirty="0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Generate data-driven insights for decision-making..</a:t>
              </a:r>
              <a:endParaRPr dirty="0"/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90" b="0" i="0" u="none" strike="noStrike" cap="none" dirty="0">
                <a:solidFill>
                  <a:srgbClr val="B0AFD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3" name="Google Shape;293;p10"/>
          <p:cNvSpPr txBox="1"/>
          <p:nvPr/>
        </p:nvSpPr>
        <p:spPr>
          <a:xfrm>
            <a:off x="666750" y="800100"/>
            <a:ext cx="16954500" cy="2154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1" i="0" u="none" strike="noStrike" cap="none" dirty="0">
                <a:solidFill>
                  <a:srgbClr val="B0AFD3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Future Enhancements for </a:t>
            </a:r>
            <a:r>
              <a:rPr lang="en-US" sz="6999" b="1" dirty="0" err="1">
                <a:solidFill>
                  <a:srgbClr val="B0AFD3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EduVision_DV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FF6E89-8FB1-BFB8-6EDD-849C61A87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225" y="3352800"/>
            <a:ext cx="4817707" cy="27114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835F4B0-09A7-5473-8385-46F8D289E6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5683" y="3355246"/>
            <a:ext cx="4817708" cy="27646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6DF42F-417B-8F01-AEFC-CC7402BBDE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32143" y="3360138"/>
            <a:ext cx="4996632" cy="27597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1"/>
          <p:cNvSpPr txBox="1"/>
          <p:nvPr/>
        </p:nvSpPr>
        <p:spPr>
          <a:xfrm>
            <a:off x="2848950" y="1560600"/>
            <a:ext cx="12590100" cy="1982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0" dirty="0">
                <a:solidFill>
                  <a:srgbClr val="FFFFFF"/>
                </a:solidFill>
              </a:rPr>
              <a:t>Project By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186BF1-4A60-FB61-06AB-A795CCBF3D0D}"/>
              </a:ext>
            </a:extLst>
          </p:cNvPr>
          <p:cNvSpPr txBox="1"/>
          <p:nvPr/>
        </p:nvSpPr>
        <p:spPr>
          <a:xfrm>
            <a:off x="3633536" y="3943171"/>
            <a:ext cx="110209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dirty="0">
                <a:solidFill>
                  <a:schemeClr val="bg1"/>
                </a:solidFill>
              </a:rPr>
              <a:t>Sweta Mondal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DBCEB4-DFA0-0806-C344-098A346B6D63}"/>
              </a:ext>
            </a:extLst>
          </p:cNvPr>
          <p:cNvSpPr txBox="1"/>
          <p:nvPr/>
        </p:nvSpPr>
        <p:spPr>
          <a:xfrm>
            <a:off x="5630779" y="5543990"/>
            <a:ext cx="77242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solidFill>
                  <a:schemeClr val="bg1">
                    <a:lumMod val="75000"/>
                  </a:schemeClr>
                </a:solidFill>
              </a:rPr>
              <a:t>Solo Developer | </a:t>
            </a:r>
            <a:r>
              <a:rPr lang="en-IN" sz="4000" dirty="0" err="1">
                <a:solidFill>
                  <a:schemeClr val="bg1">
                    <a:lumMod val="75000"/>
                  </a:schemeClr>
                </a:solidFill>
              </a:rPr>
              <a:t>EduVision_DV</a:t>
            </a:r>
            <a:endParaRPr lang="en-IN" sz="4000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B55DB8-1C4B-C8D0-AFAB-ABF209110932}"/>
              </a:ext>
            </a:extLst>
          </p:cNvPr>
          <p:cNvCxnSpPr>
            <a:cxnSpLocks/>
          </p:cNvCxnSpPr>
          <p:nvPr/>
        </p:nvCxnSpPr>
        <p:spPr>
          <a:xfrm>
            <a:off x="914400" y="8494294"/>
            <a:ext cx="165181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5072C77-F13C-2DCE-87A8-DAA852F958FE}"/>
              </a:ext>
            </a:extLst>
          </p:cNvPr>
          <p:cNvSpPr txBox="1"/>
          <p:nvPr/>
        </p:nvSpPr>
        <p:spPr>
          <a:xfrm>
            <a:off x="3402402" y="8915552"/>
            <a:ext cx="122145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solidFill>
                  <a:schemeClr val="bg1">
                    <a:lumMod val="75000"/>
                  </a:schemeClr>
                </a:solidFill>
              </a:rPr>
              <a:t>From Data Collection to Interactive Insights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2"/>
          <p:cNvSpPr txBox="1"/>
          <p:nvPr/>
        </p:nvSpPr>
        <p:spPr>
          <a:xfrm>
            <a:off x="3480181" y="1264697"/>
            <a:ext cx="118443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Presentation Video...</a:t>
            </a: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FA37BB-5062-3698-4362-49AA405676AF}"/>
              </a:ext>
            </a:extLst>
          </p:cNvPr>
          <p:cNvSpPr txBox="1"/>
          <p:nvPr/>
        </p:nvSpPr>
        <p:spPr>
          <a:xfrm>
            <a:off x="2423161" y="4044732"/>
            <a:ext cx="144018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>
                <a:hlinkClick r:id="rId3"/>
              </a:rPr>
              <a:t>https://drive.google.com/drive/folders/1qdUX4mZIYnqYw2uLk9LXyxibQahyiJgE?usp=drive_link</a:t>
            </a:r>
            <a:endParaRPr lang="en-IN" sz="4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3"/>
          <p:cNvSpPr txBox="1"/>
          <p:nvPr/>
        </p:nvSpPr>
        <p:spPr>
          <a:xfrm>
            <a:off x="4028300" y="3286300"/>
            <a:ext cx="96318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0" b="1" i="0" u="none" strike="noStrike" cap="none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Q n A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4"/>
          <p:cNvSpPr/>
          <p:nvPr/>
        </p:nvSpPr>
        <p:spPr>
          <a:xfrm>
            <a:off x="9296400" y="-103861"/>
            <a:ext cx="9198063" cy="10494722"/>
          </a:xfrm>
          <a:custGeom>
            <a:avLst/>
            <a:gdLst/>
            <a:ahLst/>
            <a:cxnLst/>
            <a:rect l="l" t="t" r="r" b="b"/>
            <a:pathLst>
              <a:path w="1425021" h="1625907" extrusionOk="0">
                <a:moveTo>
                  <a:pt x="0" y="0"/>
                </a:moveTo>
                <a:lnTo>
                  <a:pt x="1425021" y="0"/>
                </a:lnTo>
                <a:lnTo>
                  <a:pt x="1425021" y="1625907"/>
                </a:lnTo>
                <a:lnTo>
                  <a:pt x="0" y="1625907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53" b="-153"/>
            </a:stretch>
          </a:blipFill>
          <a:ln w="19050" cap="sq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24" name="Google Shape;324;p14"/>
          <p:cNvSpPr txBox="1"/>
          <p:nvPr/>
        </p:nvSpPr>
        <p:spPr>
          <a:xfrm>
            <a:off x="6361866" y="3825567"/>
            <a:ext cx="8662833" cy="104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58" b="0" i="0" u="none" strike="noStrike" cap="none">
                <a:solidFill>
                  <a:srgbClr val="55D0FA"/>
                </a:solidFill>
                <a:latin typeface="Arial"/>
                <a:ea typeface="Arial"/>
                <a:cs typeface="Arial"/>
                <a:sym typeface="Arial"/>
              </a:rPr>
              <a:t>Thank</a:t>
            </a:r>
            <a:r>
              <a:rPr lang="en-US" sz="7858" b="0" i="0" u="none" strike="noStrike" cap="none">
                <a:solidFill>
                  <a:srgbClr val="B0AFD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7858" b="0" i="0" u="none" strike="noStrike" cap="none">
                <a:solidFill>
                  <a:srgbClr val="1A1F4A"/>
                </a:solidFill>
                <a:latin typeface="Arial"/>
                <a:ea typeface="Arial"/>
                <a:cs typeface="Arial"/>
                <a:sym typeface="Arial"/>
              </a:rPr>
              <a:t>You</a:t>
            </a:r>
            <a:r>
              <a:rPr lang="en-US" sz="7858" b="0" i="0" u="none" strike="noStrike" cap="none">
                <a:solidFill>
                  <a:srgbClr val="B0AFD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grpSp>
        <p:nvGrpSpPr>
          <p:cNvPr id="325" name="Google Shape;325;p14"/>
          <p:cNvGrpSpPr/>
          <p:nvPr/>
        </p:nvGrpSpPr>
        <p:grpSpPr>
          <a:xfrm rot="10800000">
            <a:off x="7289918" y="6934200"/>
            <a:ext cx="3479615" cy="4601348"/>
            <a:chOff x="-101668" y="-102347"/>
            <a:chExt cx="4639486" cy="6135131"/>
          </a:xfrm>
        </p:grpSpPr>
        <p:grpSp>
          <p:nvGrpSpPr>
            <p:cNvPr id="326" name="Google Shape;326;p14"/>
            <p:cNvGrpSpPr/>
            <p:nvPr/>
          </p:nvGrpSpPr>
          <p:grpSpPr>
            <a:xfrm rot="-2700000">
              <a:off x="-103522" y="2896431"/>
              <a:ext cx="4441804" cy="1834612"/>
              <a:chOff x="0" y="-28575"/>
              <a:chExt cx="882773" cy="364614"/>
            </a:xfrm>
          </p:grpSpPr>
          <p:sp>
            <p:nvSpPr>
              <p:cNvPr id="327" name="Google Shape;327;p14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2BCA8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14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2525" tIns="152525" rIns="152525" bIns="152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30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9" name="Google Shape;329;p14"/>
            <p:cNvGrpSpPr/>
            <p:nvPr/>
          </p:nvGrpSpPr>
          <p:grpSpPr>
            <a:xfrm rot="-2700000">
              <a:off x="68205" y="1208093"/>
              <a:ext cx="4471480" cy="1846868"/>
              <a:chOff x="0" y="-28575"/>
              <a:chExt cx="882773" cy="364614"/>
            </a:xfrm>
          </p:grpSpPr>
          <p:sp>
            <p:nvSpPr>
              <p:cNvPr id="330" name="Google Shape;330;p14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535E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14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5700" tIns="55700" rIns="55700" bIns="5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901</Words>
  <Application>Microsoft Office PowerPoint</Application>
  <PresentationFormat>Custom</PresentationFormat>
  <Paragraphs>101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Bricolage Grotesque SemiBold</vt:lpstr>
      <vt:lpstr>Calibri</vt:lpstr>
      <vt:lpstr>Arial</vt:lpstr>
      <vt:lpstr>Times</vt:lpstr>
      <vt:lpstr>Bricolage Grotesque</vt:lpstr>
      <vt:lpstr>Trochut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Sweta Mondal</cp:lastModifiedBy>
  <cp:revision>19</cp:revision>
  <dcterms:created xsi:type="dcterms:W3CDTF">2006-08-16T00:00:00Z</dcterms:created>
  <dcterms:modified xsi:type="dcterms:W3CDTF">2026-10-04T18:56:09Z</dcterms:modified>
</cp:coreProperties>
</file>