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end-to-end BI build for the Infosys Springboard internship. Two independent global ranking sources harmonised into one validated dataset, then four executive dashboards in Tableau Desktop. Everything you see is built from 1,503 real institutions.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The key discipline point: QS is the base table and every one of its 1,503 rows survives to the final dataset. The THE join enriches 195 of them; the other 1,308 keep null THE fields rather than being dropped or zero-filled.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QS is the base: it is the broader frame at 1,503 institutions against THE's 200. The five unmatched THE institutions are the interesting part — I could have forced them in, but two are multi-campus systems where picking Amherst over Boston would be fabricating a data point. The null policy is the single most important rule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Coverage column — that is the honesty column. Only two KPIs cover all 1,503 institutions; three cover the 195 THE-matched ones, and the QS overall score exists for the top 600 only. Every average on the dashboards is computed over its own valid population, never over a padded 1,503.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'how do I know this is right'. Not just 'the code ran' — the code ran twice, by two different routes, and produced the same bytes. If asked, the validation output is in docs/testing_report.md.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The average global score of 41.84 is computed over the 600 institutions QS actually scored — the subtitle says so explicitly. Demonstrate a filter: pick one region and watch all four views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finding here is a negative one: the productivity proxy does not predict citation impact. Note the 5-nulls indicator on the Top 10 chart — five of those institutions have no proxy value at all, and the chart says so rather than drawing a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coverage language on this tab: all three KPIs are THE-derived, so each card says '195 matched' rather than implying it speaks for all 1,503. The &gt;1K nulls marker on the scatter is the same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moment: click a country row in the table and show the map responding, then clear it. If asked why the top-country cards don't change — they are deliberately global reference values, so they stay stable while the map and the country count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fourth finding — it is the one that shows judgement rather than output. Then offer the live workbook for questions: every figure on these slides can be traced back to a filter or a tooltip in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A"/>
        </a:solidFill>
      </p:bgPr>
    </p:bg>
    <p:spTree>
      <p:nvGrpSpPr>
        <p:cNvPr id="1" name=""/>
        <p:cNvGrpSpPr/>
        <p:nvPr/>
      </p:nvGrpSpPr>
      <p:grpSpPr>
        <a:xfrm>
          <a:off x="0" y="0"/>
          <a:ext cx="0" cy="0"/>
          <a:chOff x="0" y="0"/>
          <a:chExt cx="0" cy="0"/>
        </a:xfrm>
      </p:grpSpPr>
      <p:pic>
        <p:nvPicPr>
          <p:cNvPr id="2" name="Image 0" descr="/home/claude/deck/img/dash1_university_overview.png">    </p:cNvPr>
          <p:cNvPicPr>
            <a:picLocks noChangeAspect="1"/>
          </p:cNvPicPr>
          <p:nvPr/>
        </p:nvPicPr>
        <p:blipFill>
          <a:blip r:embed="rId1">
            <a:alphaModFix amt="28000"/>
          </a:blip>
          <a:srcRect l="0" r="0" t="0" b="0"/>
          <a:stretch/>
        </p:blipFill>
        <p:spPr>
          <a:xfrm>
            <a:off x="4617720" y="0"/>
            <a:ext cx="7571232" cy="6858000"/>
          </a:xfrm>
          <a:prstGeom prst="rect">
            <a:avLst/>
          </a:prstGeom>
        </p:spPr>
      </p:pic>
      <p:sp>
        <p:nvSpPr>
          <p:cNvPr id="3" name="Shape 0"/>
          <p:cNvSpPr/>
          <p:nvPr/>
        </p:nvSpPr>
        <p:spPr>
          <a:xfrm>
            <a:off x="0" y="0"/>
            <a:ext cx="6035040" cy="6858000"/>
          </a:xfrm>
          <a:prstGeom prst="rect">
            <a:avLst/>
          </a:prstGeom>
          <a:solidFill>
            <a:srgbClr val="12161A"/>
          </a:solidFill>
          <a:ln/>
        </p:spPr>
      </p:sp>
      <p:sp>
        <p:nvSpPr>
          <p:cNvPr id="4" name="Text 1"/>
          <p:cNvSpPr txBox="1"/>
          <p:nvPr/>
        </p:nvSpPr>
        <p:spPr>
          <a:xfrm>
            <a:off x="548640" y="1325880"/>
            <a:ext cx="6766560" cy="274320"/>
          </a:xfrm>
          <a:prstGeom prst="rect">
            <a:avLst/>
          </a:prstGeom>
          <a:noFill/>
          <a:ln/>
        </p:spPr>
        <p:txBody>
          <a:bodyPr wrap="square" lIns="0" tIns="0" rIns="0" bIns="0" rtlCol="0" anchor="ctr"/>
          <a:lstStyle/>
          <a:p>
            <a:pPr indent="0" marL="0">
              <a:buNone/>
            </a:pPr>
            <a:r>
              <a:rPr lang="en-US" sz="1200" b="1" spc="240" kern="0" dirty="0">
                <a:solidFill>
                  <a:srgbClr val="00D2C4"/>
                </a:solidFill>
                <a:latin typeface="Calibri" pitchFamily="34" charset="0"/>
                <a:ea typeface="Calibri" pitchFamily="34" charset="-122"/>
                <a:cs typeface="Calibri" pitchFamily="34" charset="-120"/>
              </a:rPr>
              <a:t>INFOSYS SPRINGBOARD VIRTUAL INTERNSHIP</a:t>
            </a:r>
            <a:endParaRPr lang="en-US" sz="1200" dirty="0"/>
          </a:p>
        </p:txBody>
      </p:sp>
      <p:sp>
        <p:nvSpPr>
          <p:cNvPr id="5" name="Text 2"/>
          <p:cNvSpPr txBox="1"/>
          <p:nvPr/>
        </p:nvSpPr>
        <p:spPr>
          <a:xfrm>
            <a:off x="548640" y="1691640"/>
            <a:ext cx="7680960" cy="96012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EduVision_DV</a:t>
            </a:r>
            <a:endParaRPr lang="en-US" sz="5400" dirty="0"/>
          </a:p>
        </p:txBody>
      </p:sp>
      <p:sp>
        <p:nvSpPr>
          <p:cNvPr id="6" name="Text 3"/>
          <p:cNvSpPr txBox="1"/>
          <p:nvPr/>
        </p:nvSpPr>
        <p:spPr>
          <a:xfrm>
            <a:off x="548640" y="2670048"/>
            <a:ext cx="6583680" cy="502920"/>
          </a:xfrm>
          <a:prstGeom prst="rect">
            <a:avLst/>
          </a:prstGeom>
          <a:noFill/>
          <a:ln/>
        </p:spPr>
        <p:txBody>
          <a:bodyPr wrap="square" lIns="0" tIns="0" rIns="0" bIns="0" rtlCol="0" anchor="ctr"/>
          <a:lstStyle/>
          <a:p>
            <a:pPr indent="0" marL="0">
              <a:buNone/>
            </a:pPr>
            <a:r>
              <a:rPr lang="en-US" sz="2100" dirty="0">
                <a:solidFill>
                  <a:srgbClr val="CFD6DF"/>
                </a:solidFill>
                <a:latin typeface="Calibri" pitchFamily="34" charset="0"/>
                <a:ea typeface="Calibri" pitchFamily="34" charset="-122"/>
                <a:cs typeface="Calibri" pitchFamily="34" charset="-120"/>
              </a:rPr>
              <a:t>Global Higher Education Performance Analytics</a:t>
            </a:r>
            <a:endParaRPr lang="en-US" sz="2100" dirty="0"/>
          </a:p>
        </p:txBody>
      </p:sp>
      <p:sp>
        <p:nvSpPr>
          <p:cNvPr id="7" name="Text 4"/>
          <p:cNvSpPr txBox="1"/>
          <p:nvPr/>
        </p:nvSpPr>
        <p:spPr>
          <a:xfrm>
            <a:off x="548640" y="3246120"/>
            <a:ext cx="5577840" cy="731520"/>
          </a:xfrm>
          <a:prstGeom prst="rect">
            <a:avLst/>
          </a:prstGeom>
          <a:noFill/>
          <a:ln/>
        </p:spPr>
        <p:txBody>
          <a:bodyPr wrap="square" lIns="0" tIns="0" rIns="0" bIns="0" rtlCol="0" anchor="t"/>
          <a:lstStyle/>
          <a:p>
            <a:pPr indent="0" marL="0">
              <a:lnSpc>
                <a:spcPts val="2000"/>
              </a:lnSpc>
              <a:buNone/>
            </a:pPr>
            <a:r>
              <a:rPr lang="en-US" sz="1350" dirty="0">
                <a:solidFill>
                  <a:srgbClr val="8C97A4"/>
                </a:solidFill>
                <a:latin typeface="Calibri" pitchFamily="34" charset="0"/>
                <a:ea typeface="Calibri" pitchFamily="34" charset="-122"/>
                <a:cs typeface="Calibri" pitchFamily="34" charset="-120"/>
              </a:rPr>
              <a:t>QS World University Rankings 2025 integrated with Times Higher Education, delivered as four interactive Tableau Desktop dashboards.</a:t>
            </a:r>
            <a:endParaRPr lang="en-US" sz="1350" dirty="0"/>
          </a:p>
        </p:txBody>
      </p:sp>
      <p:sp>
        <p:nvSpPr>
          <p:cNvPr id="8" name="Shape 5"/>
          <p:cNvSpPr/>
          <p:nvPr/>
        </p:nvSpPr>
        <p:spPr>
          <a:xfrm>
            <a:off x="548640" y="4206240"/>
            <a:ext cx="1691640" cy="914400"/>
          </a:xfrm>
          <a:prstGeom prst="roundRect">
            <a:avLst>
              <a:gd name="adj" fmla="val 6000"/>
            </a:avLst>
          </a:prstGeom>
          <a:solidFill>
            <a:srgbClr val="1B2026"/>
          </a:solidFill>
          <a:ln w="9525">
            <a:solidFill>
              <a:srgbClr val="28323D"/>
            </a:solidFill>
            <a:prstDash val="solid"/>
          </a:ln>
        </p:spPr>
      </p:sp>
      <p:sp>
        <p:nvSpPr>
          <p:cNvPr id="9" name="Text 6"/>
          <p:cNvSpPr txBox="1"/>
          <p:nvPr/>
        </p:nvSpPr>
        <p:spPr>
          <a:xfrm>
            <a:off x="694944" y="4306824"/>
            <a:ext cx="1399032" cy="411480"/>
          </a:xfrm>
          <a:prstGeom prst="rect">
            <a:avLst/>
          </a:prstGeom>
          <a:noFill/>
          <a:ln/>
        </p:spPr>
        <p:txBody>
          <a:bodyPr wrap="square" lIns="0" tIns="0" rIns="0" bIns="0" rtlCol="0" anchor="ctr"/>
          <a:lstStyle/>
          <a:p>
            <a:pPr indent="0" marL="0">
              <a:buNone/>
            </a:pPr>
            <a:r>
              <a:rPr lang="en-US" sz="2200" b="1" dirty="0">
                <a:solidFill>
                  <a:srgbClr val="00D2C4"/>
                </a:solidFill>
                <a:latin typeface="Arial" pitchFamily="34" charset="0"/>
                <a:ea typeface="Arial" pitchFamily="34" charset="-122"/>
                <a:cs typeface="Arial" pitchFamily="34" charset="-120"/>
              </a:rPr>
              <a:t>1,503</a:t>
            </a:r>
            <a:endParaRPr lang="en-US" sz="2200" dirty="0"/>
          </a:p>
        </p:txBody>
      </p:sp>
      <p:sp>
        <p:nvSpPr>
          <p:cNvPr id="10" name="Text 7"/>
          <p:cNvSpPr txBox="1"/>
          <p:nvPr/>
        </p:nvSpPr>
        <p:spPr>
          <a:xfrm>
            <a:off x="694944" y="4709160"/>
            <a:ext cx="1399032" cy="274320"/>
          </a:xfrm>
          <a:prstGeom prst="rect">
            <a:avLst/>
          </a:prstGeom>
          <a:noFill/>
          <a:ln/>
        </p:spPr>
        <p:txBody>
          <a:bodyPr wrap="square" lIns="0" tIns="0" rIns="0" bIns="0" rtlCol="0" anchor="ctr"/>
          <a:lstStyle/>
          <a:p>
            <a:pPr indent="0" marL="0">
              <a:buNone/>
            </a:pPr>
            <a:r>
              <a:rPr lang="en-US" sz="1150" dirty="0">
                <a:solidFill>
                  <a:srgbClr val="CFD6DF"/>
                </a:solidFill>
                <a:latin typeface="Calibri" pitchFamily="34" charset="0"/>
                <a:ea typeface="Calibri" pitchFamily="34" charset="-122"/>
                <a:cs typeface="Calibri" pitchFamily="34" charset="-120"/>
              </a:rPr>
              <a:t>institutions</a:t>
            </a:r>
            <a:endParaRPr lang="en-US" sz="1150" dirty="0"/>
          </a:p>
        </p:txBody>
      </p:sp>
      <p:sp>
        <p:nvSpPr>
          <p:cNvPr id="11" name="Shape 8"/>
          <p:cNvSpPr/>
          <p:nvPr/>
        </p:nvSpPr>
        <p:spPr>
          <a:xfrm>
            <a:off x="2423160" y="4206240"/>
            <a:ext cx="1691640" cy="914400"/>
          </a:xfrm>
          <a:prstGeom prst="roundRect">
            <a:avLst>
              <a:gd name="adj" fmla="val 6000"/>
            </a:avLst>
          </a:prstGeom>
          <a:solidFill>
            <a:srgbClr val="1B2026"/>
          </a:solidFill>
          <a:ln w="9525">
            <a:solidFill>
              <a:srgbClr val="28323D"/>
            </a:solidFill>
            <a:prstDash val="solid"/>
          </a:ln>
        </p:spPr>
      </p:sp>
      <p:sp>
        <p:nvSpPr>
          <p:cNvPr id="12" name="Text 9"/>
          <p:cNvSpPr txBox="1"/>
          <p:nvPr/>
        </p:nvSpPr>
        <p:spPr>
          <a:xfrm>
            <a:off x="2569464" y="4306824"/>
            <a:ext cx="1399032" cy="411480"/>
          </a:xfrm>
          <a:prstGeom prst="rect">
            <a:avLst/>
          </a:prstGeom>
          <a:noFill/>
          <a:ln/>
        </p:spPr>
        <p:txBody>
          <a:bodyPr wrap="square" lIns="0" tIns="0" rIns="0" bIns="0" rtlCol="0" anchor="ctr"/>
          <a:lstStyle/>
          <a:p>
            <a:pPr indent="0" marL="0">
              <a:buNone/>
            </a:pPr>
            <a:r>
              <a:rPr lang="en-US" sz="2200" b="1" dirty="0">
                <a:solidFill>
                  <a:srgbClr val="2EC4B6"/>
                </a:solidFill>
                <a:latin typeface="Arial" pitchFamily="34" charset="0"/>
                <a:ea typeface="Arial" pitchFamily="34" charset="-122"/>
                <a:cs typeface="Arial" pitchFamily="34" charset="-120"/>
              </a:rPr>
              <a:t>106</a:t>
            </a:r>
            <a:endParaRPr lang="en-US" sz="2200" dirty="0"/>
          </a:p>
        </p:txBody>
      </p:sp>
      <p:sp>
        <p:nvSpPr>
          <p:cNvPr id="13" name="Text 10"/>
          <p:cNvSpPr txBox="1"/>
          <p:nvPr/>
        </p:nvSpPr>
        <p:spPr>
          <a:xfrm>
            <a:off x="2569464" y="4709160"/>
            <a:ext cx="1399032" cy="274320"/>
          </a:xfrm>
          <a:prstGeom prst="rect">
            <a:avLst/>
          </a:prstGeom>
          <a:noFill/>
          <a:ln/>
        </p:spPr>
        <p:txBody>
          <a:bodyPr wrap="square" lIns="0" tIns="0" rIns="0" bIns="0" rtlCol="0" anchor="ctr"/>
          <a:lstStyle/>
          <a:p>
            <a:pPr indent="0" marL="0">
              <a:buNone/>
            </a:pPr>
            <a:r>
              <a:rPr lang="en-US" sz="1150" dirty="0">
                <a:solidFill>
                  <a:srgbClr val="CFD6DF"/>
                </a:solidFill>
                <a:latin typeface="Calibri" pitchFamily="34" charset="0"/>
                <a:ea typeface="Calibri" pitchFamily="34" charset="-122"/>
                <a:cs typeface="Calibri" pitchFamily="34" charset="-120"/>
              </a:rPr>
              <a:t>countries</a:t>
            </a:r>
            <a:endParaRPr lang="en-US" sz="1150" dirty="0"/>
          </a:p>
        </p:txBody>
      </p:sp>
      <p:sp>
        <p:nvSpPr>
          <p:cNvPr id="14" name="Shape 11"/>
          <p:cNvSpPr/>
          <p:nvPr/>
        </p:nvSpPr>
        <p:spPr>
          <a:xfrm>
            <a:off x="4297680" y="4206240"/>
            <a:ext cx="1691640" cy="914400"/>
          </a:xfrm>
          <a:prstGeom prst="roundRect">
            <a:avLst>
              <a:gd name="adj" fmla="val 6000"/>
            </a:avLst>
          </a:prstGeom>
          <a:solidFill>
            <a:srgbClr val="1B2026"/>
          </a:solidFill>
          <a:ln w="9525">
            <a:solidFill>
              <a:srgbClr val="28323D"/>
            </a:solidFill>
            <a:prstDash val="solid"/>
          </a:ln>
        </p:spPr>
      </p:sp>
      <p:sp>
        <p:nvSpPr>
          <p:cNvPr id="15" name="Text 12"/>
          <p:cNvSpPr txBox="1"/>
          <p:nvPr/>
        </p:nvSpPr>
        <p:spPr>
          <a:xfrm>
            <a:off x="4443984" y="4306824"/>
            <a:ext cx="1399032" cy="411480"/>
          </a:xfrm>
          <a:prstGeom prst="rect">
            <a:avLst/>
          </a:prstGeom>
          <a:noFill/>
          <a:ln/>
        </p:spPr>
        <p:txBody>
          <a:bodyPr wrap="square" lIns="0" tIns="0" rIns="0" bIns="0" rtlCol="0" anchor="ctr"/>
          <a:lstStyle/>
          <a:p>
            <a:pPr indent="0" marL="0">
              <a:buNone/>
            </a:pPr>
            <a:r>
              <a:rPr lang="en-US" sz="2200" b="1" dirty="0">
                <a:solidFill>
                  <a:srgbClr val="FF9F1C"/>
                </a:solidFill>
                <a:latin typeface="Arial" pitchFamily="34" charset="0"/>
                <a:ea typeface="Arial" pitchFamily="34" charset="-122"/>
                <a:cs typeface="Arial" pitchFamily="34" charset="-120"/>
              </a:rPr>
              <a:t>6</a:t>
            </a:r>
            <a:endParaRPr lang="en-US" sz="2200" dirty="0"/>
          </a:p>
        </p:txBody>
      </p:sp>
      <p:sp>
        <p:nvSpPr>
          <p:cNvPr id="16" name="Text 13"/>
          <p:cNvSpPr txBox="1"/>
          <p:nvPr/>
        </p:nvSpPr>
        <p:spPr>
          <a:xfrm>
            <a:off x="4443984" y="4709160"/>
            <a:ext cx="1399032" cy="274320"/>
          </a:xfrm>
          <a:prstGeom prst="rect">
            <a:avLst/>
          </a:prstGeom>
          <a:noFill/>
          <a:ln/>
        </p:spPr>
        <p:txBody>
          <a:bodyPr wrap="square" lIns="0" tIns="0" rIns="0" bIns="0" rtlCol="0" anchor="ctr"/>
          <a:lstStyle/>
          <a:p>
            <a:pPr indent="0" marL="0">
              <a:buNone/>
            </a:pPr>
            <a:r>
              <a:rPr lang="en-US" sz="1150" dirty="0">
                <a:solidFill>
                  <a:srgbClr val="CFD6DF"/>
                </a:solidFill>
                <a:latin typeface="Calibri" pitchFamily="34" charset="0"/>
                <a:ea typeface="Calibri" pitchFamily="34" charset="-122"/>
                <a:cs typeface="Calibri" pitchFamily="34" charset="-120"/>
              </a:rPr>
              <a:t>KPIs</a:t>
            </a:r>
            <a:endParaRPr lang="en-US" sz="1150" dirty="0"/>
          </a:p>
        </p:txBody>
      </p:sp>
      <p:sp>
        <p:nvSpPr>
          <p:cNvPr id="17" name="Text 14"/>
          <p:cNvSpPr txBox="1"/>
          <p:nvPr/>
        </p:nvSpPr>
        <p:spPr>
          <a:xfrm>
            <a:off x="548640" y="5715000"/>
            <a:ext cx="54864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Sireesha Kurapalli</a:t>
            </a:r>
            <a:endParaRPr lang="en-US" sz="1500" dirty="0"/>
          </a:p>
        </p:txBody>
      </p:sp>
      <p:sp>
        <p:nvSpPr>
          <p:cNvPr id="18" name="Text 15"/>
          <p:cNvSpPr txBox="1"/>
          <p:nvPr/>
        </p:nvSpPr>
        <p:spPr>
          <a:xfrm>
            <a:off x="548640" y="6016752"/>
            <a:ext cx="5486400" cy="274320"/>
          </a:xfrm>
          <a:prstGeom prst="rect">
            <a:avLst/>
          </a:prstGeom>
          <a:noFill/>
          <a:ln/>
        </p:spPr>
        <p:txBody>
          <a:bodyPr wrap="square" lIns="0" tIns="0" rIns="0" bIns="0" rtlCol="0" anchor="ctr"/>
          <a:lstStyle/>
          <a:p>
            <a:pPr indent="0" marL="0">
              <a:buNone/>
            </a:pPr>
            <a:r>
              <a:rPr lang="en-US" sz="1200" dirty="0">
                <a:solidFill>
                  <a:srgbClr val="8C97A4"/>
                </a:solidFill>
                <a:latin typeface="Calibri" pitchFamily="34" charset="0"/>
                <a:ea typeface="Calibri" pitchFamily="34" charset="-122"/>
                <a:cs typeface="Calibri" pitchFamily="34" charset="-120"/>
              </a:rPr>
              <a:t>Tableau Desktop 2026.2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OBJECTIVE</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From two raw ranking files to four decision dashboards</a:t>
            </a:r>
            <a:endParaRPr lang="en-US" sz="3000" dirty="0"/>
          </a:p>
        </p:txBody>
      </p:sp>
      <p:sp>
        <p:nvSpPr>
          <p:cNvPr id="4" name="Shape 2"/>
          <p:cNvSpPr/>
          <p:nvPr/>
        </p:nvSpPr>
        <p:spPr>
          <a:xfrm>
            <a:off x="548640" y="1481328"/>
            <a:ext cx="2670048" cy="2542032"/>
          </a:xfrm>
          <a:prstGeom prst="roundRect">
            <a:avLst>
              <a:gd name="adj" fmla="val 2158"/>
            </a:avLst>
          </a:prstGeom>
          <a:solidFill>
            <a:srgbClr val="1B2026"/>
          </a:solidFill>
          <a:ln w="9525">
            <a:solidFill>
              <a:srgbClr val="28323D"/>
            </a:solidFill>
            <a:prstDash val="solid"/>
          </a:ln>
        </p:spPr>
      </p:sp>
      <p:sp>
        <p:nvSpPr>
          <p:cNvPr id="5" name="Shape 3"/>
          <p:cNvSpPr/>
          <p:nvPr/>
        </p:nvSpPr>
        <p:spPr>
          <a:xfrm>
            <a:off x="786384" y="1719072"/>
            <a:ext cx="475488" cy="475488"/>
          </a:xfrm>
          <a:prstGeom prst="ellipse">
            <a:avLst/>
          </a:prstGeom>
          <a:solidFill>
            <a:srgbClr val="00D2C4"/>
          </a:solidFill>
          <a:ln w="12700">
            <a:solidFill>
              <a:srgbClr val="00D2C4"/>
            </a:solidFill>
            <a:prstDash val="solid"/>
          </a:ln>
        </p:spPr>
      </p:sp>
      <p:sp>
        <p:nvSpPr>
          <p:cNvPr id="6" name="Text 4"/>
          <p:cNvSpPr txBox="1"/>
          <p:nvPr/>
        </p:nvSpPr>
        <p:spPr>
          <a:xfrm>
            <a:off x="786384" y="1719072"/>
            <a:ext cx="475488" cy="475488"/>
          </a:xfrm>
          <a:prstGeom prst="rect">
            <a:avLst/>
          </a:prstGeom>
          <a:noFill/>
          <a:ln/>
        </p:spPr>
        <p:txBody>
          <a:bodyPr wrap="square" lIns="0" tIns="0" rIns="0" bIns="0" rtlCol="0" anchor="ctr"/>
          <a:lstStyle/>
          <a:p>
            <a:pPr algn="ctr" indent="0" marL="0">
              <a:buNone/>
            </a:pPr>
            <a:r>
              <a:rPr lang="en-US" sz="1300" b="1" dirty="0">
                <a:solidFill>
                  <a:srgbClr val="12161A"/>
                </a:solidFill>
                <a:latin typeface="Arial" pitchFamily="34" charset="0"/>
                <a:ea typeface="Arial" pitchFamily="34" charset="-122"/>
                <a:cs typeface="Arial" pitchFamily="34" charset="-120"/>
              </a:rPr>
              <a:t>01</a:t>
            </a:r>
            <a:endParaRPr lang="en-US" sz="1300" dirty="0"/>
          </a:p>
        </p:txBody>
      </p:sp>
      <p:sp>
        <p:nvSpPr>
          <p:cNvPr id="7" name="Text 5"/>
          <p:cNvSpPr txBox="1"/>
          <p:nvPr/>
        </p:nvSpPr>
        <p:spPr>
          <a:xfrm>
            <a:off x="786384" y="2340864"/>
            <a:ext cx="219456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Ingest</a:t>
            </a:r>
            <a:endParaRPr lang="en-US" sz="1600" dirty="0"/>
          </a:p>
        </p:txBody>
      </p:sp>
      <p:sp>
        <p:nvSpPr>
          <p:cNvPr id="8" name="Text 6"/>
          <p:cNvSpPr txBox="1"/>
          <p:nvPr/>
        </p:nvSpPr>
        <p:spPr>
          <a:xfrm>
            <a:off x="786384" y="2706624"/>
            <a:ext cx="2194560" cy="1371600"/>
          </a:xfrm>
          <a:prstGeom prst="rect">
            <a:avLst/>
          </a:prstGeom>
          <a:noFill/>
          <a:ln/>
        </p:spPr>
        <p:txBody>
          <a:bodyPr wrap="square" lIns="0" tIns="0" rIns="0" bIns="0" rtlCol="0" anchor="t"/>
          <a:lstStyle/>
          <a:p>
            <a:pPr indent="0" marL="0">
              <a:lnSpc>
                <a:spcPts val="1600"/>
              </a:lnSpc>
              <a:buNone/>
            </a:pPr>
            <a:r>
              <a:rPr lang="en-US" sz="1150" dirty="0">
                <a:solidFill>
                  <a:srgbClr val="CFD6DF"/>
                </a:solidFill>
                <a:latin typeface="Calibri" pitchFamily="34" charset="0"/>
                <a:ea typeface="Calibri" pitchFamily="34" charset="-122"/>
                <a:cs typeface="Calibri" pitchFamily="34" charset="-120"/>
              </a:rPr>
              <a:t>QS 2025 (1,503 × 28) and THE (200 × 13) loaded from source files with encoding and type checks.</a:t>
            </a:r>
            <a:endParaRPr lang="en-US" sz="1150" dirty="0"/>
          </a:p>
        </p:txBody>
      </p:sp>
      <p:sp>
        <p:nvSpPr>
          <p:cNvPr id="9" name="Shape 7"/>
          <p:cNvSpPr/>
          <p:nvPr/>
        </p:nvSpPr>
        <p:spPr>
          <a:xfrm>
            <a:off x="3474720" y="1481328"/>
            <a:ext cx="2670048" cy="2542032"/>
          </a:xfrm>
          <a:prstGeom prst="roundRect">
            <a:avLst>
              <a:gd name="adj" fmla="val 2158"/>
            </a:avLst>
          </a:prstGeom>
          <a:solidFill>
            <a:srgbClr val="1B2026"/>
          </a:solidFill>
          <a:ln w="9525">
            <a:solidFill>
              <a:srgbClr val="28323D"/>
            </a:solidFill>
            <a:prstDash val="solid"/>
          </a:ln>
        </p:spPr>
      </p:sp>
      <p:sp>
        <p:nvSpPr>
          <p:cNvPr id="10" name="Shape 8"/>
          <p:cNvSpPr/>
          <p:nvPr/>
        </p:nvSpPr>
        <p:spPr>
          <a:xfrm>
            <a:off x="3712464" y="1719072"/>
            <a:ext cx="475488" cy="475488"/>
          </a:xfrm>
          <a:prstGeom prst="ellipse">
            <a:avLst/>
          </a:prstGeom>
          <a:solidFill>
            <a:srgbClr val="2EC4B6"/>
          </a:solidFill>
          <a:ln w="12700">
            <a:solidFill>
              <a:srgbClr val="2EC4B6"/>
            </a:solidFill>
            <a:prstDash val="solid"/>
          </a:ln>
        </p:spPr>
      </p:sp>
      <p:sp>
        <p:nvSpPr>
          <p:cNvPr id="11" name="Text 9"/>
          <p:cNvSpPr txBox="1"/>
          <p:nvPr/>
        </p:nvSpPr>
        <p:spPr>
          <a:xfrm>
            <a:off x="3712464" y="1719072"/>
            <a:ext cx="475488" cy="475488"/>
          </a:xfrm>
          <a:prstGeom prst="rect">
            <a:avLst/>
          </a:prstGeom>
          <a:noFill/>
          <a:ln/>
        </p:spPr>
        <p:txBody>
          <a:bodyPr wrap="square" lIns="0" tIns="0" rIns="0" bIns="0" rtlCol="0" anchor="ctr"/>
          <a:lstStyle/>
          <a:p>
            <a:pPr algn="ctr" indent="0" marL="0">
              <a:buNone/>
            </a:pPr>
            <a:r>
              <a:rPr lang="en-US" sz="1300" b="1" dirty="0">
                <a:solidFill>
                  <a:srgbClr val="12161A"/>
                </a:solidFill>
                <a:latin typeface="Arial" pitchFamily="34" charset="0"/>
                <a:ea typeface="Arial" pitchFamily="34" charset="-122"/>
                <a:cs typeface="Arial" pitchFamily="34" charset="-120"/>
              </a:rPr>
              <a:t>02</a:t>
            </a:r>
            <a:endParaRPr lang="en-US" sz="1300" dirty="0"/>
          </a:p>
        </p:txBody>
      </p:sp>
      <p:sp>
        <p:nvSpPr>
          <p:cNvPr id="12" name="Text 10"/>
          <p:cNvSpPr txBox="1"/>
          <p:nvPr/>
        </p:nvSpPr>
        <p:spPr>
          <a:xfrm>
            <a:off x="3712464" y="2340864"/>
            <a:ext cx="219456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Clean</a:t>
            </a:r>
            <a:endParaRPr lang="en-US" sz="1600" dirty="0"/>
          </a:p>
        </p:txBody>
      </p:sp>
      <p:sp>
        <p:nvSpPr>
          <p:cNvPr id="13" name="Text 11"/>
          <p:cNvSpPr txBox="1"/>
          <p:nvPr/>
        </p:nvSpPr>
        <p:spPr>
          <a:xfrm>
            <a:off x="3712464" y="2706624"/>
            <a:ext cx="2194560" cy="1371600"/>
          </a:xfrm>
          <a:prstGeom prst="rect">
            <a:avLst/>
          </a:prstGeom>
          <a:noFill/>
          <a:ln/>
        </p:spPr>
        <p:txBody>
          <a:bodyPr wrap="square" lIns="0" tIns="0" rIns="0" bIns="0" rtlCol="0" anchor="t"/>
          <a:lstStyle/>
          <a:p>
            <a:pPr indent="0" marL="0">
              <a:lnSpc>
                <a:spcPts val="1600"/>
              </a:lnSpc>
              <a:buNone/>
            </a:pPr>
            <a:r>
              <a:rPr lang="en-US" sz="1150" dirty="0">
                <a:solidFill>
                  <a:srgbClr val="CFD6DF"/>
                </a:solidFill>
                <a:latin typeface="Calibri" pitchFamily="34" charset="0"/>
                <a:ea typeface="Calibri" pitchFamily="34" charset="-122"/>
                <a:cs typeface="Calibri" pitchFamily="34" charset="-120"/>
              </a:rPr>
              <a:t>Rank strings parsed to numerics: '15=' → 15, '1201-1400' → 1300.5, '1401+' → 1401. Countries normalised.</a:t>
            </a:r>
            <a:endParaRPr lang="en-US" sz="1150" dirty="0"/>
          </a:p>
        </p:txBody>
      </p:sp>
      <p:sp>
        <p:nvSpPr>
          <p:cNvPr id="14" name="Shape 12"/>
          <p:cNvSpPr/>
          <p:nvPr/>
        </p:nvSpPr>
        <p:spPr>
          <a:xfrm>
            <a:off x="6400800" y="1481328"/>
            <a:ext cx="2670048" cy="2542032"/>
          </a:xfrm>
          <a:prstGeom prst="roundRect">
            <a:avLst>
              <a:gd name="adj" fmla="val 2158"/>
            </a:avLst>
          </a:prstGeom>
          <a:solidFill>
            <a:srgbClr val="1B2026"/>
          </a:solidFill>
          <a:ln w="9525">
            <a:solidFill>
              <a:srgbClr val="28323D"/>
            </a:solidFill>
            <a:prstDash val="solid"/>
          </a:ln>
        </p:spPr>
      </p:sp>
      <p:sp>
        <p:nvSpPr>
          <p:cNvPr id="15" name="Shape 13"/>
          <p:cNvSpPr/>
          <p:nvPr/>
        </p:nvSpPr>
        <p:spPr>
          <a:xfrm>
            <a:off x="6638544" y="1719072"/>
            <a:ext cx="475488" cy="475488"/>
          </a:xfrm>
          <a:prstGeom prst="ellipse">
            <a:avLst/>
          </a:prstGeom>
          <a:solidFill>
            <a:srgbClr val="FF9F1C"/>
          </a:solidFill>
          <a:ln w="12700">
            <a:solidFill>
              <a:srgbClr val="FF9F1C"/>
            </a:solidFill>
            <a:prstDash val="solid"/>
          </a:ln>
        </p:spPr>
      </p:sp>
      <p:sp>
        <p:nvSpPr>
          <p:cNvPr id="16" name="Text 14"/>
          <p:cNvSpPr txBox="1"/>
          <p:nvPr/>
        </p:nvSpPr>
        <p:spPr>
          <a:xfrm>
            <a:off x="6638544" y="1719072"/>
            <a:ext cx="475488" cy="475488"/>
          </a:xfrm>
          <a:prstGeom prst="rect">
            <a:avLst/>
          </a:prstGeom>
          <a:noFill/>
          <a:ln/>
        </p:spPr>
        <p:txBody>
          <a:bodyPr wrap="square" lIns="0" tIns="0" rIns="0" bIns="0" rtlCol="0" anchor="ctr"/>
          <a:lstStyle/>
          <a:p>
            <a:pPr algn="ctr" indent="0" marL="0">
              <a:buNone/>
            </a:pPr>
            <a:r>
              <a:rPr lang="en-US" sz="1300" b="1" dirty="0">
                <a:solidFill>
                  <a:srgbClr val="12161A"/>
                </a:solidFill>
                <a:latin typeface="Arial" pitchFamily="34" charset="0"/>
                <a:ea typeface="Arial" pitchFamily="34" charset="-122"/>
                <a:cs typeface="Arial" pitchFamily="34" charset="-120"/>
              </a:rPr>
              <a:t>03</a:t>
            </a:r>
            <a:endParaRPr lang="en-US" sz="1300" dirty="0"/>
          </a:p>
        </p:txBody>
      </p:sp>
      <p:sp>
        <p:nvSpPr>
          <p:cNvPr id="17" name="Text 15"/>
          <p:cNvSpPr txBox="1"/>
          <p:nvPr/>
        </p:nvSpPr>
        <p:spPr>
          <a:xfrm>
            <a:off x="6638544" y="2340864"/>
            <a:ext cx="219456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Integrate</a:t>
            </a:r>
            <a:endParaRPr lang="en-US" sz="1600" dirty="0"/>
          </a:p>
        </p:txBody>
      </p:sp>
      <p:sp>
        <p:nvSpPr>
          <p:cNvPr id="18" name="Text 16"/>
          <p:cNvSpPr txBox="1"/>
          <p:nvPr/>
        </p:nvSpPr>
        <p:spPr>
          <a:xfrm>
            <a:off x="6638544" y="2706624"/>
            <a:ext cx="2194560" cy="1371600"/>
          </a:xfrm>
          <a:prstGeom prst="rect">
            <a:avLst/>
          </a:prstGeom>
          <a:noFill/>
          <a:ln/>
        </p:spPr>
        <p:txBody>
          <a:bodyPr wrap="square" lIns="0" tIns="0" rIns="0" bIns="0" rtlCol="0" anchor="t"/>
          <a:lstStyle/>
          <a:p>
            <a:pPr indent="0" marL="0">
              <a:lnSpc>
                <a:spcPts val="1600"/>
              </a:lnSpc>
              <a:buNone/>
            </a:pPr>
            <a:r>
              <a:rPr lang="en-US" sz="1150" dirty="0">
                <a:solidFill>
                  <a:srgbClr val="CFD6DF"/>
                </a:solidFill>
                <a:latin typeface="Calibri" pitchFamily="34" charset="0"/>
                <a:ea typeface="Calibri" pitchFamily="34" charset="-122"/>
                <a:cs typeface="Calibri" pitchFamily="34" charset="-120"/>
              </a:rPr>
              <a:t>QS held as the base table; THE joined on institution identity with 30 reviewed manual mappings.</a:t>
            </a:r>
            <a:endParaRPr lang="en-US" sz="1150" dirty="0"/>
          </a:p>
        </p:txBody>
      </p:sp>
      <p:sp>
        <p:nvSpPr>
          <p:cNvPr id="19" name="Shape 17"/>
          <p:cNvSpPr/>
          <p:nvPr/>
        </p:nvSpPr>
        <p:spPr>
          <a:xfrm>
            <a:off x="9326880" y="1481328"/>
            <a:ext cx="2670048" cy="2542032"/>
          </a:xfrm>
          <a:prstGeom prst="roundRect">
            <a:avLst>
              <a:gd name="adj" fmla="val 2158"/>
            </a:avLst>
          </a:prstGeom>
          <a:solidFill>
            <a:srgbClr val="1B2026"/>
          </a:solidFill>
          <a:ln w="9525">
            <a:solidFill>
              <a:srgbClr val="28323D"/>
            </a:solidFill>
            <a:prstDash val="solid"/>
          </a:ln>
        </p:spPr>
      </p:sp>
      <p:sp>
        <p:nvSpPr>
          <p:cNvPr id="20" name="Shape 18"/>
          <p:cNvSpPr/>
          <p:nvPr/>
        </p:nvSpPr>
        <p:spPr>
          <a:xfrm>
            <a:off x="9564624" y="1719072"/>
            <a:ext cx="475488" cy="475488"/>
          </a:xfrm>
          <a:prstGeom prst="ellipse">
            <a:avLst/>
          </a:prstGeom>
          <a:solidFill>
            <a:srgbClr val="E71D36"/>
          </a:solidFill>
          <a:ln w="12700">
            <a:solidFill>
              <a:srgbClr val="E71D36"/>
            </a:solidFill>
            <a:prstDash val="solid"/>
          </a:ln>
        </p:spPr>
      </p:sp>
      <p:sp>
        <p:nvSpPr>
          <p:cNvPr id="21" name="Text 19"/>
          <p:cNvSpPr txBox="1"/>
          <p:nvPr/>
        </p:nvSpPr>
        <p:spPr>
          <a:xfrm>
            <a:off x="9564624" y="1719072"/>
            <a:ext cx="475488" cy="475488"/>
          </a:xfrm>
          <a:prstGeom prst="rect">
            <a:avLst/>
          </a:prstGeom>
          <a:noFill/>
          <a:ln/>
        </p:spPr>
        <p:txBody>
          <a:bodyPr wrap="square" lIns="0" tIns="0" rIns="0" bIns="0" rtlCol="0" anchor="ctr"/>
          <a:lstStyle/>
          <a:p>
            <a:pPr algn="ctr" indent="0" marL="0">
              <a:buNone/>
            </a:pPr>
            <a:r>
              <a:rPr lang="en-US" sz="1300" b="1" dirty="0">
                <a:solidFill>
                  <a:srgbClr val="12161A"/>
                </a:solidFill>
                <a:latin typeface="Arial" pitchFamily="34" charset="0"/>
                <a:ea typeface="Arial" pitchFamily="34" charset="-122"/>
                <a:cs typeface="Arial" pitchFamily="34" charset="-120"/>
              </a:rPr>
              <a:t>04</a:t>
            </a:r>
            <a:endParaRPr lang="en-US" sz="1300" dirty="0"/>
          </a:p>
        </p:txBody>
      </p:sp>
      <p:sp>
        <p:nvSpPr>
          <p:cNvPr id="22" name="Text 20"/>
          <p:cNvSpPr txBox="1"/>
          <p:nvPr/>
        </p:nvSpPr>
        <p:spPr>
          <a:xfrm>
            <a:off x="9564624" y="2340864"/>
            <a:ext cx="219456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Engineer &amp; validate</a:t>
            </a:r>
            <a:endParaRPr lang="en-US" sz="1600" dirty="0"/>
          </a:p>
        </p:txBody>
      </p:sp>
      <p:sp>
        <p:nvSpPr>
          <p:cNvPr id="23" name="Text 21"/>
          <p:cNvSpPr txBox="1"/>
          <p:nvPr/>
        </p:nvSpPr>
        <p:spPr>
          <a:xfrm>
            <a:off x="9564624" y="2706624"/>
            <a:ext cx="2194560" cy="1371600"/>
          </a:xfrm>
          <a:prstGeom prst="rect">
            <a:avLst/>
          </a:prstGeom>
          <a:noFill/>
          <a:ln/>
        </p:spPr>
        <p:txBody>
          <a:bodyPr wrap="square" lIns="0" tIns="0" rIns="0" bIns="0" rtlCol="0" anchor="t"/>
          <a:lstStyle/>
          <a:p>
            <a:pPr indent="0" marL="0">
              <a:lnSpc>
                <a:spcPts val="1600"/>
              </a:lnSpc>
              <a:buNone/>
            </a:pPr>
            <a:r>
              <a:rPr lang="en-US" sz="1150" dirty="0">
                <a:solidFill>
                  <a:srgbClr val="CFD6DF"/>
                </a:solidFill>
                <a:latin typeface="Calibri" pitchFamily="34" charset="0"/>
                <a:ea typeface="Calibri" pitchFamily="34" charset="-122"/>
                <a:cs typeface="Calibri" pitchFamily="34" charset="-120"/>
              </a:rPr>
              <a:t>Six KPIs plus three tooltip fields, then 28 automated assertions before anything reaches Tableau.</a:t>
            </a:r>
            <a:endParaRPr lang="en-US" sz="1150" dirty="0"/>
          </a:p>
        </p:txBody>
      </p:sp>
      <p:sp>
        <p:nvSpPr>
          <p:cNvPr id="24" name="Shape 22"/>
          <p:cNvSpPr/>
          <p:nvPr/>
        </p:nvSpPr>
        <p:spPr>
          <a:xfrm>
            <a:off x="548640" y="4343400"/>
            <a:ext cx="3520440" cy="1371600"/>
          </a:xfrm>
          <a:prstGeom prst="roundRect">
            <a:avLst>
              <a:gd name="adj" fmla="val 4000"/>
            </a:avLst>
          </a:prstGeom>
          <a:solidFill>
            <a:srgbClr val="1B2026"/>
          </a:solidFill>
          <a:ln w="9525">
            <a:solidFill>
              <a:srgbClr val="28323D"/>
            </a:solidFill>
            <a:prstDash val="solid"/>
          </a:ln>
        </p:spPr>
      </p:sp>
      <p:sp>
        <p:nvSpPr>
          <p:cNvPr id="25" name="Text 23"/>
          <p:cNvSpPr txBox="1"/>
          <p:nvPr/>
        </p:nvSpPr>
        <p:spPr>
          <a:xfrm>
            <a:off x="804672" y="4489704"/>
            <a:ext cx="3008376" cy="658368"/>
          </a:xfrm>
          <a:prstGeom prst="rect">
            <a:avLst/>
          </a:prstGeom>
          <a:noFill/>
          <a:ln/>
        </p:spPr>
        <p:txBody>
          <a:bodyPr wrap="square" lIns="0" tIns="0" rIns="0" bIns="0" rtlCol="0" anchor="ctr"/>
          <a:lstStyle/>
          <a:p>
            <a:pPr indent="0" marL="0">
              <a:buNone/>
            </a:pPr>
            <a:r>
              <a:rPr lang="en-US" sz="3400" b="1" dirty="0">
                <a:solidFill>
                  <a:srgbClr val="00D2C4"/>
                </a:solidFill>
                <a:latin typeface="Arial" pitchFamily="34" charset="0"/>
                <a:ea typeface="Arial" pitchFamily="34" charset="-122"/>
                <a:cs typeface="Arial" pitchFamily="34" charset="-120"/>
              </a:rPr>
              <a:t>1,503</a:t>
            </a:r>
            <a:endParaRPr lang="en-US" sz="3400" dirty="0"/>
          </a:p>
        </p:txBody>
      </p:sp>
      <p:sp>
        <p:nvSpPr>
          <p:cNvPr id="26" name="Text 24"/>
          <p:cNvSpPr txBox="1"/>
          <p:nvPr/>
        </p:nvSpPr>
        <p:spPr>
          <a:xfrm>
            <a:off x="804672" y="5111496"/>
            <a:ext cx="3008376"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Institutions preserved</a:t>
            </a:r>
            <a:endParaRPr lang="en-US" sz="1300" dirty="0"/>
          </a:p>
        </p:txBody>
      </p:sp>
      <p:sp>
        <p:nvSpPr>
          <p:cNvPr id="27" name="Text 25"/>
          <p:cNvSpPr txBox="1"/>
          <p:nvPr/>
        </p:nvSpPr>
        <p:spPr>
          <a:xfrm>
            <a:off x="804672" y="5340096"/>
            <a:ext cx="3008376" cy="274320"/>
          </a:xfrm>
          <a:prstGeom prst="rect">
            <a:avLst/>
          </a:prstGeom>
          <a:noFill/>
          <a:ln/>
        </p:spPr>
        <p:txBody>
          <a:bodyPr wrap="square" lIns="0" tIns="0" rIns="0" bIns="0" rtlCol="0" anchor="ctr"/>
          <a:lstStyle/>
          <a:p>
            <a:pPr indent="0" marL="0">
              <a:buNone/>
            </a:pPr>
            <a:r>
              <a:rPr lang="en-US" sz="1050" dirty="0">
                <a:solidFill>
                  <a:srgbClr val="8C97A4"/>
                </a:solidFill>
                <a:latin typeface="Calibri" pitchFamily="34" charset="0"/>
                <a:ea typeface="Calibri" pitchFamily="34" charset="-122"/>
                <a:cs typeface="Calibri" pitchFamily="34" charset="-120"/>
              </a:rPr>
              <a:t>No row dropped at any pipeline stage</a:t>
            </a:r>
            <a:endParaRPr lang="en-US" sz="1050" dirty="0"/>
          </a:p>
        </p:txBody>
      </p:sp>
      <p:sp>
        <p:nvSpPr>
          <p:cNvPr id="28" name="Shape 26"/>
          <p:cNvSpPr/>
          <p:nvPr/>
        </p:nvSpPr>
        <p:spPr>
          <a:xfrm>
            <a:off x="4325112" y="4343400"/>
            <a:ext cx="3520440" cy="1371600"/>
          </a:xfrm>
          <a:prstGeom prst="roundRect">
            <a:avLst>
              <a:gd name="adj" fmla="val 4000"/>
            </a:avLst>
          </a:prstGeom>
          <a:solidFill>
            <a:srgbClr val="1B2026"/>
          </a:solidFill>
          <a:ln w="9525">
            <a:solidFill>
              <a:srgbClr val="28323D"/>
            </a:solidFill>
            <a:prstDash val="solid"/>
          </a:ln>
        </p:spPr>
      </p:sp>
      <p:sp>
        <p:nvSpPr>
          <p:cNvPr id="29" name="Text 27"/>
          <p:cNvSpPr txBox="1"/>
          <p:nvPr/>
        </p:nvSpPr>
        <p:spPr>
          <a:xfrm>
            <a:off x="4581144" y="4489704"/>
            <a:ext cx="3008376" cy="658368"/>
          </a:xfrm>
          <a:prstGeom prst="rect">
            <a:avLst/>
          </a:prstGeom>
          <a:noFill/>
          <a:ln/>
        </p:spPr>
        <p:txBody>
          <a:bodyPr wrap="square" lIns="0" tIns="0" rIns="0" bIns="0" rtlCol="0" anchor="ctr"/>
          <a:lstStyle/>
          <a:p>
            <a:pPr indent="0" marL="0">
              <a:buNone/>
            </a:pPr>
            <a:r>
              <a:rPr lang="en-US" sz="3400" b="1" dirty="0">
                <a:solidFill>
                  <a:srgbClr val="2EC4B6"/>
                </a:solidFill>
                <a:latin typeface="Arial" pitchFamily="34" charset="0"/>
                <a:ea typeface="Arial" pitchFamily="34" charset="-122"/>
                <a:cs typeface="Arial" pitchFamily="34" charset="-120"/>
              </a:rPr>
              <a:t>195</a:t>
            </a:r>
            <a:endParaRPr lang="en-US" sz="3400" dirty="0"/>
          </a:p>
        </p:txBody>
      </p:sp>
      <p:sp>
        <p:nvSpPr>
          <p:cNvPr id="30" name="Text 28"/>
          <p:cNvSpPr txBox="1"/>
          <p:nvPr/>
        </p:nvSpPr>
        <p:spPr>
          <a:xfrm>
            <a:off x="4581144" y="5111496"/>
            <a:ext cx="3008376"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QS institutions matched to THE</a:t>
            </a:r>
            <a:endParaRPr lang="en-US" sz="1300" dirty="0"/>
          </a:p>
        </p:txBody>
      </p:sp>
      <p:sp>
        <p:nvSpPr>
          <p:cNvPr id="31" name="Text 29"/>
          <p:cNvSpPr txBox="1"/>
          <p:nvPr/>
        </p:nvSpPr>
        <p:spPr>
          <a:xfrm>
            <a:off x="4581144" y="5340096"/>
            <a:ext cx="3008376" cy="274320"/>
          </a:xfrm>
          <a:prstGeom prst="rect">
            <a:avLst/>
          </a:prstGeom>
          <a:noFill/>
          <a:ln/>
        </p:spPr>
        <p:txBody>
          <a:bodyPr wrap="square" lIns="0" tIns="0" rIns="0" bIns="0" rtlCol="0" anchor="ctr"/>
          <a:lstStyle/>
          <a:p>
            <a:pPr indent="0" marL="0">
              <a:buNone/>
            </a:pPr>
            <a:r>
              <a:rPr lang="en-US" sz="1050" dirty="0">
                <a:solidFill>
                  <a:srgbClr val="8C97A4"/>
                </a:solidFill>
                <a:latin typeface="Calibri" pitchFamily="34" charset="0"/>
                <a:ea typeface="Calibri" pitchFamily="34" charset="-122"/>
                <a:cs typeface="Calibri" pitchFamily="34" charset="-120"/>
              </a:rPr>
              <a:t>1,308 remain deliberately null</a:t>
            </a:r>
            <a:endParaRPr lang="en-US" sz="1050" dirty="0"/>
          </a:p>
        </p:txBody>
      </p:sp>
      <p:sp>
        <p:nvSpPr>
          <p:cNvPr id="32" name="Shape 30"/>
          <p:cNvSpPr/>
          <p:nvPr/>
        </p:nvSpPr>
        <p:spPr>
          <a:xfrm>
            <a:off x="8101584" y="4343400"/>
            <a:ext cx="3520440" cy="1371600"/>
          </a:xfrm>
          <a:prstGeom prst="roundRect">
            <a:avLst>
              <a:gd name="adj" fmla="val 4000"/>
            </a:avLst>
          </a:prstGeom>
          <a:solidFill>
            <a:srgbClr val="1B2026"/>
          </a:solidFill>
          <a:ln w="9525">
            <a:solidFill>
              <a:srgbClr val="28323D"/>
            </a:solidFill>
            <a:prstDash val="solid"/>
          </a:ln>
        </p:spPr>
      </p:sp>
      <p:sp>
        <p:nvSpPr>
          <p:cNvPr id="33" name="Text 31"/>
          <p:cNvSpPr txBox="1"/>
          <p:nvPr/>
        </p:nvSpPr>
        <p:spPr>
          <a:xfrm>
            <a:off x="8357616" y="4489704"/>
            <a:ext cx="3008376" cy="658368"/>
          </a:xfrm>
          <a:prstGeom prst="rect">
            <a:avLst/>
          </a:prstGeom>
          <a:noFill/>
          <a:ln/>
        </p:spPr>
        <p:txBody>
          <a:bodyPr wrap="square" lIns="0" tIns="0" rIns="0" bIns="0" rtlCol="0" anchor="ctr"/>
          <a:lstStyle/>
          <a:p>
            <a:pPr indent="0" marL="0">
              <a:buNone/>
            </a:pPr>
            <a:r>
              <a:rPr lang="en-US" sz="3400" b="1" dirty="0">
                <a:solidFill>
                  <a:srgbClr val="FF9F1C"/>
                </a:solidFill>
                <a:latin typeface="Arial" pitchFamily="34" charset="0"/>
                <a:ea typeface="Arial" pitchFamily="34" charset="-122"/>
                <a:cs typeface="Arial" pitchFamily="34" charset="-120"/>
              </a:rPr>
              <a:t>28 / 28</a:t>
            </a:r>
            <a:endParaRPr lang="en-US" sz="3400" dirty="0"/>
          </a:p>
        </p:txBody>
      </p:sp>
      <p:sp>
        <p:nvSpPr>
          <p:cNvPr id="34" name="Text 32"/>
          <p:cNvSpPr txBox="1"/>
          <p:nvPr/>
        </p:nvSpPr>
        <p:spPr>
          <a:xfrm>
            <a:off x="8357616" y="5111496"/>
            <a:ext cx="3008376"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Validation checks passed</a:t>
            </a:r>
            <a:endParaRPr lang="en-US" sz="1300" dirty="0"/>
          </a:p>
        </p:txBody>
      </p:sp>
      <p:sp>
        <p:nvSpPr>
          <p:cNvPr id="35" name="Text 33"/>
          <p:cNvSpPr txBox="1"/>
          <p:nvPr/>
        </p:nvSpPr>
        <p:spPr>
          <a:xfrm>
            <a:off x="8357616" y="5340096"/>
            <a:ext cx="3008376" cy="274320"/>
          </a:xfrm>
          <a:prstGeom prst="rect">
            <a:avLst/>
          </a:prstGeom>
          <a:noFill/>
          <a:ln/>
        </p:spPr>
        <p:txBody>
          <a:bodyPr wrap="square" lIns="0" tIns="0" rIns="0" bIns="0" rtlCol="0" anchor="ctr"/>
          <a:lstStyle/>
          <a:p>
            <a:pPr indent="0" marL="0">
              <a:buNone/>
            </a:pPr>
            <a:r>
              <a:rPr lang="en-US" sz="1050" dirty="0">
                <a:solidFill>
                  <a:srgbClr val="8C97A4"/>
                </a:solidFill>
                <a:latin typeface="Calibri" pitchFamily="34" charset="0"/>
                <a:ea typeface="Calibri" pitchFamily="34" charset="-122"/>
                <a:cs typeface="Calibri" pitchFamily="34" charset="-120"/>
              </a:rPr>
              <a:t>Re-runs reproduce byte-identical output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THE DATASET</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Two sources, one base table, honest gaps</a:t>
            </a:r>
            <a:endParaRPr lang="en-US" sz="3000" dirty="0"/>
          </a:p>
        </p:txBody>
      </p:sp>
      <p:sp>
        <p:nvSpPr>
          <p:cNvPr id="4" name="Shape 2"/>
          <p:cNvSpPr/>
          <p:nvPr/>
        </p:nvSpPr>
        <p:spPr>
          <a:xfrm>
            <a:off x="548640" y="1481328"/>
            <a:ext cx="3520440" cy="2971800"/>
          </a:xfrm>
          <a:prstGeom prst="roundRect">
            <a:avLst>
              <a:gd name="adj" fmla="val 1846"/>
            </a:avLst>
          </a:prstGeom>
          <a:solidFill>
            <a:srgbClr val="1B2026"/>
          </a:solidFill>
          <a:ln w="9525">
            <a:solidFill>
              <a:srgbClr val="28323D"/>
            </a:solidFill>
            <a:prstDash val="solid"/>
          </a:ln>
        </p:spPr>
      </p:sp>
      <p:sp>
        <p:nvSpPr>
          <p:cNvPr id="5" name="Text 3"/>
          <p:cNvSpPr txBox="1"/>
          <p:nvPr/>
        </p:nvSpPr>
        <p:spPr>
          <a:xfrm>
            <a:off x="804672" y="1691640"/>
            <a:ext cx="3008376" cy="219456"/>
          </a:xfrm>
          <a:prstGeom prst="rect">
            <a:avLst/>
          </a:prstGeom>
          <a:noFill/>
          <a:ln/>
        </p:spPr>
        <p:txBody>
          <a:bodyPr wrap="square" lIns="0" tIns="0" rIns="0" bIns="0" rtlCol="0" anchor="ctr"/>
          <a:lstStyle/>
          <a:p>
            <a:pPr indent="0" marL="0">
              <a:buNone/>
            </a:pPr>
            <a:r>
              <a:rPr lang="en-US" sz="1000" b="1" spc="180" kern="0" dirty="0">
                <a:solidFill>
                  <a:srgbClr val="00D2C4"/>
                </a:solidFill>
                <a:latin typeface="Calibri" pitchFamily="34" charset="0"/>
                <a:ea typeface="Calibri" pitchFamily="34" charset="-122"/>
                <a:cs typeface="Calibri" pitchFamily="34" charset="-120"/>
              </a:rPr>
              <a:t>BASE TABLE</a:t>
            </a:r>
            <a:endParaRPr lang="en-US" sz="1000" dirty="0"/>
          </a:p>
        </p:txBody>
      </p:sp>
      <p:sp>
        <p:nvSpPr>
          <p:cNvPr id="6" name="Text 4"/>
          <p:cNvSpPr txBox="1"/>
          <p:nvPr/>
        </p:nvSpPr>
        <p:spPr>
          <a:xfrm>
            <a:off x="804672" y="1938528"/>
            <a:ext cx="3008376"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Arial" pitchFamily="34" charset="0"/>
                <a:ea typeface="Arial" pitchFamily="34" charset="-122"/>
                <a:cs typeface="Arial" pitchFamily="34" charset="-120"/>
              </a:rPr>
              <a:t>QS World University Rankings 2025</a:t>
            </a:r>
            <a:endParaRPr lang="en-US" sz="1500" dirty="0"/>
          </a:p>
        </p:txBody>
      </p:sp>
      <p:sp>
        <p:nvSpPr>
          <p:cNvPr id="7" name="Text 5"/>
          <p:cNvSpPr txBox="1"/>
          <p:nvPr/>
        </p:nvSpPr>
        <p:spPr>
          <a:xfrm>
            <a:off x="804672" y="2542032"/>
            <a:ext cx="3008376" cy="237744"/>
          </a:xfrm>
          <a:prstGeom prst="rect">
            <a:avLst/>
          </a:prstGeom>
          <a:noFill/>
          <a:ln/>
        </p:spPr>
        <p:txBody>
          <a:bodyPr wrap="square" lIns="0" tIns="0" rIns="0" bIns="0" rtlCol="0" anchor="ctr"/>
          <a:lstStyle/>
          <a:p>
            <a:pPr indent="0" marL="0">
              <a:buNone/>
            </a:pPr>
            <a:r>
              <a:rPr lang="en-US" sz="1150" b="1" dirty="0">
                <a:solidFill>
                  <a:srgbClr val="CFD6DF"/>
                </a:solidFill>
                <a:latin typeface="Calibri" pitchFamily="34" charset="0"/>
                <a:ea typeface="Calibri" pitchFamily="34" charset="-122"/>
                <a:cs typeface="Calibri" pitchFamily="34" charset="-120"/>
              </a:rPr>
              <a:t>1,503 institutions  ·  28 raw columns</a:t>
            </a:r>
            <a:endParaRPr lang="en-US" sz="1150" dirty="0"/>
          </a:p>
        </p:txBody>
      </p:sp>
      <p:sp>
        <p:nvSpPr>
          <p:cNvPr id="8" name="Text 6"/>
          <p:cNvSpPr txBox="1"/>
          <p:nvPr/>
        </p:nvSpPr>
        <p:spPr>
          <a:xfrm>
            <a:off x="804672" y="2852928"/>
            <a:ext cx="3008376" cy="14630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CFD6DF"/>
                </a:solidFill>
                <a:latin typeface="Calibri" pitchFamily="34" charset="0"/>
                <a:ea typeface="Calibri" pitchFamily="34" charset="-122"/>
                <a:cs typeface="Calibri" pitchFamily="34" charset="-120"/>
              </a:rPr>
              <a:t>Overall score published for the top 600 only</a:t>
            </a:r>
            <a:endParaRPr lang="en-US" sz="1150" dirty="0"/>
          </a:p>
          <a:p>
            <a:pPr marL="342900" indent="-342900">
              <a:lnSpc>
                <a:spcPts val="1500"/>
              </a:lnSpc>
              <a:spcAft>
                <a:spcPts val="600"/>
              </a:spcAft>
              <a:buSzPct val="100000"/>
              <a:buChar char="•"/>
            </a:pPr>
            <a:r>
              <a:rPr lang="en-US" sz="1150" dirty="0">
                <a:solidFill>
                  <a:srgbClr val="CFD6DF"/>
                </a:solidFill>
                <a:latin typeface="Calibri" pitchFamily="34" charset="0"/>
                <a:ea typeface="Calibri" pitchFamily="34" charset="-122"/>
                <a:cs typeface="Calibri" pitchFamily="34" charset="-120"/>
              </a:rPr>
              <a:t>Academic reputation and citations for all 1,503</a:t>
            </a:r>
            <a:endParaRPr lang="en-US" sz="1150" dirty="0"/>
          </a:p>
          <a:p>
            <a:pPr marL="342900" indent="-342900">
              <a:lnSpc>
                <a:spcPts val="1500"/>
              </a:lnSpc>
              <a:spcAft>
                <a:spcPts val="600"/>
              </a:spcAft>
              <a:buSzPct val="100000"/>
              <a:buChar char="•"/>
            </a:pPr>
            <a:r>
              <a:rPr lang="en-US" sz="1150" dirty="0">
                <a:solidFill>
                  <a:srgbClr val="CFD6DF"/>
                </a:solidFill>
                <a:latin typeface="Calibri" pitchFamily="34" charset="0"/>
                <a:ea typeface="Calibri" pitchFamily="34" charset="-122"/>
                <a:cs typeface="Calibri" pitchFamily="34" charset="-120"/>
              </a:rPr>
              <a:t>Region, Size, Focus and research-intensity class</a:t>
            </a:r>
            <a:endParaRPr lang="en-US" sz="1150" dirty="0"/>
          </a:p>
        </p:txBody>
      </p:sp>
      <p:sp>
        <p:nvSpPr>
          <p:cNvPr id="9" name="Shape 7"/>
          <p:cNvSpPr/>
          <p:nvPr/>
        </p:nvSpPr>
        <p:spPr>
          <a:xfrm>
            <a:off x="4334256" y="1481328"/>
            <a:ext cx="3520440" cy="2971800"/>
          </a:xfrm>
          <a:prstGeom prst="roundRect">
            <a:avLst>
              <a:gd name="adj" fmla="val 1846"/>
            </a:avLst>
          </a:prstGeom>
          <a:solidFill>
            <a:srgbClr val="1B2026"/>
          </a:solidFill>
          <a:ln w="9525">
            <a:solidFill>
              <a:srgbClr val="28323D"/>
            </a:solidFill>
            <a:prstDash val="solid"/>
          </a:ln>
        </p:spPr>
      </p:sp>
      <p:sp>
        <p:nvSpPr>
          <p:cNvPr id="10" name="Text 8"/>
          <p:cNvSpPr txBox="1"/>
          <p:nvPr/>
        </p:nvSpPr>
        <p:spPr>
          <a:xfrm>
            <a:off x="4590288" y="1691640"/>
            <a:ext cx="3008376" cy="219456"/>
          </a:xfrm>
          <a:prstGeom prst="rect">
            <a:avLst/>
          </a:prstGeom>
          <a:noFill/>
          <a:ln/>
        </p:spPr>
        <p:txBody>
          <a:bodyPr wrap="square" lIns="0" tIns="0" rIns="0" bIns="0" rtlCol="0" anchor="ctr"/>
          <a:lstStyle/>
          <a:p>
            <a:pPr indent="0" marL="0">
              <a:buNone/>
            </a:pPr>
            <a:r>
              <a:rPr lang="en-US" sz="1000" b="1" spc="180" kern="0" dirty="0">
                <a:solidFill>
                  <a:srgbClr val="FF9F1C"/>
                </a:solidFill>
                <a:latin typeface="Calibri" pitchFamily="34" charset="0"/>
                <a:ea typeface="Calibri" pitchFamily="34" charset="-122"/>
                <a:cs typeface="Calibri" pitchFamily="34" charset="-120"/>
              </a:rPr>
              <a:t>ENRICHMENT</a:t>
            </a:r>
            <a:endParaRPr lang="en-US" sz="1000" dirty="0"/>
          </a:p>
        </p:txBody>
      </p:sp>
      <p:sp>
        <p:nvSpPr>
          <p:cNvPr id="11" name="Text 9"/>
          <p:cNvSpPr txBox="1"/>
          <p:nvPr/>
        </p:nvSpPr>
        <p:spPr>
          <a:xfrm>
            <a:off x="4590288" y="1938528"/>
            <a:ext cx="3008376"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Arial" pitchFamily="34" charset="0"/>
                <a:ea typeface="Arial" pitchFamily="34" charset="-122"/>
                <a:cs typeface="Arial" pitchFamily="34" charset="-120"/>
              </a:rPr>
              <a:t>Times Higher Education Rankings</a:t>
            </a:r>
            <a:endParaRPr lang="en-US" sz="1500" dirty="0"/>
          </a:p>
        </p:txBody>
      </p:sp>
      <p:sp>
        <p:nvSpPr>
          <p:cNvPr id="12" name="Text 10"/>
          <p:cNvSpPr txBox="1"/>
          <p:nvPr/>
        </p:nvSpPr>
        <p:spPr>
          <a:xfrm>
            <a:off x="4590288" y="2542032"/>
            <a:ext cx="3008376" cy="237744"/>
          </a:xfrm>
          <a:prstGeom prst="rect">
            <a:avLst/>
          </a:prstGeom>
          <a:noFill/>
          <a:ln/>
        </p:spPr>
        <p:txBody>
          <a:bodyPr wrap="square" lIns="0" tIns="0" rIns="0" bIns="0" rtlCol="0" anchor="ctr"/>
          <a:lstStyle/>
          <a:p>
            <a:pPr indent="0" marL="0">
              <a:buNone/>
            </a:pPr>
            <a:r>
              <a:rPr lang="en-US" sz="1150" b="1" dirty="0">
                <a:solidFill>
                  <a:srgbClr val="CFD6DF"/>
                </a:solidFill>
                <a:latin typeface="Calibri" pitchFamily="34" charset="0"/>
                <a:ea typeface="Calibri" pitchFamily="34" charset="-122"/>
                <a:cs typeface="Calibri" pitchFamily="34" charset="-120"/>
              </a:rPr>
              <a:t>200 institutions  ·  13 raw columns</a:t>
            </a:r>
            <a:endParaRPr lang="en-US" sz="1150" dirty="0"/>
          </a:p>
        </p:txBody>
      </p:sp>
      <p:sp>
        <p:nvSpPr>
          <p:cNvPr id="13" name="Text 11"/>
          <p:cNvSpPr txBox="1"/>
          <p:nvPr/>
        </p:nvSpPr>
        <p:spPr>
          <a:xfrm>
            <a:off x="4590288" y="2852928"/>
            <a:ext cx="3008376" cy="146304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50" dirty="0">
                <a:solidFill>
                  <a:srgbClr val="CFD6DF"/>
                </a:solidFill>
                <a:latin typeface="Calibri" pitchFamily="34" charset="0"/>
                <a:ea typeface="Calibri" pitchFamily="34" charset="-122"/>
                <a:cs typeface="Calibri" pitchFamily="34" charset="-120"/>
              </a:rPr>
              <a:t>Students-per-staff and international student %</a:t>
            </a:r>
            <a:endParaRPr lang="en-US" sz="1150" dirty="0"/>
          </a:p>
          <a:p>
            <a:pPr marL="342900" indent="-342900">
              <a:lnSpc>
                <a:spcPts val="1500"/>
              </a:lnSpc>
              <a:spcAft>
                <a:spcPts val="600"/>
              </a:spcAft>
              <a:buSzPct val="100000"/>
              <a:buChar char="•"/>
            </a:pPr>
            <a:r>
              <a:rPr lang="en-US" sz="1150" dirty="0">
                <a:solidFill>
                  <a:srgbClr val="CFD6DF"/>
                </a:solidFill>
                <a:latin typeface="Calibri" pitchFamily="34" charset="0"/>
                <a:ea typeface="Calibri" pitchFamily="34" charset="-122"/>
                <a:cs typeface="Calibri" pitchFamily="34" charset="-120"/>
              </a:rPr>
              <a:t>FTE student headcount</a:t>
            </a:r>
            <a:endParaRPr lang="en-US" sz="1150" dirty="0"/>
          </a:p>
          <a:p>
            <a:pPr marL="342900" indent="-342900">
              <a:lnSpc>
                <a:spcPts val="1500"/>
              </a:lnSpc>
              <a:spcAft>
                <a:spcPts val="600"/>
              </a:spcAft>
              <a:buSzPct val="100000"/>
              <a:buChar char="•"/>
            </a:pPr>
            <a:r>
              <a:rPr lang="en-US" sz="1150" dirty="0">
                <a:solidFill>
                  <a:srgbClr val="CFD6DF"/>
                </a:solidFill>
                <a:latin typeface="Calibri" pitchFamily="34" charset="0"/>
                <a:ea typeface="Calibri" pitchFamily="34" charset="-122"/>
                <a:cs typeface="Calibri" pitchFamily="34" charset="-120"/>
              </a:rPr>
              <a:t>Research environment score (productivity proxy)</a:t>
            </a:r>
            <a:endParaRPr lang="en-US" sz="1150" dirty="0"/>
          </a:p>
        </p:txBody>
      </p:sp>
      <p:sp>
        <p:nvSpPr>
          <p:cNvPr id="14" name="Shape 12"/>
          <p:cNvSpPr/>
          <p:nvPr/>
        </p:nvSpPr>
        <p:spPr>
          <a:xfrm>
            <a:off x="8119872" y="1481328"/>
            <a:ext cx="3520440" cy="2971800"/>
          </a:xfrm>
          <a:prstGeom prst="roundRect">
            <a:avLst>
              <a:gd name="adj" fmla="val 1846"/>
            </a:avLst>
          </a:prstGeom>
          <a:solidFill>
            <a:srgbClr val="202730"/>
          </a:solidFill>
          <a:ln w="9525">
            <a:solidFill>
              <a:srgbClr val="28323D"/>
            </a:solidFill>
            <a:prstDash val="solid"/>
          </a:ln>
        </p:spPr>
      </p:sp>
      <p:sp>
        <p:nvSpPr>
          <p:cNvPr id="15" name="Text 13"/>
          <p:cNvSpPr txBox="1"/>
          <p:nvPr/>
        </p:nvSpPr>
        <p:spPr>
          <a:xfrm>
            <a:off x="8375904" y="1691640"/>
            <a:ext cx="3008376" cy="219456"/>
          </a:xfrm>
          <a:prstGeom prst="rect">
            <a:avLst/>
          </a:prstGeom>
          <a:noFill/>
          <a:ln/>
        </p:spPr>
        <p:txBody>
          <a:bodyPr wrap="square" lIns="0" tIns="0" rIns="0" bIns="0" rtlCol="0" anchor="ctr"/>
          <a:lstStyle/>
          <a:p>
            <a:pPr indent="0" marL="0">
              <a:buNone/>
            </a:pPr>
            <a:r>
              <a:rPr lang="en-US" sz="1000" b="1" spc="180" kern="0" dirty="0">
                <a:solidFill>
                  <a:srgbClr val="2EC4B6"/>
                </a:solidFill>
                <a:latin typeface="Calibri" pitchFamily="34" charset="0"/>
                <a:ea typeface="Calibri" pitchFamily="34" charset="-122"/>
                <a:cs typeface="Calibri" pitchFamily="34" charset="-120"/>
              </a:rPr>
              <a:t>JOIN OUTCOME</a:t>
            </a:r>
            <a:endParaRPr lang="en-US" sz="1000" dirty="0"/>
          </a:p>
        </p:txBody>
      </p:sp>
      <p:sp>
        <p:nvSpPr>
          <p:cNvPr id="16" name="Text 14"/>
          <p:cNvSpPr txBox="1"/>
          <p:nvPr/>
        </p:nvSpPr>
        <p:spPr>
          <a:xfrm>
            <a:off x="8375904" y="1938528"/>
            <a:ext cx="3008376" cy="38404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195 matched</a:t>
            </a:r>
            <a:endParaRPr lang="en-US" sz="2100" dirty="0"/>
          </a:p>
        </p:txBody>
      </p:sp>
      <p:sp>
        <p:nvSpPr>
          <p:cNvPr id="17" name="Text 15"/>
          <p:cNvSpPr txBox="1"/>
          <p:nvPr/>
        </p:nvSpPr>
        <p:spPr>
          <a:xfrm>
            <a:off x="8375904" y="2377440"/>
            <a:ext cx="3008376" cy="1737360"/>
          </a:xfrm>
          <a:prstGeom prst="rect">
            <a:avLst/>
          </a:prstGeom>
          <a:noFill/>
          <a:ln/>
        </p:spPr>
        <p:txBody>
          <a:bodyPr wrap="square" lIns="0" tIns="0" rIns="0" bIns="0" rtlCol="0" anchor="t"/>
          <a:lstStyle/>
          <a:p>
            <a:pPr indent="0" marL="0">
              <a:lnSpc>
                <a:spcPts val="1600"/>
              </a:lnSpc>
              <a:buNone/>
            </a:pPr>
            <a:r>
              <a:rPr lang="en-US" sz="1150" dirty="0">
                <a:solidFill>
                  <a:srgbClr val="CFD6DF"/>
                </a:solidFill>
                <a:latin typeface="Calibri" pitchFamily="34" charset="0"/>
                <a:ea typeface="Calibri" pitchFamily="34" charset="-122"/>
                <a:cs typeface="Calibri" pitchFamily="34" charset="-120"/>
              </a:rPr>
              <a:t>Five THE institutions were left unmatched on purpose — three are absent from QS (Karolinska, Charité, Scuola Normale Superiore di Pisa) and two are ambiguous multi-campus systems (Massachusetts, Indiana). Guessing a campus would have invented data.</a:t>
            </a:r>
            <a:endParaRPr lang="en-US" sz="1150" dirty="0"/>
          </a:p>
        </p:txBody>
      </p:sp>
      <p:sp>
        <p:nvSpPr>
          <p:cNvPr id="18" name="Text 16"/>
          <p:cNvSpPr txBox="1"/>
          <p:nvPr/>
        </p:nvSpPr>
        <p:spPr>
          <a:xfrm>
            <a:off x="8375904" y="3968496"/>
            <a:ext cx="3008376" cy="274320"/>
          </a:xfrm>
          <a:prstGeom prst="rect">
            <a:avLst/>
          </a:prstGeom>
          <a:noFill/>
          <a:ln/>
        </p:spPr>
        <p:txBody>
          <a:bodyPr wrap="square" lIns="0" tIns="0" rIns="0" bIns="0" rtlCol="0" anchor="ctr"/>
          <a:lstStyle/>
          <a:p>
            <a:pPr indent="0" marL="0">
              <a:buNone/>
            </a:pPr>
            <a:r>
              <a:rPr lang="en-US" sz="1150" b="1" dirty="0">
                <a:solidFill>
                  <a:srgbClr val="2EC4B6"/>
                </a:solidFill>
                <a:latin typeface="Calibri" pitchFamily="34" charset="0"/>
                <a:ea typeface="Calibri" pitchFamily="34" charset="-122"/>
                <a:cs typeface="Calibri" pitchFamily="34" charset="-120"/>
              </a:rPr>
              <a:t>Final dataset: 1,503 rows × 52 columns</a:t>
            </a:r>
            <a:endParaRPr lang="en-US" sz="1150" dirty="0"/>
          </a:p>
        </p:txBody>
      </p:sp>
      <p:sp>
        <p:nvSpPr>
          <p:cNvPr id="19" name="Shape 17"/>
          <p:cNvSpPr/>
          <p:nvPr/>
        </p:nvSpPr>
        <p:spPr>
          <a:xfrm>
            <a:off x="548640" y="4681728"/>
            <a:ext cx="11091672" cy="1325880"/>
          </a:xfrm>
          <a:prstGeom prst="roundRect">
            <a:avLst>
              <a:gd name="adj" fmla="val 4138"/>
            </a:avLst>
          </a:prstGeom>
          <a:solidFill>
            <a:srgbClr val="1B2026"/>
          </a:solidFill>
          <a:ln w="9525">
            <a:solidFill>
              <a:srgbClr val="28323D"/>
            </a:solidFill>
            <a:prstDash val="solid"/>
          </a:ln>
        </p:spPr>
      </p:sp>
      <p:sp>
        <p:nvSpPr>
          <p:cNvPr id="20" name="Text 18"/>
          <p:cNvSpPr txBox="1"/>
          <p:nvPr/>
        </p:nvSpPr>
        <p:spPr>
          <a:xfrm>
            <a:off x="841248" y="4846320"/>
            <a:ext cx="2194560" cy="292608"/>
          </a:xfrm>
          <a:prstGeom prst="rect">
            <a:avLst/>
          </a:prstGeom>
          <a:noFill/>
          <a:ln/>
        </p:spPr>
        <p:txBody>
          <a:bodyPr wrap="square" lIns="0" tIns="0" rIns="0" bIns="0" rtlCol="0" anchor="ctr"/>
          <a:lstStyle/>
          <a:p>
            <a:pPr indent="0" marL="0">
              <a:buNone/>
            </a:pPr>
            <a:r>
              <a:rPr lang="en-US" sz="1500" b="1" dirty="0">
                <a:solidFill>
                  <a:srgbClr val="E71D36"/>
                </a:solidFill>
                <a:latin typeface="Arial" pitchFamily="34" charset="0"/>
                <a:ea typeface="Arial" pitchFamily="34" charset="-122"/>
                <a:cs typeface="Arial" pitchFamily="34" charset="-120"/>
              </a:rPr>
              <a:t>Null policy</a:t>
            </a:r>
            <a:endParaRPr lang="en-US" sz="1500" dirty="0"/>
          </a:p>
        </p:txBody>
      </p:sp>
      <p:sp>
        <p:nvSpPr>
          <p:cNvPr id="21" name="Text 19"/>
          <p:cNvSpPr txBox="1"/>
          <p:nvPr/>
        </p:nvSpPr>
        <p:spPr>
          <a:xfrm>
            <a:off x="841248" y="5175504"/>
            <a:ext cx="10515600" cy="685800"/>
          </a:xfrm>
          <a:prstGeom prst="rect">
            <a:avLst/>
          </a:prstGeom>
          <a:noFill/>
          <a:ln/>
        </p:spPr>
        <p:txBody>
          <a:bodyPr wrap="square" lIns="0" tIns="0" rIns="0" bIns="0" rtlCol="0" anchor="t"/>
          <a:lstStyle/>
          <a:p>
            <a:pPr indent="0" marL="0">
              <a:lnSpc>
                <a:spcPts val="1700"/>
              </a:lnSpc>
              <a:buNone/>
            </a:pPr>
            <a:r>
              <a:rPr lang="en-US" sz="1250" dirty="0">
                <a:solidFill>
                  <a:srgbClr val="CFD6DF"/>
                </a:solidFill>
                <a:latin typeface="Calibri" pitchFamily="34" charset="0"/>
                <a:ea typeface="Calibri" pitchFamily="34" charset="-122"/>
                <a:cs typeface="Calibri" pitchFamily="34" charset="-120"/>
              </a:rPr>
              <a:t>THE-derived fields stay null for the 1,308 unmatched institutions. They are never zero-filled, never imputed, and never averaged away. Tableau surfaces the gap in-view — the "1 null", "5 nulls" and "&gt;1K nulls" indicators on the dashboards are the dataset telling the truth about its own coverage.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KPI FRAMEWORK</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Six measures — and what each one actually covers</a:t>
            </a:r>
            <a:endParaRPr lang="en-US" sz="3000" dirty="0"/>
          </a:p>
        </p:txBody>
      </p:sp>
      <p:sp>
        <p:nvSpPr>
          <p:cNvPr id="4" name="Text 2"/>
          <p:cNvSpPr txBox="1"/>
          <p:nvPr/>
        </p:nvSpPr>
        <p:spPr>
          <a:xfrm>
            <a:off x="548640" y="1481328"/>
            <a:ext cx="3017520" cy="256032"/>
          </a:xfrm>
          <a:prstGeom prst="rect">
            <a:avLst/>
          </a:prstGeom>
          <a:noFill/>
          <a:ln/>
        </p:spPr>
        <p:txBody>
          <a:bodyPr wrap="square" lIns="0" tIns="0" rIns="0" bIns="0" rtlCol="0" anchor="ctr"/>
          <a:lstStyle/>
          <a:p>
            <a:pPr algn="l" indent="0" marL="0">
              <a:buNone/>
            </a:pPr>
            <a:r>
              <a:rPr lang="en-US" sz="1050" b="1" spc="140" kern="0" dirty="0">
                <a:solidFill>
                  <a:srgbClr val="8C97A4"/>
                </a:solidFill>
                <a:latin typeface="Calibri" pitchFamily="34" charset="0"/>
                <a:ea typeface="Calibri" pitchFamily="34" charset="-122"/>
                <a:cs typeface="Calibri" pitchFamily="34" charset="-120"/>
              </a:rPr>
              <a:t>KPI</a:t>
            </a:r>
            <a:endParaRPr lang="en-US" sz="1050" dirty="0"/>
          </a:p>
        </p:txBody>
      </p:sp>
      <p:sp>
        <p:nvSpPr>
          <p:cNvPr id="5" name="Text 3"/>
          <p:cNvSpPr txBox="1"/>
          <p:nvPr/>
        </p:nvSpPr>
        <p:spPr>
          <a:xfrm>
            <a:off x="3749040" y="1481328"/>
            <a:ext cx="3017520" cy="256032"/>
          </a:xfrm>
          <a:prstGeom prst="rect">
            <a:avLst/>
          </a:prstGeom>
          <a:noFill/>
          <a:ln/>
        </p:spPr>
        <p:txBody>
          <a:bodyPr wrap="square" lIns="0" tIns="0" rIns="0" bIns="0" rtlCol="0" anchor="ctr"/>
          <a:lstStyle/>
          <a:p>
            <a:pPr algn="l" indent="0" marL="0">
              <a:buNone/>
            </a:pPr>
            <a:r>
              <a:rPr lang="en-US" sz="1050" b="1" spc="140" kern="0" dirty="0">
                <a:solidFill>
                  <a:srgbClr val="8C97A4"/>
                </a:solidFill>
                <a:latin typeface="Calibri" pitchFamily="34" charset="0"/>
                <a:ea typeface="Calibri" pitchFamily="34" charset="-122"/>
                <a:cs typeface="Calibri" pitchFamily="34" charset="-120"/>
              </a:rPr>
              <a:t>Source measure</a:t>
            </a:r>
            <a:endParaRPr lang="en-US" sz="1050" dirty="0"/>
          </a:p>
        </p:txBody>
      </p:sp>
      <p:sp>
        <p:nvSpPr>
          <p:cNvPr id="6" name="Text 4"/>
          <p:cNvSpPr txBox="1"/>
          <p:nvPr/>
        </p:nvSpPr>
        <p:spPr>
          <a:xfrm>
            <a:off x="6858000" y="1481328"/>
            <a:ext cx="1371600" cy="256032"/>
          </a:xfrm>
          <a:prstGeom prst="rect">
            <a:avLst/>
          </a:prstGeom>
          <a:noFill/>
          <a:ln/>
        </p:spPr>
        <p:txBody>
          <a:bodyPr wrap="square" lIns="0" tIns="0" rIns="0" bIns="0" rtlCol="0" anchor="ctr"/>
          <a:lstStyle/>
          <a:p>
            <a:pPr algn="r" indent="0" marL="0">
              <a:buNone/>
            </a:pPr>
            <a:r>
              <a:rPr lang="en-US" sz="1050" b="1" spc="140" kern="0" dirty="0">
                <a:solidFill>
                  <a:srgbClr val="8C97A4"/>
                </a:solidFill>
                <a:latin typeface="Calibri" pitchFamily="34" charset="0"/>
                <a:ea typeface="Calibri" pitchFamily="34" charset="-122"/>
                <a:cs typeface="Calibri" pitchFamily="34" charset="-120"/>
              </a:rPr>
              <a:t>Coverage</a:t>
            </a:r>
            <a:endParaRPr lang="en-US" sz="1050" dirty="0"/>
          </a:p>
        </p:txBody>
      </p:sp>
      <p:sp>
        <p:nvSpPr>
          <p:cNvPr id="7" name="Text 5"/>
          <p:cNvSpPr txBox="1"/>
          <p:nvPr/>
        </p:nvSpPr>
        <p:spPr>
          <a:xfrm>
            <a:off x="8412480" y="1481328"/>
            <a:ext cx="1371600" cy="256032"/>
          </a:xfrm>
          <a:prstGeom prst="rect">
            <a:avLst/>
          </a:prstGeom>
          <a:noFill/>
          <a:ln/>
        </p:spPr>
        <p:txBody>
          <a:bodyPr wrap="square" lIns="0" tIns="0" rIns="0" bIns="0" rtlCol="0" anchor="ctr"/>
          <a:lstStyle/>
          <a:p>
            <a:pPr algn="r" indent="0" marL="0">
              <a:buNone/>
            </a:pPr>
            <a:r>
              <a:rPr lang="en-US" sz="1050" b="1" spc="140" kern="0" dirty="0">
                <a:solidFill>
                  <a:srgbClr val="8C97A4"/>
                </a:solidFill>
                <a:latin typeface="Calibri" pitchFamily="34" charset="0"/>
                <a:ea typeface="Calibri" pitchFamily="34" charset="-122"/>
                <a:cs typeface="Calibri" pitchFamily="34" charset="-120"/>
              </a:rPr>
              <a:t>Mean</a:t>
            </a:r>
            <a:endParaRPr lang="en-US" sz="1050" dirty="0"/>
          </a:p>
        </p:txBody>
      </p:sp>
      <p:sp>
        <p:nvSpPr>
          <p:cNvPr id="8" name="Text 6"/>
          <p:cNvSpPr txBox="1"/>
          <p:nvPr/>
        </p:nvSpPr>
        <p:spPr>
          <a:xfrm>
            <a:off x="9966960" y="1481328"/>
            <a:ext cx="1737360" cy="256032"/>
          </a:xfrm>
          <a:prstGeom prst="rect">
            <a:avLst/>
          </a:prstGeom>
          <a:noFill/>
          <a:ln/>
        </p:spPr>
        <p:txBody>
          <a:bodyPr wrap="square" lIns="0" tIns="0" rIns="0" bIns="0" rtlCol="0" anchor="ctr"/>
          <a:lstStyle/>
          <a:p>
            <a:pPr algn="r" indent="0" marL="0">
              <a:buNone/>
            </a:pPr>
            <a:r>
              <a:rPr lang="en-US" sz="1050" b="1" spc="140" kern="0" dirty="0">
                <a:solidFill>
                  <a:srgbClr val="8C97A4"/>
                </a:solidFill>
                <a:latin typeface="Calibri" pitchFamily="34" charset="0"/>
                <a:ea typeface="Calibri" pitchFamily="34" charset="-122"/>
                <a:cs typeface="Calibri" pitchFamily="34" charset="-120"/>
              </a:rPr>
              <a:t>Range</a:t>
            </a:r>
            <a:endParaRPr lang="en-US" sz="1050" dirty="0"/>
          </a:p>
        </p:txBody>
      </p:sp>
      <p:sp>
        <p:nvSpPr>
          <p:cNvPr id="9" name="Shape 7"/>
          <p:cNvSpPr/>
          <p:nvPr/>
        </p:nvSpPr>
        <p:spPr>
          <a:xfrm>
            <a:off x="548640" y="1828800"/>
            <a:ext cx="11091672" cy="457200"/>
          </a:xfrm>
          <a:prstGeom prst="rect">
            <a:avLst/>
          </a:prstGeom>
          <a:solidFill>
            <a:srgbClr val="1B2026"/>
          </a:solidFill>
          <a:ln w="12700">
            <a:solidFill>
              <a:srgbClr val="12161A"/>
            </a:solidFill>
            <a:prstDash val="solid"/>
          </a:ln>
        </p:spPr>
      </p:sp>
      <p:sp>
        <p:nvSpPr>
          <p:cNvPr id="10" name="Shape 8"/>
          <p:cNvSpPr/>
          <p:nvPr/>
        </p:nvSpPr>
        <p:spPr>
          <a:xfrm>
            <a:off x="676656" y="2002536"/>
            <a:ext cx="109728" cy="109728"/>
          </a:xfrm>
          <a:prstGeom prst="ellipse">
            <a:avLst/>
          </a:prstGeom>
          <a:solidFill>
            <a:srgbClr val="00D2C4"/>
          </a:solidFill>
          <a:ln w="12700">
            <a:solidFill>
              <a:srgbClr val="00D2C4"/>
            </a:solidFill>
            <a:prstDash val="solid"/>
          </a:ln>
        </p:spPr>
      </p:sp>
      <p:sp>
        <p:nvSpPr>
          <p:cNvPr id="11" name="Text 9"/>
          <p:cNvSpPr txBox="1"/>
          <p:nvPr/>
        </p:nvSpPr>
        <p:spPr>
          <a:xfrm>
            <a:off x="896112" y="1901952"/>
            <a:ext cx="2670048"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Global Ranking Score</a:t>
            </a:r>
            <a:endParaRPr lang="en-US" sz="1250" dirty="0"/>
          </a:p>
        </p:txBody>
      </p:sp>
      <p:sp>
        <p:nvSpPr>
          <p:cNvPr id="12" name="Text 10"/>
          <p:cNvSpPr txBox="1"/>
          <p:nvPr/>
        </p:nvSpPr>
        <p:spPr>
          <a:xfrm>
            <a:off x="3749040" y="1901952"/>
            <a:ext cx="3017520" cy="310896"/>
          </a:xfrm>
          <a:prstGeom prst="rect">
            <a:avLst/>
          </a:prstGeom>
          <a:noFill/>
          <a:ln/>
        </p:spPr>
        <p:txBody>
          <a:bodyPr wrap="square" lIns="0" tIns="0" rIns="0" bIns="0" rtlCol="0" anchor="ctr"/>
          <a:lstStyle/>
          <a:p>
            <a:pPr indent="0" marL="0">
              <a:buNone/>
            </a:pPr>
            <a:r>
              <a:rPr lang="en-US" sz="1200" dirty="0">
                <a:solidFill>
                  <a:srgbClr val="CFD6DF"/>
                </a:solidFill>
                <a:latin typeface="Calibri" pitchFamily="34" charset="0"/>
                <a:ea typeface="Calibri" pitchFamily="34" charset="-122"/>
                <a:cs typeface="Calibri" pitchFamily="34" charset="-120"/>
              </a:rPr>
              <a:t>QS Overall Score</a:t>
            </a:r>
            <a:endParaRPr lang="en-US" sz="1200" dirty="0"/>
          </a:p>
        </p:txBody>
      </p:sp>
      <p:sp>
        <p:nvSpPr>
          <p:cNvPr id="13" name="Text 11"/>
          <p:cNvSpPr txBox="1"/>
          <p:nvPr/>
        </p:nvSpPr>
        <p:spPr>
          <a:xfrm>
            <a:off x="6858000" y="1901952"/>
            <a:ext cx="1371600" cy="310896"/>
          </a:xfrm>
          <a:prstGeom prst="rect">
            <a:avLst/>
          </a:prstGeom>
          <a:noFill/>
          <a:ln/>
        </p:spPr>
        <p:txBody>
          <a:bodyPr wrap="square" lIns="0" tIns="0" rIns="0" bIns="0" rtlCol="0" anchor="ctr"/>
          <a:lstStyle/>
          <a:p>
            <a:pPr algn="r" indent="0" marL="0">
              <a:buNone/>
            </a:pPr>
            <a:r>
              <a:rPr lang="en-US" sz="1200" dirty="0">
                <a:solidFill>
                  <a:srgbClr val="CFD6DF"/>
                </a:solidFill>
                <a:latin typeface="Calibri" pitchFamily="34" charset="0"/>
                <a:ea typeface="Calibri" pitchFamily="34" charset="-122"/>
                <a:cs typeface="Calibri" pitchFamily="34" charset="-120"/>
              </a:rPr>
              <a:t>600</a:t>
            </a:r>
            <a:endParaRPr lang="en-US" sz="1200" dirty="0"/>
          </a:p>
        </p:txBody>
      </p:sp>
      <p:sp>
        <p:nvSpPr>
          <p:cNvPr id="14" name="Text 12"/>
          <p:cNvSpPr txBox="1"/>
          <p:nvPr/>
        </p:nvSpPr>
        <p:spPr>
          <a:xfrm>
            <a:off x="8412480" y="1901952"/>
            <a:ext cx="137160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41.84</a:t>
            </a:r>
            <a:endParaRPr lang="en-US" sz="1200" dirty="0"/>
          </a:p>
        </p:txBody>
      </p:sp>
      <p:sp>
        <p:nvSpPr>
          <p:cNvPr id="15" name="Text 13"/>
          <p:cNvSpPr txBox="1"/>
          <p:nvPr/>
        </p:nvSpPr>
        <p:spPr>
          <a:xfrm>
            <a:off x="9966960" y="1901952"/>
            <a:ext cx="1737360" cy="310896"/>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20.8 – 100</a:t>
            </a:r>
            <a:endParaRPr lang="en-US" sz="1200" dirty="0"/>
          </a:p>
        </p:txBody>
      </p:sp>
      <p:sp>
        <p:nvSpPr>
          <p:cNvPr id="16" name="Shape 14"/>
          <p:cNvSpPr/>
          <p:nvPr/>
        </p:nvSpPr>
        <p:spPr>
          <a:xfrm>
            <a:off x="548640" y="2359152"/>
            <a:ext cx="11091672" cy="457200"/>
          </a:xfrm>
          <a:prstGeom prst="rect">
            <a:avLst/>
          </a:prstGeom>
          <a:solidFill>
            <a:srgbClr val="12161A"/>
          </a:solidFill>
          <a:ln w="12700">
            <a:solidFill>
              <a:srgbClr val="12161A"/>
            </a:solidFill>
            <a:prstDash val="solid"/>
          </a:ln>
        </p:spPr>
      </p:sp>
      <p:sp>
        <p:nvSpPr>
          <p:cNvPr id="17" name="Shape 15"/>
          <p:cNvSpPr/>
          <p:nvPr/>
        </p:nvSpPr>
        <p:spPr>
          <a:xfrm>
            <a:off x="676656" y="2532888"/>
            <a:ext cx="109728" cy="109728"/>
          </a:xfrm>
          <a:prstGeom prst="ellipse">
            <a:avLst/>
          </a:prstGeom>
          <a:solidFill>
            <a:srgbClr val="00D2C4"/>
          </a:solidFill>
          <a:ln w="12700">
            <a:solidFill>
              <a:srgbClr val="00D2C4"/>
            </a:solidFill>
            <a:prstDash val="solid"/>
          </a:ln>
        </p:spPr>
      </p:sp>
      <p:sp>
        <p:nvSpPr>
          <p:cNvPr id="18" name="Text 16"/>
          <p:cNvSpPr txBox="1"/>
          <p:nvPr/>
        </p:nvSpPr>
        <p:spPr>
          <a:xfrm>
            <a:off x="896112" y="2432304"/>
            <a:ext cx="2670048"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Academic Reputation</a:t>
            </a:r>
            <a:endParaRPr lang="en-US" sz="1250" dirty="0"/>
          </a:p>
        </p:txBody>
      </p:sp>
      <p:sp>
        <p:nvSpPr>
          <p:cNvPr id="19" name="Text 17"/>
          <p:cNvSpPr txBox="1"/>
          <p:nvPr/>
        </p:nvSpPr>
        <p:spPr>
          <a:xfrm>
            <a:off x="3749040" y="2432304"/>
            <a:ext cx="3017520" cy="310896"/>
          </a:xfrm>
          <a:prstGeom prst="rect">
            <a:avLst/>
          </a:prstGeom>
          <a:noFill/>
          <a:ln/>
        </p:spPr>
        <p:txBody>
          <a:bodyPr wrap="square" lIns="0" tIns="0" rIns="0" bIns="0" rtlCol="0" anchor="ctr"/>
          <a:lstStyle/>
          <a:p>
            <a:pPr indent="0" marL="0">
              <a:buNone/>
            </a:pPr>
            <a:r>
              <a:rPr lang="en-US" sz="1200" dirty="0">
                <a:solidFill>
                  <a:srgbClr val="CFD6DF"/>
                </a:solidFill>
                <a:latin typeface="Calibri" pitchFamily="34" charset="0"/>
                <a:ea typeface="Calibri" pitchFamily="34" charset="-122"/>
                <a:cs typeface="Calibri" pitchFamily="34" charset="-120"/>
              </a:rPr>
              <a:t>QS Academic Reputation</a:t>
            </a:r>
            <a:endParaRPr lang="en-US" sz="1200" dirty="0"/>
          </a:p>
        </p:txBody>
      </p:sp>
      <p:sp>
        <p:nvSpPr>
          <p:cNvPr id="20" name="Text 18"/>
          <p:cNvSpPr txBox="1"/>
          <p:nvPr/>
        </p:nvSpPr>
        <p:spPr>
          <a:xfrm>
            <a:off x="6858000" y="2432304"/>
            <a:ext cx="1371600" cy="310896"/>
          </a:xfrm>
          <a:prstGeom prst="rect">
            <a:avLst/>
          </a:prstGeom>
          <a:noFill/>
          <a:ln/>
        </p:spPr>
        <p:txBody>
          <a:bodyPr wrap="square" lIns="0" tIns="0" rIns="0" bIns="0" rtlCol="0" anchor="ctr"/>
          <a:lstStyle/>
          <a:p>
            <a:pPr algn="r" indent="0" marL="0">
              <a:buNone/>
            </a:pPr>
            <a:r>
              <a:rPr lang="en-US" sz="1200" dirty="0">
                <a:solidFill>
                  <a:srgbClr val="CFD6DF"/>
                </a:solidFill>
                <a:latin typeface="Calibri" pitchFamily="34" charset="0"/>
                <a:ea typeface="Calibri" pitchFamily="34" charset="-122"/>
                <a:cs typeface="Calibri" pitchFamily="34" charset="-120"/>
              </a:rPr>
              <a:t>1,503</a:t>
            </a:r>
            <a:endParaRPr lang="en-US" sz="1200" dirty="0"/>
          </a:p>
        </p:txBody>
      </p:sp>
      <p:sp>
        <p:nvSpPr>
          <p:cNvPr id="21" name="Text 19"/>
          <p:cNvSpPr txBox="1"/>
          <p:nvPr/>
        </p:nvSpPr>
        <p:spPr>
          <a:xfrm>
            <a:off x="8412480" y="2432304"/>
            <a:ext cx="137160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20.29</a:t>
            </a:r>
            <a:endParaRPr lang="en-US" sz="1200" dirty="0"/>
          </a:p>
        </p:txBody>
      </p:sp>
      <p:sp>
        <p:nvSpPr>
          <p:cNvPr id="22" name="Text 20"/>
          <p:cNvSpPr txBox="1"/>
          <p:nvPr/>
        </p:nvSpPr>
        <p:spPr>
          <a:xfrm>
            <a:off x="9966960" y="2432304"/>
            <a:ext cx="1737360" cy="310896"/>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1.3 – 100</a:t>
            </a:r>
            <a:endParaRPr lang="en-US" sz="1200" dirty="0"/>
          </a:p>
        </p:txBody>
      </p:sp>
      <p:sp>
        <p:nvSpPr>
          <p:cNvPr id="23" name="Shape 21"/>
          <p:cNvSpPr/>
          <p:nvPr/>
        </p:nvSpPr>
        <p:spPr>
          <a:xfrm>
            <a:off x="548640" y="2889504"/>
            <a:ext cx="11091672" cy="457200"/>
          </a:xfrm>
          <a:prstGeom prst="rect">
            <a:avLst/>
          </a:prstGeom>
          <a:solidFill>
            <a:srgbClr val="1B2026"/>
          </a:solidFill>
          <a:ln w="12700">
            <a:solidFill>
              <a:srgbClr val="12161A"/>
            </a:solidFill>
            <a:prstDash val="solid"/>
          </a:ln>
        </p:spPr>
      </p:sp>
      <p:sp>
        <p:nvSpPr>
          <p:cNvPr id="24" name="Shape 22"/>
          <p:cNvSpPr/>
          <p:nvPr/>
        </p:nvSpPr>
        <p:spPr>
          <a:xfrm>
            <a:off x="676656" y="3063240"/>
            <a:ext cx="109728" cy="109728"/>
          </a:xfrm>
          <a:prstGeom prst="ellipse">
            <a:avLst/>
          </a:prstGeom>
          <a:solidFill>
            <a:srgbClr val="FF9F1C"/>
          </a:solidFill>
          <a:ln w="12700">
            <a:solidFill>
              <a:srgbClr val="FF9F1C"/>
            </a:solidFill>
            <a:prstDash val="solid"/>
          </a:ln>
        </p:spPr>
      </p:sp>
      <p:sp>
        <p:nvSpPr>
          <p:cNvPr id="25" name="Text 23"/>
          <p:cNvSpPr txBox="1"/>
          <p:nvPr/>
        </p:nvSpPr>
        <p:spPr>
          <a:xfrm>
            <a:off x="896112" y="2962656"/>
            <a:ext cx="2670048"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Research Impact</a:t>
            </a:r>
            <a:endParaRPr lang="en-US" sz="1250" dirty="0"/>
          </a:p>
        </p:txBody>
      </p:sp>
      <p:sp>
        <p:nvSpPr>
          <p:cNvPr id="26" name="Text 24"/>
          <p:cNvSpPr txBox="1"/>
          <p:nvPr/>
        </p:nvSpPr>
        <p:spPr>
          <a:xfrm>
            <a:off x="3749040" y="2962656"/>
            <a:ext cx="3017520" cy="310896"/>
          </a:xfrm>
          <a:prstGeom prst="rect">
            <a:avLst/>
          </a:prstGeom>
          <a:noFill/>
          <a:ln/>
        </p:spPr>
        <p:txBody>
          <a:bodyPr wrap="square" lIns="0" tIns="0" rIns="0" bIns="0" rtlCol="0" anchor="ctr"/>
          <a:lstStyle/>
          <a:p>
            <a:pPr indent="0" marL="0">
              <a:buNone/>
            </a:pPr>
            <a:r>
              <a:rPr lang="en-US" sz="1200" dirty="0">
                <a:solidFill>
                  <a:srgbClr val="CFD6DF"/>
                </a:solidFill>
                <a:latin typeface="Calibri" pitchFamily="34" charset="0"/>
                <a:ea typeface="Calibri" pitchFamily="34" charset="-122"/>
                <a:cs typeface="Calibri" pitchFamily="34" charset="-120"/>
              </a:rPr>
              <a:t>QS Citations per Faculty</a:t>
            </a:r>
            <a:endParaRPr lang="en-US" sz="1200" dirty="0"/>
          </a:p>
        </p:txBody>
      </p:sp>
      <p:sp>
        <p:nvSpPr>
          <p:cNvPr id="27" name="Text 25"/>
          <p:cNvSpPr txBox="1"/>
          <p:nvPr/>
        </p:nvSpPr>
        <p:spPr>
          <a:xfrm>
            <a:off x="6858000" y="2962656"/>
            <a:ext cx="1371600" cy="310896"/>
          </a:xfrm>
          <a:prstGeom prst="rect">
            <a:avLst/>
          </a:prstGeom>
          <a:noFill/>
          <a:ln/>
        </p:spPr>
        <p:txBody>
          <a:bodyPr wrap="square" lIns="0" tIns="0" rIns="0" bIns="0" rtlCol="0" anchor="ctr"/>
          <a:lstStyle/>
          <a:p>
            <a:pPr algn="r" indent="0" marL="0">
              <a:buNone/>
            </a:pPr>
            <a:r>
              <a:rPr lang="en-US" sz="1200" dirty="0">
                <a:solidFill>
                  <a:srgbClr val="CFD6DF"/>
                </a:solidFill>
                <a:latin typeface="Calibri" pitchFamily="34" charset="0"/>
                <a:ea typeface="Calibri" pitchFamily="34" charset="-122"/>
                <a:cs typeface="Calibri" pitchFamily="34" charset="-120"/>
              </a:rPr>
              <a:t>1,503</a:t>
            </a:r>
            <a:endParaRPr lang="en-US" sz="1200" dirty="0"/>
          </a:p>
        </p:txBody>
      </p:sp>
      <p:sp>
        <p:nvSpPr>
          <p:cNvPr id="28" name="Text 26"/>
          <p:cNvSpPr txBox="1"/>
          <p:nvPr/>
        </p:nvSpPr>
        <p:spPr>
          <a:xfrm>
            <a:off x="8412480" y="2962656"/>
            <a:ext cx="137160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23.50</a:t>
            </a:r>
            <a:endParaRPr lang="en-US" sz="1200" dirty="0"/>
          </a:p>
        </p:txBody>
      </p:sp>
      <p:sp>
        <p:nvSpPr>
          <p:cNvPr id="29" name="Text 27"/>
          <p:cNvSpPr txBox="1"/>
          <p:nvPr/>
        </p:nvSpPr>
        <p:spPr>
          <a:xfrm>
            <a:off x="9966960" y="2962656"/>
            <a:ext cx="1737360" cy="310896"/>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1.0 – 100</a:t>
            </a:r>
            <a:endParaRPr lang="en-US" sz="1200" dirty="0"/>
          </a:p>
        </p:txBody>
      </p:sp>
      <p:sp>
        <p:nvSpPr>
          <p:cNvPr id="30" name="Shape 28"/>
          <p:cNvSpPr/>
          <p:nvPr/>
        </p:nvSpPr>
        <p:spPr>
          <a:xfrm>
            <a:off x="548640" y="3419856"/>
            <a:ext cx="11091672" cy="457200"/>
          </a:xfrm>
          <a:prstGeom prst="rect">
            <a:avLst/>
          </a:prstGeom>
          <a:solidFill>
            <a:srgbClr val="12161A"/>
          </a:solidFill>
          <a:ln w="12700">
            <a:solidFill>
              <a:srgbClr val="12161A"/>
            </a:solidFill>
            <a:prstDash val="solid"/>
          </a:ln>
        </p:spPr>
      </p:sp>
      <p:sp>
        <p:nvSpPr>
          <p:cNvPr id="31" name="Shape 29"/>
          <p:cNvSpPr/>
          <p:nvPr/>
        </p:nvSpPr>
        <p:spPr>
          <a:xfrm>
            <a:off x="676656" y="3593592"/>
            <a:ext cx="109728" cy="109728"/>
          </a:xfrm>
          <a:prstGeom prst="ellipse">
            <a:avLst/>
          </a:prstGeom>
          <a:solidFill>
            <a:srgbClr val="2EC4B6"/>
          </a:solidFill>
          <a:ln w="12700">
            <a:solidFill>
              <a:srgbClr val="2EC4B6"/>
            </a:solidFill>
            <a:prstDash val="solid"/>
          </a:ln>
        </p:spPr>
      </p:sp>
      <p:sp>
        <p:nvSpPr>
          <p:cNvPr id="32" name="Text 30"/>
          <p:cNvSpPr txBox="1"/>
          <p:nvPr/>
        </p:nvSpPr>
        <p:spPr>
          <a:xfrm>
            <a:off x="896112" y="3493008"/>
            <a:ext cx="2670048"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Students per Staff</a:t>
            </a:r>
            <a:endParaRPr lang="en-US" sz="1250" dirty="0"/>
          </a:p>
        </p:txBody>
      </p:sp>
      <p:sp>
        <p:nvSpPr>
          <p:cNvPr id="33" name="Text 31"/>
          <p:cNvSpPr txBox="1"/>
          <p:nvPr/>
        </p:nvSpPr>
        <p:spPr>
          <a:xfrm>
            <a:off x="3749040" y="3493008"/>
            <a:ext cx="3017520" cy="310896"/>
          </a:xfrm>
          <a:prstGeom prst="rect">
            <a:avLst/>
          </a:prstGeom>
          <a:noFill/>
          <a:ln/>
        </p:spPr>
        <p:txBody>
          <a:bodyPr wrap="square" lIns="0" tIns="0" rIns="0" bIns="0" rtlCol="0" anchor="ctr"/>
          <a:lstStyle/>
          <a:p>
            <a:pPr indent="0" marL="0">
              <a:buNone/>
            </a:pPr>
            <a:r>
              <a:rPr lang="en-US" sz="1200" dirty="0">
                <a:solidFill>
                  <a:srgbClr val="CFD6DF"/>
                </a:solidFill>
                <a:latin typeface="Calibri" pitchFamily="34" charset="0"/>
                <a:ea typeface="Calibri" pitchFamily="34" charset="-122"/>
                <a:cs typeface="Calibri" pitchFamily="34" charset="-120"/>
              </a:rPr>
              <a:t>THE Student–Staff Ratio</a:t>
            </a:r>
            <a:endParaRPr lang="en-US" sz="1200" dirty="0"/>
          </a:p>
        </p:txBody>
      </p:sp>
      <p:sp>
        <p:nvSpPr>
          <p:cNvPr id="34" name="Text 32"/>
          <p:cNvSpPr txBox="1"/>
          <p:nvPr/>
        </p:nvSpPr>
        <p:spPr>
          <a:xfrm>
            <a:off x="6858000" y="3493008"/>
            <a:ext cx="1371600" cy="310896"/>
          </a:xfrm>
          <a:prstGeom prst="rect">
            <a:avLst/>
          </a:prstGeom>
          <a:noFill/>
          <a:ln/>
        </p:spPr>
        <p:txBody>
          <a:bodyPr wrap="square" lIns="0" tIns="0" rIns="0" bIns="0" rtlCol="0" anchor="ctr"/>
          <a:lstStyle/>
          <a:p>
            <a:pPr algn="r" indent="0" marL="0">
              <a:buNone/>
            </a:pPr>
            <a:r>
              <a:rPr lang="en-US" sz="1200" dirty="0">
                <a:solidFill>
                  <a:srgbClr val="CFD6DF"/>
                </a:solidFill>
                <a:latin typeface="Calibri" pitchFamily="34" charset="0"/>
                <a:ea typeface="Calibri" pitchFamily="34" charset="-122"/>
                <a:cs typeface="Calibri" pitchFamily="34" charset="-120"/>
              </a:rPr>
              <a:t>195</a:t>
            </a:r>
            <a:endParaRPr lang="en-US" sz="1200" dirty="0"/>
          </a:p>
        </p:txBody>
      </p:sp>
      <p:sp>
        <p:nvSpPr>
          <p:cNvPr id="35" name="Text 33"/>
          <p:cNvSpPr txBox="1"/>
          <p:nvPr/>
        </p:nvSpPr>
        <p:spPr>
          <a:xfrm>
            <a:off x="8412480" y="3493008"/>
            <a:ext cx="137160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17.44</a:t>
            </a:r>
            <a:endParaRPr lang="en-US" sz="1200" dirty="0"/>
          </a:p>
        </p:txBody>
      </p:sp>
      <p:sp>
        <p:nvSpPr>
          <p:cNvPr id="36" name="Text 34"/>
          <p:cNvSpPr txBox="1"/>
          <p:nvPr/>
        </p:nvSpPr>
        <p:spPr>
          <a:xfrm>
            <a:off x="9966960" y="3493008"/>
            <a:ext cx="1737360" cy="310896"/>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3.8 – 58.0</a:t>
            </a:r>
            <a:endParaRPr lang="en-US" sz="1200" dirty="0"/>
          </a:p>
        </p:txBody>
      </p:sp>
      <p:sp>
        <p:nvSpPr>
          <p:cNvPr id="37" name="Shape 35"/>
          <p:cNvSpPr/>
          <p:nvPr/>
        </p:nvSpPr>
        <p:spPr>
          <a:xfrm>
            <a:off x="548640" y="3950208"/>
            <a:ext cx="11091672" cy="457200"/>
          </a:xfrm>
          <a:prstGeom prst="rect">
            <a:avLst/>
          </a:prstGeom>
          <a:solidFill>
            <a:srgbClr val="1B2026"/>
          </a:solidFill>
          <a:ln w="12700">
            <a:solidFill>
              <a:srgbClr val="12161A"/>
            </a:solidFill>
            <a:prstDash val="solid"/>
          </a:ln>
        </p:spPr>
      </p:sp>
      <p:sp>
        <p:nvSpPr>
          <p:cNvPr id="38" name="Shape 36"/>
          <p:cNvSpPr/>
          <p:nvPr/>
        </p:nvSpPr>
        <p:spPr>
          <a:xfrm>
            <a:off x="676656" y="4123944"/>
            <a:ext cx="109728" cy="109728"/>
          </a:xfrm>
          <a:prstGeom prst="ellipse">
            <a:avLst/>
          </a:prstGeom>
          <a:solidFill>
            <a:srgbClr val="2EC4B6"/>
          </a:solidFill>
          <a:ln w="12700">
            <a:solidFill>
              <a:srgbClr val="2EC4B6"/>
            </a:solidFill>
            <a:prstDash val="solid"/>
          </a:ln>
        </p:spPr>
      </p:sp>
      <p:sp>
        <p:nvSpPr>
          <p:cNvPr id="39" name="Text 37"/>
          <p:cNvSpPr txBox="1"/>
          <p:nvPr/>
        </p:nvSpPr>
        <p:spPr>
          <a:xfrm>
            <a:off x="896112" y="4023360"/>
            <a:ext cx="2670048"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International Student %</a:t>
            </a:r>
            <a:endParaRPr lang="en-US" sz="1250" dirty="0"/>
          </a:p>
        </p:txBody>
      </p:sp>
      <p:sp>
        <p:nvSpPr>
          <p:cNvPr id="40" name="Text 38"/>
          <p:cNvSpPr txBox="1"/>
          <p:nvPr/>
        </p:nvSpPr>
        <p:spPr>
          <a:xfrm>
            <a:off x="3749040" y="4023360"/>
            <a:ext cx="3017520" cy="310896"/>
          </a:xfrm>
          <a:prstGeom prst="rect">
            <a:avLst/>
          </a:prstGeom>
          <a:noFill/>
          <a:ln/>
        </p:spPr>
        <p:txBody>
          <a:bodyPr wrap="square" lIns="0" tIns="0" rIns="0" bIns="0" rtlCol="0" anchor="ctr"/>
          <a:lstStyle/>
          <a:p>
            <a:pPr indent="0" marL="0">
              <a:buNone/>
            </a:pPr>
            <a:r>
              <a:rPr lang="en-US" sz="1200" dirty="0">
                <a:solidFill>
                  <a:srgbClr val="CFD6DF"/>
                </a:solidFill>
                <a:latin typeface="Calibri" pitchFamily="34" charset="0"/>
                <a:ea typeface="Calibri" pitchFamily="34" charset="-122"/>
                <a:cs typeface="Calibri" pitchFamily="34" charset="-120"/>
              </a:rPr>
              <a:t>THE International Students</a:t>
            </a:r>
            <a:endParaRPr lang="en-US" sz="1200" dirty="0"/>
          </a:p>
        </p:txBody>
      </p:sp>
      <p:sp>
        <p:nvSpPr>
          <p:cNvPr id="41" name="Text 39"/>
          <p:cNvSpPr txBox="1"/>
          <p:nvPr/>
        </p:nvSpPr>
        <p:spPr>
          <a:xfrm>
            <a:off x="6858000" y="4023360"/>
            <a:ext cx="1371600" cy="310896"/>
          </a:xfrm>
          <a:prstGeom prst="rect">
            <a:avLst/>
          </a:prstGeom>
          <a:noFill/>
          <a:ln/>
        </p:spPr>
        <p:txBody>
          <a:bodyPr wrap="square" lIns="0" tIns="0" rIns="0" bIns="0" rtlCol="0" anchor="ctr"/>
          <a:lstStyle/>
          <a:p>
            <a:pPr algn="r" indent="0" marL="0">
              <a:buNone/>
            </a:pPr>
            <a:r>
              <a:rPr lang="en-US" sz="1200" dirty="0">
                <a:solidFill>
                  <a:srgbClr val="CFD6DF"/>
                </a:solidFill>
                <a:latin typeface="Calibri" pitchFamily="34" charset="0"/>
                <a:ea typeface="Calibri" pitchFamily="34" charset="-122"/>
                <a:cs typeface="Calibri" pitchFamily="34" charset="-120"/>
              </a:rPr>
              <a:t>195</a:t>
            </a:r>
            <a:endParaRPr lang="en-US" sz="1200" dirty="0"/>
          </a:p>
        </p:txBody>
      </p:sp>
      <p:sp>
        <p:nvSpPr>
          <p:cNvPr id="42" name="Text 40"/>
          <p:cNvSpPr txBox="1"/>
          <p:nvPr/>
        </p:nvSpPr>
        <p:spPr>
          <a:xfrm>
            <a:off x="8412480" y="4023360"/>
            <a:ext cx="137160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25.48%</a:t>
            </a:r>
            <a:endParaRPr lang="en-US" sz="1200" dirty="0"/>
          </a:p>
        </p:txBody>
      </p:sp>
      <p:sp>
        <p:nvSpPr>
          <p:cNvPr id="43" name="Text 41"/>
          <p:cNvSpPr txBox="1"/>
          <p:nvPr/>
        </p:nvSpPr>
        <p:spPr>
          <a:xfrm>
            <a:off x="9966960" y="4023360"/>
            <a:ext cx="1737360" cy="310896"/>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1% – 72%</a:t>
            </a:r>
            <a:endParaRPr lang="en-US" sz="1200" dirty="0"/>
          </a:p>
        </p:txBody>
      </p:sp>
      <p:sp>
        <p:nvSpPr>
          <p:cNvPr id="44" name="Shape 42"/>
          <p:cNvSpPr/>
          <p:nvPr/>
        </p:nvSpPr>
        <p:spPr>
          <a:xfrm>
            <a:off x="548640" y="4480560"/>
            <a:ext cx="11091672" cy="457200"/>
          </a:xfrm>
          <a:prstGeom prst="rect">
            <a:avLst/>
          </a:prstGeom>
          <a:solidFill>
            <a:srgbClr val="12161A"/>
          </a:solidFill>
          <a:ln w="12700">
            <a:solidFill>
              <a:srgbClr val="12161A"/>
            </a:solidFill>
            <a:prstDash val="solid"/>
          </a:ln>
        </p:spPr>
      </p:sp>
      <p:sp>
        <p:nvSpPr>
          <p:cNvPr id="45" name="Shape 43"/>
          <p:cNvSpPr/>
          <p:nvPr/>
        </p:nvSpPr>
        <p:spPr>
          <a:xfrm>
            <a:off x="676656" y="4654296"/>
            <a:ext cx="109728" cy="109728"/>
          </a:xfrm>
          <a:prstGeom prst="ellipse">
            <a:avLst/>
          </a:prstGeom>
          <a:solidFill>
            <a:srgbClr val="E71D36"/>
          </a:solidFill>
          <a:ln w="12700">
            <a:solidFill>
              <a:srgbClr val="E71D36"/>
            </a:solidFill>
            <a:prstDash val="solid"/>
          </a:ln>
        </p:spPr>
      </p:sp>
      <p:sp>
        <p:nvSpPr>
          <p:cNvPr id="46" name="Text 44"/>
          <p:cNvSpPr txBox="1"/>
          <p:nvPr/>
        </p:nvSpPr>
        <p:spPr>
          <a:xfrm>
            <a:off x="896112" y="4553712"/>
            <a:ext cx="2670048"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Research Productivity (Proxy)</a:t>
            </a:r>
            <a:endParaRPr lang="en-US" sz="1250" dirty="0"/>
          </a:p>
        </p:txBody>
      </p:sp>
      <p:sp>
        <p:nvSpPr>
          <p:cNvPr id="47" name="Text 45"/>
          <p:cNvSpPr txBox="1"/>
          <p:nvPr/>
        </p:nvSpPr>
        <p:spPr>
          <a:xfrm>
            <a:off x="3749040" y="4553712"/>
            <a:ext cx="3017520" cy="310896"/>
          </a:xfrm>
          <a:prstGeom prst="rect">
            <a:avLst/>
          </a:prstGeom>
          <a:noFill/>
          <a:ln/>
        </p:spPr>
        <p:txBody>
          <a:bodyPr wrap="square" lIns="0" tIns="0" rIns="0" bIns="0" rtlCol="0" anchor="ctr"/>
          <a:lstStyle/>
          <a:p>
            <a:pPr indent="0" marL="0">
              <a:buNone/>
            </a:pPr>
            <a:r>
              <a:rPr lang="en-US" sz="1200" dirty="0">
                <a:solidFill>
                  <a:srgbClr val="CFD6DF"/>
                </a:solidFill>
                <a:latin typeface="Calibri" pitchFamily="34" charset="0"/>
                <a:ea typeface="Calibri" pitchFamily="34" charset="-122"/>
                <a:cs typeface="Calibri" pitchFamily="34" charset="-120"/>
              </a:rPr>
              <a:t>THE Research Environment</a:t>
            </a:r>
            <a:endParaRPr lang="en-US" sz="1200" dirty="0"/>
          </a:p>
        </p:txBody>
      </p:sp>
      <p:sp>
        <p:nvSpPr>
          <p:cNvPr id="48" name="Text 46"/>
          <p:cNvSpPr txBox="1"/>
          <p:nvPr/>
        </p:nvSpPr>
        <p:spPr>
          <a:xfrm>
            <a:off x="6858000" y="4553712"/>
            <a:ext cx="1371600" cy="310896"/>
          </a:xfrm>
          <a:prstGeom prst="rect">
            <a:avLst/>
          </a:prstGeom>
          <a:noFill/>
          <a:ln/>
        </p:spPr>
        <p:txBody>
          <a:bodyPr wrap="square" lIns="0" tIns="0" rIns="0" bIns="0" rtlCol="0" anchor="ctr"/>
          <a:lstStyle/>
          <a:p>
            <a:pPr algn="r" indent="0" marL="0">
              <a:buNone/>
            </a:pPr>
            <a:r>
              <a:rPr lang="en-US" sz="1200" dirty="0">
                <a:solidFill>
                  <a:srgbClr val="CFD6DF"/>
                </a:solidFill>
                <a:latin typeface="Calibri" pitchFamily="34" charset="0"/>
                <a:ea typeface="Calibri" pitchFamily="34" charset="-122"/>
                <a:cs typeface="Calibri" pitchFamily="34" charset="-120"/>
              </a:rPr>
              <a:t>195</a:t>
            </a:r>
            <a:endParaRPr lang="en-US" sz="1200" dirty="0"/>
          </a:p>
        </p:txBody>
      </p:sp>
      <p:sp>
        <p:nvSpPr>
          <p:cNvPr id="49" name="Text 47"/>
          <p:cNvSpPr txBox="1"/>
          <p:nvPr/>
        </p:nvSpPr>
        <p:spPr>
          <a:xfrm>
            <a:off x="8412480" y="4553712"/>
            <a:ext cx="1371600" cy="310896"/>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61.23</a:t>
            </a:r>
            <a:endParaRPr lang="en-US" sz="1200" dirty="0"/>
          </a:p>
        </p:txBody>
      </p:sp>
      <p:sp>
        <p:nvSpPr>
          <p:cNvPr id="50" name="Text 48"/>
          <p:cNvSpPr txBox="1"/>
          <p:nvPr/>
        </p:nvSpPr>
        <p:spPr>
          <a:xfrm>
            <a:off x="9966960" y="4553712"/>
            <a:ext cx="1737360" cy="310896"/>
          </a:xfrm>
          <a:prstGeom prst="rect">
            <a:avLst/>
          </a:prstGeom>
          <a:noFill/>
          <a:ln/>
        </p:spPr>
        <p:txBody>
          <a:bodyPr wrap="square" lIns="0" tIns="0" rIns="0" bIns="0" rtlCol="0" anchor="ctr"/>
          <a:lstStyle/>
          <a:p>
            <a:pPr algn="r" indent="0" marL="0">
              <a:buNone/>
            </a:pPr>
            <a:r>
              <a:rPr lang="en-US" sz="1200" dirty="0">
                <a:solidFill>
                  <a:srgbClr val="FFFFFF"/>
                </a:solidFill>
                <a:latin typeface="Calibri" pitchFamily="34" charset="0"/>
                <a:ea typeface="Calibri" pitchFamily="34" charset="-122"/>
                <a:cs typeface="Calibri" pitchFamily="34" charset="-120"/>
              </a:rPr>
              <a:t>34.9 – 100</a:t>
            </a:r>
            <a:endParaRPr lang="en-US" sz="1200" dirty="0"/>
          </a:p>
        </p:txBody>
      </p:sp>
      <p:sp>
        <p:nvSpPr>
          <p:cNvPr id="51" name="Shape 49"/>
          <p:cNvSpPr/>
          <p:nvPr/>
        </p:nvSpPr>
        <p:spPr>
          <a:xfrm>
            <a:off x="548640" y="5138928"/>
            <a:ext cx="11091672" cy="1115568"/>
          </a:xfrm>
          <a:prstGeom prst="roundRect">
            <a:avLst>
              <a:gd name="adj" fmla="val 4918"/>
            </a:avLst>
          </a:prstGeom>
          <a:solidFill>
            <a:srgbClr val="202730"/>
          </a:solidFill>
          <a:ln w="9525">
            <a:solidFill>
              <a:srgbClr val="28323D"/>
            </a:solidFill>
            <a:prstDash val="solid"/>
          </a:ln>
        </p:spPr>
      </p:sp>
      <p:sp>
        <p:nvSpPr>
          <p:cNvPr id="52" name="Text 50"/>
          <p:cNvSpPr txBox="1"/>
          <p:nvPr/>
        </p:nvSpPr>
        <p:spPr>
          <a:xfrm>
            <a:off x="841248" y="5285232"/>
            <a:ext cx="3017520" cy="274320"/>
          </a:xfrm>
          <a:prstGeom prst="rect">
            <a:avLst/>
          </a:prstGeom>
          <a:noFill/>
          <a:ln/>
        </p:spPr>
        <p:txBody>
          <a:bodyPr wrap="square" lIns="0" tIns="0" rIns="0" bIns="0" rtlCol="0" anchor="ctr"/>
          <a:lstStyle/>
          <a:p>
            <a:pPr indent="0" marL="0">
              <a:buNone/>
            </a:pPr>
            <a:r>
              <a:rPr lang="en-US" sz="1400" b="1" dirty="0">
                <a:solidFill>
                  <a:srgbClr val="E71D36"/>
                </a:solidFill>
                <a:latin typeface="Arial" pitchFamily="34" charset="0"/>
                <a:ea typeface="Arial" pitchFamily="34" charset="-122"/>
                <a:cs typeface="Arial" pitchFamily="34" charset="-120"/>
              </a:rPr>
              <a:t>Research Productivity (Proxy)</a:t>
            </a:r>
            <a:endParaRPr lang="en-US" sz="1400" dirty="0"/>
          </a:p>
        </p:txBody>
      </p:sp>
      <p:sp>
        <p:nvSpPr>
          <p:cNvPr id="53" name="Text 51"/>
          <p:cNvSpPr txBox="1"/>
          <p:nvPr/>
        </p:nvSpPr>
        <p:spPr>
          <a:xfrm>
            <a:off x="4023360" y="5285232"/>
            <a:ext cx="7315200" cy="777240"/>
          </a:xfrm>
          <a:prstGeom prst="rect">
            <a:avLst/>
          </a:prstGeom>
          <a:noFill/>
          <a:ln/>
        </p:spPr>
        <p:txBody>
          <a:bodyPr wrap="square" lIns="0" tIns="0" rIns="0" bIns="0" rtlCol="0" anchor="t"/>
          <a:lstStyle/>
          <a:p>
            <a:pPr indent="0" marL="0">
              <a:lnSpc>
                <a:spcPts val="1600"/>
              </a:lnSpc>
              <a:buNone/>
            </a:pPr>
            <a:r>
              <a:rPr lang="en-US" sz="1200" dirty="0">
                <a:solidFill>
                  <a:srgbClr val="CFD6DF"/>
                </a:solidFill>
                <a:latin typeface="Calibri" pitchFamily="34" charset="0"/>
                <a:ea typeface="Calibri" pitchFamily="34" charset="-122"/>
                <a:cs typeface="Calibri" pitchFamily="34" charset="-120"/>
              </a:rPr>
              <a:t>This is a project proxy derived from the THE Research Environment score — not THE's official Research Productivity metric. It is labelled "(Proxy)" everywhere it appears, and the Research Analytics dashboard carries a permanent footnote saying so.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VALIDATION</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Evidence the numbers are trustworthy</a:t>
            </a:r>
            <a:endParaRPr lang="en-US" sz="3000" dirty="0"/>
          </a:p>
        </p:txBody>
      </p:sp>
      <p:sp>
        <p:nvSpPr>
          <p:cNvPr id="4" name="Shape 2"/>
          <p:cNvSpPr/>
          <p:nvPr/>
        </p:nvSpPr>
        <p:spPr>
          <a:xfrm>
            <a:off x="548640" y="1481328"/>
            <a:ext cx="3520440" cy="1371600"/>
          </a:xfrm>
          <a:prstGeom prst="roundRect">
            <a:avLst>
              <a:gd name="adj" fmla="val 4000"/>
            </a:avLst>
          </a:prstGeom>
          <a:solidFill>
            <a:srgbClr val="1B2026"/>
          </a:solidFill>
          <a:ln w="9525">
            <a:solidFill>
              <a:srgbClr val="28323D"/>
            </a:solidFill>
            <a:prstDash val="solid"/>
          </a:ln>
        </p:spPr>
      </p:sp>
      <p:sp>
        <p:nvSpPr>
          <p:cNvPr id="5" name="Text 3"/>
          <p:cNvSpPr txBox="1"/>
          <p:nvPr/>
        </p:nvSpPr>
        <p:spPr>
          <a:xfrm>
            <a:off x="804672" y="1627632"/>
            <a:ext cx="3008376" cy="658368"/>
          </a:xfrm>
          <a:prstGeom prst="rect">
            <a:avLst/>
          </a:prstGeom>
          <a:noFill/>
          <a:ln/>
        </p:spPr>
        <p:txBody>
          <a:bodyPr wrap="square" lIns="0" tIns="0" rIns="0" bIns="0" rtlCol="0" anchor="ctr"/>
          <a:lstStyle/>
          <a:p>
            <a:pPr indent="0" marL="0">
              <a:buNone/>
            </a:pPr>
            <a:r>
              <a:rPr lang="en-US" sz="3400" b="1" dirty="0">
                <a:solidFill>
                  <a:srgbClr val="00D2C4"/>
                </a:solidFill>
                <a:latin typeface="Arial" pitchFamily="34" charset="0"/>
                <a:ea typeface="Arial" pitchFamily="34" charset="-122"/>
                <a:cs typeface="Arial" pitchFamily="34" charset="-120"/>
              </a:rPr>
              <a:t>28 / 28</a:t>
            </a:r>
            <a:endParaRPr lang="en-US" sz="3400" dirty="0"/>
          </a:p>
        </p:txBody>
      </p:sp>
      <p:sp>
        <p:nvSpPr>
          <p:cNvPr id="6" name="Text 4"/>
          <p:cNvSpPr txBox="1"/>
          <p:nvPr/>
        </p:nvSpPr>
        <p:spPr>
          <a:xfrm>
            <a:off x="804672" y="2249424"/>
            <a:ext cx="3008376"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Assertions passed</a:t>
            </a:r>
            <a:endParaRPr lang="en-US" sz="1300" dirty="0"/>
          </a:p>
        </p:txBody>
      </p:sp>
      <p:sp>
        <p:nvSpPr>
          <p:cNvPr id="7" name="Text 5"/>
          <p:cNvSpPr txBox="1"/>
          <p:nvPr/>
        </p:nvSpPr>
        <p:spPr>
          <a:xfrm>
            <a:off x="804672" y="2478024"/>
            <a:ext cx="3008376" cy="274320"/>
          </a:xfrm>
          <a:prstGeom prst="rect">
            <a:avLst/>
          </a:prstGeom>
          <a:noFill/>
          <a:ln/>
        </p:spPr>
        <p:txBody>
          <a:bodyPr wrap="square" lIns="0" tIns="0" rIns="0" bIns="0" rtlCol="0" anchor="ctr"/>
          <a:lstStyle/>
          <a:p>
            <a:pPr indent="0" marL="0">
              <a:buNone/>
            </a:pPr>
            <a:r>
              <a:rPr lang="en-US" sz="1050" dirty="0">
                <a:solidFill>
                  <a:srgbClr val="8C97A4"/>
                </a:solidFill>
                <a:latin typeface="Calibri" pitchFamily="34" charset="0"/>
                <a:ea typeface="Calibri" pitchFamily="34" charset="-122"/>
                <a:cs typeface="Calibri" pitchFamily="34" charset="-120"/>
              </a:rPr>
              <a:t>Structure, coverage, ranges and means</a:t>
            </a:r>
            <a:endParaRPr lang="en-US" sz="1050" dirty="0"/>
          </a:p>
        </p:txBody>
      </p:sp>
      <p:sp>
        <p:nvSpPr>
          <p:cNvPr id="8" name="Shape 6"/>
          <p:cNvSpPr/>
          <p:nvPr/>
        </p:nvSpPr>
        <p:spPr>
          <a:xfrm>
            <a:off x="4325112" y="1481328"/>
            <a:ext cx="3520440" cy="1371600"/>
          </a:xfrm>
          <a:prstGeom prst="roundRect">
            <a:avLst>
              <a:gd name="adj" fmla="val 4000"/>
            </a:avLst>
          </a:prstGeom>
          <a:solidFill>
            <a:srgbClr val="1B2026"/>
          </a:solidFill>
          <a:ln w="9525">
            <a:solidFill>
              <a:srgbClr val="28323D"/>
            </a:solidFill>
            <a:prstDash val="solid"/>
          </a:ln>
        </p:spPr>
      </p:sp>
      <p:sp>
        <p:nvSpPr>
          <p:cNvPr id="9" name="Text 7"/>
          <p:cNvSpPr txBox="1"/>
          <p:nvPr/>
        </p:nvSpPr>
        <p:spPr>
          <a:xfrm>
            <a:off x="4581144" y="1627632"/>
            <a:ext cx="3008376" cy="658368"/>
          </a:xfrm>
          <a:prstGeom prst="rect">
            <a:avLst/>
          </a:prstGeom>
          <a:noFill/>
          <a:ln/>
        </p:spPr>
        <p:txBody>
          <a:bodyPr wrap="square" lIns="0" tIns="0" rIns="0" bIns="0" rtlCol="0" anchor="ctr"/>
          <a:lstStyle/>
          <a:p>
            <a:pPr indent="0" marL="0">
              <a:buNone/>
            </a:pPr>
            <a:r>
              <a:rPr lang="en-US" sz="3400" b="1" dirty="0">
                <a:solidFill>
                  <a:srgbClr val="2EC4B6"/>
                </a:solidFill>
                <a:latin typeface="Arial" pitchFamily="34" charset="0"/>
                <a:ea typeface="Arial" pitchFamily="34" charset="-122"/>
                <a:cs typeface="Arial" pitchFamily="34" charset="-120"/>
              </a:rPr>
              <a:t>2</a:t>
            </a:r>
            <a:endParaRPr lang="en-US" sz="3400" dirty="0"/>
          </a:p>
        </p:txBody>
      </p:sp>
      <p:sp>
        <p:nvSpPr>
          <p:cNvPr id="10" name="Text 8"/>
          <p:cNvSpPr txBox="1"/>
          <p:nvPr/>
        </p:nvSpPr>
        <p:spPr>
          <a:xfrm>
            <a:off x="4581144" y="2249424"/>
            <a:ext cx="3008376"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Independent implementations</a:t>
            </a:r>
            <a:endParaRPr lang="en-US" sz="1300" dirty="0"/>
          </a:p>
        </p:txBody>
      </p:sp>
      <p:sp>
        <p:nvSpPr>
          <p:cNvPr id="11" name="Text 9"/>
          <p:cNvSpPr txBox="1"/>
          <p:nvPr/>
        </p:nvSpPr>
        <p:spPr>
          <a:xfrm>
            <a:off x="4581144" y="2478024"/>
            <a:ext cx="3008376" cy="274320"/>
          </a:xfrm>
          <a:prstGeom prst="rect">
            <a:avLst/>
          </a:prstGeom>
          <a:noFill/>
          <a:ln/>
        </p:spPr>
        <p:txBody>
          <a:bodyPr wrap="square" lIns="0" tIns="0" rIns="0" bIns="0" rtlCol="0" anchor="ctr"/>
          <a:lstStyle/>
          <a:p>
            <a:pPr indent="0" marL="0">
              <a:buNone/>
            </a:pPr>
            <a:r>
              <a:rPr lang="en-US" sz="1050" dirty="0">
                <a:solidFill>
                  <a:srgbClr val="8C97A4"/>
                </a:solidFill>
                <a:latin typeface="Calibri" pitchFamily="34" charset="0"/>
                <a:ea typeface="Calibri" pitchFamily="34" charset="-122"/>
                <a:cs typeface="Calibri" pitchFamily="34" charset="-120"/>
              </a:rPr>
              <a:t>Script pipeline and Colab notebook agree</a:t>
            </a:r>
            <a:endParaRPr lang="en-US" sz="1050" dirty="0"/>
          </a:p>
        </p:txBody>
      </p:sp>
      <p:sp>
        <p:nvSpPr>
          <p:cNvPr id="12" name="Shape 10"/>
          <p:cNvSpPr/>
          <p:nvPr/>
        </p:nvSpPr>
        <p:spPr>
          <a:xfrm>
            <a:off x="8101584" y="1481328"/>
            <a:ext cx="3520440" cy="1371600"/>
          </a:xfrm>
          <a:prstGeom prst="roundRect">
            <a:avLst>
              <a:gd name="adj" fmla="val 4000"/>
            </a:avLst>
          </a:prstGeom>
          <a:solidFill>
            <a:srgbClr val="1B2026"/>
          </a:solidFill>
          <a:ln w="9525">
            <a:solidFill>
              <a:srgbClr val="28323D"/>
            </a:solidFill>
            <a:prstDash val="solid"/>
          </a:ln>
        </p:spPr>
      </p:sp>
      <p:sp>
        <p:nvSpPr>
          <p:cNvPr id="13" name="Text 11"/>
          <p:cNvSpPr txBox="1"/>
          <p:nvPr/>
        </p:nvSpPr>
        <p:spPr>
          <a:xfrm>
            <a:off x="8357616" y="1627632"/>
            <a:ext cx="3008376" cy="658368"/>
          </a:xfrm>
          <a:prstGeom prst="rect">
            <a:avLst/>
          </a:prstGeom>
          <a:noFill/>
          <a:ln/>
        </p:spPr>
        <p:txBody>
          <a:bodyPr wrap="square" lIns="0" tIns="0" rIns="0" bIns="0" rtlCol="0" anchor="ctr"/>
          <a:lstStyle/>
          <a:p>
            <a:pPr indent="0" marL="0">
              <a:buNone/>
            </a:pPr>
            <a:r>
              <a:rPr lang="en-US" sz="3400" b="1" dirty="0">
                <a:solidFill>
                  <a:srgbClr val="FF9F1C"/>
                </a:solidFill>
                <a:latin typeface="Arial" pitchFamily="34" charset="0"/>
                <a:ea typeface="Arial" pitchFamily="34" charset="-122"/>
                <a:cs typeface="Arial" pitchFamily="34" charset="-120"/>
              </a:rPr>
              <a:t>0</a:t>
            </a:r>
            <a:endParaRPr lang="en-US" sz="3400" dirty="0"/>
          </a:p>
        </p:txBody>
      </p:sp>
      <p:sp>
        <p:nvSpPr>
          <p:cNvPr id="14" name="Text 12"/>
          <p:cNvSpPr txBox="1"/>
          <p:nvPr/>
        </p:nvSpPr>
        <p:spPr>
          <a:xfrm>
            <a:off x="8357616" y="2249424"/>
            <a:ext cx="3008376"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Bytes of drift</a:t>
            </a:r>
            <a:endParaRPr lang="en-US" sz="1300" dirty="0"/>
          </a:p>
        </p:txBody>
      </p:sp>
      <p:sp>
        <p:nvSpPr>
          <p:cNvPr id="15" name="Text 13"/>
          <p:cNvSpPr txBox="1"/>
          <p:nvPr/>
        </p:nvSpPr>
        <p:spPr>
          <a:xfrm>
            <a:off x="8357616" y="2478024"/>
            <a:ext cx="3008376" cy="274320"/>
          </a:xfrm>
          <a:prstGeom prst="rect">
            <a:avLst/>
          </a:prstGeom>
          <a:noFill/>
          <a:ln/>
        </p:spPr>
        <p:txBody>
          <a:bodyPr wrap="square" lIns="0" tIns="0" rIns="0" bIns="0" rtlCol="0" anchor="ctr"/>
          <a:lstStyle/>
          <a:p>
            <a:pPr indent="0" marL="0">
              <a:buNone/>
            </a:pPr>
            <a:r>
              <a:rPr lang="en-US" sz="1050" dirty="0">
                <a:solidFill>
                  <a:srgbClr val="8C97A4"/>
                </a:solidFill>
                <a:latin typeface="Calibri" pitchFamily="34" charset="0"/>
                <a:ea typeface="Calibri" pitchFamily="34" charset="-122"/>
                <a:cs typeface="Calibri" pitchFamily="34" charset="-120"/>
              </a:rPr>
              <a:t>Re-runs reproduce the dataset exactly</a:t>
            </a:r>
            <a:endParaRPr lang="en-US" sz="1050" dirty="0"/>
          </a:p>
        </p:txBody>
      </p:sp>
      <p:sp>
        <p:nvSpPr>
          <p:cNvPr id="16" name="Shape 14"/>
          <p:cNvSpPr/>
          <p:nvPr/>
        </p:nvSpPr>
        <p:spPr>
          <a:xfrm>
            <a:off x="548640" y="3072384"/>
            <a:ext cx="5486400" cy="3200400"/>
          </a:xfrm>
          <a:prstGeom prst="roundRect">
            <a:avLst>
              <a:gd name="adj" fmla="val 1714"/>
            </a:avLst>
          </a:prstGeom>
          <a:solidFill>
            <a:srgbClr val="1B2026"/>
          </a:solidFill>
          <a:ln w="9525">
            <a:solidFill>
              <a:srgbClr val="28323D"/>
            </a:solidFill>
            <a:prstDash val="solid"/>
          </a:ln>
        </p:spPr>
      </p:sp>
      <p:sp>
        <p:nvSpPr>
          <p:cNvPr id="17" name="Text 15"/>
          <p:cNvSpPr txBox="1"/>
          <p:nvPr/>
        </p:nvSpPr>
        <p:spPr>
          <a:xfrm>
            <a:off x="841248" y="3273552"/>
            <a:ext cx="4901184"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is checked</a:t>
            </a:r>
            <a:endParaRPr lang="en-US" sz="1600" dirty="0"/>
          </a:p>
        </p:txBody>
      </p:sp>
      <p:sp>
        <p:nvSpPr>
          <p:cNvPr id="18" name="Text 16"/>
          <p:cNvSpPr txBox="1"/>
          <p:nvPr/>
        </p:nvSpPr>
        <p:spPr>
          <a:xfrm>
            <a:off x="841248" y="3657600"/>
            <a:ext cx="4901184" cy="237744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50" dirty="0">
                <a:solidFill>
                  <a:srgbClr val="CFD6DF"/>
                </a:solidFill>
                <a:latin typeface="Calibri" pitchFamily="34" charset="0"/>
                <a:ea typeface="Calibri" pitchFamily="34" charset="-122"/>
                <a:cs typeface="Calibri" pitchFamily="34" charset="-120"/>
              </a:rPr>
              <a:t>Row count holds at 1,503 through every stage</a:t>
            </a:r>
            <a:endParaRPr lang="en-US" sz="1250" dirty="0"/>
          </a:p>
          <a:p>
            <a:pPr marL="342900" indent="-342900">
              <a:lnSpc>
                <a:spcPts val="1600"/>
              </a:lnSpc>
              <a:spcAft>
                <a:spcPts val="800"/>
              </a:spcAft>
              <a:buSzPct val="100000"/>
              <a:buChar char="•"/>
            </a:pPr>
            <a:r>
              <a:rPr lang="en-US" sz="1250" dirty="0">
                <a:solidFill>
                  <a:srgbClr val="CFD6DF"/>
                </a:solidFill>
                <a:latin typeface="Calibri" pitchFamily="34" charset="0"/>
                <a:ea typeface="Calibri" pitchFamily="34" charset="-122"/>
                <a:cs typeface="Calibri" pitchFamily="34" charset="-120"/>
              </a:rPr>
              <a:t>106 countries; United States at 197 institutions</a:t>
            </a:r>
            <a:endParaRPr lang="en-US" sz="1250" dirty="0"/>
          </a:p>
          <a:p>
            <a:pPr marL="342900" indent="-342900">
              <a:lnSpc>
                <a:spcPts val="1600"/>
              </a:lnSpc>
              <a:spcAft>
                <a:spcPts val="800"/>
              </a:spcAft>
              <a:buSzPct val="100000"/>
              <a:buChar char="•"/>
            </a:pPr>
            <a:r>
              <a:rPr lang="en-US" sz="1250" dirty="0">
                <a:solidFill>
                  <a:srgbClr val="CFD6DF"/>
                </a:solidFill>
                <a:latin typeface="Calibri" pitchFamily="34" charset="0"/>
                <a:ea typeface="Calibri" pitchFamily="34" charset="-122"/>
                <a:cs typeface="Calibri" pitchFamily="34" charset="-120"/>
              </a:rPr>
              <a:t>195 matched / 1,308 null — exact, not approximate</a:t>
            </a:r>
            <a:endParaRPr lang="en-US" sz="1250" dirty="0"/>
          </a:p>
          <a:p>
            <a:pPr marL="342900" indent="-342900">
              <a:lnSpc>
                <a:spcPts val="1600"/>
              </a:lnSpc>
              <a:spcAft>
                <a:spcPts val="800"/>
              </a:spcAft>
              <a:buSzPct val="100000"/>
              <a:buChar char="•"/>
            </a:pPr>
            <a:r>
              <a:rPr lang="en-US" sz="1250" dirty="0">
                <a:solidFill>
                  <a:srgbClr val="CFD6DF"/>
                </a:solidFill>
                <a:latin typeface="Calibri" pitchFamily="34" charset="0"/>
                <a:ea typeface="Calibri" pitchFamily="34" charset="-122"/>
                <a:cs typeface="Calibri" pitchFamily="34" charset="-120"/>
              </a:rPr>
              <a:t>Research-intensity split: VH 1021, HI 362, MD 104, LO 16</a:t>
            </a:r>
            <a:endParaRPr lang="en-US" sz="1250" dirty="0"/>
          </a:p>
          <a:p>
            <a:pPr marL="342900" indent="-342900">
              <a:lnSpc>
                <a:spcPts val="1600"/>
              </a:lnSpc>
              <a:spcAft>
                <a:spcPts val="800"/>
              </a:spcAft>
              <a:buSzPct val="100000"/>
              <a:buChar char="•"/>
            </a:pPr>
            <a:r>
              <a:rPr lang="en-US" sz="1250" dirty="0">
                <a:solidFill>
                  <a:srgbClr val="CFD6DF"/>
                </a:solidFill>
                <a:latin typeface="Calibri" pitchFamily="34" charset="0"/>
                <a:ea typeface="Calibri" pitchFamily="34" charset="-122"/>
                <a:cs typeface="Calibri" pitchFamily="34" charset="-120"/>
              </a:rPr>
              <a:t>Every KPI's non-null count, minimum, maximum and mean</a:t>
            </a:r>
            <a:endParaRPr lang="en-US" sz="1250" dirty="0"/>
          </a:p>
        </p:txBody>
      </p:sp>
      <p:sp>
        <p:nvSpPr>
          <p:cNvPr id="19" name="Shape 17"/>
          <p:cNvSpPr/>
          <p:nvPr/>
        </p:nvSpPr>
        <p:spPr>
          <a:xfrm>
            <a:off x="6291072" y="3072384"/>
            <a:ext cx="5349240" cy="3200400"/>
          </a:xfrm>
          <a:prstGeom prst="roundRect">
            <a:avLst>
              <a:gd name="adj" fmla="val 1714"/>
            </a:avLst>
          </a:prstGeom>
          <a:solidFill>
            <a:srgbClr val="1B2026"/>
          </a:solidFill>
          <a:ln w="9525">
            <a:solidFill>
              <a:srgbClr val="28323D"/>
            </a:solidFill>
            <a:prstDash val="solid"/>
          </a:ln>
        </p:spPr>
      </p:sp>
      <p:sp>
        <p:nvSpPr>
          <p:cNvPr id="20" name="Text 18"/>
          <p:cNvSpPr txBox="1"/>
          <p:nvPr/>
        </p:nvSpPr>
        <p:spPr>
          <a:xfrm>
            <a:off x="6583680" y="3273552"/>
            <a:ext cx="4764024"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it is reproducible</a:t>
            </a:r>
            <a:endParaRPr lang="en-US" sz="1600" dirty="0"/>
          </a:p>
        </p:txBody>
      </p:sp>
      <p:sp>
        <p:nvSpPr>
          <p:cNvPr id="21" name="Text 19"/>
          <p:cNvSpPr txBox="1"/>
          <p:nvPr/>
        </p:nvSpPr>
        <p:spPr>
          <a:xfrm>
            <a:off x="6583680" y="3657600"/>
            <a:ext cx="4764024" cy="2377440"/>
          </a:xfrm>
          <a:prstGeom prst="rect">
            <a:avLst/>
          </a:prstGeom>
          <a:noFill/>
          <a:ln/>
        </p:spPr>
        <p:txBody>
          <a:bodyPr wrap="square" lIns="0" tIns="0" rIns="0" bIns="0" rtlCol="0" anchor="t"/>
          <a:lstStyle/>
          <a:p>
            <a:pPr indent="0" marL="0">
              <a:lnSpc>
                <a:spcPts val="1700"/>
              </a:lnSpc>
              <a:buNone/>
            </a:pPr>
            <a:r>
              <a:rPr lang="en-US" sz="1250" dirty="0">
                <a:solidFill>
                  <a:srgbClr val="CFD6DF"/>
                </a:solidFill>
                <a:latin typeface="Calibri" pitchFamily="34" charset="0"/>
                <a:ea typeface="Calibri" pitchFamily="34" charset="-122"/>
                <a:cs typeface="Calibri" pitchFamily="34" charset="-120"/>
              </a:rPr>
              <a:t>The cleaning, integration and KPI scripts were re-run end to end and produced files byte-identical to the committed dataset. The Colab notebook — a separate implementation of the same logic — was executed across all 18 code cells and exported a dataset identical to the script output.</a:t>
            </a:r>
            <a:endParaRPr lang="en-US" sz="1250" dirty="0"/>
          </a:p>
          <a:p>
            <a:pPr indent="0" marL="0">
              <a:lnSpc>
                <a:spcPts val="1700"/>
              </a:lnSpc>
              <a:buNone/>
            </a:pPr>
            <a:endParaRPr lang="en-US" sz="1250" dirty="0"/>
          </a:p>
          <a:p>
            <a:pPr indent="0" marL="0">
              <a:lnSpc>
                <a:spcPts val="1700"/>
              </a:lnSpc>
              <a:buNone/>
            </a:pPr>
            <a:r>
              <a:rPr lang="en-US" sz="1250" dirty="0">
                <a:solidFill>
                  <a:srgbClr val="CFD6DF"/>
                </a:solidFill>
                <a:latin typeface="Calibri" pitchFamily="34" charset="0"/>
                <a:ea typeface="Calibri" pitchFamily="34" charset="-122"/>
                <a:cs typeface="Calibri" pitchFamily="34" charset="-120"/>
              </a:rPr>
              <a:t>Two independent paths landing on the same bytes is the strongest evidence available that the numbers on the dashboards are not an accident of one particular run.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DASHBOARD 1 OF 4</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University Overview</a:t>
            </a:r>
            <a:endParaRPr lang="en-US" sz="3000" dirty="0"/>
          </a:p>
        </p:txBody>
      </p:sp>
      <p:sp>
        <p:nvSpPr>
          <p:cNvPr id="4" name="Shape 2"/>
          <p:cNvSpPr/>
          <p:nvPr/>
        </p:nvSpPr>
        <p:spPr>
          <a:xfrm>
            <a:off x="512064" y="1426464"/>
            <a:ext cx="8046720" cy="4807458"/>
          </a:xfrm>
          <a:prstGeom prst="rect">
            <a:avLst/>
          </a:prstGeom>
          <a:solidFill>
            <a:srgbClr val="1B2026"/>
          </a:solidFill>
          <a:ln w="9525">
            <a:solidFill>
              <a:srgbClr val="28323D"/>
            </a:solidFill>
            <a:prstDash val="solid"/>
          </a:ln>
        </p:spPr>
      </p:sp>
      <p:pic>
        <p:nvPicPr>
          <p:cNvPr id="5" name="Image 0" descr="/home/claude/deck/img/dash1_university_overview.png">    </p:cNvPr>
          <p:cNvPicPr>
            <a:picLocks noChangeAspect="1"/>
          </p:cNvPicPr>
          <p:nvPr/>
        </p:nvPicPr>
        <p:blipFill>
          <a:blip r:embed="rId1"/>
          <a:stretch>
            <a:fillRect/>
          </a:stretch>
        </p:blipFill>
        <p:spPr>
          <a:xfrm>
            <a:off x="548640" y="1463040"/>
            <a:ext cx="7973568" cy="4734306"/>
          </a:xfrm>
          <a:prstGeom prst="rect">
            <a:avLst/>
          </a:prstGeom>
        </p:spPr>
      </p:pic>
      <p:sp>
        <p:nvSpPr>
          <p:cNvPr id="6" name="Shape 3"/>
          <p:cNvSpPr/>
          <p:nvPr/>
        </p:nvSpPr>
        <p:spPr>
          <a:xfrm>
            <a:off x="8906256" y="1536192"/>
            <a:ext cx="118872" cy="118872"/>
          </a:xfrm>
          <a:prstGeom prst="ellipse">
            <a:avLst/>
          </a:prstGeom>
          <a:solidFill>
            <a:srgbClr val="00D2C4"/>
          </a:solidFill>
          <a:ln w="12700">
            <a:solidFill>
              <a:srgbClr val="00D2C4"/>
            </a:solidFill>
            <a:prstDash val="solid"/>
          </a:ln>
        </p:spPr>
      </p:sp>
      <p:sp>
        <p:nvSpPr>
          <p:cNvPr id="7" name="Text 4"/>
          <p:cNvSpPr txBox="1"/>
          <p:nvPr/>
        </p:nvSpPr>
        <p:spPr>
          <a:xfrm>
            <a:off x="9144000" y="144475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Three live KPI cards</a:t>
            </a:r>
            <a:endParaRPr lang="en-US" sz="1300" dirty="0"/>
          </a:p>
        </p:txBody>
      </p:sp>
      <p:sp>
        <p:nvSpPr>
          <p:cNvPr id="8" name="Text 5"/>
          <p:cNvSpPr txBox="1"/>
          <p:nvPr/>
        </p:nvSpPr>
        <p:spPr>
          <a:xfrm>
            <a:off x="9144000" y="186537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Top institution, total count and average score — all computed, none hard-coded.</a:t>
            </a:r>
            <a:endParaRPr lang="en-US" sz="1150" dirty="0"/>
          </a:p>
        </p:txBody>
      </p:sp>
      <p:sp>
        <p:nvSpPr>
          <p:cNvPr id="9" name="Shape 6"/>
          <p:cNvSpPr/>
          <p:nvPr/>
        </p:nvSpPr>
        <p:spPr>
          <a:xfrm>
            <a:off x="8906256" y="2724912"/>
            <a:ext cx="118872" cy="118872"/>
          </a:xfrm>
          <a:prstGeom prst="ellipse">
            <a:avLst/>
          </a:prstGeom>
          <a:solidFill>
            <a:srgbClr val="00D2C4"/>
          </a:solidFill>
          <a:ln w="12700">
            <a:solidFill>
              <a:srgbClr val="00D2C4"/>
            </a:solidFill>
            <a:prstDash val="solid"/>
          </a:ln>
        </p:spPr>
      </p:sp>
      <p:sp>
        <p:nvSpPr>
          <p:cNvPr id="10" name="Text 7"/>
          <p:cNvSpPr txBox="1"/>
          <p:nvPr/>
        </p:nvSpPr>
        <p:spPr>
          <a:xfrm>
            <a:off x="9144000" y="263347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Top 10 by global score</a:t>
            </a:r>
            <a:endParaRPr lang="en-US" sz="1300" dirty="0"/>
          </a:p>
        </p:txBody>
      </p:sp>
      <p:sp>
        <p:nvSpPr>
          <p:cNvPr id="11" name="Text 8"/>
          <p:cNvSpPr txBox="1"/>
          <p:nvPr/>
        </p:nvSpPr>
        <p:spPr>
          <a:xfrm>
            <a:off x="9144000" y="305409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Axis framed 85–100 so the gap from MIT's 100.0 to Caltech's 90.9 is readable.</a:t>
            </a:r>
            <a:endParaRPr lang="en-US" sz="1150" dirty="0"/>
          </a:p>
        </p:txBody>
      </p:sp>
      <p:sp>
        <p:nvSpPr>
          <p:cNvPr id="12" name="Shape 9"/>
          <p:cNvSpPr/>
          <p:nvPr/>
        </p:nvSpPr>
        <p:spPr>
          <a:xfrm>
            <a:off x="8906256" y="3913632"/>
            <a:ext cx="118872" cy="118872"/>
          </a:xfrm>
          <a:prstGeom prst="ellipse">
            <a:avLst/>
          </a:prstGeom>
          <a:solidFill>
            <a:srgbClr val="00D2C4"/>
          </a:solidFill>
          <a:ln w="12700">
            <a:solidFill>
              <a:srgbClr val="00D2C4"/>
            </a:solidFill>
            <a:prstDash val="solid"/>
          </a:ln>
        </p:spPr>
      </p:sp>
      <p:sp>
        <p:nvSpPr>
          <p:cNvPr id="13" name="Text 10"/>
          <p:cNvSpPr txBox="1"/>
          <p:nvPr/>
        </p:nvSpPr>
        <p:spPr>
          <a:xfrm>
            <a:off x="9144000" y="382219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Distribution and spread</a:t>
            </a:r>
            <a:endParaRPr lang="en-US" sz="1300" dirty="0"/>
          </a:p>
        </p:txBody>
      </p:sp>
      <p:sp>
        <p:nvSpPr>
          <p:cNvPr id="14" name="Text 11"/>
          <p:cNvSpPr txBox="1"/>
          <p:nvPr/>
        </p:nvSpPr>
        <p:spPr>
          <a:xfrm>
            <a:off x="9144000" y="424281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A donut splits all 1,503 by region; the map plots their footprint.</a:t>
            </a:r>
            <a:endParaRPr lang="en-US" sz="1150" dirty="0"/>
          </a:p>
        </p:txBody>
      </p:sp>
      <p:sp>
        <p:nvSpPr>
          <p:cNvPr id="15" name="Shape 12"/>
          <p:cNvSpPr/>
          <p:nvPr/>
        </p:nvSpPr>
        <p:spPr>
          <a:xfrm>
            <a:off x="8906256" y="5102352"/>
            <a:ext cx="118872" cy="118872"/>
          </a:xfrm>
          <a:prstGeom prst="ellipse">
            <a:avLst/>
          </a:prstGeom>
          <a:solidFill>
            <a:srgbClr val="00D2C4"/>
          </a:solidFill>
          <a:ln w="12700">
            <a:solidFill>
              <a:srgbClr val="00D2C4"/>
            </a:solidFill>
            <a:prstDash val="solid"/>
          </a:ln>
        </p:spPr>
      </p:sp>
      <p:sp>
        <p:nvSpPr>
          <p:cNvPr id="16" name="Text 13"/>
          <p:cNvSpPr txBox="1"/>
          <p:nvPr/>
        </p:nvSpPr>
        <p:spPr>
          <a:xfrm>
            <a:off x="9144000" y="501091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Four linked filters</a:t>
            </a:r>
            <a:endParaRPr lang="en-US" sz="1300" dirty="0"/>
          </a:p>
        </p:txBody>
      </p:sp>
      <p:sp>
        <p:nvSpPr>
          <p:cNvPr id="17" name="Text 14"/>
          <p:cNvSpPr txBox="1"/>
          <p:nvPr/>
        </p:nvSpPr>
        <p:spPr>
          <a:xfrm>
            <a:off x="9144000" y="543153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Region, Location, Size and Focus drive every view at once.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FF9F1C"/>
                </a:solidFill>
                <a:latin typeface="Calibri" pitchFamily="34" charset="0"/>
                <a:ea typeface="Calibri" pitchFamily="34" charset="-122"/>
                <a:cs typeface="Calibri" pitchFamily="34" charset="-120"/>
              </a:rPr>
              <a:t>DASHBOARD 2 OF 4</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Research Analytics</a:t>
            </a:r>
            <a:endParaRPr lang="en-US" sz="3000" dirty="0"/>
          </a:p>
        </p:txBody>
      </p:sp>
      <p:sp>
        <p:nvSpPr>
          <p:cNvPr id="4" name="Shape 2"/>
          <p:cNvSpPr/>
          <p:nvPr/>
        </p:nvSpPr>
        <p:spPr>
          <a:xfrm>
            <a:off x="512064" y="1426464"/>
            <a:ext cx="8046720" cy="4807458"/>
          </a:xfrm>
          <a:prstGeom prst="rect">
            <a:avLst/>
          </a:prstGeom>
          <a:solidFill>
            <a:srgbClr val="1B2026"/>
          </a:solidFill>
          <a:ln w="9525">
            <a:solidFill>
              <a:srgbClr val="28323D"/>
            </a:solidFill>
            <a:prstDash val="solid"/>
          </a:ln>
        </p:spPr>
      </p:sp>
      <p:pic>
        <p:nvPicPr>
          <p:cNvPr id="5" name="Image 0" descr="/home/claude/deck/img/dash2_research_analytics.png">    </p:cNvPr>
          <p:cNvPicPr>
            <a:picLocks noChangeAspect="1"/>
          </p:cNvPicPr>
          <p:nvPr/>
        </p:nvPicPr>
        <p:blipFill>
          <a:blip r:embed="rId1"/>
          <a:stretch>
            <a:fillRect/>
          </a:stretch>
        </p:blipFill>
        <p:spPr>
          <a:xfrm>
            <a:off x="548640" y="1463040"/>
            <a:ext cx="7973568" cy="4734306"/>
          </a:xfrm>
          <a:prstGeom prst="rect">
            <a:avLst/>
          </a:prstGeom>
        </p:spPr>
      </p:pic>
      <p:sp>
        <p:nvSpPr>
          <p:cNvPr id="6" name="Shape 3"/>
          <p:cNvSpPr/>
          <p:nvPr/>
        </p:nvSpPr>
        <p:spPr>
          <a:xfrm>
            <a:off x="8906256" y="1536192"/>
            <a:ext cx="118872" cy="118872"/>
          </a:xfrm>
          <a:prstGeom prst="ellipse">
            <a:avLst/>
          </a:prstGeom>
          <a:solidFill>
            <a:srgbClr val="FF9F1C"/>
          </a:solidFill>
          <a:ln w="12700">
            <a:solidFill>
              <a:srgbClr val="FF9F1C"/>
            </a:solidFill>
            <a:prstDash val="solid"/>
          </a:ln>
        </p:spPr>
      </p:sp>
      <p:sp>
        <p:nvSpPr>
          <p:cNvPr id="7" name="Text 4"/>
          <p:cNvSpPr txBox="1"/>
          <p:nvPr/>
        </p:nvSpPr>
        <p:spPr>
          <a:xfrm>
            <a:off x="9144000" y="144475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Impact against productivity</a:t>
            </a:r>
            <a:endParaRPr lang="en-US" sz="1300" dirty="0"/>
          </a:p>
        </p:txBody>
      </p:sp>
      <p:sp>
        <p:nvSpPr>
          <p:cNvPr id="8" name="Text 5"/>
          <p:cNvSpPr txBox="1"/>
          <p:nvPr/>
        </p:nvSpPr>
        <p:spPr>
          <a:xfrm>
            <a:off x="9144000" y="186537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A scatter of the matched cohort shows only a weak relationship between the two.</a:t>
            </a:r>
            <a:endParaRPr lang="en-US" sz="1150" dirty="0"/>
          </a:p>
        </p:txBody>
      </p:sp>
      <p:sp>
        <p:nvSpPr>
          <p:cNvPr id="9" name="Shape 6"/>
          <p:cNvSpPr/>
          <p:nvPr/>
        </p:nvSpPr>
        <p:spPr>
          <a:xfrm>
            <a:off x="8906256" y="2724912"/>
            <a:ext cx="118872" cy="118872"/>
          </a:xfrm>
          <a:prstGeom prst="ellipse">
            <a:avLst/>
          </a:prstGeom>
          <a:solidFill>
            <a:srgbClr val="FF9F1C"/>
          </a:solidFill>
          <a:ln w="12700">
            <a:solidFill>
              <a:srgbClr val="FF9F1C"/>
            </a:solidFill>
            <a:prstDash val="solid"/>
          </a:ln>
        </p:spPr>
      </p:sp>
      <p:sp>
        <p:nvSpPr>
          <p:cNvPr id="10" name="Text 7"/>
          <p:cNvSpPr txBox="1"/>
          <p:nvPr/>
        </p:nvSpPr>
        <p:spPr>
          <a:xfrm>
            <a:off x="9144000" y="263347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Research intensity as a control</a:t>
            </a:r>
            <a:endParaRPr lang="en-US" sz="1300" dirty="0"/>
          </a:p>
        </p:txBody>
      </p:sp>
      <p:sp>
        <p:nvSpPr>
          <p:cNvPr id="11" name="Text 8"/>
          <p:cNvSpPr txBox="1"/>
          <p:nvPr/>
        </p:nvSpPr>
        <p:spPr>
          <a:xfrm>
            <a:off x="9144000" y="305409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Box plots across VH / HI / MD / LO show most of the spread sits inside Very High.</a:t>
            </a:r>
            <a:endParaRPr lang="en-US" sz="1150" dirty="0"/>
          </a:p>
        </p:txBody>
      </p:sp>
      <p:sp>
        <p:nvSpPr>
          <p:cNvPr id="12" name="Shape 9"/>
          <p:cNvSpPr/>
          <p:nvPr/>
        </p:nvSpPr>
        <p:spPr>
          <a:xfrm>
            <a:off x="8906256" y="3913632"/>
            <a:ext cx="118872" cy="118872"/>
          </a:xfrm>
          <a:prstGeom prst="ellipse">
            <a:avLst/>
          </a:prstGeom>
          <a:solidFill>
            <a:srgbClr val="FF9F1C"/>
          </a:solidFill>
          <a:ln w="12700">
            <a:solidFill>
              <a:srgbClr val="FF9F1C"/>
            </a:solidFill>
            <a:prstDash val="solid"/>
          </a:ln>
        </p:spPr>
      </p:sp>
      <p:sp>
        <p:nvSpPr>
          <p:cNvPr id="13" name="Text 10"/>
          <p:cNvSpPr txBox="1"/>
          <p:nvPr/>
        </p:nvSpPr>
        <p:spPr>
          <a:xfrm>
            <a:off x="9144000" y="382219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Top 10 by research impact</a:t>
            </a:r>
            <a:endParaRPr lang="en-US" sz="1300" dirty="0"/>
          </a:p>
        </p:txBody>
      </p:sp>
      <p:sp>
        <p:nvSpPr>
          <p:cNvPr id="14" name="Text 11"/>
          <p:cNvSpPr txBox="1"/>
          <p:nvPr/>
        </p:nvSpPr>
        <p:spPr>
          <a:xfrm>
            <a:off x="9144000" y="424281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Paired bars put citation impact beside the productivity proxy, institution by institution.</a:t>
            </a:r>
            <a:endParaRPr lang="en-US" sz="1150" dirty="0"/>
          </a:p>
        </p:txBody>
      </p:sp>
      <p:sp>
        <p:nvSpPr>
          <p:cNvPr id="15" name="Shape 12"/>
          <p:cNvSpPr/>
          <p:nvPr/>
        </p:nvSpPr>
        <p:spPr>
          <a:xfrm>
            <a:off x="8906256" y="5102352"/>
            <a:ext cx="118872" cy="118872"/>
          </a:xfrm>
          <a:prstGeom prst="ellipse">
            <a:avLst/>
          </a:prstGeom>
          <a:solidFill>
            <a:srgbClr val="FF9F1C"/>
          </a:solidFill>
          <a:ln w="12700">
            <a:solidFill>
              <a:srgbClr val="FF9F1C"/>
            </a:solidFill>
            <a:prstDash val="solid"/>
          </a:ln>
        </p:spPr>
      </p:sp>
      <p:sp>
        <p:nvSpPr>
          <p:cNvPr id="16" name="Text 13"/>
          <p:cNvSpPr txBox="1"/>
          <p:nvPr/>
        </p:nvSpPr>
        <p:spPr>
          <a:xfrm>
            <a:off x="9144000" y="501091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Mandatory proxy footnote</a:t>
            </a:r>
            <a:endParaRPr lang="en-US" sz="1300" dirty="0"/>
          </a:p>
        </p:txBody>
      </p:sp>
      <p:sp>
        <p:nvSpPr>
          <p:cNvPr id="17" name="Text 14"/>
          <p:cNvSpPr txBox="1"/>
          <p:nvPr/>
        </p:nvSpPr>
        <p:spPr>
          <a:xfrm>
            <a:off x="9144000" y="543153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The caption naming the proxy's origin is pinned to the dashboard.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2EC4B6"/>
                </a:solidFill>
                <a:latin typeface="Calibri" pitchFamily="34" charset="0"/>
                <a:ea typeface="Calibri" pitchFamily="34" charset="-122"/>
                <a:cs typeface="Calibri" pitchFamily="34" charset="-120"/>
              </a:rPr>
              <a:t>DASHBOARD 3 OF 4</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Student Analytics</a:t>
            </a:r>
            <a:endParaRPr lang="en-US" sz="3000" dirty="0"/>
          </a:p>
        </p:txBody>
      </p:sp>
      <p:sp>
        <p:nvSpPr>
          <p:cNvPr id="4" name="Shape 2"/>
          <p:cNvSpPr/>
          <p:nvPr/>
        </p:nvSpPr>
        <p:spPr>
          <a:xfrm>
            <a:off x="512064" y="1426464"/>
            <a:ext cx="8046720" cy="4807458"/>
          </a:xfrm>
          <a:prstGeom prst="rect">
            <a:avLst/>
          </a:prstGeom>
          <a:solidFill>
            <a:srgbClr val="1B2026"/>
          </a:solidFill>
          <a:ln w="9525">
            <a:solidFill>
              <a:srgbClr val="28323D"/>
            </a:solidFill>
            <a:prstDash val="solid"/>
          </a:ln>
        </p:spPr>
      </p:sp>
      <p:pic>
        <p:nvPicPr>
          <p:cNvPr id="5" name="Image 0" descr="/home/claude/deck/img/dash3_student_analytics.png">    </p:cNvPr>
          <p:cNvPicPr>
            <a:picLocks noChangeAspect="1"/>
          </p:cNvPicPr>
          <p:nvPr/>
        </p:nvPicPr>
        <p:blipFill>
          <a:blip r:embed="rId1"/>
          <a:stretch>
            <a:fillRect/>
          </a:stretch>
        </p:blipFill>
        <p:spPr>
          <a:xfrm>
            <a:off x="548640" y="1463040"/>
            <a:ext cx="7973568" cy="4734306"/>
          </a:xfrm>
          <a:prstGeom prst="rect">
            <a:avLst/>
          </a:prstGeom>
        </p:spPr>
      </p:pic>
      <p:sp>
        <p:nvSpPr>
          <p:cNvPr id="6" name="Shape 3"/>
          <p:cNvSpPr/>
          <p:nvPr/>
        </p:nvSpPr>
        <p:spPr>
          <a:xfrm>
            <a:off x="8906256" y="1536192"/>
            <a:ext cx="118872" cy="118872"/>
          </a:xfrm>
          <a:prstGeom prst="ellipse">
            <a:avLst/>
          </a:prstGeom>
          <a:solidFill>
            <a:srgbClr val="2EC4B6"/>
          </a:solidFill>
          <a:ln w="12700">
            <a:solidFill>
              <a:srgbClr val="2EC4B6"/>
            </a:solidFill>
            <a:prstDash val="solid"/>
          </a:ln>
        </p:spPr>
      </p:sp>
      <p:sp>
        <p:nvSpPr>
          <p:cNvPr id="7" name="Text 4"/>
          <p:cNvSpPr txBox="1"/>
          <p:nvPr/>
        </p:nvSpPr>
        <p:spPr>
          <a:xfrm>
            <a:off x="9144000" y="144475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Teaching load by region</a:t>
            </a:r>
            <a:endParaRPr lang="en-US" sz="1300" dirty="0"/>
          </a:p>
        </p:txBody>
      </p:sp>
      <p:sp>
        <p:nvSpPr>
          <p:cNvPr id="8" name="Text 5"/>
          <p:cNvSpPr txBox="1"/>
          <p:nvPr/>
        </p:nvSpPr>
        <p:spPr>
          <a:xfrm>
            <a:off x="9144000" y="186537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Oceania carries 30.6 students per staff against Africa's 13.0.</a:t>
            </a:r>
            <a:endParaRPr lang="en-US" sz="1150" dirty="0"/>
          </a:p>
        </p:txBody>
      </p:sp>
      <p:sp>
        <p:nvSpPr>
          <p:cNvPr id="9" name="Shape 6"/>
          <p:cNvSpPr/>
          <p:nvPr/>
        </p:nvSpPr>
        <p:spPr>
          <a:xfrm>
            <a:off x="8906256" y="2724912"/>
            <a:ext cx="118872" cy="118872"/>
          </a:xfrm>
          <a:prstGeom prst="ellipse">
            <a:avLst/>
          </a:prstGeom>
          <a:solidFill>
            <a:srgbClr val="2EC4B6"/>
          </a:solidFill>
          <a:ln w="12700">
            <a:solidFill>
              <a:srgbClr val="2EC4B6"/>
            </a:solidFill>
            <a:prstDash val="solid"/>
          </a:ln>
        </p:spPr>
      </p:sp>
      <p:sp>
        <p:nvSpPr>
          <p:cNvPr id="10" name="Text 7"/>
          <p:cNvSpPr txBox="1"/>
          <p:nvPr/>
        </p:nvSpPr>
        <p:spPr>
          <a:xfrm>
            <a:off x="9144000" y="263347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Internationalisation</a:t>
            </a:r>
            <a:endParaRPr lang="en-US" sz="1300" dirty="0"/>
          </a:p>
        </p:txBody>
      </p:sp>
      <p:sp>
        <p:nvSpPr>
          <p:cNvPr id="11" name="Text 8"/>
          <p:cNvSpPr txBox="1"/>
          <p:nvPr/>
        </p:nvSpPr>
        <p:spPr>
          <a:xfrm>
            <a:off x="9144000" y="305409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International share against staffing ratio separates open systems from large domestic ones.</a:t>
            </a:r>
            <a:endParaRPr lang="en-US" sz="1150" dirty="0"/>
          </a:p>
        </p:txBody>
      </p:sp>
      <p:sp>
        <p:nvSpPr>
          <p:cNvPr id="12" name="Shape 9"/>
          <p:cNvSpPr/>
          <p:nvPr/>
        </p:nvSpPr>
        <p:spPr>
          <a:xfrm>
            <a:off x="8906256" y="3913632"/>
            <a:ext cx="118872" cy="118872"/>
          </a:xfrm>
          <a:prstGeom prst="ellipse">
            <a:avLst/>
          </a:prstGeom>
          <a:solidFill>
            <a:srgbClr val="2EC4B6"/>
          </a:solidFill>
          <a:ln w="12700">
            <a:solidFill>
              <a:srgbClr val="2EC4B6"/>
            </a:solidFill>
            <a:prstDash val="solid"/>
          </a:ln>
        </p:spPr>
      </p:sp>
      <p:sp>
        <p:nvSpPr>
          <p:cNvPr id="13" name="Text 10"/>
          <p:cNvSpPr txBox="1"/>
          <p:nvPr/>
        </p:nvSpPr>
        <p:spPr>
          <a:xfrm>
            <a:off x="9144000" y="382219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Enrolment scale</a:t>
            </a:r>
            <a:endParaRPr lang="en-US" sz="1300" dirty="0"/>
          </a:p>
        </p:txBody>
      </p:sp>
      <p:sp>
        <p:nvSpPr>
          <p:cNvPr id="14" name="Text 11"/>
          <p:cNvSpPr txBox="1"/>
          <p:nvPr/>
        </p:nvSpPr>
        <p:spPr>
          <a:xfrm>
            <a:off x="9144000" y="424281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Toronto tops the cohort at 80,107 FTE students, ahead of Bologna's 76,955.</a:t>
            </a:r>
            <a:endParaRPr lang="en-US" sz="1150" dirty="0"/>
          </a:p>
        </p:txBody>
      </p:sp>
      <p:sp>
        <p:nvSpPr>
          <p:cNvPr id="15" name="Shape 12"/>
          <p:cNvSpPr/>
          <p:nvPr/>
        </p:nvSpPr>
        <p:spPr>
          <a:xfrm>
            <a:off x="8906256" y="5102352"/>
            <a:ext cx="118872" cy="118872"/>
          </a:xfrm>
          <a:prstGeom prst="ellipse">
            <a:avLst/>
          </a:prstGeom>
          <a:solidFill>
            <a:srgbClr val="2EC4B6"/>
          </a:solidFill>
          <a:ln w="12700">
            <a:solidFill>
              <a:srgbClr val="2EC4B6"/>
            </a:solidFill>
            <a:prstDash val="solid"/>
          </a:ln>
        </p:spPr>
      </p:sp>
      <p:sp>
        <p:nvSpPr>
          <p:cNvPr id="16" name="Text 13"/>
          <p:cNvSpPr txBox="1"/>
          <p:nvPr/>
        </p:nvSpPr>
        <p:spPr>
          <a:xfrm>
            <a:off x="9144000" y="501091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Coverage stated in view</a:t>
            </a:r>
            <a:endParaRPr lang="en-US" sz="1300" dirty="0"/>
          </a:p>
        </p:txBody>
      </p:sp>
      <p:sp>
        <p:nvSpPr>
          <p:cNvPr id="17" name="Text 14"/>
          <p:cNvSpPr txBox="1"/>
          <p:nvPr/>
        </p:nvSpPr>
        <p:spPr>
          <a:xfrm>
            <a:off x="9144000" y="543153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Every card names its population, so no figure implies full coverage.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DASHBOARD 4 OF 4</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Country Comparison &amp; Benchmarking</a:t>
            </a:r>
            <a:endParaRPr lang="en-US" sz="3000" dirty="0"/>
          </a:p>
        </p:txBody>
      </p:sp>
      <p:sp>
        <p:nvSpPr>
          <p:cNvPr id="4" name="Shape 2"/>
          <p:cNvSpPr/>
          <p:nvPr/>
        </p:nvSpPr>
        <p:spPr>
          <a:xfrm>
            <a:off x="512064" y="1426464"/>
            <a:ext cx="8046720" cy="4807458"/>
          </a:xfrm>
          <a:prstGeom prst="rect">
            <a:avLst/>
          </a:prstGeom>
          <a:solidFill>
            <a:srgbClr val="1B2026"/>
          </a:solidFill>
          <a:ln w="9525">
            <a:solidFill>
              <a:srgbClr val="28323D"/>
            </a:solidFill>
            <a:prstDash val="solid"/>
          </a:ln>
        </p:spPr>
      </p:sp>
      <p:pic>
        <p:nvPicPr>
          <p:cNvPr id="5" name="Image 0" descr="/home/claude/deck/img/dash4_country_comparison.png">    </p:cNvPr>
          <p:cNvPicPr>
            <a:picLocks noChangeAspect="1"/>
          </p:cNvPicPr>
          <p:nvPr/>
        </p:nvPicPr>
        <p:blipFill>
          <a:blip r:embed="rId1"/>
          <a:stretch>
            <a:fillRect/>
          </a:stretch>
        </p:blipFill>
        <p:spPr>
          <a:xfrm>
            <a:off x="548640" y="1463040"/>
            <a:ext cx="7973568" cy="4734306"/>
          </a:xfrm>
          <a:prstGeom prst="rect">
            <a:avLst/>
          </a:prstGeom>
        </p:spPr>
      </p:pic>
      <p:sp>
        <p:nvSpPr>
          <p:cNvPr id="6" name="Shape 3"/>
          <p:cNvSpPr/>
          <p:nvPr/>
        </p:nvSpPr>
        <p:spPr>
          <a:xfrm>
            <a:off x="8906256" y="1536192"/>
            <a:ext cx="118872" cy="118872"/>
          </a:xfrm>
          <a:prstGeom prst="ellipse">
            <a:avLst/>
          </a:prstGeom>
          <a:solidFill>
            <a:srgbClr val="00D2C4"/>
          </a:solidFill>
          <a:ln w="12700">
            <a:solidFill>
              <a:srgbClr val="00D2C4"/>
            </a:solidFill>
            <a:prstDash val="solid"/>
          </a:ln>
        </p:spPr>
      </p:sp>
      <p:sp>
        <p:nvSpPr>
          <p:cNvPr id="7" name="Text 4"/>
          <p:cNvSpPr txBox="1"/>
          <p:nvPr/>
        </p:nvSpPr>
        <p:spPr>
          <a:xfrm>
            <a:off x="9144000" y="144475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Concentration beats volume</a:t>
            </a:r>
            <a:endParaRPr lang="en-US" sz="1300" dirty="0"/>
          </a:p>
        </p:txBody>
      </p:sp>
      <p:sp>
        <p:nvSpPr>
          <p:cNvPr id="8" name="Text 5"/>
          <p:cNvSpPr txBox="1"/>
          <p:nvPr/>
        </p:nvSpPr>
        <p:spPr>
          <a:xfrm>
            <a:off x="9144000" y="186537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Hong Kong SAR leads on average score; the US leads on count at 197.</a:t>
            </a:r>
            <a:endParaRPr lang="en-US" sz="1150" dirty="0"/>
          </a:p>
        </p:txBody>
      </p:sp>
      <p:sp>
        <p:nvSpPr>
          <p:cNvPr id="9" name="Shape 6"/>
          <p:cNvSpPr/>
          <p:nvPr/>
        </p:nvSpPr>
        <p:spPr>
          <a:xfrm>
            <a:off x="8906256" y="2724912"/>
            <a:ext cx="118872" cy="118872"/>
          </a:xfrm>
          <a:prstGeom prst="ellipse">
            <a:avLst/>
          </a:prstGeom>
          <a:solidFill>
            <a:srgbClr val="00D2C4"/>
          </a:solidFill>
          <a:ln w="12700">
            <a:solidFill>
              <a:srgbClr val="00D2C4"/>
            </a:solidFill>
            <a:prstDash val="solid"/>
          </a:ln>
        </p:spPr>
      </p:sp>
      <p:sp>
        <p:nvSpPr>
          <p:cNvPr id="10" name="Text 7"/>
          <p:cNvSpPr txBox="1"/>
          <p:nvPr/>
        </p:nvSpPr>
        <p:spPr>
          <a:xfrm>
            <a:off x="9144000" y="263347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Benchmarking table</a:t>
            </a:r>
            <a:endParaRPr lang="en-US" sz="1300" dirty="0"/>
          </a:p>
        </p:txBody>
      </p:sp>
      <p:sp>
        <p:nvSpPr>
          <p:cNvPr id="11" name="Text 8"/>
          <p:cNvSpPr txBox="1"/>
          <p:nvPr/>
        </p:nvSpPr>
        <p:spPr>
          <a:xfrm>
            <a:off x="9144000" y="305409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All 106 countries scored on four measures, colour-graded for outliers.</a:t>
            </a:r>
            <a:endParaRPr lang="en-US" sz="1150" dirty="0"/>
          </a:p>
        </p:txBody>
      </p:sp>
      <p:sp>
        <p:nvSpPr>
          <p:cNvPr id="12" name="Shape 9"/>
          <p:cNvSpPr/>
          <p:nvPr/>
        </p:nvSpPr>
        <p:spPr>
          <a:xfrm>
            <a:off x="8906256" y="3913632"/>
            <a:ext cx="118872" cy="118872"/>
          </a:xfrm>
          <a:prstGeom prst="ellipse">
            <a:avLst/>
          </a:prstGeom>
          <a:solidFill>
            <a:srgbClr val="00D2C4"/>
          </a:solidFill>
          <a:ln w="12700">
            <a:solidFill>
              <a:srgbClr val="00D2C4"/>
            </a:solidFill>
            <a:prstDash val="solid"/>
          </a:ln>
        </p:spPr>
      </p:sp>
      <p:sp>
        <p:nvSpPr>
          <p:cNvPr id="13" name="Text 10"/>
          <p:cNvSpPr txBox="1"/>
          <p:nvPr/>
        </p:nvSpPr>
        <p:spPr>
          <a:xfrm>
            <a:off x="9144000" y="382219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Interactive cross-filter</a:t>
            </a:r>
            <a:endParaRPr lang="en-US" sz="1300" dirty="0"/>
          </a:p>
        </p:txBody>
      </p:sp>
      <p:sp>
        <p:nvSpPr>
          <p:cNvPr id="14" name="Text 11"/>
          <p:cNvSpPr txBox="1"/>
          <p:nvPr/>
        </p:nvSpPr>
        <p:spPr>
          <a:xfrm>
            <a:off x="9144000" y="424281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Selecting a country row zooms the choropleth and updates the country count.</a:t>
            </a:r>
            <a:endParaRPr lang="en-US" sz="1150" dirty="0"/>
          </a:p>
        </p:txBody>
      </p:sp>
      <p:sp>
        <p:nvSpPr>
          <p:cNvPr id="15" name="Shape 12"/>
          <p:cNvSpPr/>
          <p:nvPr/>
        </p:nvSpPr>
        <p:spPr>
          <a:xfrm>
            <a:off x="8906256" y="5102352"/>
            <a:ext cx="118872" cy="118872"/>
          </a:xfrm>
          <a:prstGeom prst="ellipse">
            <a:avLst/>
          </a:prstGeom>
          <a:solidFill>
            <a:srgbClr val="00D2C4"/>
          </a:solidFill>
          <a:ln w="12700">
            <a:solidFill>
              <a:srgbClr val="00D2C4"/>
            </a:solidFill>
            <a:prstDash val="solid"/>
          </a:ln>
        </p:spPr>
      </p:sp>
      <p:sp>
        <p:nvSpPr>
          <p:cNvPr id="16" name="Text 13"/>
          <p:cNvSpPr txBox="1"/>
          <p:nvPr/>
        </p:nvSpPr>
        <p:spPr>
          <a:xfrm>
            <a:off x="9144000" y="5010912"/>
            <a:ext cx="2499055" cy="420624"/>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Arial" pitchFamily="34" charset="0"/>
                <a:ea typeface="Arial" pitchFamily="34" charset="-122"/>
                <a:cs typeface="Arial" pitchFamily="34" charset="-120"/>
              </a:rPr>
              <a:t>Clearing restores everything</a:t>
            </a:r>
            <a:endParaRPr lang="en-US" sz="1300" dirty="0"/>
          </a:p>
        </p:txBody>
      </p:sp>
      <p:sp>
        <p:nvSpPr>
          <p:cNvPr id="17" name="Text 14"/>
          <p:cNvSpPr txBox="1"/>
          <p:nvPr/>
        </p:nvSpPr>
        <p:spPr>
          <a:xfrm>
            <a:off x="9144000" y="5431536"/>
            <a:ext cx="2499055" cy="841248"/>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Deselecting restores all 106 countries on the map.</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1A"/>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ctr"/>
          <a:lstStyle/>
          <a:p>
            <a:pPr indent="0" marL="0">
              <a:buNone/>
            </a:pPr>
            <a:r>
              <a:rPr lang="en-US" sz="1150" b="1" spc="220" kern="0" dirty="0">
                <a:solidFill>
                  <a:srgbClr val="00D2C4"/>
                </a:solidFill>
                <a:latin typeface="Calibri" pitchFamily="34" charset="0"/>
                <a:ea typeface="Calibri" pitchFamily="34" charset="-122"/>
                <a:cs typeface="Calibri" pitchFamily="34" charset="-120"/>
              </a:rPr>
              <a:t>WHAT THE DATA SHOWS</a:t>
            </a:r>
            <a:endParaRPr lang="en-US" sz="1150" dirty="0"/>
          </a:p>
        </p:txBody>
      </p:sp>
      <p:sp>
        <p:nvSpPr>
          <p:cNvPr id="3" name="Text 1"/>
          <p:cNvSpPr txBox="1"/>
          <p:nvPr/>
        </p:nvSpPr>
        <p:spPr>
          <a:xfrm>
            <a:off x="548640" y="603504"/>
            <a:ext cx="10424160" cy="56692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Four findings and where the project stands</a:t>
            </a:r>
            <a:endParaRPr lang="en-US" sz="3000" dirty="0"/>
          </a:p>
        </p:txBody>
      </p:sp>
      <p:sp>
        <p:nvSpPr>
          <p:cNvPr id="4" name="Shape 2"/>
          <p:cNvSpPr/>
          <p:nvPr/>
        </p:nvSpPr>
        <p:spPr>
          <a:xfrm>
            <a:off x="548640" y="1481328"/>
            <a:ext cx="5349240" cy="1572768"/>
          </a:xfrm>
          <a:prstGeom prst="roundRect">
            <a:avLst>
              <a:gd name="adj" fmla="val 3488"/>
            </a:avLst>
          </a:prstGeom>
          <a:solidFill>
            <a:srgbClr val="1B2026"/>
          </a:solidFill>
          <a:ln w="9525">
            <a:solidFill>
              <a:srgbClr val="28323D"/>
            </a:solidFill>
            <a:prstDash val="solid"/>
          </a:ln>
        </p:spPr>
      </p:sp>
      <p:sp>
        <p:nvSpPr>
          <p:cNvPr id="5" name="Shape 3"/>
          <p:cNvSpPr/>
          <p:nvPr/>
        </p:nvSpPr>
        <p:spPr>
          <a:xfrm>
            <a:off x="822960" y="1737360"/>
            <a:ext cx="128016" cy="128016"/>
          </a:xfrm>
          <a:prstGeom prst="ellipse">
            <a:avLst/>
          </a:prstGeom>
          <a:solidFill>
            <a:srgbClr val="00D2C4"/>
          </a:solidFill>
          <a:ln w="12700">
            <a:solidFill>
              <a:srgbClr val="00D2C4"/>
            </a:solidFill>
            <a:prstDash val="solid"/>
          </a:ln>
        </p:spPr>
      </p:sp>
      <p:sp>
        <p:nvSpPr>
          <p:cNvPr id="6" name="Text 4"/>
          <p:cNvSpPr txBox="1"/>
          <p:nvPr/>
        </p:nvSpPr>
        <p:spPr>
          <a:xfrm>
            <a:off x="1078992" y="1655064"/>
            <a:ext cx="45720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Elite performance is concentrated, not national</a:t>
            </a:r>
            <a:endParaRPr lang="en-US" sz="1400" dirty="0"/>
          </a:p>
        </p:txBody>
      </p:sp>
      <p:sp>
        <p:nvSpPr>
          <p:cNvPr id="7" name="Text 5"/>
          <p:cNvSpPr txBox="1"/>
          <p:nvPr/>
        </p:nvSpPr>
        <p:spPr>
          <a:xfrm>
            <a:off x="1078992" y="1984248"/>
            <a:ext cx="4572000" cy="960120"/>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Hong Kong SAR posts the highest average QS score across just six institutions, while the United States fields 197 and sits lower on the mean. Depth of system and height of peak are different things.</a:t>
            </a:r>
            <a:endParaRPr lang="en-US" sz="1150" dirty="0"/>
          </a:p>
        </p:txBody>
      </p:sp>
      <p:sp>
        <p:nvSpPr>
          <p:cNvPr id="8" name="Shape 6"/>
          <p:cNvSpPr/>
          <p:nvPr/>
        </p:nvSpPr>
        <p:spPr>
          <a:xfrm>
            <a:off x="6291072" y="1481328"/>
            <a:ext cx="5349240" cy="1572768"/>
          </a:xfrm>
          <a:prstGeom prst="roundRect">
            <a:avLst>
              <a:gd name="adj" fmla="val 3488"/>
            </a:avLst>
          </a:prstGeom>
          <a:solidFill>
            <a:srgbClr val="1B2026"/>
          </a:solidFill>
          <a:ln w="9525">
            <a:solidFill>
              <a:srgbClr val="28323D"/>
            </a:solidFill>
            <a:prstDash val="solid"/>
          </a:ln>
        </p:spPr>
      </p:sp>
      <p:sp>
        <p:nvSpPr>
          <p:cNvPr id="9" name="Shape 7"/>
          <p:cNvSpPr/>
          <p:nvPr/>
        </p:nvSpPr>
        <p:spPr>
          <a:xfrm>
            <a:off x="6565392" y="1737360"/>
            <a:ext cx="128016" cy="128016"/>
          </a:xfrm>
          <a:prstGeom prst="ellipse">
            <a:avLst/>
          </a:prstGeom>
          <a:solidFill>
            <a:srgbClr val="FF9F1C"/>
          </a:solidFill>
          <a:ln w="12700">
            <a:solidFill>
              <a:srgbClr val="FF9F1C"/>
            </a:solidFill>
            <a:prstDash val="solid"/>
          </a:ln>
        </p:spPr>
      </p:sp>
      <p:sp>
        <p:nvSpPr>
          <p:cNvPr id="10" name="Text 8"/>
          <p:cNvSpPr txBox="1"/>
          <p:nvPr/>
        </p:nvSpPr>
        <p:spPr>
          <a:xfrm>
            <a:off x="6821424" y="1655064"/>
            <a:ext cx="45720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Productivity does not buy citation impact</a:t>
            </a:r>
            <a:endParaRPr lang="en-US" sz="1400" dirty="0"/>
          </a:p>
        </p:txBody>
      </p:sp>
      <p:sp>
        <p:nvSpPr>
          <p:cNvPr id="11" name="Text 9"/>
          <p:cNvSpPr txBox="1"/>
          <p:nvPr/>
        </p:nvSpPr>
        <p:spPr>
          <a:xfrm>
            <a:off x="6821424" y="1984248"/>
            <a:ext cx="4572000" cy="960120"/>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The research proxy and citation impact scatter widely against each other. Institutions reach high impact from across the productivity range, so the two should be reported side by side, never substituted.</a:t>
            </a:r>
            <a:endParaRPr lang="en-US" sz="1150" dirty="0"/>
          </a:p>
        </p:txBody>
      </p:sp>
      <p:sp>
        <p:nvSpPr>
          <p:cNvPr id="12" name="Shape 10"/>
          <p:cNvSpPr/>
          <p:nvPr/>
        </p:nvSpPr>
        <p:spPr>
          <a:xfrm>
            <a:off x="548640" y="3264408"/>
            <a:ext cx="5349240" cy="1572768"/>
          </a:xfrm>
          <a:prstGeom prst="roundRect">
            <a:avLst>
              <a:gd name="adj" fmla="val 3488"/>
            </a:avLst>
          </a:prstGeom>
          <a:solidFill>
            <a:srgbClr val="1B2026"/>
          </a:solidFill>
          <a:ln w="9525">
            <a:solidFill>
              <a:srgbClr val="28323D"/>
            </a:solidFill>
            <a:prstDash val="solid"/>
          </a:ln>
        </p:spPr>
      </p:sp>
      <p:sp>
        <p:nvSpPr>
          <p:cNvPr id="13" name="Shape 11"/>
          <p:cNvSpPr/>
          <p:nvPr/>
        </p:nvSpPr>
        <p:spPr>
          <a:xfrm>
            <a:off x="822960" y="3520440"/>
            <a:ext cx="128016" cy="128016"/>
          </a:xfrm>
          <a:prstGeom prst="ellipse">
            <a:avLst/>
          </a:prstGeom>
          <a:solidFill>
            <a:srgbClr val="2EC4B6"/>
          </a:solidFill>
          <a:ln w="12700">
            <a:solidFill>
              <a:srgbClr val="2EC4B6"/>
            </a:solidFill>
            <a:prstDash val="solid"/>
          </a:ln>
        </p:spPr>
      </p:sp>
      <p:sp>
        <p:nvSpPr>
          <p:cNvPr id="14" name="Text 12"/>
          <p:cNvSpPr txBox="1"/>
          <p:nvPr/>
        </p:nvSpPr>
        <p:spPr>
          <a:xfrm>
            <a:off x="1078992" y="3438144"/>
            <a:ext cx="45720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Teaching load splits sharply by region</a:t>
            </a:r>
            <a:endParaRPr lang="en-US" sz="1400" dirty="0"/>
          </a:p>
        </p:txBody>
      </p:sp>
      <p:sp>
        <p:nvSpPr>
          <p:cNvPr id="15" name="Text 13"/>
          <p:cNvSpPr txBox="1"/>
          <p:nvPr/>
        </p:nvSpPr>
        <p:spPr>
          <a:xfrm>
            <a:off x="1078992" y="3767328"/>
            <a:ext cx="4572000" cy="960120"/>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Oceania runs 30.6 students per staff member against Africa's 13.0 — a structural difference in how systems are resourced, not a quality signal.</a:t>
            </a:r>
            <a:endParaRPr lang="en-US" sz="1150" dirty="0"/>
          </a:p>
        </p:txBody>
      </p:sp>
      <p:sp>
        <p:nvSpPr>
          <p:cNvPr id="16" name="Shape 14"/>
          <p:cNvSpPr/>
          <p:nvPr/>
        </p:nvSpPr>
        <p:spPr>
          <a:xfrm>
            <a:off x="6291072" y="3264408"/>
            <a:ext cx="5349240" cy="1572768"/>
          </a:xfrm>
          <a:prstGeom prst="roundRect">
            <a:avLst>
              <a:gd name="adj" fmla="val 3488"/>
            </a:avLst>
          </a:prstGeom>
          <a:solidFill>
            <a:srgbClr val="1B2026"/>
          </a:solidFill>
          <a:ln w="9525">
            <a:solidFill>
              <a:srgbClr val="28323D"/>
            </a:solidFill>
            <a:prstDash val="solid"/>
          </a:ln>
        </p:spPr>
      </p:sp>
      <p:sp>
        <p:nvSpPr>
          <p:cNvPr id="17" name="Shape 15"/>
          <p:cNvSpPr/>
          <p:nvPr/>
        </p:nvSpPr>
        <p:spPr>
          <a:xfrm>
            <a:off x="6565392" y="3520440"/>
            <a:ext cx="128016" cy="128016"/>
          </a:xfrm>
          <a:prstGeom prst="ellipse">
            <a:avLst/>
          </a:prstGeom>
          <a:solidFill>
            <a:srgbClr val="E71D36"/>
          </a:solidFill>
          <a:ln w="12700">
            <a:solidFill>
              <a:srgbClr val="E71D36"/>
            </a:solidFill>
            <a:prstDash val="solid"/>
          </a:ln>
        </p:spPr>
      </p:sp>
      <p:sp>
        <p:nvSpPr>
          <p:cNvPr id="18" name="Text 16"/>
          <p:cNvSpPr txBox="1"/>
          <p:nvPr/>
        </p:nvSpPr>
        <p:spPr>
          <a:xfrm>
            <a:off x="6821424" y="3438144"/>
            <a:ext cx="457200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Coverage is the finding nobody reports</a:t>
            </a:r>
            <a:endParaRPr lang="en-US" sz="1400" dirty="0"/>
          </a:p>
        </p:txBody>
      </p:sp>
      <p:sp>
        <p:nvSpPr>
          <p:cNvPr id="19" name="Text 17"/>
          <p:cNvSpPr txBox="1"/>
          <p:nvPr/>
        </p:nvSpPr>
        <p:spPr>
          <a:xfrm>
            <a:off x="6821424" y="3767328"/>
            <a:ext cx="4572000" cy="960120"/>
          </a:xfrm>
          <a:prstGeom prst="rect">
            <a:avLst/>
          </a:prstGeom>
          <a:noFill/>
          <a:ln/>
        </p:spPr>
        <p:txBody>
          <a:bodyPr wrap="square" lIns="0" tIns="0" rIns="0" bIns="0" rtlCol="0" anchor="t"/>
          <a:lstStyle/>
          <a:p>
            <a:pPr indent="0" marL="0">
              <a:lnSpc>
                <a:spcPts val="1500"/>
              </a:lnSpc>
              <a:buNone/>
            </a:pPr>
            <a:r>
              <a:rPr lang="en-US" sz="1150" dirty="0">
                <a:solidFill>
                  <a:srgbClr val="CFD6DF"/>
                </a:solidFill>
                <a:latin typeface="Calibri" pitchFamily="34" charset="0"/>
                <a:ea typeface="Calibri" pitchFamily="34" charset="-122"/>
                <a:cs typeface="Calibri" pitchFamily="34" charset="-120"/>
              </a:rPr>
              <a:t>Only two of six KPIs describe all 1,503 institutions. Three describe 195. Treating those as interchangeable would have produced confident numbers about a population that was never measured.</a:t>
            </a:r>
            <a:endParaRPr lang="en-US" sz="1150" dirty="0"/>
          </a:p>
        </p:txBody>
      </p:sp>
      <p:sp>
        <p:nvSpPr>
          <p:cNvPr id="20" name="Shape 18"/>
          <p:cNvSpPr/>
          <p:nvPr/>
        </p:nvSpPr>
        <p:spPr>
          <a:xfrm>
            <a:off x="548640" y="5074920"/>
            <a:ext cx="11091672" cy="1170432"/>
          </a:xfrm>
          <a:prstGeom prst="roundRect">
            <a:avLst>
              <a:gd name="adj" fmla="val 4688"/>
            </a:avLst>
          </a:prstGeom>
          <a:solidFill>
            <a:srgbClr val="202730"/>
          </a:solidFill>
          <a:ln w="9525">
            <a:solidFill>
              <a:srgbClr val="28323D"/>
            </a:solidFill>
            <a:prstDash val="solid"/>
          </a:ln>
        </p:spPr>
      </p:sp>
      <p:sp>
        <p:nvSpPr>
          <p:cNvPr id="21" name="Text 19"/>
          <p:cNvSpPr txBox="1"/>
          <p:nvPr/>
        </p:nvSpPr>
        <p:spPr>
          <a:xfrm>
            <a:off x="841248" y="5230368"/>
            <a:ext cx="1828800" cy="274320"/>
          </a:xfrm>
          <a:prstGeom prst="rect">
            <a:avLst/>
          </a:prstGeom>
          <a:noFill/>
          <a:ln/>
        </p:spPr>
        <p:txBody>
          <a:bodyPr wrap="square" lIns="0" tIns="0" rIns="0" bIns="0" rtlCol="0" anchor="ctr"/>
          <a:lstStyle/>
          <a:p>
            <a:pPr indent="0" marL="0">
              <a:buNone/>
            </a:pPr>
            <a:r>
              <a:rPr lang="en-US" sz="1400" b="1" dirty="0">
                <a:solidFill>
                  <a:srgbClr val="00D2C4"/>
                </a:solidFill>
                <a:latin typeface="Arial" pitchFamily="34" charset="0"/>
                <a:ea typeface="Arial" pitchFamily="34" charset="-122"/>
                <a:cs typeface="Arial" pitchFamily="34" charset="-120"/>
              </a:rPr>
              <a:t>Delivered</a:t>
            </a:r>
            <a:endParaRPr lang="en-US" sz="1400" dirty="0"/>
          </a:p>
        </p:txBody>
      </p:sp>
      <p:sp>
        <p:nvSpPr>
          <p:cNvPr id="22" name="Text 20"/>
          <p:cNvSpPr txBox="1"/>
          <p:nvPr/>
        </p:nvSpPr>
        <p:spPr>
          <a:xfrm>
            <a:off x="2468880" y="5230368"/>
            <a:ext cx="8869680" cy="841248"/>
          </a:xfrm>
          <a:prstGeom prst="rect">
            <a:avLst/>
          </a:prstGeom>
          <a:noFill/>
          <a:ln/>
        </p:spPr>
        <p:txBody>
          <a:bodyPr wrap="square" lIns="0" tIns="0" rIns="0" bIns="0" rtlCol="0" anchor="t"/>
          <a:lstStyle/>
          <a:p>
            <a:pPr indent="0" marL="0">
              <a:lnSpc>
                <a:spcPts val="1700"/>
              </a:lnSpc>
              <a:buNone/>
            </a:pPr>
            <a:r>
              <a:rPr lang="en-US" sz="1250" dirty="0">
                <a:solidFill>
                  <a:srgbClr val="CFD6DF"/>
                </a:solidFill>
                <a:latin typeface="Calibri" pitchFamily="34" charset="0"/>
                <a:ea typeface="Calibri" pitchFamily="34" charset="-122"/>
                <a:cs typeface="Calibri" pitchFamily="34" charset="-120"/>
              </a:rPr>
              <a:t>EduVision_DV.twbx — 4 dashboards, 21 worksheets, 10 calculated fields, 1 cross-filter action  ·  reproducible Python pipeline and Colab notebook  ·  methodology, testing and dashboard-build documentation.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EduVision_DV</dc:title>
  <dc:subject>Global Higher Education Performance Analytics</dc:subject>
  <dc:creator>Sireesha Kurapalli</dc:creator>
  <cp:lastModifiedBy>Sireesha Kurapalli</cp:lastModifiedBy>
  <cp:revision>1</cp:revision>
  <dcterms:created xsi:type="dcterms:W3CDTF">2026-09-29T10:31:59Z</dcterms:created>
  <dcterms:modified xsi:type="dcterms:W3CDTF">2026-09-29T10:31:59Z</dcterms:modified>
</cp:coreProperties>
</file>