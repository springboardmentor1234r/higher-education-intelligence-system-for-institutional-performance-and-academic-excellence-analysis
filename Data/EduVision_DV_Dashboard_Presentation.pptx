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022592" y="594360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644383" y="594360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87968" y="594360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594360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53344" y="594360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0" y="1161288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22592" y="1161288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66175" y="1161288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887968" y="1161288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31552" y="1161288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753344" y="1161288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0" y="1728216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644383" y="1728216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66175" y="1728216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09760" y="1728216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31552" y="1728216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022592" y="2295144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644383" y="2295144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87968" y="2295144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09760" y="2295144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53344" y="2295144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0800" y="2862072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22592" y="2862072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66175" y="2862072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887968" y="2862072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131552" y="2862072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753344" y="2862072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00800" y="3429000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644383" y="3429000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66175" y="3429000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509760" y="3429000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131552" y="3429000"/>
            <a:ext cx="41148" cy="41148"/>
          </a:xfrm>
          <a:prstGeom prst="ellipse">
            <a:avLst/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" y="713232"/>
            <a:ext cx="73152" cy="4507992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264" y="84124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B7E5"/>
                </a:solidFill>
                <a:latin typeface="Aptos"/>
              </a:rPr>
              <a:t>PROJECT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1353312"/>
            <a:ext cx="5120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EDUVISION DV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" y="2212848"/>
            <a:ext cx="49834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Aptos"/>
              </a:rPr>
              <a:t>Higher Education
Performance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" y="3675887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D5E4"/>
                </a:solidFill>
                <a:latin typeface="Aptos"/>
              </a:rPr>
              <a:t>A Tableau workbook for exploring university performance, research strength, student characteristics and country-level comparisons.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73368" y="1014983"/>
            <a:ext cx="2395728" cy="1755648"/>
          </a:xfrm>
          <a:prstGeom prst="roundRect">
            <a:avLst/>
          </a:prstGeom>
          <a:solidFill>
            <a:srgbClr val="203A54"/>
          </a:solidFill>
          <a:ln w="10160">
            <a:solidFill>
              <a:srgbClr val="3A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overview_th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060704"/>
            <a:ext cx="2304288" cy="1380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19088" y="2514600"/>
            <a:ext cx="23042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University Overview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88552" y="1014983"/>
            <a:ext cx="2395728" cy="1755648"/>
          </a:xfrm>
          <a:prstGeom prst="roundRect">
            <a:avLst/>
          </a:prstGeom>
          <a:solidFill>
            <a:srgbClr val="203A54"/>
          </a:solidFill>
          <a:ln w="10160">
            <a:solidFill>
              <a:srgbClr val="3A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research_thu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1060704"/>
            <a:ext cx="2304288" cy="1380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034272" y="2514600"/>
            <a:ext cx="23042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Research Analytics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73368" y="3090672"/>
            <a:ext cx="2395728" cy="1755648"/>
          </a:xfrm>
          <a:prstGeom prst="roundRect">
            <a:avLst/>
          </a:prstGeom>
          <a:solidFill>
            <a:srgbClr val="203A54"/>
          </a:solidFill>
          <a:ln w="10160">
            <a:solidFill>
              <a:srgbClr val="3A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student_thu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136392"/>
            <a:ext cx="2304288" cy="1380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19088" y="4590288"/>
            <a:ext cx="23042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Student Analytics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88552" y="3090672"/>
            <a:ext cx="2395728" cy="1755648"/>
          </a:xfrm>
          <a:prstGeom prst="roundRect">
            <a:avLst/>
          </a:prstGeom>
          <a:solidFill>
            <a:srgbClr val="203A54"/>
          </a:solidFill>
          <a:ln w="10160">
            <a:solidFill>
              <a:srgbClr val="3A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country_thum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2" y="3136392"/>
            <a:ext cx="2304288" cy="138074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034272" y="4590288"/>
            <a:ext cx="23042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Country Comparison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FC2D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1089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63D"/>
                </a:solidFill>
                <a:latin typeface="Aptos"/>
              </a:rPr>
              <a:t>One workspace. Four perspectives.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97280"/>
            <a:ext cx="11183112" cy="0"/>
          </a:xfrm>
          <a:prstGeom prst="line">
            <a:avLst/>
          </a:prstGeom>
          <a:ln w="1016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1353312"/>
            <a:ext cx="56235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64B"/>
                </a:solidFill>
                <a:latin typeface="Aptos"/>
              </a:rPr>
              <a:t>EduVision DV organizes university-level indicators into a single workbook so a viewer can move from institution performance to research, student composition and country comparisons without switching between separate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307592"/>
            <a:ext cx="224942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2552" y="1417319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9A99A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1883664"/>
            <a:ext cx="19568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25128" y="1307592"/>
            <a:ext cx="224942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89720" y="1417319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7B7E5"/>
                </a:solidFill>
                <a:latin typeface="Aptos"/>
              </a:rPr>
              <a:t>457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883664"/>
            <a:ext cx="19568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university rows in the current workbook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478024"/>
            <a:ext cx="224942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2552" y="2587752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39B4A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3054096"/>
            <a:ext cx="19568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core KPI measures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5128" y="2478024"/>
            <a:ext cx="224942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2587752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7B881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054096"/>
            <a:ext cx="19568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.twbx packaged workbook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673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A99A"/>
                </a:solidFill>
                <a:latin typeface="Aptos"/>
              </a:rPr>
              <a:t>THE FOUR DASHBOARDS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142232"/>
            <a:ext cx="2596896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4297680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A99A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645152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University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04748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Ranking, academic reputation, geography and QS/THE comparison.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4142232"/>
            <a:ext cx="2596896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21024" y="4297680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A99A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645152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Research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504748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Impact, citations, research environment/quality and productivity.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0216" y="4142232"/>
            <a:ext cx="2596896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4297680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A99A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645152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Student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504748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International students, enrollment, staff ratio and gender mix.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53144" y="4142232"/>
            <a:ext cx="2596896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4297680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A99A"/>
                </a:solidFill>
                <a:latin typeface="Apto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645152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Country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04748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Country-level scores, university counts and rank comparison.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1089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63D"/>
                </a:solidFill>
                <a:latin typeface="Aptos"/>
              </a:rPr>
              <a:t>Why this dashboard was built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97280"/>
            <a:ext cx="11183112" cy="0"/>
          </a:xfrm>
          <a:prstGeom prst="line">
            <a:avLst/>
          </a:prstGeom>
          <a:ln w="1016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B7E5"/>
                </a:solidFill>
                <a:latin typeface="Aptos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39696"/>
            <a:ext cx="4526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Useful indicators are spread across ranking and student measures.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46120"/>
            <a:ext cx="4526280" cy="2148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D8E3EE"/>
                </a:solidFill>
                <a:latin typeface="Aptos"/>
              </a:defRPr>
            </a:pPr>
            <a:r>
              <a:t>•  Rank, reputation, research and student indicators answer different questions.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D8E3EE"/>
                </a:solidFill>
                <a:latin typeface="Aptos"/>
              </a:defRPr>
            </a:pPr>
            <a:r>
              <a:t>•  Reading separate tables makes institution and country comparisons slower.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D8E3EE"/>
                </a:solidFill>
                <a:latin typeface="Aptos"/>
              </a:defRPr>
            </a:pPr>
            <a:r>
              <a:t>•  A viewer needs a consistent way to filter, inspect and compare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A99A"/>
                </a:solidFill>
                <a:latin typeface="Aptos"/>
              </a:rPr>
              <a:t>THE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39696"/>
            <a:ext cx="4526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63D"/>
                </a:solidFill>
                <a:latin typeface="Aptos"/>
              </a:rPr>
              <a:t>Turn the indicators into an interactive, navigable analytical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246120"/>
            <a:ext cx="4526280" cy="2148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24364B"/>
                </a:solidFill>
                <a:latin typeface="Aptos"/>
              </a:defRPr>
            </a:pPr>
            <a:r>
              <a:t>•  Bring core university and country indicators into one Tableau workbook.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24364B"/>
                </a:solidFill>
                <a:latin typeface="Aptos"/>
              </a:defRPr>
            </a:pPr>
            <a:r>
              <a:t>•  Use KPI cards, ranking bars, a distribution map and scatter plots to guide exploration.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24364B"/>
                </a:solidFill>
                <a:latin typeface="Aptos"/>
              </a:defRPr>
            </a:pPr>
            <a:r>
              <a:t>•  Provide filters and navigation so users can focus on the level of detail they need.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1089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DATA SOURCES &amp;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63D"/>
                </a:solidFill>
                <a:latin typeface="Aptos"/>
              </a:rPr>
              <a:t>A consolidated university-level data foundation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97280"/>
            <a:ext cx="11183112" cy="0"/>
          </a:xfrm>
          <a:prstGeom prst="line">
            <a:avLst/>
          </a:prstGeom>
          <a:ln w="1016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417320"/>
            <a:ext cx="4160520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0392" y="1645920"/>
            <a:ext cx="530352" cy="530352"/>
          </a:xfrm>
          <a:prstGeom prst="roundRect">
            <a:avLst/>
          </a:prstGeom>
          <a:solidFill>
            <a:srgbClr val="DD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73936"/>
            <a:ext cx="3657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63D"/>
                </a:solidFill>
                <a:latin typeface="Aptos"/>
              </a:rPr>
              <a:t>QS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09344"/>
            <a:ext cx="29443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63D"/>
                </a:solidFill>
                <a:latin typeface="Aptos"/>
              </a:rPr>
              <a:t>QS World University Rankings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02536"/>
            <a:ext cx="29077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2748A"/>
                </a:solidFill>
                <a:latin typeface="Aptos"/>
              </a:rPr>
              <a:t>Ranking position, academic reputation, citations per faculty, and other institutional indicators.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88352" y="1417320"/>
            <a:ext cx="4160520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89520" y="1645920"/>
            <a:ext cx="530352" cy="530352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21524" y="1792224"/>
            <a:ext cx="46634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63D"/>
                </a:solidFill>
                <a:latin typeface="Aptos"/>
              </a:rPr>
              <a:t>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09344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63D"/>
                </a:solidFill>
                <a:latin typeface="Aptos"/>
              </a:rPr>
              <a:t>Times Higher Education indicators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02536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2748A"/>
                </a:solidFill>
                <a:latin typeface="Aptos"/>
              </a:rPr>
              <a:t>THE rank/year, research environment and quality, student numbers, faculty ratio and gender indicators.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8032" y="2185416"/>
            <a:ext cx="704088" cy="0"/>
          </a:xfrm>
          <a:prstGeom prst="line">
            <a:avLst/>
          </a:prstGeom>
          <a:ln w="25400">
            <a:solidFill>
              <a:srgbClr val="19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47688" y="2185416"/>
            <a:ext cx="731520" cy="0"/>
          </a:xfrm>
          <a:prstGeom prst="line">
            <a:avLst/>
          </a:prstGeom>
          <a:ln w="25400">
            <a:solidFill>
              <a:srgbClr val="19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58968" y="1645920"/>
            <a:ext cx="1216152" cy="1078992"/>
          </a:xfrm>
          <a:prstGeom prst="round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86984" y="2011680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MERGE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3502152"/>
            <a:ext cx="8366760" cy="1554480"/>
          </a:xfrm>
          <a:prstGeom prst="roundRect">
            <a:avLst/>
          </a:prstGeom>
          <a:solidFill>
            <a:srgbClr val="E8F4FA"/>
          </a:solidFill>
          <a:ln w="10160">
            <a:solidFill>
              <a:srgbClr val="BF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94560" y="3776472"/>
            <a:ext cx="7818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A99A"/>
                </a:solidFill>
                <a:latin typeface="Aptos"/>
              </a:rPr>
              <a:t>TABLEAU 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151376"/>
            <a:ext cx="78181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63D"/>
                </a:solidFill>
                <a:latin typeface="Aptos"/>
              </a:rPr>
              <a:t>University_Data  •  university_final_dataset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617720"/>
            <a:ext cx="78181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48A"/>
                </a:solidFill>
                <a:latin typeface="Aptos"/>
              </a:rPr>
              <a:t>457 university rows represented in the current workbook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1089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MEASURES USED ACROSS THE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63D"/>
                </a:solidFill>
                <a:latin typeface="Aptos"/>
              </a:rPr>
              <a:t>KPI framework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97280"/>
            <a:ext cx="11183112" cy="0"/>
          </a:xfrm>
          <a:prstGeom prst="line">
            <a:avLst/>
          </a:prstGeom>
          <a:ln w="1016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21792" y="1417320"/>
            <a:ext cx="3529584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5528" y="1600200"/>
            <a:ext cx="73152" cy="877824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91056"/>
            <a:ext cx="2889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63D"/>
                </a:solidFill>
                <a:latin typeface="Aptos"/>
              </a:rPr>
              <a:t>Global Ranking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75104"/>
            <a:ext cx="28529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High-level view of overall ranking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3" y="1417320"/>
            <a:ext cx="3529584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73152" cy="877824"/>
          </a:xfrm>
          <a:prstGeom prst="rect">
            <a:avLst/>
          </a:prstGeom>
          <a:solidFill>
            <a:srgbClr val="47B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1" y="1591056"/>
            <a:ext cx="2889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63D"/>
                </a:solidFill>
                <a:latin typeface="Aptos"/>
              </a:rPr>
              <a:t>Academic Reputation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1975104"/>
            <a:ext cx="28529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Academic reputation signal from the QS measures.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417320"/>
            <a:ext cx="3529584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39911" y="1600200"/>
            <a:ext cx="73152" cy="877824"/>
          </a:xfrm>
          <a:prstGeom prst="rect">
            <a:avLst/>
          </a:prstGeom>
          <a:solidFill>
            <a:srgbClr val="F39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0224" y="1591056"/>
            <a:ext cx="2889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63D"/>
                </a:solidFill>
                <a:latin typeface="Aptos"/>
              </a:rPr>
              <a:t>Research Impact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1975104"/>
            <a:ext cx="28529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Summary view of research performance.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953512"/>
            <a:ext cx="3529584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8" y="3136392"/>
            <a:ext cx="73152" cy="877824"/>
          </a:xfrm>
          <a:prstGeom prst="rect">
            <a:avLst/>
          </a:prstGeom>
          <a:solidFill>
            <a:srgbClr val="47B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127248"/>
            <a:ext cx="2889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63D"/>
                </a:solidFill>
                <a:latin typeface="Aptos"/>
              </a:rPr>
              <a:t>Research Productivity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11296"/>
            <a:ext cx="28529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Research productivity indicator used for comparison.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3" y="2953512"/>
            <a:ext cx="3529584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17720" y="3136392"/>
            <a:ext cx="73152" cy="877824"/>
          </a:xfrm>
          <a:prstGeom prst="rect">
            <a:avLst/>
          </a:prstGeom>
          <a:solidFill>
            <a:srgbClr val="47B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1" y="3127248"/>
            <a:ext cx="2889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63D"/>
                </a:solidFill>
                <a:latin typeface="Aptos"/>
              </a:rPr>
              <a:t>International Student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1" y="3511296"/>
            <a:ext cx="28529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Share/percentage measure for student internationalisation.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2953512"/>
            <a:ext cx="3529584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39911" y="3136392"/>
            <a:ext cx="73152" cy="877824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50224" y="3127248"/>
            <a:ext cx="2889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63D"/>
                </a:solidFill>
                <a:latin typeface="Aptos"/>
              </a:rPr>
              <a:t>Faculty-to-Student Ratio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3511296"/>
            <a:ext cx="28529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Students per faculty/staff indicator used in comparisons.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1089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DASHBOARD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63D"/>
                </a:solidFill>
                <a:latin typeface="Aptos"/>
              </a:rPr>
              <a:t>Four dashboard modules, one navigation experience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97280"/>
            <a:ext cx="11183112" cy="0"/>
          </a:xfrm>
          <a:prstGeom prst="line">
            <a:avLst/>
          </a:prstGeom>
          <a:ln w="1016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12648" y="1389888"/>
            <a:ext cx="5468112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1572768"/>
            <a:ext cx="530352" cy="530352"/>
          </a:xfrm>
          <a:prstGeom prst="round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719072"/>
            <a:ext cx="530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91056"/>
            <a:ext cx="4133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UNIVERSITY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56816"/>
            <a:ext cx="4133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A99A"/>
                </a:solidFill>
                <a:latin typeface="Aptos"/>
              </a:rPr>
              <a:t>3 KPI cards + 4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304288"/>
            <a:ext cx="413308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Global ranking • country map • QS vs THE • academic reputation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89888"/>
            <a:ext cx="5468112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1572768"/>
            <a:ext cx="530352" cy="530352"/>
          </a:xfrm>
          <a:prstGeom prst="roundRect">
            <a:avLst/>
          </a:prstGeom>
          <a:solidFill>
            <a:srgbClr val="47B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719072"/>
            <a:ext cx="530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1591056"/>
            <a:ext cx="4133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RESEARCH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1956816"/>
            <a:ext cx="4133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7B7E5"/>
                </a:solidFill>
                <a:latin typeface="Aptos"/>
              </a:rPr>
              <a:t>2 KPI cards + 4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2304288"/>
            <a:ext cx="413308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Impact • citations per faculty • environment vs quality • productivity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3493008"/>
            <a:ext cx="5468112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5528" y="3675887"/>
            <a:ext cx="530352" cy="530352"/>
          </a:xfrm>
          <a:prstGeom prst="roundRect">
            <a:avLst/>
          </a:prstGeom>
          <a:solidFill>
            <a:srgbClr val="F39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822191"/>
            <a:ext cx="530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694176"/>
            <a:ext cx="4133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STUDENT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59935"/>
            <a:ext cx="4133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9B4A"/>
                </a:solidFill>
                <a:latin typeface="Aptos"/>
              </a:rPr>
              <a:t>3 KPI cards + 4 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407408"/>
            <a:ext cx="413308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International students • student population • ratio • gender distribution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493008"/>
            <a:ext cx="5468112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37960" y="3675887"/>
            <a:ext cx="530352" cy="530352"/>
          </a:xfrm>
          <a:prstGeom prst="roundRect">
            <a:avLst/>
          </a:prstGeom>
          <a:solidFill>
            <a:srgbClr val="47B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3822191"/>
            <a:ext cx="530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3694176"/>
            <a:ext cx="4133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COUNTRY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4059935"/>
            <a:ext cx="4133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7B881"/>
                </a:solidFill>
                <a:latin typeface="Aptos"/>
              </a:rPr>
              <a:t>5 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4407408"/>
            <a:ext cx="413308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Country scores • university counts • QS vs THE country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96896" y="5943600"/>
            <a:ext cx="70134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SHARED NAVIGATION CONNECTS ALL FOUR DASHBOARDS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10896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01 / DASHBOARD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63D"/>
                </a:solidFill>
                <a:latin typeface="Aptos"/>
              </a:rPr>
              <a:t>University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05256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Rankings, academic reputation, geography and QS/THE comparison, with filters and shared navigation.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30452"/>
            <a:ext cx="10762488" cy="52257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overview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320" y="1452880"/>
            <a:ext cx="9804400" cy="4705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10896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02 / DASHBOARD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63D"/>
                </a:solidFill>
                <a:latin typeface="Aptos"/>
              </a:rPr>
              <a:t>Research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05256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Research impact and productivity KPIs with citation, research quality/environment and productivity 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16152"/>
            <a:ext cx="10762488" cy="53400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esearch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1381760"/>
            <a:ext cx="9652000" cy="4973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10896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03 / DASHBOARD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63D"/>
                </a:solidFill>
                <a:latin typeface="Aptos"/>
              </a:rPr>
              <a:t>Student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05256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Student diversity and institutional capacity: international percentage, student count, staff ratio and gender distribution.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16152"/>
            <a:ext cx="10762488" cy="53400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tuden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574800"/>
            <a:ext cx="9692640" cy="465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10896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04 / DASHBOARD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63D"/>
                </a:solidFill>
                <a:latin typeface="Aptos"/>
              </a:rPr>
              <a:t>Country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05256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48A"/>
                </a:solidFill>
                <a:latin typeface="Aptos"/>
              </a:rPr>
              <a:t>Country-level benchmarking with average score bars, university counts and QS/THE rank comparison.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16152"/>
            <a:ext cx="10762488" cy="53400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untr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702154"/>
            <a:ext cx="9756648" cy="47900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1089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FILTERS &amp;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63D"/>
                </a:solidFill>
                <a:latin typeface="Aptos"/>
              </a:rPr>
              <a:t>Designed for exploration, not just display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97280"/>
            <a:ext cx="11183112" cy="0"/>
          </a:xfrm>
          <a:prstGeom prst="line">
            <a:avLst/>
          </a:prstGeom>
          <a:ln w="1016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572768"/>
            <a:ext cx="3456432" cy="3090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9536" y="1801368"/>
            <a:ext cx="621792" cy="621792"/>
          </a:xfrm>
          <a:prstGeom prst="round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84248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70048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99232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63D"/>
                </a:solidFill>
                <a:latin typeface="Aptos"/>
              </a:rPr>
              <a:t>Narrow the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93008"/>
            <a:ext cx="2898648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2748A"/>
                </a:solidFill>
                <a:latin typeface="Aptos"/>
              </a:rPr>
              <a:t>Country and University filters; QS Rank and THE Rank ranges on University Overview.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51376" y="3072384"/>
            <a:ext cx="274320" cy="0"/>
          </a:xfrm>
          <a:prstGeom prst="line">
            <a:avLst/>
          </a:prstGeom>
          <a:ln w="25400">
            <a:solidFill>
              <a:srgbClr val="19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98848" y="1572768"/>
            <a:ext cx="3456432" cy="3090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00016" y="1801368"/>
            <a:ext cx="621792" cy="621792"/>
          </a:xfrm>
          <a:prstGeom prst="roundRect">
            <a:avLst/>
          </a:prstGeom>
          <a:solidFill>
            <a:srgbClr val="47B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1984248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670048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7B7E5"/>
                </a:solidFill>
                <a:latin typeface="Aptos"/>
              </a:rP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999232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63D"/>
                </a:solidFill>
                <a:latin typeface="Aptos"/>
              </a:rPr>
              <a:t>Inspect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3493008"/>
            <a:ext cx="2898648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2748A"/>
                </a:solidFill>
                <a:latin typeface="Aptos"/>
              </a:rPr>
              <a:t>Hover over bars and points to inspect country, university and metric values in tooltips.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91856" y="3072384"/>
            <a:ext cx="274319" cy="0"/>
          </a:xfrm>
          <a:prstGeom prst="line">
            <a:avLst/>
          </a:prstGeom>
          <a:ln w="25400">
            <a:solidFill>
              <a:srgbClr val="19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39328" y="1572768"/>
            <a:ext cx="3456432" cy="3090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40496" y="1801368"/>
            <a:ext cx="621792" cy="621792"/>
          </a:xfrm>
          <a:prstGeom prst="roundRect">
            <a:avLst/>
          </a:prstGeom>
          <a:solidFill>
            <a:srgbClr val="F39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0496" y="1984248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2670048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9B4A"/>
                </a:solidFill>
                <a:latin typeface="Aptos"/>
              </a:rPr>
              <a:t>NAVIGATE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2999232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63D"/>
                </a:solidFill>
                <a:latin typeface="Aptos"/>
              </a:rPr>
              <a:t>Move by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3493008"/>
            <a:ext cx="2898648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2748A"/>
                </a:solidFill>
                <a:latin typeface="Aptos"/>
              </a:rPr>
              <a:t>Use the shared navigation buttons to switch among University, Research, Student and Country views.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1089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HOW TO READ THE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63D"/>
                </a:solidFill>
                <a:latin typeface="Aptos"/>
              </a:rPr>
              <a:t>Visual choices matched to analytical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97280"/>
            <a:ext cx="11183112" cy="0"/>
          </a:xfrm>
          <a:prstGeom prst="line">
            <a:avLst/>
          </a:prstGeom>
          <a:ln w="1016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353312"/>
            <a:ext cx="5440680" cy="18836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A99A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55448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BAR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63D"/>
                </a:solidFill>
                <a:latin typeface="Aptos"/>
              </a:rPr>
              <a:t>Rank and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49651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48A"/>
                </a:solidFill>
                <a:latin typeface="Aptos"/>
              </a:rPr>
              <a:t>Horizontal bars make top performers and country summaries easy to scan. Most ranking charts use Top 10 filters.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353312"/>
            <a:ext cx="5440680" cy="18836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47104" y="1563624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7B7E5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5744" y="155448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7B7E5"/>
                </a:solidFill>
                <a:latin typeface="Aptos"/>
              </a:rPr>
              <a:t>SCATTER PLOT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920240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63D"/>
                </a:solidFill>
                <a:latin typeface="Aptos"/>
              </a:rPr>
              <a:t>Compare two ranking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350008"/>
            <a:ext cx="49651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48A"/>
                </a:solidFill>
                <a:latin typeface="Aptos"/>
              </a:rPr>
              <a:t>Each point represents a university or a country, depending on the view. Position helps reveal agreement and divergence.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5440680" cy="18836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377647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9B4A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767328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9B4A"/>
                </a:solidFill>
                <a:latin typeface="Aptos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63D"/>
                </a:solidFill>
                <a:latin typeface="Aptos"/>
              </a:rPr>
              <a:t>See geographic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62856"/>
            <a:ext cx="49651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48A"/>
                </a:solidFill>
                <a:latin typeface="Aptos"/>
              </a:rPr>
              <a:t>The map gives a spatial view of represented institutions; point size/position helps locate concentrations.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936" y="3566160"/>
            <a:ext cx="5440680" cy="18836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377647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7B881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3767328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7B881"/>
                </a:solidFill>
                <a:latin typeface="Aptos"/>
              </a:rPr>
              <a:t>STACKED 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4133087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63D"/>
                </a:solidFill>
                <a:latin typeface="Aptos"/>
              </a:rPr>
              <a:t>Compare gender percentages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562856"/>
            <a:ext cx="49651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48A"/>
                </a:solidFill>
                <a:latin typeface="Aptos"/>
              </a:rPr>
              <a:t>Female and male measures use two colors. Missing values should be interpreted as unavailable, not zero.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475488" cy="6858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1089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A99A"/>
                </a:solidFill>
                <a:latin typeface="Aptos"/>
              </a:rPr>
              <a:t>VALIDATION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63D"/>
                </a:solidFill>
                <a:latin typeface="Aptos"/>
              </a:rPr>
              <a:t>Build validation completed during dashboard development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97280"/>
            <a:ext cx="11183112" cy="0"/>
          </a:xfrm>
          <a:prstGeom prst="line">
            <a:avLst/>
          </a:prstGeom>
          <a:ln w="1016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353312"/>
            <a:ext cx="542239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1581912"/>
            <a:ext cx="274320" cy="274320"/>
          </a:xfrm>
          <a:prstGeom prst="ellipse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09344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527048"/>
            <a:ext cx="4535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Workbook packaging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856232"/>
            <a:ext cx="453542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748A"/>
                </a:solidFill>
                <a:latin typeface="Aptos"/>
              </a:rPr>
              <a:t>All four dashboards are stored in one Tableau packaged workbook (.twbx).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353312"/>
            <a:ext cx="542239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47104" y="1581912"/>
            <a:ext cx="274320" cy="274320"/>
          </a:xfrm>
          <a:prstGeom prst="ellipse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7104" y="1609344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1527048"/>
            <a:ext cx="4535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Dashboard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856232"/>
            <a:ext cx="453542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748A"/>
                </a:solidFill>
                <a:latin typeface="Aptos"/>
              </a:rPr>
              <a:t>Navigation buttons were added to move across the four dashboards.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70632"/>
            <a:ext cx="542239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7" y="2999232"/>
            <a:ext cx="274320" cy="274320"/>
          </a:xfrm>
          <a:prstGeom prst="ellipse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026664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944368"/>
            <a:ext cx="4535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Filter interactions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273552"/>
            <a:ext cx="453542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748A"/>
                </a:solidFill>
                <a:latin typeface="Aptos"/>
              </a:rPr>
              <a:t>Country/University and ranking-range controls were exercised on University Overview; Country filters are included on the other analytical dashboards.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936" y="2770632"/>
            <a:ext cx="542239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47104" y="2999232"/>
            <a:ext cx="274320" cy="274320"/>
          </a:xfrm>
          <a:prstGeom prst="ellipse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7104" y="3026664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944368"/>
            <a:ext cx="4535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Chart inspection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273552"/>
            <a:ext cx="453542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748A"/>
                </a:solidFill>
                <a:latin typeface="Aptos"/>
              </a:rPr>
              <a:t>Bar labels, tooltips, Top 10 ranking views, map and scatter plots were reviewed.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87952"/>
            <a:ext cx="542239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1247" y="4416552"/>
            <a:ext cx="274320" cy="274320"/>
          </a:xfrm>
          <a:prstGeom prst="ellipse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7" y="4443984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4361688"/>
            <a:ext cx="4535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Gender data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690872"/>
            <a:ext cx="453542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748A"/>
                </a:solidFill>
                <a:latin typeface="Aptos"/>
              </a:rPr>
              <a:t>Female and male percentages are displayed as separate measures; missing records are not treated as zero.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45936" y="4187952"/>
            <a:ext cx="542239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547104" y="4416552"/>
            <a:ext cx="274320" cy="274320"/>
          </a:xfrm>
          <a:prstGeom prst="ellipse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47104" y="4443984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4361688"/>
            <a:ext cx="4535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63D"/>
                </a:solidFill>
                <a:latin typeface="Aptos"/>
              </a:rPr>
              <a:t>Delivery 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690872"/>
            <a:ext cx="453542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748A"/>
                </a:solidFill>
                <a:latin typeface="Aptos"/>
              </a:rPr>
              <a:t>Workbook was saved locally and the user reports that Tableau Public publishing is complete.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2748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731520"/>
            <a:ext cx="73152" cy="4937760"/>
          </a:xfrm>
          <a:prstGeom prst="rect">
            <a:avLst/>
          </a:prstGeom>
          <a:solidFill>
            <a:srgbClr val="1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" y="960120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7B7E5"/>
                </a:solidFill>
                <a:latin typeface="Aptos"/>
              </a:rPr>
              <a:t>EDUVISION 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1536192"/>
            <a:ext cx="70408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From ranking data
to guided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337560"/>
            <a:ext cx="66751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2DFEA"/>
                </a:solidFill>
                <a:latin typeface="Aptos"/>
              </a:rPr>
              <a:t>The final workbook brings together four dashboard perspectives with KPI cards, analytical charts, interactive filters and shared navigation.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" y="4608576"/>
            <a:ext cx="1847088" cy="804672"/>
          </a:xfrm>
          <a:prstGeom prst="roundRect">
            <a:avLst/>
          </a:prstGeom>
          <a:solidFill>
            <a:srgbClr val="1E3855"/>
          </a:solidFill>
          <a:ln w="10160">
            <a:solidFill>
              <a:srgbClr val="3C5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" y="4736592"/>
            <a:ext cx="4937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7B7E5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81888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dashboards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4608576"/>
            <a:ext cx="1847088" cy="804672"/>
          </a:xfrm>
          <a:prstGeom prst="roundRect">
            <a:avLst/>
          </a:prstGeom>
          <a:solidFill>
            <a:srgbClr val="1E3855"/>
          </a:solidFill>
          <a:ln w="10160">
            <a:solidFill>
              <a:srgbClr val="3C5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55264" y="4736592"/>
            <a:ext cx="4937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39B4A"/>
                </a:solidFill>
                <a:latin typeface="Aptos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481888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visual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4608576"/>
            <a:ext cx="1847088" cy="804672"/>
          </a:xfrm>
          <a:prstGeom prst="roundRect">
            <a:avLst/>
          </a:prstGeom>
          <a:solidFill>
            <a:srgbClr val="1E3855"/>
          </a:solidFill>
          <a:ln w="10160">
            <a:solidFill>
              <a:srgbClr val="3C5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76672" y="4736592"/>
            <a:ext cx="4937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7B7E5"/>
                </a:solidFill>
                <a:latin typeface="Aptos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481888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core KPI measures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745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FC2D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960</Words>
  <Application>Microsoft Office PowerPoint</Application>
  <PresentationFormat>Widescreen</PresentationFormat>
  <Paragraphs>176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EduVision DV — Higher Education Performance Dashboard</dc:title>
  <dc:subject>Tableau dashboard project presentation</dc:subject>
  <dc:creator>EduVision DV Project</dc:creator>
  <cp:keywords>Tableau, higher education, university rankings, research analytics, student analytics, country comparison</cp:keywords>
  <dc:description>Prepared from the current EduVision DV Tableau workbook and project storyboard.</dc:description>
  <cp:lastModifiedBy>Divya Mahathy</cp:lastModifiedBy>
  <cp:revision>3</cp:revision>
  <dcterms:created xsi:type="dcterms:W3CDTF">2013-01-27T09:14:16Z</dcterms:created>
  <dcterms:modified xsi:type="dcterms:W3CDTF">2026-10-09T11:44:23Z</dcterms:modified>
  <cp:category/>
</cp:coreProperties>
</file>